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time (ms)</c:v>
                </c:pt>
              </c:strCache>
            </c:strRef>
          </c:tx>
          <c:spPr>
            <a:solidFill>
              <a:srgbClr val="FF6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String (+)</c:v>
                  </c:pt>
                  <c:pt idx="1">
                    <c:v>StringBuffer</c:v>
                  </c:pt>
                  <c:pt idx="2">
                    <c:v>StringBuilder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4200</c:v>
                </c:pt>
                <c:pt idx="1">
                  <c:v>38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1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1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6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D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914400"/>
            <a:ext cx="1463040" cy="146304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352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IN JAVA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String Class, Methods,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StringBuffer &amp; StringBuilder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58368" y="4709160"/>
            <a:ext cx="1188720" cy="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892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immutability, memory, and mutable string alternatives in 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Department of Computer Science &amp; Engineering • CSPIT, CHARUSAT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691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Class &amp; Immutability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6916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66560" y="1691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Creation &amp; Memory (String Pool)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String Methods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26060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Comparison ( == vs equals 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Mutable Alternative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35204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3520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StringBuffer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4434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Performance &amp; Best Practices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53492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treated as a single object.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Java, String is a class (java.lang.String), not a primitive type.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string literal or string expression is a String object.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property of a Java String: it is IMMUTABLE — once created, its content can never change.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011680"/>
            <a:ext cx="640080" cy="6400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809244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java.lang.String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0" y="28346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final — cannot be subclassed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internally by a char[] / byte[] array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Comparable&lt;String&gt;, CharSequence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creation styles: literal &amp; new keyword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Create a String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8D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literal — stored in the String Constant Pool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new String("Hello");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8D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keyword — forces a fresh object on the heap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 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String Pool first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an existing object if the value matches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4114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Keyword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4709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creates a new object on the heap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pool, even for identical values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memory efficient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String Constant Pool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FF3E0"/>
          </a:solidFill>
          <a:ln w="19050">
            <a:solidFill>
              <a:srgbClr val="FF6F0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Pool  (inside Heap)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7432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743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C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 —→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C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 —→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846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point to the SAME pooled object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F4EFEA"/>
          </a:solidFill>
          <a:ln w="19050">
            <a:solidFill>
              <a:srgbClr val="6D4C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(outside pool)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30175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017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(new object)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C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 —→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object, even though the text is identical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Strings Immutable?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often carry sensitive data (file paths, network connections, credentials). Immutability prevents tampering after creation.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65960"/>
            <a:ext cx="594360" cy="59436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♾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Pool Works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Pooling/sharing literals is only safe if the shared object can never change underneath another reference.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544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HashCode Caching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String's hashCode is computed once and cached — safe only because the content never changes. Speeds up HashMap/HashSet lookups.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77640"/>
            <a:ext cx="594360" cy="59436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🧵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408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Safety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0" y="43434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 object can be freely shared across threads with no synchronization needed.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Immutability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"Hello";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s.concat(" World");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System.out.println(s);           // Hello  (unchanged!)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s.concat(" World");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System.out.println(s);           // Hello World  (s now refers to a NEW object)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does not modify the original object — it returns a brand-new String.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 result is reassigned, the original reference is completely unaffected.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source of a very common beginner bug: calling a String method and forgetting to store its return value.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String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characters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470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charAt(i)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240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at index 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470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indexOf(x)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240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index of x, or -1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substring(a,b)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from a to b-1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2971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concat(str)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str, returns new String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2971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replace(a,b)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 a with 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15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upper case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315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lower case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55280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315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 / strip()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leading/trailing spaces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550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split(regex)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943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 a String[]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54406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5550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equals(obj)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34840" y="5943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comparison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55280" y="54406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5550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compareTo(str)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38160" y="5943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Lexicographic comparison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length(), charAt(), indexOf()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2743200"/>
          </a:xfrm>
          <a:prstGeom prst="roundRect">
            <a:avLst>
              <a:gd name="adj" fmla="val 2667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21408"/>
            <a:ext cx="9692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str = "CHARUSAT";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System.out.println(str.length());        // 8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System.out.println(str.charAt(2));        // 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System.out.println(str.indexOf('U'));     //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System.out.println(str.indexOf('Z'));     // -1  (not found)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9377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positions are zero-based: C(0) H(1) A(2) R(3) U(4) S(5) A(6) T(7)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substring(), concat(), replace()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2926080"/>
          </a:xfrm>
          <a:prstGeom prst="roundRect">
            <a:avLst>
              <a:gd name="adj" fmla="val 2500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21408"/>
            <a:ext cx="9692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"Java Programming";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System.out.println(s.substring(5));       // Programming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System.out.println(s.substring(0, 4));    // Java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System.out.println(s.concat(" Language")); // Java Programming Language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System.out.println(s.replace('a', '@'));  // J@v@ Progr@mming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substring(a) returns everything from index a to the end.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substring(a, b) returns index a up to (but not including) index b.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here returns a NEW String — s itself is never modified.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Conversion, trim() &amp; split()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3200400"/>
          </a:xfrm>
          <a:prstGeom prst="roundRect">
            <a:avLst>
              <a:gd name="adj" fmla="val 2286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21408"/>
            <a:ext cx="9692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"  Hello World  ";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System.out.println(s.trim());             // "Hello World"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System.out.println(s.toUpperCase());       // "  HELLO WORLD  "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words = s.trim().split(" ");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8D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words = { "Hello", "World" }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vs .equals()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Comparison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two variables point to the exact same object in memory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both references are identical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compare the actual characters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74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.equals()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Comparison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2971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Overridden in the String class to compare actual character sequences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whenever the text content matches, regardless of memory location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 almost always want to use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vs Content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3108960"/>
          </a:xfrm>
          <a:prstGeom prst="roundRect">
            <a:avLst>
              <a:gd name="adj" fmla="val 2353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29968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 = "test";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"test";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 = new String("test");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        // true   — both from the pool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c);         // false  — c is a separate heap object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System.out.println(a.equals(c));    // true   — same characters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1206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never use == to compare String content — always use .equals()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STRINGS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compareTo()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760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int describing lexicographic (dictionary) order.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→  the strings are equal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→  the calling string comes before the argument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→  the calling string comes after the argument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is based on Unicode value differences of the first mismatched characters.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219456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2395728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"Apple";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"Banana";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System.out.println(s1.compareTo(s2));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8D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negative — 'A' (65) comes before 'B' (66)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SOMETHING ELSE?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Concatenating Immutable Strings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401568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 = "";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1000; i++) {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result + i;   // a NEW String object is created every iteration!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57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String is immutable, every "+" concatenation discards the old object and allocates a brand new one — 1000 iterations can mean roughly 1000 throwaway objects, wasting time and memory.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MUTABLE ALTERNATIVE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StringBuffer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0" y="1783080"/>
            <a:ext cx="1188720" cy="118872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StringBuffer represents a mutable sequence of characters — it can grow, shrink, and change in place.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java.lang, just like String.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modifying method is synchronized, making it thread-safe.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when multiple threads may modify the same character sequence.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StringBuffer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append(x)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x to the 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insert(i, x)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x at index 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delete(a,b)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characters a..b-1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46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deleteCharAt(i)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character at 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sequence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4805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replace(a,b,s)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5074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a..b-1 with 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989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capacity()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6446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buffer capacity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58521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989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charAt(i) / setCharAt(i,c)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6446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a single character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StringBuffer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3291840"/>
          </a:xfrm>
          <a:prstGeom prst="roundRect">
            <a:avLst>
              <a:gd name="adj" fmla="val 2222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29968"/>
            <a:ext cx="9692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StringBuffer sb = new StringBuffer("Hello");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sb.append(" World");     // sb = "Hello World"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sb.insert(5, ",");        // sb = "Hello, World"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sb.reverse();              // sb = "dlroW ,olleH"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System.out.println(sb);   // dlroW ,olleH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30352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3035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sb itself was modified in place — no new object was created at each step.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FASTER ALTERNATIVE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StringBuilder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0" y="1783080"/>
            <a:ext cx="1188720" cy="118872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 offers the exact same API as StringBuffer: append, insert, delete, reverse, replace, and more.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Java 5 (JDK 1.5) as a faster, single-threaded alternative.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methods are NOT synchronized — no thread-safety overhead.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default choice for string building in ordinary, single-threaded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StringBuilder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3474720"/>
          </a:xfrm>
          <a:prstGeom prst="roundRect">
            <a:avLst>
              <a:gd name="adj" fmla="val 2105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29968"/>
            <a:ext cx="9692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new StringBuilder();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sb.append(i).append(",");   // method chaining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System.out.println(sb.toString());   // 0,1,2,3,4,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returns the StringBuilder itself, enabling fluent method chaining.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object is created and reused across the entire loop.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StringBuffer vs StringBuilder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5079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StringBuffer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StringBuilder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safety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 — thread-safe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synchronized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(sync overhead)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1.0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1.5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append, insert, delete, reverse…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Multi-threaded environments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Single-threaded code (most common case)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vs StringBuffer vs StringBuilder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5743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3044952"/>
                <a:gridCol w="3044952"/>
                <a:gridCol w="30540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StringBuilder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Thread-safe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(immutable)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(synchronized)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for repeated edits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object per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Reused buffer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Reused buffer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/ rarely-changed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Multi-threaded building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Single-threaded building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BENCHMARK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Concatenating 50,000 Strings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8308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920240"/>
            <a:ext cx="3108960" cy="3840480"/>
          </a:xfrm>
          <a:prstGeom prst="roundRect">
            <a:avLst>
              <a:gd name="adj" fmla="val 294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210312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illustrative, not measured — the point is the shape of the gap.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 in a loop scales poorly as size grows.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 edges out StringBuffer thanks to skipping synchronization.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You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ECB3"/>
          </a:solidFill>
          <a:ln w="12700">
            <a:solidFill>
              <a:srgbClr val="FFEC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057400"/>
            <a:ext cx="822960" cy="822960"/>
          </a:xfrm>
          <a:prstGeom prst="ellipse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9738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fixed, or changed rarely (config values, keys, constants).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92140" y="2057400"/>
            <a:ext cx="822960" cy="822960"/>
          </a:xfrm>
          <a:prstGeom prst="ellipse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21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StringBuilder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edits in ordinary, single-threaded code. The default choice for building text.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CCBC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86900" y="2057400"/>
            <a:ext cx="822960" cy="822960"/>
          </a:xfrm>
          <a:prstGeom prst="ellipse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869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StringBuffer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edits shared across multiple threads that may run concurrently.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Exam Traps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immutability: calling str.replace(...) or str.trim() and expecting str itself to change — the return value must be captured.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== to compare String content instead of .equals() — works "by accident" for pooled literals but fails for new String(...).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StringBuilder is thread-safe — it is not; use StringBuffer (or external synchronization) when threads share it.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large strings with + inside a loop instead of StringBuilder — a classic performance mistake.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substring(a, b)'s end index: b is EXCLUSIVE, not inclusive.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3291840"/>
          </a:xfrm>
          <a:prstGeom prst="roundRect">
            <a:avLst>
              <a:gd name="adj" fmla="val 2222"/>
            </a:avLst>
          </a:prstGeom>
          <a:solidFill>
            <a:srgbClr val="2B211D"/>
          </a:solidFill>
          <a:ln w="12700">
            <a:solidFill>
              <a:srgbClr val="2B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29968"/>
            <a:ext cx="9692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"Java";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"Java";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s3 = new String("Java");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System.out.println(s1 == s2);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System.out.println(s1 == s3);</a:t>
            </a:r>
            <a:endParaRPr lang="en-US" sz="16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50" dirty="0">
                <a:solidFill>
                  <a:srgbClr val="F1E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System.out.println(s1.equals(s3));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30352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3035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String Pool vs the heap before checking the answer: true, false, true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Java program that reverses a given String using StringBuilder — WITHOUT calling its built-in reverse() method.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iterate through the original string from the last character to the first.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sb.append(ch) inside the loop to build the reversed sequence.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compare the character count of your loop-based version against sb.reverse() for correctness.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immutable — every modifying method returns a new object.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literals are shared via the String Pool; new String() always creates a fresh heap object.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.equals() for content comparison, never == (except when you deliberately want reference comparison).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StringBuffer is mutable and thread-safe (synchronized); StringBuilder is mutable and faster (not synchronized).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StringBuilder for everyday string building; reach for StringBuffer only in multi-threaded contexts.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CSPIT, CHARUSAT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8384" y="1463040"/>
            <a:ext cx="1463040" cy="146304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58384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352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DEPSTAR • Department of Computer Science &amp; Engineering • CSPIT, CHARUSAT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2026-07-19T11:51:54Z</dcterms:created>
  <dcterms:modified xsi:type="dcterms:W3CDTF">2026-07-19T11:51:54Z</dcterms:modified>
</cp:coreProperties>
</file>