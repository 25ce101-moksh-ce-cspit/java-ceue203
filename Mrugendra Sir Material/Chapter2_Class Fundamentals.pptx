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7" r:id="rId3"/>
    <p:sldId id="298" r:id="rId4"/>
    <p:sldId id="299" r:id="rId5"/>
    <p:sldId id="300" r:id="rId6"/>
    <p:sldId id="302" r:id="rId7"/>
    <p:sldId id="301" r:id="rId8"/>
    <p:sldId id="303" r:id="rId9"/>
    <p:sldId id="304" r:id="rId10"/>
    <p:sldId id="305" r:id="rId11"/>
    <p:sldId id="306" r:id="rId12"/>
    <p:sldId id="308" r:id="rId13"/>
    <p:sldId id="307" r:id="rId14"/>
    <p:sldId id="309" r:id="rId15"/>
    <p:sldId id="310" r:id="rId16"/>
    <p:sldId id="311" r:id="rId17"/>
    <p:sldId id="312" r:id="rId18"/>
    <p:sldId id="313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5" r:id="rId29"/>
    <p:sldId id="356" r:id="rId30"/>
    <p:sldId id="324" r:id="rId31"/>
    <p:sldId id="326" r:id="rId32"/>
    <p:sldId id="328" r:id="rId33"/>
    <p:sldId id="330" r:id="rId34"/>
    <p:sldId id="331" r:id="rId35"/>
    <p:sldId id="354" r:id="rId36"/>
    <p:sldId id="361" r:id="rId37"/>
    <p:sldId id="333" r:id="rId38"/>
    <p:sldId id="357" r:id="rId39"/>
    <p:sldId id="332" r:id="rId40"/>
    <p:sldId id="329" r:id="rId41"/>
    <p:sldId id="334" r:id="rId42"/>
    <p:sldId id="335" r:id="rId43"/>
    <p:sldId id="336" r:id="rId44"/>
    <p:sldId id="337" r:id="rId45"/>
    <p:sldId id="338" r:id="rId46"/>
    <p:sldId id="339" r:id="rId47"/>
    <p:sldId id="358" r:id="rId48"/>
    <p:sldId id="359" r:id="rId49"/>
    <p:sldId id="360" r:id="rId50"/>
    <p:sldId id="340" r:id="rId51"/>
    <p:sldId id="341" r:id="rId52"/>
    <p:sldId id="342" r:id="rId53"/>
    <p:sldId id="343" r:id="rId54"/>
    <p:sldId id="344" r:id="rId55"/>
    <p:sldId id="345" r:id="rId56"/>
    <p:sldId id="346" r:id="rId57"/>
    <p:sldId id="347" r:id="rId58"/>
    <p:sldId id="348" r:id="rId59"/>
    <p:sldId id="349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29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29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285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7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3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172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176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404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327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03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7511-6A2C-4FC7-AD62-5EB35A7B85DC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87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B7511-6A2C-4FC7-AD62-5EB35A7B85DC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BC8CE-00A2-4570-A7C4-CF8977440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646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547" y="177413"/>
            <a:ext cx="1139588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cap="all" dirty="0">
                <a:solidFill>
                  <a:schemeClr val="bg1"/>
                </a:solidFill>
              </a:rPr>
              <a:t>CHAPTER 2 </a:t>
            </a:r>
          </a:p>
          <a:p>
            <a:pPr algn="ctr"/>
            <a:endParaRPr lang="en-IN" sz="9600" cap="all" dirty="0">
              <a:solidFill>
                <a:schemeClr val="bg1"/>
              </a:solidFill>
            </a:endParaRPr>
          </a:p>
          <a:p>
            <a:pPr algn="ctr"/>
            <a:r>
              <a:rPr lang="en-IN" sz="9600" cap="all" dirty="0">
                <a:solidFill>
                  <a:schemeClr val="bg1"/>
                </a:solidFill>
              </a:rPr>
              <a:t>Class Fundamentals</a:t>
            </a:r>
          </a:p>
        </p:txBody>
      </p:sp>
    </p:spTree>
    <p:extLst>
      <p:ext uri="{BB962C8B-B14F-4D97-AF65-F5344CB8AC3E}">
        <p14:creationId xmlns:p14="http://schemas.microsoft.com/office/powerpoint/2010/main" val="1694130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46338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What is Class?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20752" y="1807230"/>
            <a:ext cx="113258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“</a:t>
            </a:r>
            <a:r>
              <a:rPr lang="en-IN" sz="3200" i="1" dirty="0">
                <a:solidFill>
                  <a:schemeClr val="bg1"/>
                </a:solidFill>
              </a:rPr>
              <a:t>A class is the template or blueprint from which objects are made</a:t>
            </a:r>
            <a:r>
              <a:rPr lang="en-IN" sz="2800" dirty="0">
                <a:solidFill>
                  <a:schemeClr val="bg1"/>
                </a:solidFill>
              </a:rPr>
              <a:t>.”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It represents the </a:t>
            </a:r>
            <a:r>
              <a:rPr lang="en-IN" sz="2800" dirty="0">
                <a:solidFill>
                  <a:srgbClr val="FFC000"/>
                </a:solidFill>
              </a:rPr>
              <a:t>set of properties or methods</a:t>
            </a:r>
            <a:r>
              <a:rPr lang="en-IN" sz="2800" dirty="0">
                <a:solidFill>
                  <a:schemeClr val="bg1"/>
                </a:solidFill>
              </a:rPr>
              <a:t> that are </a:t>
            </a:r>
            <a:r>
              <a:rPr lang="en-IN" sz="2800" dirty="0">
                <a:solidFill>
                  <a:srgbClr val="FFC000"/>
                </a:solidFill>
              </a:rPr>
              <a:t>common to all objects of one type</a:t>
            </a:r>
            <a:r>
              <a:rPr lang="en-IN" sz="2800" dirty="0">
                <a:solidFill>
                  <a:schemeClr val="bg1"/>
                </a:solidFill>
              </a:rPr>
              <a:t>.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82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66674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What is Class? Cont..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03239" y="1109594"/>
            <a:ext cx="1157748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</a:rPr>
              <a:t>In general, class declarations can include these components, in order: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FFC000"/>
                </a:solidFill>
              </a:rPr>
              <a:t>Modifiers :</a:t>
            </a:r>
            <a:r>
              <a:rPr lang="en-IN" sz="2800" dirty="0">
                <a:solidFill>
                  <a:schemeClr val="bg1"/>
                </a:solidFill>
              </a:rPr>
              <a:t> A class can be public or has default access.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FFC000"/>
                </a:solidFill>
              </a:rPr>
              <a:t>Class name:</a:t>
            </a:r>
            <a:r>
              <a:rPr lang="en-IN" sz="2800" dirty="0">
                <a:solidFill>
                  <a:schemeClr val="bg1"/>
                </a:solidFill>
              </a:rPr>
              <a:t> The name should begin with a initial letter (capitalized by convention).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FFC000"/>
                </a:solidFill>
              </a:rPr>
              <a:t>Superclass(if any): </a:t>
            </a:r>
            <a:r>
              <a:rPr lang="en-IN" sz="2800" dirty="0">
                <a:solidFill>
                  <a:schemeClr val="bg1"/>
                </a:solidFill>
              </a:rPr>
              <a:t>The name of the class’s parent (superclass), if any, preceded by the keyword extends. A class can only extend (subclass) one parent.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rgbClr val="FFC000"/>
                </a:solidFill>
              </a:rPr>
              <a:t>Body:</a:t>
            </a:r>
            <a:r>
              <a:rPr lang="en-IN" sz="2800" dirty="0">
                <a:solidFill>
                  <a:schemeClr val="bg1"/>
                </a:solidFill>
              </a:rPr>
              <a:t> The class body surrounded by braces, { }.</a:t>
            </a:r>
          </a:p>
        </p:txBody>
      </p:sp>
    </p:spTree>
    <p:extLst>
      <p:ext uri="{BB962C8B-B14F-4D97-AF65-F5344CB8AC3E}">
        <p14:creationId xmlns:p14="http://schemas.microsoft.com/office/powerpoint/2010/main" val="43307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51404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What is Object?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54841" y="1394276"/>
            <a:ext cx="117097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 err="1">
                <a:solidFill>
                  <a:srgbClr val="FFC000"/>
                </a:solidFill>
              </a:rPr>
              <a:t>Behavior</a:t>
            </a:r>
            <a:r>
              <a:rPr lang="en-IN" sz="2800" dirty="0">
                <a:solidFill>
                  <a:srgbClr val="FFC000"/>
                </a:solidFill>
              </a:rPr>
              <a:t>:</a:t>
            </a:r>
            <a:r>
              <a:rPr lang="en-IN" sz="2800" dirty="0">
                <a:solidFill>
                  <a:schemeClr val="bg1"/>
                </a:solidFill>
              </a:rPr>
              <a:t> what can you do with this object, or what methods can you apply to it?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FFC000"/>
                </a:solidFill>
              </a:rPr>
              <a:t>State:</a:t>
            </a:r>
            <a:r>
              <a:rPr lang="en-IN" sz="2800" dirty="0">
                <a:solidFill>
                  <a:schemeClr val="bg1"/>
                </a:solidFill>
              </a:rPr>
              <a:t> how does the object react when you invoke those methods?</a:t>
            </a: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FFC000"/>
                </a:solidFill>
              </a:rPr>
              <a:t>Identity:</a:t>
            </a:r>
            <a:r>
              <a:rPr lang="en-IN" sz="2800" dirty="0">
                <a:solidFill>
                  <a:schemeClr val="bg1"/>
                </a:solidFill>
              </a:rPr>
              <a:t> how is the object distinguished from others that may have the same </a:t>
            </a:r>
            <a:r>
              <a:rPr lang="en-IN" sz="2800" dirty="0" err="1">
                <a:solidFill>
                  <a:schemeClr val="bg1"/>
                </a:solidFill>
              </a:rPr>
              <a:t>behavior</a:t>
            </a:r>
            <a:r>
              <a:rPr lang="en-IN" sz="2800" dirty="0">
                <a:solidFill>
                  <a:schemeClr val="bg1"/>
                </a:solidFill>
              </a:rPr>
              <a:t> and state?</a:t>
            </a:r>
          </a:p>
        </p:txBody>
      </p:sp>
      <p:pic>
        <p:nvPicPr>
          <p:cNvPr id="1026" name="Picture 2" descr="Blank Diagram - Page 1 (5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41" y="1579893"/>
            <a:ext cx="11709780" cy="295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255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74181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Simple Program of Java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652" y="1046697"/>
            <a:ext cx="571121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600" dirty="0">
                <a:solidFill>
                  <a:schemeClr val="bg1"/>
                </a:solidFill>
              </a:rPr>
              <a:t>public class Simple{  </a:t>
            </a:r>
          </a:p>
          <a:p>
            <a:pPr>
              <a:lnSpc>
                <a:spcPct val="200000"/>
              </a:lnSpc>
            </a:pPr>
            <a:r>
              <a:rPr lang="en-IN" sz="2600" dirty="0">
                <a:solidFill>
                  <a:schemeClr val="bg1"/>
                </a:solidFill>
              </a:rPr>
              <a:t>    public static void main(String </a:t>
            </a:r>
            <a:r>
              <a:rPr lang="en-IN" sz="2600" dirty="0" err="1">
                <a:solidFill>
                  <a:schemeClr val="bg1"/>
                </a:solidFill>
              </a:rPr>
              <a:t>args</a:t>
            </a:r>
            <a:r>
              <a:rPr lang="en-IN" sz="2600" dirty="0">
                <a:solidFill>
                  <a:schemeClr val="bg1"/>
                </a:solidFill>
              </a:rPr>
              <a:t>[]){  </a:t>
            </a:r>
          </a:p>
          <a:p>
            <a:pPr>
              <a:lnSpc>
                <a:spcPct val="200000"/>
              </a:lnSpc>
            </a:pPr>
            <a:r>
              <a:rPr lang="en-IN" sz="2600" dirty="0">
                <a:solidFill>
                  <a:schemeClr val="bg1"/>
                </a:solidFill>
              </a:rPr>
              <a:t>     </a:t>
            </a:r>
            <a:r>
              <a:rPr lang="en-IN" sz="2600" dirty="0" err="1">
                <a:solidFill>
                  <a:schemeClr val="bg1"/>
                </a:solidFill>
              </a:rPr>
              <a:t>System.out.println</a:t>
            </a:r>
            <a:r>
              <a:rPr lang="en-IN" sz="2600" dirty="0">
                <a:solidFill>
                  <a:schemeClr val="bg1"/>
                </a:solidFill>
              </a:rPr>
              <a:t>(“Hello from JAVA");  </a:t>
            </a:r>
          </a:p>
          <a:p>
            <a:pPr>
              <a:lnSpc>
                <a:spcPct val="200000"/>
              </a:lnSpc>
            </a:pPr>
            <a:r>
              <a:rPr lang="en-IN" sz="2600" dirty="0">
                <a:solidFill>
                  <a:schemeClr val="bg1"/>
                </a:solidFill>
              </a:rPr>
              <a:t>    }  </a:t>
            </a:r>
          </a:p>
          <a:p>
            <a:pPr>
              <a:lnSpc>
                <a:spcPct val="200000"/>
              </a:lnSpc>
            </a:pPr>
            <a:r>
              <a:rPr lang="en-IN" sz="2600" dirty="0">
                <a:solidFill>
                  <a:schemeClr val="bg1"/>
                </a:solidFill>
              </a:rPr>
              <a:t>} </a:t>
            </a:r>
          </a:p>
        </p:txBody>
      </p:sp>
      <p:sp>
        <p:nvSpPr>
          <p:cNvPr id="8" name="Rectangle 7"/>
          <p:cNvSpPr/>
          <p:nvPr/>
        </p:nvSpPr>
        <p:spPr>
          <a:xfrm>
            <a:off x="7124033" y="992199"/>
            <a:ext cx="481708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600" b="1" dirty="0">
                <a:solidFill>
                  <a:srgbClr val="FFC000"/>
                </a:solidFill>
              </a:rPr>
              <a:t>Valid java main method signature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19136" y="1587216"/>
            <a:ext cx="696144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solidFill>
                  <a:schemeClr val="bg1"/>
                </a:solidFill>
              </a:rPr>
              <a:t>public static void main(String[] </a:t>
            </a:r>
            <a:r>
              <a:rPr lang="en-IN" sz="2600" dirty="0" err="1">
                <a:solidFill>
                  <a:schemeClr val="bg1"/>
                </a:solidFill>
              </a:rPr>
              <a:t>args</a:t>
            </a:r>
            <a:r>
              <a:rPr lang="en-IN" sz="2600" dirty="0">
                <a:solidFill>
                  <a:schemeClr val="bg1"/>
                </a:solidFill>
              </a:rPr>
              <a:t>)  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solidFill>
                  <a:schemeClr val="bg1"/>
                </a:solidFill>
              </a:rPr>
              <a:t>public static void main(String []</a:t>
            </a:r>
            <a:r>
              <a:rPr lang="en-IN" sz="2600" dirty="0" err="1">
                <a:solidFill>
                  <a:schemeClr val="bg1"/>
                </a:solidFill>
              </a:rPr>
              <a:t>args</a:t>
            </a:r>
            <a:r>
              <a:rPr lang="en-IN" sz="2600" dirty="0">
                <a:solidFill>
                  <a:schemeClr val="bg1"/>
                </a:solidFill>
              </a:rPr>
              <a:t>)  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solidFill>
                  <a:schemeClr val="bg1"/>
                </a:solidFill>
              </a:rPr>
              <a:t>public static void main(String </a:t>
            </a:r>
            <a:r>
              <a:rPr lang="en-IN" sz="2600" dirty="0" err="1">
                <a:solidFill>
                  <a:schemeClr val="bg1"/>
                </a:solidFill>
              </a:rPr>
              <a:t>args</a:t>
            </a:r>
            <a:r>
              <a:rPr lang="en-IN" sz="2600" dirty="0">
                <a:solidFill>
                  <a:schemeClr val="bg1"/>
                </a:solidFill>
              </a:rPr>
              <a:t>[])  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solidFill>
                  <a:schemeClr val="bg1"/>
                </a:solidFill>
              </a:rPr>
              <a:t>public static void main(String</a:t>
            </a:r>
            <a:r>
              <a:rPr lang="en-IN" sz="2600" dirty="0">
                <a:solidFill>
                  <a:srgbClr val="FFC000"/>
                </a:solidFill>
              </a:rPr>
              <a:t>...</a:t>
            </a:r>
            <a:r>
              <a:rPr lang="en-IN" sz="2600" dirty="0">
                <a:solidFill>
                  <a:schemeClr val="bg1"/>
                </a:solidFill>
              </a:rPr>
              <a:t> </a:t>
            </a:r>
            <a:r>
              <a:rPr lang="en-IN" sz="2600" dirty="0" err="1">
                <a:solidFill>
                  <a:schemeClr val="bg1"/>
                </a:solidFill>
              </a:rPr>
              <a:t>args</a:t>
            </a:r>
            <a:r>
              <a:rPr lang="en-IN" sz="2600" dirty="0">
                <a:solidFill>
                  <a:schemeClr val="bg1"/>
                </a:solidFill>
              </a:rPr>
              <a:t>)  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solidFill>
                  <a:schemeClr val="bg1"/>
                </a:solidFill>
              </a:rPr>
              <a:t>static public void main(String[] </a:t>
            </a:r>
            <a:r>
              <a:rPr lang="en-IN" sz="2600" dirty="0" err="1">
                <a:solidFill>
                  <a:schemeClr val="bg1"/>
                </a:solidFill>
              </a:rPr>
              <a:t>args</a:t>
            </a:r>
            <a:r>
              <a:rPr lang="en-IN" sz="2600" dirty="0">
                <a:solidFill>
                  <a:schemeClr val="bg1"/>
                </a:solidFill>
              </a:rPr>
              <a:t>)  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solidFill>
                  <a:schemeClr val="bg1"/>
                </a:solidFill>
              </a:rPr>
              <a:t>public static </a:t>
            </a:r>
            <a:r>
              <a:rPr lang="en-IN" sz="2600" dirty="0">
                <a:solidFill>
                  <a:srgbClr val="FFC000"/>
                </a:solidFill>
              </a:rPr>
              <a:t>final</a:t>
            </a:r>
            <a:r>
              <a:rPr lang="en-IN" sz="2600" dirty="0">
                <a:solidFill>
                  <a:schemeClr val="bg1"/>
                </a:solidFill>
              </a:rPr>
              <a:t> void main(String[] a)  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solidFill>
                  <a:schemeClr val="bg1"/>
                </a:solidFill>
              </a:rPr>
              <a:t>final public static void main(String[] a)  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solidFill>
                  <a:schemeClr val="bg1"/>
                </a:solidFill>
              </a:rPr>
              <a:t>final </a:t>
            </a:r>
            <a:r>
              <a:rPr lang="en-IN" sz="2600" dirty="0" err="1">
                <a:solidFill>
                  <a:srgbClr val="FFC000"/>
                </a:solidFill>
              </a:rPr>
              <a:t>strictfp</a:t>
            </a:r>
            <a:r>
              <a:rPr lang="en-IN" sz="2600" dirty="0">
                <a:solidFill>
                  <a:schemeClr val="bg1"/>
                </a:solidFill>
              </a:rPr>
              <a:t> public static void main(String[] a) </a:t>
            </a:r>
            <a:endParaRPr lang="en-IN" sz="2600" b="0" i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2176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74181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Simple Program of Java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652" y="1046697"/>
            <a:ext cx="5784961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</a:rPr>
              <a:t>public class </a:t>
            </a:r>
            <a:r>
              <a:rPr lang="en-IN" sz="2600" dirty="0">
                <a:solidFill>
                  <a:srgbClr val="FFC000"/>
                </a:solidFill>
              </a:rPr>
              <a:t>Student</a:t>
            </a:r>
            <a:r>
              <a:rPr lang="en-IN" sz="2600" dirty="0">
                <a:solidFill>
                  <a:schemeClr val="bg1"/>
                </a:solidFill>
              </a:rPr>
              <a:t> {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private </a:t>
            </a:r>
            <a:r>
              <a:rPr lang="en-IN" sz="2600" dirty="0" err="1">
                <a:solidFill>
                  <a:schemeClr val="bg1"/>
                </a:solidFill>
              </a:rPr>
              <a:t>int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  <a:r>
              <a:rPr lang="en-IN" sz="2600" dirty="0" err="1">
                <a:solidFill>
                  <a:srgbClr val="FFC000"/>
                </a:solidFill>
              </a:rPr>
              <a:t>stdIdNo</a:t>
            </a:r>
            <a:r>
              <a:rPr lang="en-IN" sz="2600" dirty="0">
                <a:solidFill>
                  <a:schemeClr val="bg1"/>
                </a:solidFill>
              </a:rPr>
              <a:t>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private String </a:t>
            </a:r>
            <a:r>
              <a:rPr lang="en-IN" sz="2600" dirty="0" err="1">
                <a:solidFill>
                  <a:srgbClr val="FFC000"/>
                </a:solidFill>
              </a:rPr>
              <a:t>stdName</a:t>
            </a:r>
            <a:r>
              <a:rPr lang="en-IN" sz="2600" dirty="0">
                <a:solidFill>
                  <a:schemeClr val="bg1"/>
                </a:solidFill>
              </a:rPr>
              <a:t>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public </a:t>
            </a:r>
            <a:r>
              <a:rPr lang="en-IN" sz="2600" dirty="0">
                <a:solidFill>
                  <a:srgbClr val="FFC000"/>
                </a:solidFill>
              </a:rPr>
              <a:t>Student</a:t>
            </a:r>
            <a:r>
              <a:rPr lang="en-IN" sz="2600" dirty="0">
                <a:solidFill>
                  <a:schemeClr val="bg1"/>
                </a:solidFill>
              </a:rPr>
              <a:t>(){</a:t>
            </a:r>
            <a:r>
              <a:rPr lang="en-IN" sz="2600" dirty="0" err="1">
                <a:solidFill>
                  <a:schemeClr val="bg1"/>
                </a:solidFill>
              </a:rPr>
              <a:t>System.out.println</a:t>
            </a:r>
            <a:r>
              <a:rPr lang="en-IN" sz="2600" dirty="0">
                <a:solidFill>
                  <a:schemeClr val="bg1"/>
                </a:solidFill>
              </a:rPr>
              <a:t>(" Constructor is initiated...");}</a:t>
            </a:r>
          </a:p>
          <a:p>
            <a:endParaRPr lang="en-IN" sz="2600" dirty="0">
              <a:solidFill>
                <a:schemeClr val="bg1"/>
              </a:solidFill>
            </a:endParaRPr>
          </a:p>
          <a:p>
            <a:r>
              <a:rPr lang="en-IN" sz="2600" dirty="0">
                <a:solidFill>
                  <a:schemeClr val="bg1"/>
                </a:solidFill>
              </a:rPr>
              <a:t>    public </a:t>
            </a:r>
            <a:r>
              <a:rPr lang="en-IN" sz="2600" dirty="0" err="1">
                <a:solidFill>
                  <a:schemeClr val="bg1"/>
                </a:solidFill>
              </a:rPr>
              <a:t>int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  <a:r>
              <a:rPr lang="en-IN" sz="2600" dirty="0" err="1">
                <a:solidFill>
                  <a:srgbClr val="FFC000"/>
                </a:solidFill>
              </a:rPr>
              <a:t>getStdIdNo</a:t>
            </a:r>
            <a:r>
              <a:rPr lang="en-IN" sz="2600" dirty="0">
                <a:solidFill>
                  <a:schemeClr val="bg1"/>
                </a:solidFill>
              </a:rPr>
              <a:t>() {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    return </a:t>
            </a:r>
            <a:r>
              <a:rPr lang="en-IN" sz="2600" dirty="0" err="1">
                <a:solidFill>
                  <a:schemeClr val="bg1"/>
                </a:solidFill>
              </a:rPr>
              <a:t>stdIdNo</a:t>
            </a:r>
            <a:r>
              <a:rPr lang="en-IN" sz="2600" dirty="0">
                <a:solidFill>
                  <a:schemeClr val="bg1"/>
                </a:solidFill>
              </a:rPr>
              <a:t>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public void </a:t>
            </a:r>
            <a:r>
              <a:rPr lang="en-IN" sz="2600" dirty="0" err="1">
                <a:solidFill>
                  <a:srgbClr val="FFC000"/>
                </a:solidFill>
              </a:rPr>
              <a:t>setStdIdNo</a:t>
            </a:r>
            <a:r>
              <a:rPr lang="en-IN" sz="2600" dirty="0">
                <a:solidFill>
                  <a:srgbClr val="FFC000"/>
                </a:solidFill>
              </a:rPr>
              <a:t>(</a:t>
            </a:r>
            <a:r>
              <a:rPr lang="en-IN" sz="2600" dirty="0" err="1">
                <a:solidFill>
                  <a:srgbClr val="FFC000"/>
                </a:solidFill>
              </a:rPr>
              <a:t>int</a:t>
            </a:r>
            <a:r>
              <a:rPr lang="en-IN" sz="2600" dirty="0">
                <a:solidFill>
                  <a:srgbClr val="FFC000"/>
                </a:solidFill>
              </a:rPr>
              <a:t> </a:t>
            </a:r>
            <a:r>
              <a:rPr lang="en-IN" sz="2600" dirty="0" err="1">
                <a:solidFill>
                  <a:srgbClr val="FFC000"/>
                </a:solidFill>
              </a:rPr>
              <a:t>stdIdNo</a:t>
            </a:r>
            <a:r>
              <a:rPr lang="en-IN" sz="2600" dirty="0">
                <a:solidFill>
                  <a:srgbClr val="FFC000"/>
                </a:solidFill>
              </a:rPr>
              <a:t>) </a:t>
            </a:r>
            <a:r>
              <a:rPr lang="en-IN" sz="2600" dirty="0">
                <a:solidFill>
                  <a:schemeClr val="bg1"/>
                </a:solidFill>
              </a:rPr>
              <a:t>{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    </a:t>
            </a:r>
            <a:r>
              <a:rPr lang="en-IN" sz="2600" dirty="0" err="1">
                <a:solidFill>
                  <a:schemeClr val="bg1"/>
                </a:solidFill>
              </a:rPr>
              <a:t>this.stdIdNo</a:t>
            </a:r>
            <a:r>
              <a:rPr lang="en-IN" sz="2600" dirty="0">
                <a:solidFill>
                  <a:schemeClr val="bg1"/>
                </a:solidFill>
              </a:rPr>
              <a:t> = </a:t>
            </a:r>
            <a:r>
              <a:rPr lang="en-IN" sz="2600" dirty="0" err="1">
                <a:solidFill>
                  <a:schemeClr val="bg1"/>
                </a:solidFill>
              </a:rPr>
              <a:t>stdIdNo</a:t>
            </a:r>
            <a:r>
              <a:rPr lang="en-IN" sz="2600" dirty="0">
                <a:solidFill>
                  <a:schemeClr val="bg1"/>
                </a:solidFill>
              </a:rPr>
              <a:t>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}</a:t>
            </a:r>
          </a:p>
        </p:txBody>
      </p:sp>
      <p:sp>
        <p:nvSpPr>
          <p:cNvPr id="3" name="Rectangle 2"/>
          <p:cNvSpPr/>
          <p:nvPr/>
        </p:nvSpPr>
        <p:spPr>
          <a:xfrm>
            <a:off x="5973097" y="1219395"/>
            <a:ext cx="6091523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</a:rPr>
              <a:t> public String </a:t>
            </a:r>
            <a:r>
              <a:rPr lang="en-IN" sz="2600" dirty="0" err="1">
                <a:solidFill>
                  <a:srgbClr val="FFC000"/>
                </a:solidFill>
              </a:rPr>
              <a:t>getStdName</a:t>
            </a:r>
            <a:r>
              <a:rPr lang="en-IN" sz="2600" dirty="0">
                <a:solidFill>
                  <a:srgbClr val="FFC000"/>
                </a:solidFill>
              </a:rPr>
              <a:t>() </a:t>
            </a:r>
            <a:r>
              <a:rPr lang="en-IN" sz="2600" dirty="0">
                <a:solidFill>
                  <a:schemeClr val="bg1"/>
                </a:solidFill>
              </a:rPr>
              <a:t>{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    return </a:t>
            </a:r>
            <a:r>
              <a:rPr lang="en-IN" sz="2600" dirty="0" err="1">
                <a:solidFill>
                  <a:schemeClr val="bg1"/>
                </a:solidFill>
              </a:rPr>
              <a:t>stdName</a:t>
            </a:r>
            <a:r>
              <a:rPr lang="en-IN" sz="2600" dirty="0">
                <a:solidFill>
                  <a:schemeClr val="bg1"/>
                </a:solidFill>
              </a:rPr>
              <a:t>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}</a:t>
            </a:r>
          </a:p>
          <a:p>
            <a:endParaRPr lang="en-IN" sz="2600" dirty="0">
              <a:solidFill>
                <a:schemeClr val="bg1"/>
              </a:solidFill>
            </a:endParaRPr>
          </a:p>
          <a:p>
            <a:r>
              <a:rPr lang="en-IN" sz="2600" dirty="0">
                <a:solidFill>
                  <a:schemeClr val="bg1"/>
                </a:solidFill>
              </a:rPr>
              <a:t>    public void </a:t>
            </a:r>
            <a:r>
              <a:rPr lang="en-IN" sz="2600" dirty="0" err="1">
                <a:solidFill>
                  <a:srgbClr val="FFC000"/>
                </a:solidFill>
              </a:rPr>
              <a:t>setStdName</a:t>
            </a:r>
            <a:r>
              <a:rPr lang="en-IN" sz="2600" dirty="0">
                <a:solidFill>
                  <a:srgbClr val="FFC000"/>
                </a:solidFill>
              </a:rPr>
              <a:t>(String </a:t>
            </a:r>
            <a:r>
              <a:rPr lang="en-IN" sz="2600" dirty="0" err="1">
                <a:solidFill>
                  <a:srgbClr val="FFC000"/>
                </a:solidFill>
              </a:rPr>
              <a:t>stdName</a:t>
            </a:r>
            <a:r>
              <a:rPr lang="en-IN" sz="2600" dirty="0">
                <a:solidFill>
                  <a:srgbClr val="FFC000"/>
                </a:solidFill>
              </a:rPr>
              <a:t>) </a:t>
            </a:r>
            <a:r>
              <a:rPr lang="en-IN" sz="2600" dirty="0">
                <a:solidFill>
                  <a:schemeClr val="bg1"/>
                </a:solidFill>
              </a:rPr>
              <a:t>{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    </a:t>
            </a:r>
            <a:r>
              <a:rPr lang="en-IN" sz="2600" dirty="0" err="1">
                <a:solidFill>
                  <a:schemeClr val="bg1"/>
                </a:solidFill>
              </a:rPr>
              <a:t>this.stdName</a:t>
            </a:r>
            <a:r>
              <a:rPr lang="en-IN" sz="2600" dirty="0">
                <a:solidFill>
                  <a:schemeClr val="bg1"/>
                </a:solidFill>
              </a:rPr>
              <a:t> = </a:t>
            </a:r>
            <a:r>
              <a:rPr lang="en-IN" sz="2600" dirty="0" err="1">
                <a:solidFill>
                  <a:schemeClr val="bg1"/>
                </a:solidFill>
              </a:rPr>
              <a:t>stdName</a:t>
            </a:r>
            <a:r>
              <a:rPr lang="en-IN" sz="2600" dirty="0">
                <a:solidFill>
                  <a:schemeClr val="bg1"/>
                </a:solidFill>
              </a:rPr>
              <a:t>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600" dirty="0">
                <a:solidFill>
                  <a:schemeClr val="bg1"/>
                </a:solidFill>
              </a:rPr>
              <a:t>}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861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74181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Simple Program of Java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652" y="1046697"/>
            <a:ext cx="6330651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dirty="0">
                <a:solidFill>
                  <a:srgbClr val="FFC000"/>
                </a:solidFill>
              </a:rPr>
              <a:t>import </a:t>
            </a:r>
            <a:r>
              <a:rPr lang="en-IN" sz="2600" dirty="0" err="1">
                <a:solidFill>
                  <a:srgbClr val="FFC000"/>
                </a:solidFill>
              </a:rPr>
              <a:t>java.util.Scanner</a:t>
            </a:r>
            <a:r>
              <a:rPr lang="en-IN" sz="2600" dirty="0">
                <a:solidFill>
                  <a:srgbClr val="FFC000"/>
                </a:solidFill>
              </a:rPr>
              <a:t>;</a:t>
            </a:r>
          </a:p>
          <a:p>
            <a:r>
              <a:rPr lang="en-IN" sz="2600" dirty="0">
                <a:solidFill>
                  <a:schemeClr val="bg1"/>
                </a:solidFill>
              </a:rPr>
              <a:t>public class </a:t>
            </a:r>
            <a:r>
              <a:rPr lang="en-IN" sz="2600" dirty="0">
                <a:solidFill>
                  <a:srgbClr val="FFC000"/>
                </a:solidFill>
              </a:rPr>
              <a:t>Admin</a:t>
            </a:r>
            <a:r>
              <a:rPr lang="en-IN" sz="2600" dirty="0">
                <a:solidFill>
                  <a:schemeClr val="bg1"/>
                </a:solidFill>
              </a:rPr>
              <a:t> {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2600" dirty="0" err="1">
                <a:solidFill>
                  <a:schemeClr val="bg1"/>
                </a:solidFill>
              </a:rPr>
              <a:t>args</a:t>
            </a:r>
            <a:r>
              <a:rPr lang="en-IN" sz="2600" dirty="0">
                <a:solidFill>
                  <a:schemeClr val="bg1"/>
                </a:solidFill>
              </a:rPr>
              <a:t>) {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    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Student s=</a:t>
            </a:r>
            <a:r>
              <a:rPr lang="en-IN" sz="2600" dirty="0">
                <a:solidFill>
                  <a:srgbClr val="FFC000"/>
                </a:solidFill>
              </a:rPr>
              <a:t>new</a:t>
            </a:r>
            <a:r>
              <a:rPr lang="en-IN" sz="2600" dirty="0">
                <a:solidFill>
                  <a:schemeClr val="bg1"/>
                </a:solidFill>
              </a:rPr>
              <a:t> Student();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 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</a:t>
            </a:r>
            <a:r>
              <a:rPr lang="en-IN" sz="2600" dirty="0">
                <a:solidFill>
                  <a:srgbClr val="FFC000"/>
                </a:solidFill>
              </a:rPr>
              <a:t>Scanner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  <a:r>
              <a:rPr lang="en-IN" sz="2600" dirty="0" err="1">
                <a:solidFill>
                  <a:schemeClr val="bg1"/>
                </a:solidFill>
              </a:rPr>
              <a:t>scanf</a:t>
            </a:r>
            <a:r>
              <a:rPr lang="en-IN" sz="2600" dirty="0">
                <a:solidFill>
                  <a:schemeClr val="bg1"/>
                </a:solidFill>
              </a:rPr>
              <a:t>= new </a:t>
            </a:r>
            <a:r>
              <a:rPr lang="en-IN" sz="2600" dirty="0">
                <a:solidFill>
                  <a:srgbClr val="FFC000"/>
                </a:solidFill>
              </a:rPr>
              <a:t>Scanner (System.in);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    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</a:t>
            </a:r>
            <a:r>
              <a:rPr lang="en-IN" sz="2600" dirty="0" err="1">
                <a:solidFill>
                  <a:schemeClr val="bg1"/>
                </a:solidFill>
              </a:rPr>
              <a:t>System.out.println</a:t>
            </a:r>
            <a:r>
              <a:rPr lang="en-IN" sz="2600" dirty="0">
                <a:solidFill>
                  <a:schemeClr val="bg1"/>
                </a:solidFill>
              </a:rPr>
              <a:t>("Enter Student ID");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</a:t>
            </a:r>
            <a:r>
              <a:rPr lang="en-IN" sz="2600" dirty="0" err="1">
                <a:solidFill>
                  <a:schemeClr val="bg1"/>
                </a:solidFill>
              </a:rPr>
              <a:t>int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  <a:r>
              <a:rPr lang="en-IN" sz="2600" dirty="0" err="1">
                <a:solidFill>
                  <a:schemeClr val="bg1"/>
                </a:solidFill>
              </a:rPr>
              <a:t>stdId</a:t>
            </a:r>
            <a:r>
              <a:rPr lang="en-IN" sz="2600" dirty="0">
                <a:solidFill>
                  <a:schemeClr val="bg1"/>
                </a:solidFill>
              </a:rPr>
              <a:t>=</a:t>
            </a:r>
            <a:r>
              <a:rPr lang="en-IN" sz="2600" dirty="0" err="1">
                <a:solidFill>
                  <a:srgbClr val="FFC000"/>
                </a:solidFill>
              </a:rPr>
              <a:t>scanf.nextInt</a:t>
            </a:r>
            <a:r>
              <a:rPr lang="en-IN" sz="2600" dirty="0">
                <a:solidFill>
                  <a:srgbClr val="FFC000"/>
                </a:solidFill>
              </a:rPr>
              <a:t>();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    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</a:t>
            </a:r>
            <a:r>
              <a:rPr lang="en-IN" sz="2600" dirty="0" err="1">
                <a:solidFill>
                  <a:schemeClr val="bg1"/>
                </a:solidFill>
              </a:rPr>
              <a:t>System.out.println</a:t>
            </a:r>
            <a:r>
              <a:rPr lang="en-IN" sz="2600" dirty="0">
                <a:solidFill>
                  <a:schemeClr val="bg1"/>
                </a:solidFill>
              </a:rPr>
              <a:t>("Enter Student Name");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String </a:t>
            </a:r>
            <a:r>
              <a:rPr lang="en-IN" sz="2600" dirty="0" err="1">
                <a:solidFill>
                  <a:schemeClr val="bg1"/>
                </a:solidFill>
              </a:rPr>
              <a:t>stdName</a:t>
            </a:r>
            <a:r>
              <a:rPr lang="en-IN" sz="2600" dirty="0">
                <a:solidFill>
                  <a:schemeClr val="bg1"/>
                </a:solidFill>
              </a:rPr>
              <a:t>=</a:t>
            </a:r>
            <a:r>
              <a:rPr lang="en-IN" sz="2600" dirty="0" err="1">
                <a:solidFill>
                  <a:srgbClr val="FFC000"/>
                </a:solidFill>
              </a:rPr>
              <a:t>scanf.next</a:t>
            </a:r>
            <a:r>
              <a:rPr lang="en-IN" sz="2600" dirty="0">
                <a:solidFill>
                  <a:srgbClr val="FFC000"/>
                </a:solidFill>
              </a:rPr>
              <a:t>();</a:t>
            </a:r>
          </a:p>
        </p:txBody>
      </p:sp>
      <p:sp>
        <p:nvSpPr>
          <p:cNvPr id="2" name="Rectangle 1"/>
          <p:cNvSpPr/>
          <p:nvPr/>
        </p:nvSpPr>
        <p:spPr>
          <a:xfrm>
            <a:off x="6371303" y="1046697"/>
            <a:ext cx="569331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</a:rPr>
              <a:t> </a:t>
            </a:r>
            <a:r>
              <a:rPr lang="en-IN" sz="2600" dirty="0" err="1">
                <a:solidFill>
                  <a:srgbClr val="FFC000"/>
                </a:solidFill>
              </a:rPr>
              <a:t>s.setStdIdNo</a:t>
            </a:r>
            <a:r>
              <a:rPr lang="en-IN" sz="2600" dirty="0">
                <a:solidFill>
                  <a:srgbClr val="FFC000"/>
                </a:solidFill>
              </a:rPr>
              <a:t>(</a:t>
            </a:r>
            <a:r>
              <a:rPr lang="en-IN" sz="2600" dirty="0" err="1">
                <a:solidFill>
                  <a:srgbClr val="FFC000"/>
                </a:solidFill>
              </a:rPr>
              <a:t>stdId</a:t>
            </a:r>
            <a:r>
              <a:rPr lang="en-IN" sz="2600" dirty="0">
                <a:solidFill>
                  <a:srgbClr val="FFC000"/>
                </a:solidFill>
              </a:rPr>
              <a:t>);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</a:t>
            </a:r>
            <a:r>
              <a:rPr lang="en-IN" sz="2600" dirty="0" err="1">
                <a:solidFill>
                  <a:schemeClr val="bg1"/>
                </a:solidFill>
              </a:rPr>
              <a:t>System.out.println</a:t>
            </a:r>
            <a:r>
              <a:rPr lang="en-IN" sz="2600" dirty="0">
                <a:solidFill>
                  <a:schemeClr val="bg1"/>
                </a:solidFill>
              </a:rPr>
              <a:t>("</a:t>
            </a:r>
            <a:r>
              <a:rPr lang="en-IN" sz="2600" dirty="0" err="1">
                <a:solidFill>
                  <a:schemeClr val="bg1"/>
                </a:solidFill>
              </a:rPr>
              <a:t>Studetn</a:t>
            </a:r>
            <a:r>
              <a:rPr lang="en-IN" sz="2600" dirty="0">
                <a:solidFill>
                  <a:schemeClr val="bg1"/>
                </a:solidFill>
              </a:rPr>
              <a:t> ID is: "+ </a:t>
            </a:r>
            <a:r>
              <a:rPr lang="en-IN" sz="2600" dirty="0" err="1">
                <a:solidFill>
                  <a:srgbClr val="FFC000"/>
                </a:solidFill>
              </a:rPr>
              <a:t>s.getStdIdNo</a:t>
            </a:r>
            <a:r>
              <a:rPr lang="en-IN" sz="2600" dirty="0">
                <a:solidFill>
                  <a:srgbClr val="FFC000"/>
                </a:solidFill>
              </a:rPr>
              <a:t>()</a:t>
            </a:r>
            <a:r>
              <a:rPr lang="en-IN" sz="2600" dirty="0">
                <a:solidFill>
                  <a:schemeClr val="bg1"/>
                </a:solidFill>
              </a:rPr>
              <a:t>);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    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</a:t>
            </a:r>
            <a:r>
              <a:rPr lang="en-IN" sz="2600" dirty="0" err="1">
                <a:solidFill>
                  <a:srgbClr val="FFC000"/>
                </a:solidFill>
              </a:rPr>
              <a:t>s.setStdName</a:t>
            </a:r>
            <a:r>
              <a:rPr lang="en-IN" sz="2600" dirty="0">
                <a:solidFill>
                  <a:srgbClr val="FFC000"/>
                </a:solidFill>
              </a:rPr>
              <a:t>(</a:t>
            </a:r>
            <a:r>
              <a:rPr lang="en-IN" sz="2600" dirty="0" err="1">
                <a:solidFill>
                  <a:srgbClr val="FFC000"/>
                </a:solidFill>
              </a:rPr>
              <a:t>stdName</a:t>
            </a:r>
            <a:r>
              <a:rPr lang="en-IN" sz="2600" dirty="0">
                <a:solidFill>
                  <a:srgbClr val="FFC000"/>
                </a:solidFill>
              </a:rPr>
              <a:t>);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    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</a:t>
            </a:r>
            <a:r>
              <a:rPr lang="en-IN" sz="2600" dirty="0" err="1">
                <a:solidFill>
                  <a:schemeClr val="bg1"/>
                </a:solidFill>
              </a:rPr>
              <a:t>System.out.println</a:t>
            </a:r>
            <a:r>
              <a:rPr lang="en-IN" sz="2600" dirty="0">
                <a:solidFill>
                  <a:schemeClr val="bg1"/>
                </a:solidFill>
              </a:rPr>
              <a:t>("Student Name is: “ + </a:t>
            </a:r>
            <a:r>
              <a:rPr lang="en-IN" sz="2600" dirty="0" err="1">
                <a:solidFill>
                  <a:srgbClr val="FFC000"/>
                </a:solidFill>
              </a:rPr>
              <a:t>s.getStdName</a:t>
            </a:r>
            <a:r>
              <a:rPr lang="en-IN" sz="2600" dirty="0">
                <a:solidFill>
                  <a:srgbClr val="FFC000"/>
                </a:solidFill>
              </a:rPr>
              <a:t>()</a:t>
            </a:r>
            <a:r>
              <a:rPr lang="en-IN" sz="2600" dirty="0">
                <a:solidFill>
                  <a:schemeClr val="bg1"/>
                </a:solidFill>
              </a:rPr>
              <a:t>);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    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</a:t>
            </a:r>
          </a:p>
          <a:p>
            <a:r>
              <a:rPr lang="en-IN" sz="2600" dirty="0">
                <a:solidFill>
                  <a:schemeClr val="bg1"/>
                </a:solidFill>
              </a:rPr>
              <a:t>}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76857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67673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What is Constructor?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652" y="1046697"/>
            <a:ext cx="12023969" cy="1830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Constructors are used to initialize the object’s state.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 Like </a:t>
            </a:r>
            <a:r>
              <a:rPr lang="en-IN" sz="2600" dirty="0">
                <a:solidFill>
                  <a:srgbClr val="FFC000"/>
                </a:solidFill>
              </a:rPr>
              <a:t>methods</a:t>
            </a:r>
            <a:r>
              <a:rPr lang="en-IN" sz="2600" dirty="0">
                <a:solidFill>
                  <a:schemeClr val="bg1"/>
                </a:solidFill>
              </a:rPr>
              <a:t>, a constructor also contains </a:t>
            </a:r>
            <a:r>
              <a:rPr lang="en-IN" sz="2600" dirty="0">
                <a:solidFill>
                  <a:srgbClr val="FFC000"/>
                </a:solidFill>
              </a:rPr>
              <a:t>collection of statements</a:t>
            </a:r>
            <a:r>
              <a:rPr lang="en-IN" sz="2600" dirty="0">
                <a:solidFill>
                  <a:schemeClr val="bg1"/>
                </a:solidFill>
              </a:rPr>
              <a:t>(i.e. instructions) that are executed at </a:t>
            </a:r>
            <a:r>
              <a:rPr lang="en-IN" sz="2600" dirty="0">
                <a:solidFill>
                  <a:srgbClr val="FFC000"/>
                </a:solidFill>
              </a:rPr>
              <a:t>time of Object creation</a:t>
            </a:r>
            <a:r>
              <a:rPr lang="en-IN" sz="2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259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96550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When is a Constructor called ?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652" y="1046697"/>
            <a:ext cx="12023969" cy="1830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Each time an </a:t>
            </a:r>
            <a:r>
              <a:rPr lang="en-IN" sz="2600" dirty="0">
                <a:solidFill>
                  <a:srgbClr val="FFC000"/>
                </a:solidFill>
              </a:rPr>
              <a:t>object is created using new() keyword</a:t>
            </a:r>
            <a:r>
              <a:rPr lang="en-IN" sz="2600" dirty="0">
                <a:solidFill>
                  <a:schemeClr val="bg1"/>
                </a:solidFill>
              </a:rPr>
              <a:t> at least </a:t>
            </a:r>
            <a:r>
              <a:rPr lang="en-IN" sz="2600" dirty="0">
                <a:solidFill>
                  <a:srgbClr val="FFC000"/>
                </a:solidFill>
              </a:rPr>
              <a:t>one constructor (it could be default constructor)</a:t>
            </a:r>
            <a:r>
              <a:rPr lang="en-IN" sz="2600" dirty="0">
                <a:solidFill>
                  <a:schemeClr val="bg1"/>
                </a:solidFill>
              </a:rPr>
              <a:t> is invoked to assign initial values to the data members of the same class.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31371" y="2935788"/>
            <a:ext cx="330282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u="sng" dirty="0">
                <a:solidFill>
                  <a:srgbClr val="FFC000"/>
                </a:solidFill>
              </a:rPr>
              <a:t>Example:</a:t>
            </a:r>
          </a:p>
          <a:p>
            <a:r>
              <a:rPr lang="en-IN" sz="2800" dirty="0">
                <a:solidFill>
                  <a:schemeClr val="bg1"/>
                </a:solidFill>
              </a:rPr>
              <a:t>class Student{   </a:t>
            </a:r>
          </a:p>
          <a:p>
            <a:r>
              <a:rPr lang="en-IN" sz="2800" dirty="0">
                <a:solidFill>
                  <a:schemeClr val="bg1"/>
                </a:solidFill>
              </a:rPr>
              <a:t>  .......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  // A Constructor</a:t>
            </a:r>
          </a:p>
          <a:p>
            <a:r>
              <a:rPr lang="en-IN" sz="2800" dirty="0">
                <a:solidFill>
                  <a:schemeClr val="bg1"/>
                </a:solidFill>
              </a:rPr>
              <a:t>  public  Student() {}</a:t>
            </a:r>
          </a:p>
          <a:p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  .......</a:t>
            </a:r>
          </a:p>
          <a:p>
            <a:r>
              <a:rPr lang="en-IN" sz="2800" dirty="0">
                <a:solidFill>
                  <a:schemeClr val="bg1"/>
                </a:solidFill>
              </a:rPr>
              <a:t>}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82380" y="2933333"/>
            <a:ext cx="640437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// We can create an object of above class</a:t>
            </a:r>
          </a:p>
          <a:p>
            <a:r>
              <a:rPr lang="en-IN" sz="2800" dirty="0">
                <a:solidFill>
                  <a:schemeClr val="bg1"/>
                </a:solidFill>
              </a:rPr>
              <a:t>// using below statement. This statement</a:t>
            </a:r>
          </a:p>
          <a:p>
            <a:r>
              <a:rPr lang="en-IN" sz="2800" dirty="0">
                <a:solidFill>
                  <a:schemeClr val="bg1"/>
                </a:solidFill>
              </a:rPr>
              <a:t>// calls above constructor.</a:t>
            </a:r>
          </a:p>
          <a:p>
            <a:r>
              <a:rPr lang="en-IN" sz="2800" dirty="0">
                <a:solidFill>
                  <a:srgbClr val="FFC000"/>
                </a:solidFill>
              </a:rPr>
              <a:t>Student </a:t>
            </a:r>
            <a:r>
              <a:rPr lang="en-IN" sz="2800" dirty="0" err="1">
                <a:solidFill>
                  <a:srgbClr val="FFC000"/>
                </a:solidFill>
              </a:rPr>
              <a:t>sobj</a:t>
            </a:r>
            <a:r>
              <a:rPr lang="en-IN" sz="2800" dirty="0">
                <a:solidFill>
                  <a:srgbClr val="FFC000"/>
                </a:solidFill>
              </a:rPr>
              <a:t> = new Student();</a:t>
            </a:r>
            <a:r>
              <a:rPr lang="en-IN" sz="28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087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96550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Rules for writing Constructor: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652" y="1046697"/>
            <a:ext cx="12023969" cy="2430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Constructor(s) of a </a:t>
            </a:r>
            <a:r>
              <a:rPr lang="en-IN" sz="2600" dirty="0">
                <a:solidFill>
                  <a:srgbClr val="FFC000"/>
                </a:solidFill>
              </a:rPr>
              <a:t>class must has same name as the class name</a:t>
            </a:r>
            <a:r>
              <a:rPr lang="en-IN" sz="2600" dirty="0">
                <a:solidFill>
                  <a:schemeClr val="bg1"/>
                </a:solidFill>
              </a:rPr>
              <a:t> in which it resides.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A constructor in Java </a:t>
            </a:r>
            <a:r>
              <a:rPr lang="en-IN" sz="2600" dirty="0">
                <a:solidFill>
                  <a:srgbClr val="FFC000"/>
                </a:solidFill>
              </a:rPr>
              <a:t>can not be abstract, final, static and Synchronized</a:t>
            </a:r>
            <a:r>
              <a:rPr lang="en-IN" sz="2600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FFC000"/>
                </a:solidFill>
              </a:rPr>
              <a:t>Access modifiers can be used </a:t>
            </a:r>
            <a:r>
              <a:rPr lang="en-IN" sz="2600" dirty="0">
                <a:solidFill>
                  <a:schemeClr val="bg1"/>
                </a:solidFill>
              </a:rPr>
              <a:t>in constructor declaration to control its access </a:t>
            </a:r>
            <a:r>
              <a:rPr lang="en-IN" sz="2600" dirty="0" err="1">
                <a:solidFill>
                  <a:schemeClr val="bg1"/>
                </a:solidFill>
              </a:rPr>
              <a:t>i.e</a:t>
            </a:r>
            <a:r>
              <a:rPr lang="en-IN" sz="2600" dirty="0">
                <a:solidFill>
                  <a:schemeClr val="bg1"/>
                </a:solidFill>
              </a:rPr>
              <a:t> which other class can call the constructor.</a:t>
            </a:r>
          </a:p>
        </p:txBody>
      </p:sp>
    </p:spTree>
    <p:extLst>
      <p:ext uri="{BB962C8B-B14F-4D97-AF65-F5344CB8AC3E}">
        <p14:creationId xmlns:p14="http://schemas.microsoft.com/office/powerpoint/2010/main" val="221267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655038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Types of constructor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652" y="889941"/>
            <a:ext cx="12023969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dirty="0">
                <a:solidFill>
                  <a:schemeClr val="bg1"/>
                </a:solidFill>
              </a:rPr>
              <a:t>There are two type of constructor in Java: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solidFill>
                  <a:srgbClr val="FFC000"/>
                </a:solidFill>
              </a:rPr>
              <a:t>No-argument constructor:</a:t>
            </a:r>
            <a:r>
              <a:rPr lang="en-IN" sz="2600" dirty="0">
                <a:solidFill>
                  <a:schemeClr val="bg1"/>
                </a:solidFill>
              </a:rPr>
              <a:t> A constructor that has no parameter is </a:t>
            </a:r>
            <a:r>
              <a:rPr lang="en-IN" sz="2600" dirty="0">
                <a:solidFill>
                  <a:srgbClr val="FFC000"/>
                </a:solidFill>
              </a:rPr>
              <a:t>known as default constructor.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</a:p>
          <a:p>
            <a:pPr lvl="1" algn="just">
              <a:lnSpc>
                <a:spcPct val="150000"/>
              </a:lnSpc>
            </a:pPr>
            <a:r>
              <a:rPr lang="en-IN" sz="2600" b="1" dirty="0">
                <a:solidFill>
                  <a:srgbClr val="FFC000"/>
                </a:solidFill>
              </a:rPr>
              <a:t>Note: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If we </a:t>
            </a:r>
            <a:r>
              <a:rPr lang="en-IN" sz="2600" dirty="0">
                <a:solidFill>
                  <a:srgbClr val="FFC000"/>
                </a:solidFill>
              </a:rPr>
              <a:t>don’t define a constructor in a class</a:t>
            </a:r>
            <a:r>
              <a:rPr lang="en-IN" sz="2600" dirty="0">
                <a:solidFill>
                  <a:schemeClr val="bg1"/>
                </a:solidFill>
              </a:rPr>
              <a:t>, then compiler </a:t>
            </a:r>
            <a:r>
              <a:rPr lang="en-IN" sz="2600" dirty="0">
                <a:solidFill>
                  <a:srgbClr val="FFC000"/>
                </a:solidFill>
              </a:rPr>
              <a:t>creates default constructor(with no arguments)</a:t>
            </a:r>
            <a:r>
              <a:rPr lang="en-IN" sz="2600" dirty="0">
                <a:solidFill>
                  <a:schemeClr val="bg1"/>
                </a:solidFill>
              </a:rPr>
              <a:t> for the class. 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And if we </a:t>
            </a:r>
            <a:r>
              <a:rPr lang="en-IN" sz="2600" dirty="0">
                <a:solidFill>
                  <a:srgbClr val="FFC000"/>
                </a:solidFill>
              </a:rPr>
              <a:t>write a constructor with arguments or no-argument</a:t>
            </a:r>
            <a:r>
              <a:rPr lang="en-IN" sz="2600" dirty="0">
                <a:solidFill>
                  <a:schemeClr val="bg1"/>
                </a:solidFill>
              </a:rPr>
              <a:t> then </a:t>
            </a:r>
            <a:r>
              <a:rPr lang="en-IN" sz="2600" dirty="0">
                <a:solidFill>
                  <a:srgbClr val="FFC000"/>
                </a:solidFill>
              </a:rPr>
              <a:t>compiler does not create default constructor</a:t>
            </a:r>
            <a:r>
              <a:rPr lang="en-IN" sz="2600" dirty="0">
                <a:solidFill>
                  <a:schemeClr val="bg1"/>
                </a:solidFill>
              </a:rPr>
              <a:t>. 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Default constructor provides the </a:t>
            </a:r>
            <a:r>
              <a:rPr lang="en-IN" sz="2600" dirty="0">
                <a:solidFill>
                  <a:srgbClr val="FFC000"/>
                </a:solidFill>
              </a:rPr>
              <a:t>default values</a:t>
            </a:r>
            <a:r>
              <a:rPr lang="en-IN" sz="2600" dirty="0">
                <a:solidFill>
                  <a:schemeClr val="bg1"/>
                </a:solidFill>
              </a:rPr>
              <a:t> to the object </a:t>
            </a:r>
            <a:r>
              <a:rPr lang="en-IN" sz="2600" dirty="0">
                <a:solidFill>
                  <a:srgbClr val="FFC000"/>
                </a:solidFill>
              </a:rPr>
              <a:t>like 0, null</a:t>
            </a:r>
            <a:r>
              <a:rPr lang="en-IN" sz="2600" dirty="0">
                <a:solidFill>
                  <a:schemeClr val="bg1"/>
                </a:solidFill>
              </a:rPr>
              <a:t> etc. depending on the type.</a:t>
            </a:r>
          </a:p>
        </p:txBody>
      </p:sp>
    </p:spTree>
    <p:extLst>
      <p:ext uri="{BB962C8B-B14F-4D97-AF65-F5344CB8AC3E}">
        <p14:creationId xmlns:p14="http://schemas.microsoft.com/office/powerpoint/2010/main" val="312468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1961" y="95355"/>
            <a:ext cx="7861696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u="sng" dirty="0">
                <a:solidFill>
                  <a:srgbClr val="FFC000"/>
                </a:solidFill>
              </a:rPr>
              <a:t>Example:</a:t>
            </a:r>
          </a:p>
          <a:p>
            <a:r>
              <a:rPr lang="en-IN" sz="2600" dirty="0">
                <a:solidFill>
                  <a:schemeClr val="bg1"/>
                </a:solidFill>
              </a:rPr>
              <a:t>public class </a:t>
            </a:r>
            <a:r>
              <a:rPr lang="en-IN" sz="2600" dirty="0">
                <a:solidFill>
                  <a:srgbClr val="FFC000"/>
                </a:solidFill>
              </a:rPr>
              <a:t>Student</a:t>
            </a:r>
            <a:r>
              <a:rPr lang="en-IN" sz="2600" dirty="0">
                <a:solidFill>
                  <a:schemeClr val="bg1"/>
                </a:solidFill>
              </a:rPr>
              <a:t>{</a:t>
            </a:r>
          </a:p>
          <a:p>
            <a:r>
              <a:rPr lang="en-IN" sz="2600" dirty="0">
                <a:solidFill>
                  <a:schemeClr val="bg1"/>
                </a:solidFill>
              </a:rPr>
              <a:t>	String name;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	</a:t>
            </a:r>
            <a:r>
              <a:rPr lang="en-IN" sz="2600" dirty="0" err="1">
                <a:solidFill>
                  <a:schemeClr val="bg1"/>
                </a:solidFill>
              </a:rPr>
              <a:t>int</a:t>
            </a:r>
            <a:r>
              <a:rPr lang="en-IN" sz="2600" dirty="0">
                <a:solidFill>
                  <a:schemeClr val="bg1"/>
                </a:solidFill>
              </a:rPr>
              <a:t> id;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</a:t>
            </a:r>
          </a:p>
          <a:p>
            <a:r>
              <a:rPr lang="en-IN" sz="2600" dirty="0">
                <a:solidFill>
                  <a:schemeClr val="bg1"/>
                </a:solidFill>
              </a:rPr>
              <a:t>public Student(){</a:t>
            </a:r>
          </a:p>
          <a:p>
            <a:r>
              <a:rPr lang="en-IN" sz="2600" dirty="0">
                <a:solidFill>
                  <a:schemeClr val="bg1"/>
                </a:solidFill>
              </a:rPr>
              <a:t>	</a:t>
            </a:r>
            <a:r>
              <a:rPr lang="en-IN" sz="2600" dirty="0" err="1">
                <a:solidFill>
                  <a:schemeClr val="bg1"/>
                </a:solidFill>
              </a:rPr>
              <a:t>System.out.println</a:t>
            </a:r>
            <a:r>
              <a:rPr lang="en-IN" sz="2600" dirty="0">
                <a:solidFill>
                  <a:schemeClr val="bg1"/>
                </a:solidFill>
              </a:rPr>
              <a:t>("Constructor called");</a:t>
            </a:r>
          </a:p>
          <a:p>
            <a:r>
              <a:rPr lang="en-IN" sz="2600" dirty="0">
                <a:solidFill>
                  <a:schemeClr val="bg1"/>
                </a:solidFill>
              </a:rPr>
              <a:t>} }</a:t>
            </a:r>
          </a:p>
          <a:p>
            <a:endParaRPr lang="en-IN" sz="2600" dirty="0">
              <a:solidFill>
                <a:schemeClr val="bg1"/>
              </a:solidFill>
            </a:endParaRPr>
          </a:p>
          <a:p>
            <a:r>
              <a:rPr lang="en-IN" sz="2600" dirty="0">
                <a:solidFill>
                  <a:schemeClr val="bg1"/>
                </a:solidFill>
              </a:rPr>
              <a:t> public class </a:t>
            </a:r>
            <a:r>
              <a:rPr lang="en-IN" sz="2600" dirty="0">
                <a:solidFill>
                  <a:srgbClr val="FFC000"/>
                </a:solidFill>
              </a:rPr>
              <a:t>Admin</a:t>
            </a:r>
            <a:r>
              <a:rPr lang="en-IN" sz="2600" dirty="0">
                <a:solidFill>
                  <a:schemeClr val="bg1"/>
                </a:solidFill>
              </a:rPr>
              <a:t> {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public static void main (String[] </a:t>
            </a:r>
            <a:r>
              <a:rPr lang="en-IN" sz="2600" dirty="0" err="1">
                <a:solidFill>
                  <a:schemeClr val="bg1"/>
                </a:solidFill>
              </a:rPr>
              <a:t>args</a:t>
            </a:r>
            <a:r>
              <a:rPr lang="en-IN" sz="2600" dirty="0">
                <a:solidFill>
                  <a:schemeClr val="bg1"/>
                </a:solidFill>
              </a:rPr>
              <a:t>) {</a:t>
            </a:r>
          </a:p>
          <a:p>
            <a:r>
              <a:rPr lang="en-IN" sz="2600" dirty="0">
                <a:solidFill>
                  <a:schemeClr val="bg1"/>
                </a:solidFill>
              </a:rPr>
              <a:t>	</a:t>
            </a:r>
            <a:r>
              <a:rPr lang="en-IN" sz="2600" dirty="0">
                <a:solidFill>
                  <a:srgbClr val="FFC000"/>
                </a:solidFill>
              </a:rPr>
              <a:t>Student s = new Student();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    </a:t>
            </a:r>
            <a:r>
              <a:rPr lang="en-IN" sz="2600" dirty="0" err="1">
                <a:solidFill>
                  <a:schemeClr val="bg1"/>
                </a:solidFill>
              </a:rPr>
              <a:t>System.out.println</a:t>
            </a:r>
            <a:r>
              <a:rPr lang="en-IN" sz="2600" dirty="0">
                <a:solidFill>
                  <a:schemeClr val="bg1"/>
                </a:solidFill>
              </a:rPr>
              <a:t>(“Student Name :" + s.name);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</a:t>
            </a:r>
            <a:r>
              <a:rPr lang="en-IN" sz="2600" dirty="0" err="1">
                <a:solidFill>
                  <a:schemeClr val="bg1"/>
                </a:solidFill>
              </a:rPr>
              <a:t>System.out.println</a:t>
            </a:r>
            <a:r>
              <a:rPr lang="en-IN" sz="2600" dirty="0">
                <a:solidFill>
                  <a:schemeClr val="bg1"/>
                </a:solidFill>
              </a:rPr>
              <a:t>(“Student ID :" + s.id);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3331" y="618700"/>
            <a:ext cx="5616987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solidFill>
                  <a:srgbClr val="FFC000"/>
                </a:solidFill>
              </a:rPr>
              <a:t>O/P:</a:t>
            </a:r>
          </a:p>
          <a:p>
            <a:r>
              <a:rPr lang="en-IN" sz="2800" dirty="0">
                <a:solidFill>
                  <a:schemeClr val="bg1"/>
                </a:solidFill>
              </a:rPr>
              <a:t>Constructor called</a:t>
            </a:r>
            <a:endParaRPr lang="en-IN" sz="2800" dirty="0">
              <a:solidFill>
                <a:srgbClr val="FFC000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Student Name :null and Student ID :0</a:t>
            </a:r>
          </a:p>
        </p:txBody>
      </p:sp>
    </p:spTree>
    <p:extLst>
      <p:ext uri="{BB962C8B-B14F-4D97-AF65-F5344CB8AC3E}">
        <p14:creationId xmlns:p14="http://schemas.microsoft.com/office/powerpoint/2010/main" val="20216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655038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Types of constructor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652" y="1046697"/>
            <a:ext cx="12023969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dirty="0">
                <a:solidFill>
                  <a:schemeClr val="bg1"/>
                </a:solidFill>
              </a:rPr>
              <a:t>There are two type of constructor in Java: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IN" sz="2600" dirty="0">
                <a:solidFill>
                  <a:srgbClr val="FFC000"/>
                </a:solidFill>
              </a:rPr>
              <a:t>Parameterized Constructor:</a:t>
            </a:r>
            <a:r>
              <a:rPr lang="en-IN" sz="2600" dirty="0">
                <a:solidFill>
                  <a:schemeClr val="bg1"/>
                </a:solidFill>
              </a:rPr>
              <a:t> A </a:t>
            </a:r>
            <a:r>
              <a:rPr lang="en-IN" sz="2600" dirty="0">
                <a:solidFill>
                  <a:srgbClr val="FFC000"/>
                </a:solidFill>
              </a:rPr>
              <a:t>constructor that has parameters</a:t>
            </a:r>
            <a:r>
              <a:rPr lang="en-IN" sz="2600" dirty="0">
                <a:solidFill>
                  <a:schemeClr val="bg1"/>
                </a:solidFill>
              </a:rPr>
              <a:t> is known as parameterized constructor. 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If we want to initialize fields of the class with our own values, then use parameterized constructor.</a:t>
            </a:r>
          </a:p>
        </p:txBody>
      </p:sp>
    </p:spTree>
    <p:extLst>
      <p:ext uri="{BB962C8B-B14F-4D97-AF65-F5344CB8AC3E}">
        <p14:creationId xmlns:p14="http://schemas.microsoft.com/office/powerpoint/2010/main" val="52285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1961" y="95355"/>
            <a:ext cx="7861696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u="sng" dirty="0">
                <a:solidFill>
                  <a:srgbClr val="FFC000"/>
                </a:solidFill>
              </a:rPr>
              <a:t>Example:</a:t>
            </a:r>
          </a:p>
          <a:p>
            <a:r>
              <a:rPr lang="en-IN" sz="2600" dirty="0">
                <a:solidFill>
                  <a:schemeClr val="bg1"/>
                </a:solidFill>
              </a:rPr>
              <a:t>public class </a:t>
            </a:r>
            <a:r>
              <a:rPr lang="en-IN" sz="2600" dirty="0">
                <a:solidFill>
                  <a:srgbClr val="FFC000"/>
                </a:solidFill>
              </a:rPr>
              <a:t>Student</a:t>
            </a:r>
            <a:r>
              <a:rPr lang="en-IN" sz="2600" dirty="0">
                <a:solidFill>
                  <a:schemeClr val="bg1"/>
                </a:solidFill>
              </a:rPr>
              <a:t>{</a:t>
            </a:r>
          </a:p>
          <a:p>
            <a:r>
              <a:rPr lang="en-IN" sz="2600" dirty="0">
                <a:solidFill>
                  <a:schemeClr val="bg1"/>
                </a:solidFill>
              </a:rPr>
              <a:t>	String name;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	</a:t>
            </a:r>
            <a:r>
              <a:rPr lang="en-IN" sz="2600" dirty="0" err="1">
                <a:solidFill>
                  <a:schemeClr val="bg1"/>
                </a:solidFill>
              </a:rPr>
              <a:t>int</a:t>
            </a:r>
            <a:r>
              <a:rPr lang="en-IN" sz="2600" dirty="0">
                <a:solidFill>
                  <a:schemeClr val="bg1"/>
                </a:solidFill>
              </a:rPr>
              <a:t> id;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</a:t>
            </a:r>
          </a:p>
          <a:p>
            <a:r>
              <a:rPr lang="en-IN" sz="2600" dirty="0">
                <a:solidFill>
                  <a:schemeClr val="bg1"/>
                </a:solidFill>
              </a:rPr>
              <a:t>public Student(String </a:t>
            </a:r>
            <a:r>
              <a:rPr lang="en-IN" sz="2600" dirty="0" err="1">
                <a:solidFill>
                  <a:schemeClr val="bg1"/>
                </a:solidFill>
              </a:rPr>
              <a:t>sname</a:t>
            </a:r>
            <a:r>
              <a:rPr lang="en-IN" sz="2600" dirty="0">
                <a:solidFill>
                  <a:schemeClr val="bg1"/>
                </a:solidFill>
              </a:rPr>
              <a:t>, </a:t>
            </a:r>
            <a:r>
              <a:rPr lang="en-IN" sz="2600" dirty="0" err="1">
                <a:solidFill>
                  <a:schemeClr val="bg1"/>
                </a:solidFill>
              </a:rPr>
              <a:t>int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  <a:r>
              <a:rPr lang="en-IN" sz="2600" dirty="0" err="1">
                <a:solidFill>
                  <a:schemeClr val="bg1"/>
                </a:solidFill>
              </a:rPr>
              <a:t>sid</a:t>
            </a:r>
            <a:r>
              <a:rPr lang="en-IN" sz="2600" dirty="0">
                <a:solidFill>
                  <a:schemeClr val="bg1"/>
                </a:solidFill>
              </a:rPr>
              <a:t>){</a:t>
            </a:r>
          </a:p>
          <a:p>
            <a:r>
              <a:rPr lang="en-IN" sz="2600" dirty="0">
                <a:solidFill>
                  <a:schemeClr val="bg1"/>
                </a:solidFill>
              </a:rPr>
              <a:t>	name = </a:t>
            </a:r>
            <a:r>
              <a:rPr lang="en-IN" sz="2600" dirty="0" err="1">
                <a:solidFill>
                  <a:schemeClr val="bg1"/>
                </a:solidFill>
              </a:rPr>
              <a:t>sname</a:t>
            </a:r>
            <a:r>
              <a:rPr lang="en-IN" sz="2600" dirty="0">
                <a:solidFill>
                  <a:schemeClr val="bg1"/>
                </a:solidFill>
              </a:rPr>
              <a:t>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    	id = </a:t>
            </a:r>
            <a:r>
              <a:rPr lang="en-IN" sz="2600" dirty="0" err="1">
                <a:solidFill>
                  <a:schemeClr val="bg1"/>
                </a:solidFill>
              </a:rPr>
              <a:t>sid</a:t>
            </a:r>
            <a:r>
              <a:rPr lang="en-IN" sz="2600" dirty="0">
                <a:solidFill>
                  <a:schemeClr val="bg1"/>
                </a:solidFill>
              </a:rPr>
              <a:t>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} }</a:t>
            </a:r>
          </a:p>
          <a:p>
            <a:r>
              <a:rPr lang="en-IN" sz="2600" dirty="0">
                <a:solidFill>
                  <a:schemeClr val="bg1"/>
                </a:solidFill>
              </a:rPr>
              <a:t> public class </a:t>
            </a:r>
            <a:r>
              <a:rPr lang="en-IN" sz="2600" dirty="0">
                <a:solidFill>
                  <a:srgbClr val="FFC000"/>
                </a:solidFill>
              </a:rPr>
              <a:t>Admin</a:t>
            </a:r>
            <a:r>
              <a:rPr lang="en-IN" sz="2600" dirty="0">
                <a:solidFill>
                  <a:schemeClr val="bg1"/>
                </a:solidFill>
              </a:rPr>
              <a:t> {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public static void main (String[] </a:t>
            </a:r>
            <a:r>
              <a:rPr lang="en-IN" sz="2600" dirty="0" err="1">
                <a:solidFill>
                  <a:schemeClr val="bg1"/>
                </a:solidFill>
              </a:rPr>
              <a:t>args</a:t>
            </a:r>
            <a:r>
              <a:rPr lang="en-IN" sz="2600" dirty="0">
                <a:solidFill>
                  <a:schemeClr val="bg1"/>
                </a:solidFill>
              </a:rPr>
              <a:t>) {</a:t>
            </a:r>
          </a:p>
          <a:p>
            <a:r>
              <a:rPr lang="en-IN" sz="2600" dirty="0">
                <a:solidFill>
                  <a:schemeClr val="bg1"/>
                </a:solidFill>
              </a:rPr>
              <a:t>	</a:t>
            </a:r>
            <a:r>
              <a:rPr lang="en-IN" sz="2600" dirty="0">
                <a:solidFill>
                  <a:srgbClr val="FFC000"/>
                </a:solidFill>
              </a:rPr>
              <a:t>Student s = new Student(“</a:t>
            </a:r>
            <a:r>
              <a:rPr lang="en-IN" sz="2600" dirty="0" err="1">
                <a:solidFill>
                  <a:srgbClr val="FFC000"/>
                </a:solidFill>
              </a:rPr>
              <a:t>Nikunj</a:t>
            </a:r>
            <a:r>
              <a:rPr lang="en-IN" sz="2600" dirty="0">
                <a:solidFill>
                  <a:srgbClr val="FFC000"/>
                </a:solidFill>
              </a:rPr>
              <a:t>", 101);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    </a:t>
            </a:r>
            <a:r>
              <a:rPr lang="en-IN" sz="2600" dirty="0" err="1">
                <a:solidFill>
                  <a:schemeClr val="bg1"/>
                </a:solidFill>
              </a:rPr>
              <a:t>System.out.println</a:t>
            </a:r>
            <a:r>
              <a:rPr lang="en-IN" sz="2600" dirty="0">
                <a:solidFill>
                  <a:schemeClr val="bg1"/>
                </a:solidFill>
              </a:rPr>
              <a:t>(“Student Name :" + s.name +  " and Student ID :" + s.id);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3331" y="618700"/>
            <a:ext cx="637866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solidFill>
                  <a:srgbClr val="FFC000"/>
                </a:solidFill>
              </a:rPr>
              <a:t>O/P:</a:t>
            </a:r>
          </a:p>
          <a:p>
            <a:r>
              <a:rPr lang="en-IN" sz="2800" dirty="0">
                <a:solidFill>
                  <a:schemeClr val="bg1"/>
                </a:solidFill>
              </a:rPr>
              <a:t>Student Name :</a:t>
            </a:r>
            <a:r>
              <a:rPr lang="en-IN" sz="2800" dirty="0" err="1">
                <a:solidFill>
                  <a:schemeClr val="bg1"/>
                </a:solidFill>
              </a:rPr>
              <a:t>Nikunj</a:t>
            </a:r>
            <a:r>
              <a:rPr lang="en-IN" sz="2800" dirty="0">
                <a:solidFill>
                  <a:schemeClr val="bg1"/>
                </a:solidFill>
              </a:rPr>
              <a:t> and Student ID :101</a:t>
            </a:r>
          </a:p>
        </p:txBody>
      </p:sp>
    </p:spTree>
    <p:extLst>
      <p:ext uri="{BB962C8B-B14F-4D97-AF65-F5344CB8AC3E}">
        <p14:creationId xmlns:p14="http://schemas.microsoft.com/office/powerpoint/2010/main" val="388861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111477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Does constructor return any value?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652" y="1046697"/>
            <a:ext cx="12023969" cy="1230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dirty="0">
                <a:solidFill>
                  <a:schemeClr val="bg1"/>
                </a:solidFill>
              </a:rPr>
              <a:t>Note: There are </a:t>
            </a:r>
            <a:r>
              <a:rPr lang="en-IN" sz="2600" dirty="0">
                <a:solidFill>
                  <a:srgbClr val="FFC000"/>
                </a:solidFill>
              </a:rPr>
              <a:t>no “return value” statements </a:t>
            </a:r>
            <a:r>
              <a:rPr lang="en-IN" sz="2600" dirty="0">
                <a:solidFill>
                  <a:schemeClr val="bg1"/>
                </a:solidFill>
              </a:rPr>
              <a:t>in constructor, but </a:t>
            </a:r>
            <a:r>
              <a:rPr lang="en-IN" sz="2600" dirty="0">
                <a:solidFill>
                  <a:srgbClr val="FFC000"/>
                </a:solidFill>
              </a:rPr>
              <a:t>constructor returns current class instance</a:t>
            </a:r>
            <a:r>
              <a:rPr lang="en-IN" sz="2600" dirty="0">
                <a:solidFill>
                  <a:schemeClr val="bg1"/>
                </a:solidFill>
              </a:rPr>
              <a:t>. We can </a:t>
            </a:r>
            <a:r>
              <a:rPr lang="en-IN" sz="2600" dirty="0">
                <a:solidFill>
                  <a:srgbClr val="FFC000"/>
                </a:solidFill>
              </a:rPr>
              <a:t>write ‘return’ inside a constructor</a:t>
            </a:r>
            <a:r>
              <a:rPr lang="en-IN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" name="Rectangle 1"/>
          <p:cNvSpPr/>
          <p:nvPr/>
        </p:nvSpPr>
        <p:spPr>
          <a:xfrm>
            <a:off x="1297577" y="2669403"/>
            <a:ext cx="623969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</a:rPr>
              <a:t>public class Student {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</a:t>
            </a:r>
          </a:p>
          <a:p>
            <a:r>
              <a:rPr lang="en-IN" sz="2600" dirty="0">
                <a:solidFill>
                  <a:schemeClr val="bg1"/>
                </a:solidFill>
              </a:rPr>
              <a:t>public Student(){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</a:t>
            </a:r>
            <a:r>
              <a:rPr lang="en-IN" sz="2600" dirty="0">
                <a:solidFill>
                  <a:srgbClr val="FFC000"/>
                </a:solidFill>
              </a:rPr>
              <a:t>return; // valid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</a:t>
            </a:r>
            <a:r>
              <a:rPr lang="en-IN" sz="2600" dirty="0">
                <a:solidFill>
                  <a:srgbClr val="FFC000"/>
                </a:solidFill>
              </a:rPr>
              <a:t>//return 0; not valid</a:t>
            </a:r>
          </a:p>
          <a:p>
            <a:r>
              <a:rPr lang="en-IN" sz="2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6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625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72232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What is  Overloading ?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79862" y="1175045"/>
            <a:ext cx="11481212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Overloading allows </a:t>
            </a:r>
            <a:r>
              <a:rPr lang="en-IN" sz="2600" dirty="0">
                <a:solidFill>
                  <a:srgbClr val="FFC000"/>
                </a:solidFill>
              </a:rPr>
              <a:t>different </a:t>
            </a:r>
            <a:r>
              <a:rPr lang="en-IN" sz="2600" dirty="0" smtClean="0">
                <a:solidFill>
                  <a:srgbClr val="FFC000"/>
                </a:solidFill>
              </a:rPr>
              <a:t>constructor/methods </a:t>
            </a:r>
            <a:r>
              <a:rPr lang="en-IN" sz="2600" dirty="0">
                <a:solidFill>
                  <a:srgbClr val="FFC000"/>
                </a:solidFill>
              </a:rPr>
              <a:t>to have same name</a:t>
            </a:r>
            <a:r>
              <a:rPr lang="en-IN" sz="2600" dirty="0">
                <a:solidFill>
                  <a:schemeClr val="bg1"/>
                </a:solidFill>
              </a:rPr>
              <a:t>, but </a:t>
            </a:r>
            <a:r>
              <a:rPr lang="en-IN" sz="2600" dirty="0">
                <a:solidFill>
                  <a:srgbClr val="FFC000"/>
                </a:solidFill>
              </a:rPr>
              <a:t>different signatures.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Where signature can differ by </a:t>
            </a:r>
            <a:r>
              <a:rPr lang="en-IN" sz="2600" dirty="0">
                <a:solidFill>
                  <a:srgbClr val="FFC000"/>
                </a:solidFill>
              </a:rPr>
              <a:t>number of input parameters</a:t>
            </a:r>
            <a:r>
              <a:rPr lang="en-IN" sz="2600" dirty="0">
                <a:solidFill>
                  <a:schemeClr val="bg1"/>
                </a:solidFill>
              </a:rPr>
              <a:t> or </a:t>
            </a:r>
            <a:r>
              <a:rPr lang="en-IN" sz="2600" dirty="0">
                <a:solidFill>
                  <a:srgbClr val="FFC000"/>
                </a:solidFill>
              </a:rPr>
              <a:t>type of input parameters</a:t>
            </a:r>
            <a:r>
              <a:rPr lang="en-IN" sz="2600" dirty="0">
                <a:solidFill>
                  <a:schemeClr val="bg1"/>
                </a:solidFill>
              </a:rPr>
              <a:t> or </a:t>
            </a:r>
            <a:r>
              <a:rPr lang="en-IN" sz="2600" dirty="0">
                <a:solidFill>
                  <a:srgbClr val="FFC000"/>
                </a:solidFill>
              </a:rPr>
              <a:t>both</a:t>
            </a:r>
            <a:r>
              <a:rPr lang="en-IN" sz="2600" dirty="0">
                <a:solidFill>
                  <a:schemeClr val="bg1"/>
                </a:solidFill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Overloading is related to </a:t>
            </a:r>
            <a:r>
              <a:rPr lang="en-IN" sz="2600" dirty="0">
                <a:solidFill>
                  <a:srgbClr val="FFC000"/>
                </a:solidFill>
              </a:rPr>
              <a:t>compile time (or static) polymorphism</a:t>
            </a:r>
            <a:r>
              <a:rPr lang="en-IN" sz="2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478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80237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Constructor Overloading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79862" y="1175045"/>
            <a:ext cx="11481212" cy="1230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Compiler </a:t>
            </a:r>
            <a:r>
              <a:rPr lang="en-IN" sz="2600" dirty="0">
                <a:solidFill>
                  <a:srgbClr val="FFC000"/>
                </a:solidFill>
              </a:rPr>
              <a:t>differentiates constructors</a:t>
            </a:r>
            <a:r>
              <a:rPr lang="en-IN" sz="2600" dirty="0">
                <a:solidFill>
                  <a:schemeClr val="bg1"/>
                </a:solidFill>
              </a:rPr>
              <a:t> on the basis of </a:t>
            </a:r>
            <a:r>
              <a:rPr lang="en-IN" sz="2600" dirty="0">
                <a:solidFill>
                  <a:srgbClr val="FFC000"/>
                </a:solidFill>
              </a:rPr>
              <a:t>numbers of parameters, types of the parameters and order of the parameters</a:t>
            </a:r>
            <a:r>
              <a:rPr lang="en-IN" sz="2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982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38" y="228498"/>
            <a:ext cx="894805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Example:</a:t>
            </a:r>
          </a:p>
          <a:p>
            <a:r>
              <a:rPr lang="en-IN" sz="2400" dirty="0">
                <a:solidFill>
                  <a:schemeClr val="bg1"/>
                </a:solidFill>
              </a:rPr>
              <a:t>public class Student {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>
                <a:solidFill>
                  <a:srgbClr val="FFC000"/>
                </a:solidFill>
              </a:rPr>
              <a:t>public Student(String name)</a:t>
            </a:r>
            <a:r>
              <a:rPr lang="en-IN" sz="2400" dirty="0">
                <a:solidFill>
                  <a:schemeClr val="bg1"/>
                </a:solidFill>
              </a:rPr>
              <a:t>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("Constructor with one "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        + "argument - String : " + name);    }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>
                <a:solidFill>
                  <a:srgbClr val="FFC000"/>
                </a:solidFill>
              </a:rPr>
              <a:t>public Student(String name, </a:t>
            </a:r>
            <a:r>
              <a:rPr lang="en-IN" sz="2400" dirty="0" err="1">
                <a:solidFill>
                  <a:srgbClr val="FFC000"/>
                </a:solidFill>
              </a:rPr>
              <a:t>int</a:t>
            </a:r>
            <a:r>
              <a:rPr lang="en-IN" sz="2400" dirty="0">
                <a:solidFill>
                  <a:srgbClr val="FFC000"/>
                </a:solidFill>
              </a:rPr>
              <a:t> id)</a:t>
            </a:r>
            <a:r>
              <a:rPr lang="en-IN" sz="2400" dirty="0">
                <a:solidFill>
                  <a:schemeClr val="bg1"/>
                </a:solidFill>
              </a:rPr>
              <a:t>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</a:t>
            </a:r>
            <a:r>
              <a:rPr lang="en-IN" sz="2400" dirty="0">
                <a:solidFill>
                  <a:schemeClr val="bg1"/>
                </a:solidFill>
              </a:rPr>
              <a:t>("Constructor with two arguments : "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        + " String and Integer : " + name + " " + id);    }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>
                <a:solidFill>
                  <a:srgbClr val="FFC000"/>
                </a:solidFill>
              </a:rPr>
              <a:t>public Student(long </a:t>
            </a:r>
            <a:r>
              <a:rPr lang="en-IN" sz="2400" dirty="0" err="1">
                <a:solidFill>
                  <a:srgbClr val="FFC000"/>
                </a:solidFill>
              </a:rPr>
              <a:t>CellNo</a:t>
            </a:r>
            <a:r>
              <a:rPr lang="en-IN" sz="2400" dirty="0">
                <a:solidFill>
                  <a:srgbClr val="FFC000"/>
                </a:solidFill>
              </a:rPr>
              <a:t>)</a:t>
            </a:r>
            <a:r>
              <a:rPr lang="en-IN" sz="2400" dirty="0">
                <a:solidFill>
                  <a:schemeClr val="bg1"/>
                </a:solidFill>
              </a:rPr>
              <a:t>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("Constructor with one argument : "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        + "Long : " + </a:t>
            </a:r>
            <a:r>
              <a:rPr lang="en-IN" sz="2400" dirty="0" err="1">
                <a:solidFill>
                  <a:schemeClr val="bg1"/>
                </a:solidFill>
              </a:rPr>
              <a:t>CellNo</a:t>
            </a:r>
            <a:r>
              <a:rPr lang="en-IN" sz="2400" dirty="0">
                <a:solidFill>
                  <a:schemeClr val="bg1"/>
                </a:solidFill>
              </a:rPr>
              <a:t>);}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6361612" y="359791"/>
            <a:ext cx="60742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public class Admin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public static void main(String[]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Student s1 = new Student("</a:t>
            </a:r>
            <a:r>
              <a:rPr lang="en-IN" sz="2400" dirty="0" err="1">
                <a:solidFill>
                  <a:schemeClr val="bg1"/>
                </a:solidFill>
              </a:rPr>
              <a:t>Nikunj</a:t>
            </a:r>
            <a:r>
              <a:rPr lang="en-IN" sz="2400" dirty="0">
                <a:solidFill>
                  <a:schemeClr val="bg1"/>
                </a:solidFill>
              </a:rPr>
              <a:t>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Student s2 = new Student("</a:t>
            </a:r>
            <a:r>
              <a:rPr lang="en-IN" sz="2400" dirty="0" err="1">
                <a:solidFill>
                  <a:schemeClr val="bg1"/>
                </a:solidFill>
              </a:rPr>
              <a:t>Nikunj</a:t>
            </a:r>
            <a:r>
              <a:rPr lang="en-IN" sz="2400" dirty="0">
                <a:solidFill>
                  <a:schemeClr val="bg1"/>
                </a:solidFill>
              </a:rPr>
              <a:t>", 101);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Student s3 = new Student(1234567890);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1728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1159708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How constructors are different from </a:t>
            </a:r>
          </a:p>
          <a:p>
            <a:r>
              <a:rPr lang="en-IN" sz="6000" dirty="0">
                <a:solidFill>
                  <a:schemeClr val="bg1"/>
                </a:solidFill>
              </a:rPr>
              <a:t>methods in Java?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779527" y="1870750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54841" y="2261776"/>
            <a:ext cx="1159708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Constructor(s) </a:t>
            </a:r>
            <a:r>
              <a:rPr lang="en-IN" sz="2600" dirty="0">
                <a:solidFill>
                  <a:srgbClr val="FFC000"/>
                </a:solidFill>
              </a:rPr>
              <a:t>must have the same name as the class </a:t>
            </a:r>
            <a:r>
              <a:rPr lang="en-IN" sz="2600" dirty="0">
                <a:solidFill>
                  <a:schemeClr val="bg1"/>
                </a:solidFill>
              </a:rPr>
              <a:t>within which it defined while </a:t>
            </a:r>
            <a:r>
              <a:rPr lang="en-IN" sz="2600" dirty="0">
                <a:solidFill>
                  <a:srgbClr val="FFC000"/>
                </a:solidFill>
              </a:rPr>
              <a:t>it is not necessary for the method</a:t>
            </a:r>
            <a:r>
              <a:rPr lang="en-IN" sz="2600" dirty="0">
                <a:solidFill>
                  <a:schemeClr val="bg1"/>
                </a:solidFill>
              </a:rPr>
              <a:t> in java.</a:t>
            </a:r>
          </a:p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FFC000"/>
                </a:solidFill>
              </a:rPr>
              <a:t>Constructor(s) do not have any return type</a:t>
            </a:r>
            <a:r>
              <a:rPr lang="en-IN" sz="2600" dirty="0">
                <a:solidFill>
                  <a:schemeClr val="bg1"/>
                </a:solidFill>
              </a:rPr>
              <a:t> while </a:t>
            </a:r>
            <a:r>
              <a:rPr lang="en-IN" sz="2600" dirty="0">
                <a:solidFill>
                  <a:srgbClr val="FFC000"/>
                </a:solidFill>
              </a:rPr>
              <a:t>method(s) have the return type or </a:t>
            </a:r>
            <a:r>
              <a:rPr lang="en-IN" sz="2600" b="1" dirty="0">
                <a:solidFill>
                  <a:srgbClr val="FFC000"/>
                </a:solidFill>
              </a:rPr>
              <a:t>void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  <a:r>
              <a:rPr lang="en-IN" sz="2600" dirty="0" smtClean="0">
                <a:solidFill>
                  <a:schemeClr val="bg1"/>
                </a:solidFill>
              </a:rPr>
              <a:t>(if </a:t>
            </a:r>
            <a:r>
              <a:rPr lang="en-IN" sz="2600" dirty="0">
                <a:solidFill>
                  <a:schemeClr val="bg1"/>
                </a:solidFill>
              </a:rPr>
              <a:t>does not return any </a:t>
            </a:r>
            <a:r>
              <a:rPr lang="en-IN" sz="2600" dirty="0" smtClean="0">
                <a:solidFill>
                  <a:schemeClr val="bg1"/>
                </a:solidFill>
              </a:rPr>
              <a:t>value).</a:t>
            </a:r>
            <a:endParaRPr lang="en-IN" sz="2600" dirty="0">
              <a:solidFill>
                <a:schemeClr val="bg1"/>
              </a:solidFill>
            </a:endParaRPr>
          </a:p>
          <a:p>
            <a:pPr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FFC000"/>
                </a:solidFill>
              </a:rPr>
              <a:t>Constructor is called only once</a:t>
            </a:r>
            <a:r>
              <a:rPr lang="en-IN" sz="2600" dirty="0">
                <a:solidFill>
                  <a:schemeClr val="bg1"/>
                </a:solidFill>
              </a:rPr>
              <a:t> at the time of Object creation while </a:t>
            </a:r>
            <a:r>
              <a:rPr lang="en-IN" sz="2600" dirty="0">
                <a:solidFill>
                  <a:srgbClr val="FFC000"/>
                </a:solidFill>
              </a:rPr>
              <a:t>method(s) can be called any numbers of time</a:t>
            </a:r>
            <a:r>
              <a:rPr lang="en-IN" sz="2600" dirty="0">
                <a:solidFill>
                  <a:schemeClr val="bg1"/>
                </a:solidFill>
              </a:rPr>
              <a:t>.</a:t>
            </a:r>
            <a:endParaRPr lang="en-IN" sz="2600" b="0" i="0" u="none" strike="noStrike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7445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69315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Constructor Chaining 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79862" y="1175045"/>
            <a:ext cx="11481212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600" dirty="0">
                <a:solidFill>
                  <a:schemeClr val="bg1"/>
                </a:solidFill>
              </a:rPr>
              <a:t>Constructor chaining is the process of </a:t>
            </a:r>
            <a:r>
              <a:rPr lang="en-IN" sz="2600" dirty="0">
                <a:solidFill>
                  <a:srgbClr val="FFC000"/>
                </a:solidFill>
              </a:rPr>
              <a:t>calling one constructor from another constructor with respect to current object</a:t>
            </a:r>
            <a:r>
              <a:rPr lang="en-IN" sz="26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2600" dirty="0">
                <a:solidFill>
                  <a:schemeClr val="bg1"/>
                </a:solidFill>
              </a:rPr>
              <a:t>Constructor chaining can be done in two ways: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solidFill>
                  <a:srgbClr val="FFC000"/>
                </a:solidFill>
              </a:rPr>
              <a:t>Within same class:</a:t>
            </a:r>
            <a:r>
              <a:rPr lang="en-IN" sz="2600" dirty="0">
                <a:solidFill>
                  <a:schemeClr val="bg1"/>
                </a:solidFill>
              </a:rPr>
              <a:t> It can be done </a:t>
            </a:r>
            <a:r>
              <a:rPr lang="en-IN" sz="2600" dirty="0">
                <a:solidFill>
                  <a:srgbClr val="FFC000"/>
                </a:solidFill>
              </a:rPr>
              <a:t>using this() keyword</a:t>
            </a:r>
            <a:r>
              <a:rPr lang="en-IN" sz="2600" dirty="0">
                <a:solidFill>
                  <a:schemeClr val="bg1"/>
                </a:solidFill>
              </a:rPr>
              <a:t> for constructors in same class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solidFill>
                  <a:srgbClr val="FFC000"/>
                </a:solidFill>
              </a:rPr>
              <a:t>From base class:</a:t>
            </a:r>
            <a:r>
              <a:rPr lang="en-IN" sz="2600" dirty="0">
                <a:solidFill>
                  <a:schemeClr val="bg1"/>
                </a:solidFill>
              </a:rPr>
              <a:t> by </a:t>
            </a:r>
            <a:r>
              <a:rPr lang="en-IN" sz="2600" dirty="0">
                <a:solidFill>
                  <a:srgbClr val="FFC000"/>
                </a:solidFill>
              </a:rPr>
              <a:t>using super() keyword</a:t>
            </a:r>
            <a:r>
              <a:rPr lang="en-IN" sz="2600" dirty="0">
                <a:solidFill>
                  <a:schemeClr val="bg1"/>
                </a:solidFill>
              </a:rPr>
              <a:t> to call constructor from the base class.</a:t>
            </a:r>
          </a:p>
        </p:txBody>
      </p:sp>
    </p:spTree>
    <p:extLst>
      <p:ext uri="{BB962C8B-B14F-4D97-AF65-F5344CB8AC3E}">
        <p14:creationId xmlns:p14="http://schemas.microsoft.com/office/powerpoint/2010/main" val="283103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69666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‘this’ keyword in JAVA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79862" y="861533"/>
            <a:ext cx="11481212" cy="630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600" dirty="0">
                <a:solidFill>
                  <a:schemeClr val="bg1"/>
                </a:solidFill>
              </a:rPr>
              <a:t>‘this’ is a </a:t>
            </a:r>
            <a:r>
              <a:rPr lang="en-IN" sz="2600" dirty="0">
                <a:solidFill>
                  <a:srgbClr val="FFC000"/>
                </a:solidFill>
              </a:rPr>
              <a:t>reference variable</a:t>
            </a:r>
            <a:r>
              <a:rPr lang="en-IN" sz="2600" dirty="0">
                <a:solidFill>
                  <a:schemeClr val="bg1"/>
                </a:solidFill>
              </a:rPr>
              <a:t> that refers to the </a:t>
            </a:r>
            <a:r>
              <a:rPr lang="en-IN" sz="2600" dirty="0">
                <a:solidFill>
                  <a:srgbClr val="FFC000"/>
                </a:solidFill>
              </a:rPr>
              <a:t>current object</a:t>
            </a:r>
            <a:r>
              <a:rPr lang="en-IN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" name="Rectangle 1"/>
          <p:cNvSpPr/>
          <p:nvPr/>
        </p:nvSpPr>
        <p:spPr>
          <a:xfrm>
            <a:off x="327609" y="1347415"/>
            <a:ext cx="809793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1. </a:t>
            </a:r>
            <a:r>
              <a:rPr lang="en-IN" sz="2400" u="sng" dirty="0">
                <a:solidFill>
                  <a:schemeClr val="bg1"/>
                </a:solidFill>
              </a:rPr>
              <a:t>Using ‘this’ keyword to refer current class instance variables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public class Test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a;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b;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public  Test(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a,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b) {</a:t>
            </a:r>
          </a:p>
          <a:p>
            <a:r>
              <a:rPr lang="en-IN" sz="2400" b="1" dirty="0">
                <a:solidFill>
                  <a:srgbClr val="FFC000"/>
                </a:solidFill>
              </a:rPr>
              <a:t>        </a:t>
            </a:r>
            <a:r>
              <a:rPr lang="en-IN" sz="2400" b="1" dirty="0" err="1">
                <a:solidFill>
                  <a:srgbClr val="FFC000"/>
                </a:solidFill>
              </a:rPr>
              <a:t>this.a</a:t>
            </a:r>
            <a:r>
              <a:rPr lang="en-IN" sz="2400" b="1" dirty="0">
                <a:solidFill>
                  <a:srgbClr val="FFC000"/>
                </a:solidFill>
              </a:rPr>
              <a:t> = a;</a:t>
            </a:r>
          </a:p>
          <a:p>
            <a:r>
              <a:rPr lang="en-IN" sz="2400" b="1" dirty="0">
                <a:solidFill>
                  <a:srgbClr val="FFC000"/>
                </a:solidFill>
              </a:rPr>
              <a:t>        </a:t>
            </a:r>
            <a:r>
              <a:rPr lang="en-IN" sz="2400" b="1" dirty="0" err="1">
                <a:solidFill>
                  <a:srgbClr val="FFC000"/>
                </a:solidFill>
              </a:rPr>
              <a:t>this.b</a:t>
            </a:r>
            <a:r>
              <a:rPr lang="en-IN" sz="2400" b="1" dirty="0">
                <a:solidFill>
                  <a:srgbClr val="FFC000"/>
                </a:solidFill>
              </a:rPr>
              <a:t> = b;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void display()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("a = " + a + "  b = " + b);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</a:p>
        </p:txBody>
      </p:sp>
      <p:sp>
        <p:nvSpPr>
          <p:cNvPr id="3" name="Rectangle 2"/>
          <p:cNvSpPr/>
          <p:nvPr/>
        </p:nvSpPr>
        <p:spPr>
          <a:xfrm>
            <a:off x="7149737" y="2531917"/>
            <a:ext cx="471133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public static void main(String[]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){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Test object = new Test(10, 20);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object.display</a:t>
            </a:r>
            <a:r>
              <a:rPr lang="en-IN" sz="2400" dirty="0">
                <a:solidFill>
                  <a:schemeClr val="bg1"/>
                </a:solidFill>
              </a:rPr>
              <a:t>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87104" y="4140926"/>
            <a:ext cx="536747" cy="0"/>
          </a:xfrm>
          <a:prstGeom prst="line">
            <a:avLst/>
          </a:prstGeom>
          <a:ln w="762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08874" y="4528460"/>
            <a:ext cx="536747" cy="0"/>
          </a:xfrm>
          <a:prstGeom prst="line">
            <a:avLst/>
          </a:prstGeom>
          <a:ln w="762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734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69666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‘this’ keyword in JAVA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79862" y="861533"/>
            <a:ext cx="11481212" cy="630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600" dirty="0">
                <a:solidFill>
                  <a:schemeClr val="bg1"/>
                </a:solidFill>
              </a:rPr>
              <a:t>‘this’ is a </a:t>
            </a:r>
            <a:r>
              <a:rPr lang="en-IN" sz="2600" dirty="0">
                <a:solidFill>
                  <a:srgbClr val="FFC000"/>
                </a:solidFill>
              </a:rPr>
              <a:t>reference variable</a:t>
            </a:r>
            <a:r>
              <a:rPr lang="en-IN" sz="2600" dirty="0">
                <a:solidFill>
                  <a:schemeClr val="bg1"/>
                </a:solidFill>
              </a:rPr>
              <a:t> that refers to the </a:t>
            </a:r>
            <a:r>
              <a:rPr lang="en-IN" sz="2600" dirty="0">
                <a:solidFill>
                  <a:srgbClr val="FFC000"/>
                </a:solidFill>
              </a:rPr>
              <a:t>current object</a:t>
            </a:r>
            <a:r>
              <a:rPr lang="en-IN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" name="Rectangle 1"/>
          <p:cNvSpPr/>
          <p:nvPr/>
        </p:nvSpPr>
        <p:spPr>
          <a:xfrm>
            <a:off x="327609" y="1347415"/>
            <a:ext cx="809793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1. </a:t>
            </a:r>
            <a:r>
              <a:rPr lang="en-IN" sz="2400" u="sng" dirty="0">
                <a:solidFill>
                  <a:schemeClr val="bg1"/>
                </a:solidFill>
              </a:rPr>
              <a:t>Using ‘this’ keyword to refer current class instance variables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public class Test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a;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b;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public  Test(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a,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b) {</a:t>
            </a:r>
          </a:p>
          <a:p>
            <a:r>
              <a:rPr lang="en-IN" sz="2400" b="1" dirty="0">
                <a:solidFill>
                  <a:srgbClr val="FFC000"/>
                </a:solidFill>
              </a:rPr>
              <a:t>        </a:t>
            </a:r>
            <a:r>
              <a:rPr lang="en-IN" sz="2400" b="1" dirty="0" err="1">
                <a:solidFill>
                  <a:srgbClr val="FFC000"/>
                </a:solidFill>
              </a:rPr>
              <a:t>this.a</a:t>
            </a:r>
            <a:r>
              <a:rPr lang="en-IN" sz="2400" b="1" dirty="0">
                <a:solidFill>
                  <a:srgbClr val="FFC000"/>
                </a:solidFill>
              </a:rPr>
              <a:t> = a;</a:t>
            </a:r>
          </a:p>
          <a:p>
            <a:r>
              <a:rPr lang="en-IN" sz="2400" b="1" dirty="0">
                <a:solidFill>
                  <a:srgbClr val="FFC000"/>
                </a:solidFill>
              </a:rPr>
              <a:t>        </a:t>
            </a:r>
            <a:r>
              <a:rPr lang="en-IN" sz="2400" b="1" dirty="0" err="1">
                <a:solidFill>
                  <a:srgbClr val="FFC000"/>
                </a:solidFill>
              </a:rPr>
              <a:t>this.b</a:t>
            </a:r>
            <a:r>
              <a:rPr lang="en-IN" sz="2400" b="1" dirty="0">
                <a:solidFill>
                  <a:srgbClr val="FFC000"/>
                </a:solidFill>
              </a:rPr>
              <a:t> = b;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void display()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("a = " + a + "  b = " + b);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</a:p>
        </p:txBody>
      </p:sp>
      <p:sp>
        <p:nvSpPr>
          <p:cNvPr id="3" name="Rectangle 2"/>
          <p:cNvSpPr/>
          <p:nvPr/>
        </p:nvSpPr>
        <p:spPr>
          <a:xfrm>
            <a:off x="7149737" y="2531917"/>
            <a:ext cx="471133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public static void main(String[]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){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Test object = new Test(10, 20);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object.display</a:t>
            </a:r>
            <a:r>
              <a:rPr lang="en-IN" sz="2400" dirty="0">
                <a:solidFill>
                  <a:schemeClr val="bg1"/>
                </a:solidFill>
              </a:rPr>
              <a:t>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424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69666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‘this’ keyword in JAVA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79" y="897547"/>
            <a:ext cx="701475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u="sng" dirty="0">
                <a:solidFill>
                  <a:schemeClr val="bg1"/>
                </a:solidFill>
              </a:rPr>
              <a:t>2. Using this() to invoke current class constructor</a:t>
            </a:r>
          </a:p>
          <a:p>
            <a:endParaRPr lang="en-IN" sz="2400" u="sng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public class Temp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x;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public Temp() {</a:t>
            </a:r>
          </a:p>
          <a:p>
            <a:r>
              <a:rPr lang="en-IN" sz="2400" dirty="0">
                <a:solidFill>
                  <a:srgbClr val="FFC000"/>
                </a:solidFill>
              </a:rPr>
              <a:t>        this(5);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("The Default constructor");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public Temp(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x)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>
                <a:solidFill>
                  <a:srgbClr val="FFC000"/>
                </a:solidFill>
              </a:rPr>
              <a:t>this(5, 15);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(x);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public Temp(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x,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y)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(x * y);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</p:txBody>
      </p:sp>
      <p:sp>
        <p:nvSpPr>
          <p:cNvPr id="8" name="Rectangle 7"/>
          <p:cNvSpPr/>
          <p:nvPr/>
        </p:nvSpPr>
        <p:spPr>
          <a:xfrm>
            <a:off x="7197634" y="1444173"/>
            <a:ext cx="486698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 public static void main(String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[])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new Temp();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0441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69666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‘this’ keyword in JAVA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79" y="897547"/>
            <a:ext cx="701475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u="sng" dirty="0">
                <a:solidFill>
                  <a:schemeClr val="bg1"/>
                </a:solidFill>
              </a:rPr>
              <a:t>2. Using this() to invoke current class constructor</a:t>
            </a:r>
          </a:p>
          <a:p>
            <a:endParaRPr lang="en-IN" sz="2400" u="sng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public class Temp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x;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public Temp()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	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("The Default constructor");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public Temp(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x)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>
                <a:solidFill>
                  <a:srgbClr val="FFC000"/>
                </a:solidFill>
              </a:rPr>
              <a:t>this();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(x);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public Temp(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x,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y) {</a:t>
            </a:r>
          </a:p>
          <a:p>
            <a:r>
              <a:rPr lang="en-IN" sz="2400" dirty="0">
                <a:solidFill>
                  <a:srgbClr val="FFC000"/>
                </a:solidFill>
              </a:rPr>
              <a:t>        this(5);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(x * y);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</p:txBody>
      </p:sp>
      <p:sp>
        <p:nvSpPr>
          <p:cNvPr id="8" name="Rectangle 7"/>
          <p:cNvSpPr/>
          <p:nvPr/>
        </p:nvSpPr>
        <p:spPr>
          <a:xfrm>
            <a:off x="7197634" y="1444173"/>
            <a:ext cx="486698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 public static void main(String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[])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	new Temp(5,15);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3078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56149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Copy Constructor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43690" y="1015114"/>
            <a:ext cx="606116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public class Student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id;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String name;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public Student(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 err="1">
                <a:solidFill>
                  <a:schemeClr val="bg1"/>
                </a:solidFill>
              </a:rPr>
              <a:t>i</a:t>
            </a:r>
            <a:r>
              <a:rPr lang="en-IN" sz="2400" dirty="0">
                <a:solidFill>
                  <a:schemeClr val="bg1"/>
                </a:solidFill>
              </a:rPr>
              <a:t>, String n)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id = </a:t>
            </a:r>
            <a:r>
              <a:rPr lang="en-IN" sz="2400" dirty="0" err="1">
                <a:solidFill>
                  <a:schemeClr val="bg1"/>
                </a:solidFill>
              </a:rPr>
              <a:t>i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name = n;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public Student(</a:t>
            </a:r>
            <a:r>
              <a:rPr lang="en-IN" sz="2400" dirty="0">
                <a:solidFill>
                  <a:srgbClr val="FFC000"/>
                </a:solidFill>
              </a:rPr>
              <a:t>Student s</a:t>
            </a:r>
            <a:r>
              <a:rPr lang="en-IN" sz="2400" dirty="0">
                <a:solidFill>
                  <a:schemeClr val="bg1"/>
                </a:solidFill>
              </a:rPr>
              <a:t>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id = s.id;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name = s.name;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public void display()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(id + " " + name);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</p:txBody>
      </p:sp>
      <p:sp>
        <p:nvSpPr>
          <p:cNvPr id="2" name="Rectangle 1"/>
          <p:cNvSpPr/>
          <p:nvPr/>
        </p:nvSpPr>
        <p:spPr>
          <a:xfrm>
            <a:off x="5799910" y="1120116"/>
            <a:ext cx="604810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public static void main(String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[]) {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     Student </a:t>
            </a:r>
            <a:r>
              <a:rPr lang="en-IN" sz="2400" b="1" dirty="0">
                <a:solidFill>
                  <a:srgbClr val="FFFF00"/>
                </a:solidFill>
              </a:rPr>
              <a:t>s1</a:t>
            </a:r>
            <a:r>
              <a:rPr lang="en-IN" sz="2400" dirty="0">
                <a:solidFill>
                  <a:schemeClr val="bg1"/>
                </a:solidFill>
              </a:rPr>
              <a:t> = new Student(101, "</a:t>
            </a:r>
            <a:r>
              <a:rPr lang="en-IN" sz="2400" dirty="0" err="1">
                <a:solidFill>
                  <a:schemeClr val="bg1"/>
                </a:solidFill>
              </a:rPr>
              <a:t>Nikunj</a:t>
            </a:r>
            <a:r>
              <a:rPr lang="en-IN" sz="2400" dirty="0">
                <a:solidFill>
                  <a:schemeClr val="bg1"/>
                </a:solidFill>
              </a:rPr>
              <a:t>");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     Student s2 = new Student(</a:t>
            </a:r>
            <a:r>
              <a:rPr lang="en-IN" sz="2400" b="1" dirty="0">
                <a:solidFill>
                  <a:srgbClr val="FFFF00"/>
                </a:solidFill>
              </a:rPr>
              <a:t>s1</a:t>
            </a:r>
            <a:r>
              <a:rPr lang="en-IN" sz="24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     s1.display();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     s2.display();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2535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74730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“static” keyword in java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54840" y="1107052"/>
            <a:ext cx="10435079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</a:rPr>
              <a:t>Static is a non-access modifier in Java which is applicable for the following:</a:t>
            </a:r>
          </a:p>
          <a:p>
            <a:endParaRPr lang="en-IN" sz="26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blocks (static clause)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Variables (also known as class variable)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Methods (also known as class method)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nested classes</a:t>
            </a:r>
          </a:p>
        </p:txBody>
      </p:sp>
    </p:spTree>
    <p:extLst>
      <p:ext uri="{BB962C8B-B14F-4D97-AF65-F5344CB8AC3E}">
        <p14:creationId xmlns:p14="http://schemas.microsoft.com/office/powerpoint/2010/main" val="422565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40387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Static blocks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54840" y="1002548"/>
            <a:ext cx="1170978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Static block that gets executed </a:t>
            </a:r>
            <a:r>
              <a:rPr lang="en-IN" sz="2600" dirty="0">
                <a:solidFill>
                  <a:srgbClr val="FFC000"/>
                </a:solidFill>
              </a:rPr>
              <a:t>exactly once</a:t>
            </a:r>
            <a:r>
              <a:rPr lang="en-IN" sz="2600" dirty="0">
                <a:solidFill>
                  <a:schemeClr val="bg1"/>
                </a:solidFill>
              </a:rPr>
              <a:t>, when the </a:t>
            </a:r>
            <a:r>
              <a:rPr lang="en-IN" sz="2600" dirty="0">
                <a:solidFill>
                  <a:srgbClr val="FFC000"/>
                </a:solidFill>
              </a:rPr>
              <a:t>class is first loaded</a:t>
            </a:r>
            <a:r>
              <a:rPr lang="en-IN" sz="2600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Static blocks are </a:t>
            </a:r>
            <a:r>
              <a:rPr lang="en-IN" sz="2600" dirty="0">
                <a:solidFill>
                  <a:srgbClr val="FFC000"/>
                </a:solidFill>
              </a:rPr>
              <a:t>executed before constructors</a:t>
            </a:r>
            <a:r>
              <a:rPr lang="en-IN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504" y="2008061"/>
            <a:ext cx="9144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public class Test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b="1" dirty="0">
                <a:solidFill>
                  <a:srgbClr val="FFC000"/>
                </a:solidFill>
              </a:rPr>
              <a:t>static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a = 10;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b="1" dirty="0">
                <a:solidFill>
                  <a:srgbClr val="FFC000"/>
                </a:solidFill>
              </a:rPr>
              <a:t>static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b;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// static block</a:t>
            </a:r>
          </a:p>
          <a:p>
            <a:r>
              <a:rPr lang="en-IN" sz="2400" dirty="0">
                <a:solidFill>
                  <a:srgbClr val="FFC000"/>
                </a:solidFill>
              </a:rPr>
              <a:t>    </a:t>
            </a:r>
            <a:r>
              <a:rPr lang="en-IN" sz="2400" b="1" dirty="0">
                <a:solidFill>
                  <a:srgbClr val="FFC000"/>
                </a:solidFill>
              </a:rPr>
              <a:t>static</a:t>
            </a:r>
            <a:r>
              <a:rPr lang="en-IN" sz="2400" dirty="0">
                <a:solidFill>
                  <a:srgbClr val="FFC000"/>
                </a:solidFill>
              </a:rPr>
              <a:t>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("Static block initialized.");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b = a * 4;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>
                <a:solidFill>
                  <a:srgbClr val="FFC000"/>
                </a:solidFill>
              </a:rPr>
              <a:t>}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("from main");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("Value of a : " + </a:t>
            </a:r>
            <a:r>
              <a:rPr lang="en-IN" sz="2400" b="1" dirty="0">
                <a:solidFill>
                  <a:srgbClr val="FFC000"/>
                </a:solidFill>
              </a:rPr>
              <a:t>a</a:t>
            </a:r>
            <a:r>
              <a:rPr lang="en-IN" sz="2400" dirty="0">
                <a:solidFill>
                  <a:schemeClr val="bg1"/>
                </a:solidFill>
              </a:rPr>
              <a:t>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("Value of b : " + </a:t>
            </a:r>
            <a:r>
              <a:rPr lang="en-IN" sz="2400" b="1" dirty="0">
                <a:solidFill>
                  <a:srgbClr val="FFC000"/>
                </a:solidFill>
              </a:rPr>
              <a:t>b</a:t>
            </a:r>
            <a:r>
              <a:rPr lang="en-IN" sz="2400" dirty="0">
                <a:solidFill>
                  <a:schemeClr val="bg1"/>
                </a:solidFill>
              </a:rPr>
              <a:t>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 }</a:t>
            </a:r>
          </a:p>
        </p:txBody>
      </p:sp>
      <p:sp>
        <p:nvSpPr>
          <p:cNvPr id="8" name="Rectangle 7"/>
          <p:cNvSpPr/>
          <p:nvPr/>
        </p:nvSpPr>
        <p:spPr>
          <a:xfrm>
            <a:off x="6888480" y="2345510"/>
            <a:ext cx="49334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O/P:</a:t>
            </a:r>
          </a:p>
          <a:p>
            <a:r>
              <a:rPr lang="en-IN" sz="2400" dirty="0">
                <a:solidFill>
                  <a:schemeClr val="bg1"/>
                </a:solidFill>
              </a:rPr>
              <a:t>Static block initialized.</a:t>
            </a:r>
          </a:p>
          <a:p>
            <a:r>
              <a:rPr lang="en-IN" sz="2400" dirty="0">
                <a:solidFill>
                  <a:schemeClr val="bg1"/>
                </a:solidFill>
              </a:rPr>
              <a:t>from main</a:t>
            </a:r>
          </a:p>
          <a:p>
            <a:r>
              <a:rPr lang="en-IN" sz="2400" dirty="0">
                <a:solidFill>
                  <a:schemeClr val="bg1"/>
                </a:solidFill>
              </a:rPr>
              <a:t>Value of a : 10</a:t>
            </a:r>
          </a:p>
          <a:p>
            <a:r>
              <a:rPr lang="en-IN" sz="2400" dirty="0">
                <a:solidFill>
                  <a:schemeClr val="bg1"/>
                </a:solidFill>
              </a:rPr>
              <a:t>Value of b : 40</a:t>
            </a:r>
          </a:p>
        </p:txBody>
      </p:sp>
    </p:spTree>
    <p:extLst>
      <p:ext uri="{BB962C8B-B14F-4D97-AF65-F5344CB8AC3E}">
        <p14:creationId xmlns:p14="http://schemas.microsoft.com/office/powerpoint/2010/main" val="1887376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40387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Static blocks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0630" y="774623"/>
            <a:ext cx="619179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public class Test {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b="1" dirty="0">
                <a:solidFill>
                  <a:srgbClr val="FFC000"/>
                </a:solidFill>
              </a:rPr>
              <a:t>static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 err="1">
                <a:solidFill>
                  <a:schemeClr val="bg1"/>
                </a:solidFill>
              </a:rPr>
              <a:t>i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j;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b="1" dirty="0">
                <a:solidFill>
                  <a:srgbClr val="FFC000"/>
                </a:solidFill>
              </a:rPr>
              <a:t>static</a:t>
            </a:r>
            <a:r>
              <a:rPr lang="en-IN" sz="2400" dirty="0">
                <a:solidFill>
                  <a:srgbClr val="FFC000"/>
                </a:solidFill>
              </a:rPr>
              <a:t>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i</a:t>
            </a:r>
            <a:r>
              <a:rPr lang="en-IN" sz="2400" dirty="0">
                <a:solidFill>
                  <a:schemeClr val="bg1"/>
                </a:solidFill>
              </a:rPr>
              <a:t> = 10;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</a:t>
            </a:r>
            <a:r>
              <a:rPr lang="en-IN" sz="2400" dirty="0">
                <a:solidFill>
                  <a:srgbClr val="FFC000"/>
                </a:solidFill>
              </a:rPr>
              <a:t>static block called </a:t>
            </a:r>
            <a:r>
              <a:rPr lang="en-IN" sz="2400" dirty="0">
                <a:solidFill>
                  <a:schemeClr val="bg1"/>
                </a:solidFill>
              </a:rPr>
              <a:t>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</a:t>
            </a:r>
            <a:r>
              <a:rPr lang="en-IN" sz="2400" dirty="0">
                <a:solidFill>
                  <a:srgbClr val="FFC000"/>
                </a:solidFill>
              </a:rPr>
              <a:t> }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public Test()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</a:t>
            </a:r>
            <a:r>
              <a:rPr lang="en-IN" sz="2400" dirty="0">
                <a:solidFill>
                  <a:srgbClr val="FFC000"/>
                </a:solidFill>
              </a:rPr>
              <a:t>Constructor called</a:t>
            </a:r>
            <a:r>
              <a:rPr lang="en-IN" sz="2400" dirty="0">
                <a:solidFill>
                  <a:schemeClr val="bg1"/>
                </a:solidFill>
              </a:rPr>
              <a:t>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5968621" y="988364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public class </a:t>
            </a:r>
            <a:r>
              <a:rPr lang="en-IN" sz="2400" dirty="0" err="1">
                <a:solidFill>
                  <a:schemeClr val="bg1"/>
                </a:solidFill>
              </a:rPr>
              <a:t>TestMain</a:t>
            </a:r>
            <a:r>
              <a:rPr lang="en-IN" sz="2400" dirty="0">
                <a:solidFill>
                  <a:schemeClr val="bg1"/>
                </a:solidFill>
              </a:rPr>
              <a:t> {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public static void main(String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[]) {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	Test t1 = new Test();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    Test t2 = new Test();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75862" y="3947049"/>
            <a:ext cx="444468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C000"/>
                </a:solidFill>
                <a:latin typeface="Open Sans"/>
              </a:rPr>
              <a:t>O/P:</a:t>
            </a:r>
          </a:p>
          <a:p>
            <a:r>
              <a:rPr lang="en-IN" sz="2400" b="1" dirty="0">
                <a:solidFill>
                  <a:schemeClr val="bg1"/>
                </a:solidFill>
                <a:latin typeface="Open Sans"/>
              </a:rPr>
              <a:t>static block called</a:t>
            </a:r>
            <a:br>
              <a:rPr lang="en-IN" sz="2400" b="1" dirty="0">
                <a:solidFill>
                  <a:schemeClr val="bg1"/>
                </a:solidFill>
                <a:latin typeface="Open Sans"/>
              </a:rPr>
            </a:br>
            <a:r>
              <a:rPr lang="en-IN" sz="2400" b="1" dirty="0">
                <a:solidFill>
                  <a:schemeClr val="bg1"/>
                </a:solidFill>
                <a:latin typeface="Open Sans"/>
              </a:rPr>
              <a:t>Constructor called</a:t>
            </a:r>
            <a:br>
              <a:rPr lang="en-IN" sz="2400" b="1" dirty="0">
                <a:solidFill>
                  <a:schemeClr val="bg1"/>
                </a:solidFill>
                <a:latin typeface="Open Sans"/>
              </a:rPr>
            </a:br>
            <a:r>
              <a:rPr lang="en-IN" sz="2400" b="1" dirty="0">
                <a:solidFill>
                  <a:schemeClr val="bg1"/>
                </a:solidFill>
                <a:latin typeface="Open Sans"/>
              </a:rPr>
              <a:t>Constructor called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9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7747313" y="1305449"/>
            <a:ext cx="4444687" cy="391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solidFill>
                  <a:srgbClr val="FFC000"/>
                </a:solidFill>
                <a:latin typeface="Open Sans"/>
              </a:rPr>
              <a:t>O/P: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Open Sans"/>
              </a:rPr>
              <a:t>Static Block, count = 10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Open Sans"/>
              </a:rPr>
              <a:t>Instance Block, count = 15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Open Sans"/>
              </a:rPr>
              <a:t>Constructor, count = 25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Open Sans"/>
              </a:rPr>
              <a:t>Instance Block, count = 30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Open Sans"/>
              </a:rPr>
              <a:t>Constructor, count = 40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Open Sans"/>
              </a:rPr>
              <a:t>Final Count = 40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0877" y="241382"/>
            <a:ext cx="7717741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public class Demo3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</a:t>
            </a:r>
            <a:r>
              <a:rPr lang="en-US" sz="2400" dirty="0">
                <a:solidFill>
                  <a:srgbClr val="FFC000"/>
                </a:solidFill>
              </a:rPr>
              <a:t>static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int</a:t>
            </a:r>
            <a:r>
              <a:rPr lang="en-US" sz="2400" dirty="0">
                <a:solidFill>
                  <a:schemeClr val="bg1"/>
                </a:solidFill>
              </a:rPr>
              <a:t> count</a:t>
            </a:r>
            <a:r>
              <a:rPr lang="en-US" sz="2400" dirty="0" smtClean="0">
                <a:solidFill>
                  <a:schemeClr val="bg1"/>
                </a:solidFill>
              </a:rPr>
              <a:t>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rgbClr val="FFC000"/>
                </a:solidFill>
              </a:rPr>
              <a:t>static</a:t>
            </a:r>
            <a:r>
              <a:rPr lang="en-US" sz="2400" dirty="0" smtClean="0">
                <a:solidFill>
                  <a:schemeClr val="bg1"/>
                </a:solidFill>
              </a:rPr>
              <a:t> {        </a:t>
            </a:r>
            <a:r>
              <a:rPr lang="en-US" sz="2400" dirty="0">
                <a:solidFill>
                  <a:schemeClr val="bg1"/>
                </a:solidFill>
              </a:rPr>
              <a:t>count = 10;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("Static Block, count = " + count</a:t>
            </a:r>
            <a:r>
              <a:rPr lang="en-US" sz="2400" dirty="0" smtClean="0">
                <a:solidFill>
                  <a:schemeClr val="bg1"/>
                </a:solidFill>
              </a:rPr>
              <a:t>);    </a:t>
            </a: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    </a:t>
            </a:r>
            <a:r>
              <a:rPr lang="en-US" sz="2400" dirty="0" smtClean="0">
                <a:solidFill>
                  <a:schemeClr val="bg1"/>
                </a:solidFill>
              </a:rPr>
              <a:t>{   </a:t>
            </a:r>
            <a:r>
              <a:rPr lang="en-US" sz="2400" dirty="0">
                <a:solidFill>
                  <a:schemeClr val="bg1"/>
                </a:solidFill>
              </a:rPr>
              <a:t>count += 5;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("Instance Block, count = " + count);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}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    public Demo3() </a:t>
            </a:r>
            <a:r>
              <a:rPr lang="en-US" sz="2400" dirty="0" smtClean="0">
                <a:solidFill>
                  <a:schemeClr val="bg1"/>
                </a:solidFill>
              </a:rPr>
              <a:t>{  count </a:t>
            </a:r>
            <a:r>
              <a:rPr lang="en-US" sz="2400" dirty="0">
                <a:solidFill>
                  <a:schemeClr val="bg1"/>
                </a:solidFill>
              </a:rPr>
              <a:t>+= 10;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("Constructor, count = " + count);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    </a:t>
            </a:r>
            <a:r>
              <a:rPr lang="en-US" sz="2400" dirty="0">
                <a:solidFill>
                  <a:schemeClr val="bg1"/>
                </a:solidFill>
              </a:rPr>
              <a:t>public static void main(String[] </a:t>
            </a:r>
            <a:r>
              <a:rPr lang="en-US" sz="2400" dirty="0" err="1">
                <a:solidFill>
                  <a:schemeClr val="bg1"/>
                </a:solidFill>
              </a:rPr>
              <a:t>args</a:t>
            </a:r>
            <a:r>
              <a:rPr lang="en-US" sz="2400" dirty="0">
                <a:solidFill>
                  <a:schemeClr val="bg1"/>
                </a:solidFill>
              </a:rPr>
              <a:t>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Demo3 d1 = new Demo3();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Demo3 d2 = new Demo3();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("Final Count = " + count);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</a:t>
            </a:r>
            <a:r>
              <a:rPr lang="en-US" sz="2400" dirty="0" smtClean="0">
                <a:solidFill>
                  <a:schemeClr val="bg1"/>
                </a:solidFill>
              </a:rPr>
              <a:t>} }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20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48665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Static variables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15651" y="884981"/>
            <a:ext cx="1174897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dirty="0">
                <a:solidFill>
                  <a:schemeClr val="bg1"/>
                </a:solidFill>
              </a:rPr>
              <a:t>When a variable is declared as static, then a </a:t>
            </a:r>
            <a:r>
              <a:rPr lang="en-IN" sz="2600" dirty="0">
                <a:solidFill>
                  <a:srgbClr val="FFC000"/>
                </a:solidFill>
              </a:rPr>
              <a:t>single copy of variable </a:t>
            </a:r>
            <a:r>
              <a:rPr lang="en-IN" sz="2600" dirty="0">
                <a:solidFill>
                  <a:schemeClr val="bg1"/>
                </a:solidFill>
              </a:rPr>
              <a:t>is created and </a:t>
            </a:r>
            <a:r>
              <a:rPr lang="en-IN" sz="2600" dirty="0">
                <a:solidFill>
                  <a:srgbClr val="FFC000"/>
                </a:solidFill>
              </a:rPr>
              <a:t>shared among all objects at class level</a:t>
            </a:r>
            <a:r>
              <a:rPr lang="en-IN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" name="Rectangle 1"/>
          <p:cNvSpPr/>
          <p:nvPr/>
        </p:nvSpPr>
        <p:spPr>
          <a:xfrm>
            <a:off x="91441" y="2175196"/>
            <a:ext cx="672737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public class Test {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b="1" dirty="0">
                <a:solidFill>
                  <a:srgbClr val="FFC000"/>
                </a:solidFill>
              </a:rPr>
              <a:t>static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a = m1();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b="1" dirty="0">
                <a:solidFill>
                  <a:srgbClr val="FFC000"/>
                </a:solidFill>
              </a:rPr>
              <a:t>static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</a:t>
            </a:r>
            <a:r>
              <a:rPr lang="en-IN" sz="2400" dirty="0">
                <a:solidFill>
                  <a:srgbClr val="FFC000"/>
                </a:solidFill>
              </a:rPr>
              <a:t>Inside static block</a:t>
            </a:r>
            <a:r>
              <a:rPr lang="en-IN" sz="2400" dirty="0">
                <a:solidFill>
                  <a:schemeClr val="bg1"/>
                </a:solidFill>
              </a:rPr>
              <a:t>");</a:t>
            </a:r>
          </a:p>
          <a:p>
            <a:r>
              <a:rPr lang="en-IN" sz="2400" dirty="0">
                <a:solidFill>
                  <a:srgbClr val="FFC000"/>
                </a:solidFill>
              </a:rPr>
              <a:t>    }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b="1" dirty="0">
                <a:solidFill>
                  <a:srgbClr val="FFC000"/>
                </a:solidFill>
              </a:rPr>
              <a:t>static </a:t>
            </a:r>
            <a:r>
              <a:rPr lang="en-IN" sz="2400" b="1" dirty="0" err="1">
                <a:solidFill>
                  <a:srgbClr val="FFC000"/>
                </a:solidFill>
              </a:rPr>
              <a:t>int</a:t>
            </a:r>
            <a:r>
              <a:rPr lang="en-IN" sz="2400" b="1" dirty="0">
                <a:solidFill>
                  <a:srgbClr val="FFC000"/>
                </a:solidFill>
              </a:rPr>
              <a:t> m1()</a:t>
            </a:r>
            <a:r>
              <a:rPr lang="en-IN" sz="2400" dirty="0">
                <a:solidFill>
                  <a:schemeClr val="bg1"/>
                </a:solidFill>
              </a:rPr>
              <a:t>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</a:t>
            </a:r>
            <a:r>
              <a:rPr lang="en-IN" sz="2400" dirty="0">
                <a:solidFill>
                  <a:srgbClr val="FFC000"/>
                </a:solidFill>
              </a:rPr>
              <a:t>from m1</a:t>
            </a:r>
            <a:r>
              <a:rPr lang="en-IN" sz="2400" dirty="0">
                <a:solidFill>
                  <a:schemeClr val="bg1"/>
                </a:solidFill>
              </a:rPr>
              <a:t>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return 20;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651" y="1838572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endParaRPr lang="en-IN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("Value of a : " + a);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("from main");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 }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97931" y="4683086"/>
            <a:ext cx="344424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C000"/>
                </a:solidFill>
              </a:rPr>
              <a:t>O/P: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from m1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Inside static block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Value of a : 20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from main</a:t>
            </a:r>
          </a:p>
        </p:txBody>
      </p:sp>
    </p:spTree>
    <p:extLst>
      <p:ext uri="{BB962C8B-B14F-4D97-AF65-F5344CB8AC3E}">
        <p14:creationId xmlns:p14="http://schemas.microsoft.com/office/powerpoint/2010/main" val="26716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45915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Static Method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15651" y="884981"/>
            <a:ext cx="1174897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dirty="0">
                <a:solidFill>
                  <a:schemeClr val="bg1"/>
                </a:solidFill>
              </a:rPr>
              <a:t>Methods declared as static have several restrictions: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They can only directly </a:t>
            </a:r>
            <a:r>
              <a:rPr lang="en-IN" sz="2600" b="1" i="1" dirty="0">
                <a:solidFill>
                  <a:srgbClr val="FFC000"/>
                </a:solidFill>
              </a:rPr>
              <a:t>call other static methods</a:t>
            </a:r>
            <a:r>
              <a:rPr lang="en-IN" sz="2600" dirty="0">
                <a:solidFill>
                  <a:schemeClr val="bg1"/>
                </a:solidFill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They can only directly </a:t>
            </a:r>
            <a:r>
              <a:rPr lang="en-IN" sz="2600" b="1" i="1" dirty="0">
                <a:solidFill>
                  <a:srgbClr val="FFC000"/>
                </a:solidFill>
              </a:rPr>
              <a:t>access static data</a:t>
            </a:r>
            <a:r>
              <a:rPr lang="en-IN" sz="2600" dirty="0">
                <a:solidFill>
                  <a:schemeClr val="bg1"/>
                </a:solidFill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chemeClr val="bg1"/>
                </a:solidFill>
              </a:rPr>
              <a:t>They </a:t>
            </a:r>
            <a:r>
              <a:rPr lang="en-IN" sz="2600" dirty="0">
                <a:solidFill>
                  <a:srgbClr val="FFC000"/>
                </a:solidFill>
              </a:rPr>
              <a:t>cannot refer </a:t>
            </a:r>
            <a:r>
              <a:rPr lang="en-IN" sz="2600" dirty="0">
                <a:solidFill>
                  <a:schemeClr val="bg1"/>
                </a:solidFill>
              </a:rPr>
              <a:t>to ‘</a:t>
            </a:r>
            <a:r>
              <a:rPr lang="en-IN" sz="2600" b="1" i="1" dirty="0">
                <a:solidFill>
                  <a:srgbClr val="FFC000"/>
                </a:solidFill>
              </a:rPr>
              <a:t>this</a:t>
            </a:r>
            <a:r>
              <a:rPr lang="en-IN" sz="2600" i="1" dirty="0">
                <a:solidFill>
                  <a:srgbClr val="FFC000"/>
                </a:solidFill>
              </a:rPr>
              <a:t>’</a:t>
            </a:r>
            <a:r>
              <a:rPr lang="en-IN" sz="2600" dirty="0">
                <a:solidFill>
                  <a:schemeClr val="bg1"/>
                </a:solidFill>
              </a:rPr>
              <a:t> or ‘</a:t>
            </a:r>
            <a:r>
              <a:rPr lang="en-IN" sz="2600" b="1" i="1" dirty="0">
                <a:solidFill>
                  <a:srgbClr val="FFC000"/>
                </a:solidFill>
              </a:rPr>
              <a:t>super</a:t>
            </a:r>
            <a:r>
              <a:rPr lang="en-IN" sz="2600" i="1" dirty="0">
                <a:solidFill>
                  <a:srgbClr val="FFC000"/>
                </a:solidFill>
              </a:rPr>
              <a:t>’</a:t>
            </a:r>
            <a:r>
              <a:rPr lang="en-IN" sz="2600" dirty="0">
                <a:solidFill>
                  <a:schemeClr val="bg1"/>
                </a:solidFill>
              </a:rPr>
              <a:t> in any way.</a:t>
            </a:r>
          </a:p>
        </p:txBody>
      </p:sp>
    </p:spTree>
    <p:extLst>
      <p:ext uri="{BB962C8B-B14F-4D97-AF65-F5344CB8AC3E}">
        <p14:creationId xmlns:p14="http://schemas.microsoft.com/office/powerpoint/2010/main" val="418806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45915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Static Method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80519" y="1022818"/>
            <a:ext cx="705180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public class Test {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static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a = 10;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b = 20;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static void m1()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a = 20;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("from m1");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   </a:t>
            </a:r>
            <a:r>
              <a:rPr lang="en-IN" sz="2400" b="1" i="1" dirty="0">
                <a:solidFill>
                  <a:srgbClr val="FFC000"/>
                </a:solidFill>
              </a:rPr>
              <a:t>b</a:t>
            </a:r>
            <a:r>
              <a:rPr lang="en-IN" sz="2400" dirty="0">
                <a:solidFill>
                  <a:schemeClr val="bg1"/>
                </a:solidFill>
              </a:rPr>
              <a:t> = 10; // compilation error (b is non-static </a:t>
            </a:r>
            <a:r>
              <a:rPr lang="en-IN" sz="2400" dirty="0" err="1">
                <a:solidFill>
                  <a:schemeClr val="bg1"/>
                </a:solidFill>
              </a:rPr>
              <a:t>var</a:t>
            </a:r>
            <a:r>
              <a:rPr lang="en-IN" sz="2400" dirty="0">
                <a:solidFill>
                  <a:schemeClr val="bg1"/>
                </a:solidFill>
              </a:rPr>
              <a:t>)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</a:t>
            </a:r>
            <a:r>
              <a:rPr lang="en-IN" sz="2400" b="1" i="1" dirty="0">
                <a:solidFill>
                  <a:srgbClr val="FFC000"/>
                </a:solidFill>
              </a:rPr>
              <a:t>m2()</a:t>
            </a:r>
            <a:r>
              <a:rPr lang="en-IN" sz="2400" dirty="0">
                <a:solidFill>
                  <a:schemeClr val="bg1"/>
                </a:solidFill>
              </a:rPr>
              <a:t>;  // compilation error (m2() is non-static)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</a:t>
            </a:r>
            <a:r>
              <a:rPr lang="en-IN" sz="2400" b="1" i="1" dirty="0" err="1">
                <a:solidFill>
                  <a:srgbClr val="FFC000"/>
                </a:solidFill>
              </a:rPr>
              <a:t>this.a</a:t>
            </a:r>
            <a:r>
              <a:rPr lang="en-IN" sz="2400" dirty="0">
                <a:solidFill>
                  <a:schemeClr val="bg1"/>
                </a:solidFill>
              </a:rPr>
              <a:t>); // compilation error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</a:t>
            </a:r>
            <a:r>
              <a:rPr lang="en-IN" sz="2400" b="1" i="1" dirty="0" err="1">
                <a:solidFill>
                  <a:srgbClr val="FFC000"/>
                </a:solidFill>
              </a:rPr>
              <a:t>super.a</a:t>
            </a:r>
            <a:r>
              <a:rPr lang="en-IN" sz="2400" dirty="0">
                <a:solidFill>
                  <a:schemeClr val="bg1"/>
                </a:solidFill>
              </a:rPr>
              <a:t>);// compilation error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</p:txBody>
      </p:sp>
      <p:sp>
        <p:nvSpPr>
          <p:cNvPr id="3" name="Rectangle 2"/>
          <p:cNvSpPr/>
          <p:nvPr/>
        </p:nvSpPr>
        <p:spPr>
          <a:xfrm>
            <a:off x="5778137" y="1242872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 void m2()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("from m2");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5405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76658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Instance initializer block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54840" y="1005045"/>
            <a:ext cx="114670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C000"/>
                </a:solidFill>
              </a:rPr>
              <a:t>Initializer block </a:t>
            </a:r>
            <a:r>
              <a:rPr lang="en-IN" sz="2400" dirty="0">
                <a:solidFill>
                  <a:schemeClr val="bg1"/>
                </a:solidFill>
              </a:rPr>
              <a:t>contains the code that </a:t>
            </a:r>
            <a:r>
              <a:rPr lang="en-IN" sz="2400" b="1" dirty="0">
                <a:solidFill>
                  <a:srgbClr val="FFC000"/>
                </a:solidFill>
              </a:rPr>
              <a:t>is always executed</a:t>
            </a:r>
            <a:r>
              <a:rPr lang="en-IN" sz="2400" dirty="0">
                <a:solidFill>
                  <a:schemeClr val="bg1"/>
                </a:solidFill>
              </a:rPr>
              <a:t> whenever </a:t>
            </a:r>
            <a:r>
              <a:rPr lang="en-IN" sz="2400" b="1" dirty="0">
                <a:solidFill>
                  <a:srgbClr val="FFC000"/>
                </a:solidFill>
              </a:rPr>
              <a:t>an </a:t>
            </a:r>
            <a:r>
              <a:rPr lang="en-IN" sz="2400" b="1" dirty="0" smtClean="0">
                <a:solidFill>
                  <a:srgbClr val="FFC000"/>
                </a:solidFill>
              </a:rPr>
              <a:t>instance(object) </a:t>
            </a:r>
            <a:r>
              <a:rPr lang="en-IN" sz="2400" b="1" dirty="0">
                <a:solidFill>
                  <a:srgbClr val="FFC000"/>
                </a:solidFill>
              </a:rPr>
              <a:t>is created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4099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76658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Instance initializer block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4329" y="988364"/>
            <a:ext cx="875616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public class Test {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>
                <a:solidFill>
                  <a:srgbClr val="FFC000"/>
                </a:solidFill>
              </a:rPr>
              <a:t>// Initializer block starts..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>
                <a:solidFill>
                  <a:srgbClr val="FFC000"/>
                </a:solidFill>
              </a:rPr>
              <a:t>// This code is executed before every constructor.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("Common part of constructors invoked !!");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rgbClr val="FFC000"/>
                </a:solidFill>
              </a:rPr>
              <a:t>    // Initializer block ends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public Test()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("Default Constructor invoked");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public Test(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x)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("Parametrized constructor invoked");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</p:txBody>
      </p:sp>
      <p:sp>
        <p:nvSpPr>
          <p:cNvPr id="2" name="Rectangle 1"/>
          <p:cNvSpPr/>
          <p:nvPr/>
        </p:nvSpPr>
        <p:spPr>
          <a:xfrm>
            <a:off x="6766529" y="480532"/>
            <a:ext cx="493775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public static void main(String </a:t>
            </a:r>
            <a:r>
              <a:rPr lang="en-IN" sz="2400" dirty="0" err="1">
                <a:solidFill>
                  <a:schemeClr val="bg1"/>
                </a:solidFill>
              </a:rPr>
              <a:t>arr</a:t>
            </a:r>
            <a:r>
              <a:rPr lang="en-IN" sz="2400" dirty="0">
                <a:solidFill>
                  <a:schemeClr val="bg1"/>
                </a:solidFill>
              </a:rPr>
              <a:t>[])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Test obj1, obj2;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obj1 = new Test();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obj2 = new Test(0);  }}</a:t>
            </a:r>
          </a:p>
        </p:txBody>
      </p:sp>
      <p:sp>
        <p:nvSpPr>
          <p:cNvPr id="8" name="Rectangle 7"/>
          <p:cNvSpPr/>
          <p:nvPr/>
        </p:nvSpPr>
        <p:spPr>
          <a:xfrm>
            <a:off x="7471958" y="3677922"/>
            <a:ext cx="455893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chemeClr val="bg1"/>
                </a:solidFill>
              </a:rPr>
              <a:t>O/P:</a:t>
            </a:r>
          </a:p>
          <a:p>
            <a:r>
              <a:rPr lang="en-IN" sz="2000" dirty="0">
                <a:solidFill>
                  <a:schemeClr val="bg1"/>
                </a:solidFill>
              </a:rPr>
              <a:t>Common part of constructors invoked!!</a:t>
            </a:r>
          </a:p>
          <a:p>
            <a:r>
              <a:rPr lang="en-IN" sz="2000" dirty="0">
                <a:solidFill>
                  <a:schemeClr val="bg1"/>
                </a:solidFill>
              </a:rPr>
              <a:t>Default Constructor invoked</a:t>
            </a:r>
          </a:p>
          <a:p>
            <a:r>
              <a:rPr lang="en-IN" sz="2000" dirty="0">
                <a:solidFill>
                  <a:schemeClr val="bg1"/>
                </a:solidFill>
              </a:rPr>
              <a:t>Common part of constructors invoked!!</a:t>
            </a:r>
          </a:p>
          <a:p>
            <a:r>
              <a:rPr lang="en-IN" sz="2000" dirty="0">
                <a:solidFill>
                  <a:schemeClr val="bg1"/>
                </a:solidFill>
              </a:rPr>
              <a:t>Parametrized constructor invoked </a:t>
            </a:r>
          </a:p>
        </p:txBody>
      </p:sp>
    </p:spTree>
    <p:extLst>
      <p:ext uri="{BB962C8B-B14F-4D97-AF65-F5344CB8AC3E}">
        <p14:creationId xmlns:p14="http://schemas.microsoft.com/office/powerpoint/2010/main" val="4091990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76658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Instance initializer block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4329" y="988364"/>
            <a:ext cx="875616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public class </a:t>
            </a:r>
            <a:r>
              <a:rPr lang="en-IN" sz="2400" dirty="0" err="1">
                <a:solidFill>
                  <a:schemeClr val="bg1"/>
                </a:solidFill>
              </a:rPr>
              <a:t>InstanceInitializerDemo</a:t>
            </a:r>
            <a:r>
              <a:rPr lang="en-IN" sz="2400" dirty="0">
                <a:solidFill>
                  <a:schemeClr val="bg1"/>
                </a:solidFill>
              </a:rPr>
              <a:t> {    </a:t>
            </a:r>
            <a:endParaRPr lang="en-IN" sz="2400" dirty="0" smtClean="0">
              <a:solidFill>
                <a:schemeClr val="bg1"/>
              </a:solidFill>
            </a:endParaRPr>
          </a:p>
          <a:p>
            <a:r>
              <a:rPr lang="en-IN" sz="2400" dirty="0" smtClean="0">
                <a:solidFill>
                  <a:schemeClr val="bg1"/>
                </a:solidFill>
              </a:rPr>
              <a:t>private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x;    </a:t>
            </a:r>
            <a:endParaRPr lang="en-IN" sz="2400" dirty="0" smtClean="0">
              <a:solidFill>
                <a:schemeClr val="bg1"/>
              </a:solidFill>
            </a:endParaRPr>
          </a:p>
          <a:p>
            <a:r>
              <a:rPr lang="en-IN" sz="2400" dirty="0" smtClean="0">
                <a:solidFill>
                  <a:schemeClr val="bg1"/>
                </a:solidFill>
              </a:rPr>
              <a:t>private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y;    </a:t>
            </a:r>
            <a:endParaRPr lang="en-IN" sz="2400" dirty="0" smtClean="0">
              <a:solidFill>
                <a:schemeClr val="bg1"/>
              </a:solidFill>
            </a:endParaRPr>
          </a:p>
          <a:p>
            <a:r>
              <a:rPr lang="en-IN" sz="2400" b="1" dirty="0" smtClean="0">
                <a:solidFill>
                  <a:srgbClr val="FFC000"/>
                </a:solidFill>
              </a:rPr>
              <a:t>// </a:t>
            </a:r>
            <a:r>
              <a:rPr lang="en-IN" sz="2400" b="1" dirty="0">
                <a:solidFill>
                  <a:srgbClr val="FFC000"/>
                </a:solidFill>
              </a:rPr>
              <a:t>Instance initializer block    </a:t>
            </a:r>
            <a:endParaRPr lang="en-IN" sz="2400" b="1" dirty="0" smtClean="0">
              <a:solidFill>
                <a:srgbClr val="FFC000"/>
              </a:solidFill>
            </a:endParaRPr>
          </a:p>
          <a:p>
            <a:r>
              <a:rPr lang="en-IN" sz="2400" dirty="0" smtClean="0">
                <a:solidFill>
                  <a:schemeClr val="bg1"/>
                </a:solidFill>
              </a:rPr>
              <a:t>{        </a:t>
            </a:r>
            <a:r>
              <a:rPr lang="en-IN" sz="2400" b="1" dirty="0">
                <a:solidFill>
                  <a:srgbClr val="FFFF00"/>
                </a:solidFill>
              </a:rPr>
              <a:t>x = 10;        y = 20;        </a:t>
            </a:r>
            <a:endParaRPr lang="en-IN" sz="2400" b="1" dirty="0" smtClean="0">
              <a:solidFill>
                <a:srgbClr val="FFFF00"/>
              </a:solidFill>
            </a:endParaRPr>
          </a:p>
          <a:p>
            <a:r>
              <a:rPr lang="en-IN" sz="2400" dirty="0" err="1" smtClean="0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("Instance initializer block executed");    </a:t>
            </a:r>
            <a:endParaRPr lang="en-IN" sz="2400" dirty="0" smtClean="0">
              <a:solidFill>
                <a:schemeClr val="bg1"/>
              </a:solidFill>
            </a:endParaRPr>
          </a:p>
          <a:p>
            <a:r>
              <a:rPr lang="en-IN" sz="2400" dirty="0" smtClean="0">
                <a:solidFill>
                  <a:schemeClr val="bg1"/>
                </a:solidFill>
              </a:rPr>
              <a:t>}    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 smtClean="0">
                <a:solidFill>
                  <a:schemeClr val="bg1"/>
                </a:solidFill>
              </a:rPr>
              <a:t>public </a:t>
            </a:r>
            <a:r>
              <a:rPr lang="en-IN" sz="2400" dirty="0" err="1">
                <a:solidFill>
                  <a:schemeClr val="bg1"/>
                </a:solidFill>
              </a:rPr>
              <a:t>InstanceInitializerDemo</a:t>
            </a:r>
            <a:r>
              <a:rPr lang="en-IN" sz="2400" dirty="0">
                <a:solidFill>
                  <a:schemeClr val="bg1"/>
                </a:solidFill>
              </a:rPr>
              <a:t>() {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("Constructor with no arguments");    </a:t>
            </a:r>
            <a:endParaRPr lang="en-IN" sz="2400" dirty="0" smtClean="0">
              <a:solidFill>
                <a:schemeClr val="bg1"/>
              </a:solidFill>
            </a:endParaRPr>
          </a:p>
          <a:p>
            <a:r>
              <a:rPr lang="en-IN" sz="2400" dirty="0" smtClean="0">
                <a:solidFill>
                  <a:schemeClr val="bg1"/>
                </a:solidFill>
              </a:rPr>
              <a:t>}    </a:t>
            </a:r>
          </a:p>
          <a:p>
            <a:r>
              <a:rPr lang="en-IN" sz="2400" dirty="0" smtClean="0">
                <a:solidFill>
                  <a:schemeClr val="bg1"/>
                </a:solidFill>
              </a:rPr>
              <a:t>public </a:t>
            </a:r>
            <a:r>
              <a:rPr lang="en-IN" sz="2400" dirty="0" err="1">
                <a:solidFill>
                  <a:schemeClr val="bg1"/>
                </a:solidFill>
              </a:rPr>
              <a:t>InstanceInitializerDemo</a:t>
            </a:r>
            <a:r>
              <a:rPr lang="en-IN" sz="2400" dirty="0">
                <a:solidFill>
                  <a:schemeClr val="bg1"/>
                </a:solidFill>
              </a:rPr>
              <a:t>(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x) {        </a:t>
            </a:r>
            <a:endParaRPr lang="en-IN" sz="2400" dirty="0" smtClean="0">
              <a:solidFill>
                <a:schemeClr val="bg1"/>
              </a:solidFill>
            </a:endParaRPr>
          </a:p>
          <a:p>
            <a:r>
              <a:rPr lang="en-IN" sz="2400" b="1" dirty="0" err="1" smtClean="0">
                <a:solidFill>
                  <a:srgbClr val="FFFF00"/>
                </a:solidFill>
              </a:rPr>
              <a:t>this.x</a:t>
            </a:r>
            <a:r>
              <a:rPr lang="en-IN" sz="2400" b="1" dirty="0" smtClean="0">
                <a:solidFill>
                  <a:srgbClr val="FFFF00"/>
                </a:solidFill>
              </a:rPr>
              <a:t> </a:t>
            </a:r>
            <a:r>
              <a:rPr lang="en-IN" sz="2400" b="1" dirty="0">
                <a:solidFill>
                  <a:srgbClr val="FFFF00"/>
                </a:solidFill>
              </a:rPr>
              <a:t>= x;        </a:t>
            </a:r>
            <a:endParaRPr lang="en-IN" sz="2400" b="1" dirty="0" smtClean="0">
              <a:solidFill>
                <a:srgbClr val="FFFF00"/>
              </a:solidFill>
            </a:endParaRPr>
          </a:p>
          <a:p>
            <a:r>
              <a:rPr lang="en-IN" sz="2400" dirty="0" err="1" smtClean="0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("Constructor with one argument");    </a:t>
            </a:r>
            <a:endParaRPr lang="en-IN" sz="2400" dirty="0" smtClean="0">
              <a:solidFill>
                <a:schemeClr val="bg1"/>
              </a:solidFill>
            </a:endParaRPr>
          </a:p>
          <a:p>
            <a:r>
              <a:rPr lang="en-IN" sz="2400" dirty="0" smtClean="0">
                <a:solidFill>
                  <a:schemeClr val="bg1"/>
                </a:solidFill>
              </a:rPr>
              <a:t>}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44838" y="988364"/>
            <a:ext cx="471978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public static void main(String[] </a:t>
            </a:r>
            <a:r>
              <a:rPr lang="en-US" sz="2400" dirty="0" err="1">
                <a:solidFill>
                  <a:schemeClr val="bg1"/>
                </a:solidFill>
              </a:rPr>
              <a:t>args</a:t>
            </a:r>
            <a:r>
              <a:rPr lang="en-US" sz="2400" dirty="0">
                <a:solidFill>
                  <a:schemeClr val="bg1"/>
                </a:solidFill>
              </a:rPr>
              <a:t>) {        </a:t>
            </a:r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new </a:t>
            </a:r>
            <a:r>
              <a:rPr lang="en-US" sz="2400" dirty="0" err="1">
                <a:solidFill>
                  <a:schemeClr val="bg1"/>
                </a:solidFill>
              </a:rPr>
              <a:t>InstanceInitializerDemo</a:t>
            </a:r>
            <a:r>
              <a:rPr lang="en-US" sz="2400" dirty="0">
                <a:solidFill>
                  <a:schemeClr val="bg1"/>
                </a:solidFill>
              </a:rPr>
              <a:t>();        new </a:t>
            </a:r>
            <a:r>
              <a:rPr lang="en-US" sz="2400" dirty="0" err="1">
                <a:solidFill>
                  <a:schemeClr val="bg1"/>
                </a:solidFill>
              </a:rPr>
              <a:t>InstanceInitializerDemo</a:t>
            </a:r>
            <a:r>
              <a:rPr lang="en-US" sz="2400" dirty="0">
                <a:solidFill>
                  <a:schemeClr val="bg1"/>
                </a:solidFill>
              </a:rPr>
              <a:t>(30);    </a:t>
            </a:r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}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2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7501098" y="1517885"/>
            <a:ext cx="444468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C000"/>
                </a:solidFill>
                <a:latin typeface="Open Sans"/>
              </a:rPr>
              <a:t>O/P:</a:t>
            </a:r>
          </a:p>
          <a:p>
            <a:r>
              <a:rPr lang="en-US" sz="2400" b="1" dirty="0">
                <a:solidFill>
                  <a:schemeClr val="bg1"/>
                </a:solidFill>
                <a:latin typeface="Open Sans"/>
              </a:rPr>
              <a:t>Static Block 1  </a:t>
            </a:r>
          </a:p>
          <a:p>
            <a:r>
              <a:rPr lang="en-US" sz="2400" b="1" dirty="0">
                <a:solidFill>
                  <a:schemeClr val="bg1"/>
                </a:solidFill>
                <a:latin typeface="Open Sans"/>
              </a:rPr>
              <a:t>Static Block 2  </a:t>
            </a:r>
          </a:p>
          <a:p>
            <a:r>
              <a:rPr lang="en-US" sz="2400" b="1" dirty="0">
                <a:solidFill>
                  <a:schemeClr val="bg1"/>
                </a:solidFill>
                <a:latin typeface="Open Sans"/>
              </a:rPr>
              <a:t>Instance Block 1  </a:t>
            </a:r>
          </a:p>
          <a:p>
            <a:r>
              <a:rPr lang="en-US" sz="2400" b="1" dirty="0">
                <a:solidFill>
                  <a:schemeClr val="bg1"/>
                </a:solidFill>
                <a:latin typeface="Open Sans"/>
              </a:rPr>
              <a:t>Instance Block 2  </a:t>
            </a:r>
          </a:p>
          <a:p>
            <a:r>
              <a:rPr lang="en-US" sz="2400" b="1" dirty="0">
                <a:solidFill>
                  <a:schemeClr val="bg1"/>
                </a:solidFill>
                <a:latin typeface="Open Sans"/>
              </a:rPr>
              <a:t>Constructor  </a:t>
            </a:r>
          </a:p>
          <a:p>
            <a:r>
              <a:rPr lang="en-US" sz="2400" b="1" dirty="0">
                <a:solidFill>
                  <a:schemeClr val="bg1"/>
                </a:solidFill>
                <a:latin typeface="Open Sans"/>
              </a:rPr>
              <a:t>Instance Block 1  </a:t>
            </a:r>
          </a:p>
          <a:p>
            <a:r>
              <a:rPr lang="en-US" sz="2400" b="1" dirty="0">
                <a:solidFill>
                  <a:schemeClr val="bg1"/>
                </a:solidFill>
                <a:latin typeface="Open Sans"/>
              </a:rPr>
              <a:t>Instance Block 2  </a:t>
            </a:r>
          </a:p>
          <a:p>
            <a:r>
              <a:rPr lang="en-US" sz="2400" b="1" dirty="0">
                <a:solidFill>
                  <a:schemeClr val="bg1"/>
                </a:solidFill>
                <a:latin typeface="Open Sans"/>
              </a:rPr>
              <a:t>Constructor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0877" y="241382"/>
            <a:ext cx="6997305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public class Demo2 {</a:t>
            </a:r>
          </a:p>
          <a:p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rgbClr val="FFC000"/>
                </a:solidFill>
              </a:rPr>
              <a:t>static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{    </a:t>
            </a:r>
            <a:r>
              <a:rPr lang="en-US" sz="2400" dirty="0" err="1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("Static Block 1</a:t>
            </a:r>
            <a:r>
              <a:rPr lang="en-US" sz="2400" dirty="0" smtClean="0">
                <a:solidFill>
                  <a:schemeClr val="bg1"/>
                </a:solidFill>
              </a:rPr>
              <a:t>"); }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    {  </a:t>
            </a:r>
            <a:r>
              <a:rPr lang="en-US" sz="2400" dirty="0" err="1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("Instance Block 1</a:t>
            </a:r>
            <a:r>
              <a:rPr lang="en-US" sz="2400" dirty="0" smtClean="0">
                <a:solidFill>
                  <a:schemeClr val="bg1"/>
                </a:solidFill>
              </a:rPr>
              <a:t>");  </a:t>
            </a: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rgbClr val="FFC000"/>
                </a:solidFill>
              </a:rPr>
              <a:t>static</a:t>
            </a:r>
            <a:r>
              <a:rPr lang="en-US" sz="2400" dirty="0" smtClean="0">
                <a:solidFill>
                  <a:schemeClr val="bg1"/>
                </a:solidFill>
              </a:rPr>
              <a:t> {   </a:t>
            </a:r>
            <a:r>
              <a:rPr lang="en-US" sz="2400" dirty="0" err="1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("Static Block 2</a:t>
            </a:r>
            <a:r>
              <a:rPr lang="en-US" sz="2400" dirty="0" smtClean="0">
                <a:solidFill>
                  <a:schemeClr val="bg1"/>
                </a:solidFill>
              </a:rPr>
              <a:t>");  </a:t>
            </a: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    </a:t>
            </a:r>
            <a:r>
              <a:rPr lang="en-US" sz="2400" dirty="0" smtClean="0">
                <a:solidFill>
                  <a:schemeClr val="bg1"/>
                </a:solidFill>
              </a:rPr>
              <a:t>{ </a:t>
            </a:r>
            <a:r>
              <a:rPr lang="en-US" sz="2400" dirty="0" err="1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("Instance Block 2</a:t>
            </a:r>
            <a:r>
              <a:rPr lang="en-US" sz="2400" dirty="0" smtClean="0">
                <a:solidFill>
                  <a:schemeClr val="bg1"/>
                </a:solidFill>
              </a:rPr>
              <a:t>");  </a:t>
            </a: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    public Demo2()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("Constructor");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    </a:t>
            </a:r>
            <a:r>
              <a:rPr lang="en-US" sz="2400" dirty="0">
                <a:solidFill>
                  <a:schemeClr val="bg1"/>
                </a:solidFill>
              </a:rPr>
              <a:t>public static void main(String[] </a:t>
            </a:r>
            <a:r>
              <a:rPr lang="en-US" sz="2400" dirty="0" err="1">
                <a:solidFill>
                  <a:schemeClr val="bg1"/>
                </a:solidFill>
              </a:rPr>
              <a:t>args</a:t>
            </a:r>
            <a:r>
              <a:rPr lang="en-US" sz="2400" dirty="0">
                <a:solidFill>
                  <a:schemeClr val="bg1"/>
                </a:solidFill>
              </a:rPr>
              <a:t>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new Demo2();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new Demo2();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24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1501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2251" y="92681"/>
            <a:ext cx="6413863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public class Test {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static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 err="1">
                <a:solidFill>
                  <a:schemeClr val="bg1"/>
                </a:solidFill>
              </a:rPr>
              <a:t>staticVariable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 err="1">
                <a:solidFill>
                  <a:schemeClr val="bg1"/>
                </a:solidFill>
              </a:rPr>
              <a:t>nonStaticVariable</a:t>
            </a:r>
            <a:r>
              <a:rPr lang="en-IN" sz="2400" dirty="0">
                <a:solidFill>
                  <a:schemeClr val="bg1"/>
                </a:solidFill>
              </a:rPr>
              <a:t>;        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// Static initialization block: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// Runs once (when the class is initialized)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>
                <a:solidFill>
                  <a:srgbClr val="FFC000"/>
                </a:solidFill>
              </a:rPr>
              <a:t>static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("Static </a:t>
            </a:r>
            <a:r>
              <a:rPr lang="en-IN" sz="2400" dirty="0" err="1">
                <a:solidFill>
                  <a:schemeClr val="bg1"/>
                </a:solidFill>
              </a:rPr>
              <a:t>initalization</a:t>
            </a:r>
            <a:r>
              <a:rPr lang="en-IN" sz="2400" dirty="0">
                <a:solidFill>
                  <a:schemeClr val="bg1"/>
                </a:solidFill>
              </a:rPr>
              <a:t>.");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staticVariable</a:t>
            </a:r>
            <a:r>
              <a:rPr lang="en-IN" sz="2400" dirty="0">
                <a:solidFill>
                  <a:schemeClr val="bg1"/>
                </a:solidFill>
              </a:rPr>
              <a:t> = 5;</a:t>
            </a:r>
          </a:p>
          <a:p>
            <a:r>
              <a:rPr lang="en-IN" sz="2400" dirty="0">
                <a:solidFill>
                  <a:srgbClr val="FFC000"/>
                </a:solidFill>
              </a:rPr>
              <a:t>    }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// Instance initialization block: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// Runs each time you instantiate an object</a:t>
            </a:r>
          </a:p>
          <a:p>
            <a:r>
              <a:rPr lang="en-IN" sz="2400" dirty="0">
                <a:solidFill>
                  <a:srgbClr val="FFC000"/>
                </a:solidFill>
              </a:rPr>
              <a:t>   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("Instance initialization.");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nonStaticVariable</a:t>
            </a:r>
            <a:r>
              <a:rPr lang="en-IN" sz="2400" dirty="0">
                <a:solidFill>
                  <a:schemeClr val="bg1"/>
                </a:solidFill>
              </a:rPr>
              <a:t> = 7;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</a:t>
            </a:r>
            <a:r>
              <a:rPr lang="en-IN" sz="2400" dirty="0">
                <a:solidFill>
                  <a:srgbClr val="FFC000"/>
                </a:solidFill>
              </a:rPr>
              <a:t> }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0983" y="346727"/>
            <a:ext cx="569540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 public Test()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("Constructor.");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new Test();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new Test();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  <a:endParaRPr lang="en-IN" sz="2400" dirty="0"/>
          </a:p>
        </p:txBody>
      </p:sp>
      <p:sp>
        <p:nvSpPr>
          <p:cNvPr id="9" name="Rectangle 8"/>
          <p:cNvSpPr/>
          <p:nvPr/>
        </p:nvSpPr>
        <p:spPr>
          <a:xfrm>
            <a:off x="6905897" y="4017093"/>
            <a:ext cx="434557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C000"/>
                </a:solidFill>
              </a:rPr>
              <a:t>O/P:</a:t>
            </a:r>
          </a:p>
          <a:p>
            <a:r>
              <a:rPr lang="en-IN" sz="2400" dirty="0">
                <a:solidFill>
                  <a:schemeClr val="bg1"/>
                </a:solidFill>
              </a:rPr>
              <a:t>Static </a:t>
            </a:r>
            <a:r>
              <a:rPr lang="en-IN" sz="2400" dirty="0" err="1">
                <a:solidFill>
                  <a:schemeClr val="bg1"/>
                </a:solidFill>
              </a:rPr>
              <a:t>initalization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</a:p>
          <a:p>
            <a:r>
              <a:rPr lang="en-IN" sz="2400" dirty="0">
                <a:solidFill>
                  <a:schemeClr val="bg1"/>
                </a:solidFill>
              </a:rPr>
              <a:t>Instance initialization.</a:t>
            </a:r>
          </a:p>
          <a:p>
            <a:r>
              <a:rPr lang="en-IN" sz="2400" dirty="0">
                <a:solidFill>
                  <a:schemeClr val="bg1"/>
                </a:solidFill>
              </a:rPr>
              <a:t>Constructor.</a:t>
            </a:r>
          </a:p>
          <a:p>
            <a:r>
              <a:rPr lang="en-IN" sz="2400" dirty="0">
                <a:solidFill>
                  <a:schemeClr val="bg1"/>
                </a:solidFill>
              </a:rPr>
              <a:t>Instance initialization.</a:t>
            </a:r>
          </a:p>
          <a:p>
            <a:r>
              <a:rPr lang="en-IN" sz="2400" dirty="0">
                <a:solidFill>
                  <a:schemeClr val="bg1"/>
                </a:solidFill>
              </a:rPr>
              <a:t>Constructor.</a:t>
            </a:r>
          </a:p>
        </p:txBody>
      </p:sp>
    </p:spTree>
    <p:extLst>
      <p:ext uri="{BB962C8B-B14F-4D97-AF65-F5344CB8AC3E}">
        <p14:creationId xmlns:p14="http://schemas.microsoft.com/office/powerpoint/2010/main" val="54030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76658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Instance initializer block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4329" y="988364"/>
            <a:ext cx="875616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class Parent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static </a:t>
            </a:r>
            <a:r>
              <a:rPr lang="en-IN" sz="2400" dirty="0" smtClean="0">
                <a:solidFill>
                  <a:schemeClr val="bg1"/>
                </a:solidFill>
              </a:rPr>
              <a:t>{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("Parent Static Block</a:t>
            </a:r>
            <a:r>
              <a:rPr lang="en-IN" sz="2400" dirty="0" smtClean="0">
                <a:solidFill>
                  <a:schemeClr val="bg1"/>
                </a:solidFill>
              </a:rPr>
              <a:t>");   </a:t>
            </a:r>
            <a:r>
              <a:rPr lang="en-IN" sz="2400" dirty="0">
                <a:solidFill>
                  <a:schemeClr val="bg1"/>
                </a:solidFill>
              </a:rPr>
              <a:t>}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 smtClean="0">
                <a:solidFill>
                  <a:schemeClr val="bg1"/>
                </a:solidFill>
              </a:rPr>
              <a:t>{ 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("Parent Instance Block</a:t>
            </a:r>
            <a:r>
              <a:rPr lang="en-IN" sz="2400" dirty="0" smtClean="0">
                <a:solidFill>
                  <a:schemeClr val="bg1"/>
                </a:solidFill>
              </a:rPr>
              <a:t>");    </a:t>
            </a:r>
            <a:r>
              <a:rPr lang="en-IN" sz="2400" dirty="0">
                <a:solidFill>
                  <a:schemeClr val="bg1"/>
                </a:solidFill>
              </a:rPr>
              <a:t>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class Child extends Parent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static </a:t>
            </a:r>
            <a:r>
              <a:rPr lang="en-IN" sz="2400" dirty="0" smtClean="0">
                <a:solidFill>
                  <a:schemeClr val="bg1"/>
                </a:solidFill>
              </a:rPr>
              <a:t>{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("Child Static Block</a:t>
            </a:r>
            <a:r>
              <a:rPr lang="en-IN" sz="2400" dirty="0" smtClean="0">
                <a:solidFill>
                  <a:schemeClr val="bg1"/>
                </a:solidFill>
              </a:rPr>
              <a:t>");    </a:t>
            </a:r>
            <a:r>
              <a:rPr lang="en-IN" sz="2400" dirty="0">
                <a:solidFill>
                  <a:schemeClr val="bg1"/>
                </a:solidFill>
              </a:rPr>
              <a:t>}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 smtClean="0">
                <a:solidFill>
                  <a:schemeClr val="bg1"/>
                </a:solidFill>
              </a:rPr>
              <a:t>{ 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("Child Instance Block</a:t>
            </a:r>
            <a:r>
              <a:rPr lang="en-IN" sz="2400" dirty="0" smtClean="0">
                <a:solidFill>
                  <a:schemeClr val="bg1"/>
                </a:solidFill>
              </a:rPr>
              <a:t>");    </a:t>
            </a:r>
            <a:r>
              <a:rPr lang="en-IN" sz="2400" dirty="0">
                <a:solidFill>
                  <a:schemeClr val="bg1"/>
                </a:solidFill>
              </a:rPr>
              <a:t>}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new Child();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2509" y="2004027"/>
            <a:ext cx="293716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C000"/>
                </a:solidFill>
              </a:rPr>
              <a:t>O/P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chemeClr val="bg1"/>
                </a:solidFill>
              </a:rPr>
              <a:t>Parent </a:t>
            </a:r>
            <a:r>
              <a:rPr lang="en-US" sz="2400" b="1" dirty="0">
                <a:solidFill>
                  <a:schemeClr val="bg1"/>
                </a:solidFill>
              </a:rPr>
              <a:t>Static Block 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</a:rPr>
              <a:t>Child Static Block 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</a:rPr>
              <a:t>Parent Instance Block 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</a:rPr>
              <a:t>Child Instance Block</a:t>
            </a:r>
          </a:p>
        </p:txBody>
      </p:sp>
    </p:spTree>
    <p:extLst>
      <p:ext uri="{BB962C8B-B14F-4D97-AF65-F5344CB8AC3E}">
        <p14:creationId xmlns:p14="http://schemas.microsoft.com/office/powerpoint/2010/main" val="94430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103854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Static vs Instance initializer block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54840" y="1005045"/>
            <a:ext cx="1146704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chemeClr val="bg1"/>
                </a:solidFill>
              </a:rPr>
              <a:t>Order of execution: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C000"/>
                </a:solidFill>
              </a:rPr>
              <a:t>static</a:t>
            </a:r>
            <a:r>
              <a:rPr lang="en-IN" sz="2400" b="1" dirty="0">
                <a:solidFill>
                  <a:schemeClr val="bg1"/>
                </a:solidFill>
              </a:rPr>
              <a:t> initialization blocks of </a:t>
            </a:r>
            <a:r>
              <a:rPr lang="en-IN" sz="2400" b="1" dirty="0">
                <a:solidFill>
                  <a:srgbClr val="FFC000"/>
                </a:solidFill>
              </a:rPr>
              <a:t>super classes. (</a:t>
            </a:r>
            <a:r>
              <a:rPr lang="en-IN" sz="2400" dirty="0">
                <a:solidFill>
                  <a:schemeClr val="bg1"/>
                </a:solidFill>
              </a:rPr>
              <a:t>Runs once</a:t>
            </a:r>
            <a:r>
              <a:rPr lang="en-IN" sz="2400" b="1" dirty="0">
                <a:solidFill>
                  <a:srgbClr val="FFC000"/>
                </a:solidFill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C000"/>
                </a:solidFill>
              </a:rPr>
              <a:t>static</a:t>
            </a:r>
            <a:r>
              <a:rPr lang="en-IN" sz="2400" b="1" dirty="0">
                <a:solidFill>
                  <a:schemeClr val="bg1"/>
                </a:solidFill>
              </a:rPr>
              <a:t> initialization blocks of the class.</a:t>
            </a:r>
            <a:r>
              <a:rPr lang="en-IN" sz="2400" b="1" dirty="0">
                <a:solidFill>
                  <a:srgbClr val="FFC000"/>
                </a:solidFill>
              </a:rPr>
              <a:t> (</a:t>
            </a:r>
            <a:r>
              <a:rPr lang="en-IN" sz="2400" dirty="0">
                <a:solidFill>
                  <a:schemeClr val="bg1"/>
                </a:solidFill>
              </a:rPr>
              <a:t>Runs once</a:t>
            </a:r>
            <a:r>
              <a:rPr lang="en-IN" sz="2400" b="1" dirty="0">
                <a:solidFill>
                  <a:srgbClr val="FFC000"/>
                </a:solidFill>
              </a:rPr>
              <a:t>)</a:t>
            </a:r>
            <a:endParaRPr lang="en-IN" sz="2400" b="1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C000"/>
                </a:solidFill>
              </a:rPr>
              <a:t>instance</a:t>
            </a:r>
            <a:r>
              <a:rPr lang="en-IN" sz="2400" b="1" dirty="0">
                <a:solidFill>
                  <a:schemeClr val="bg1"/>
                </a:solidFill>
              </a:rPr>
              <a:t> initialization blocks of </a:t>
            </a:r>
            <a:r>
              <a:rPr lang="en-IN" sz="2400" b="1" dirty="0">
                <a:solidFill>
                  <a:srgbClr val="FFC000"/>
                </a:solidFill>
              </a:rPr>
              <a:t>super classes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constructors of </a:t>
            </a:r>
            <a:r>
              <a:rPr lang="en-IN" sz="2400" b="1" dirty="0">
                <a:solidFill>
                  <a:srgbClr val="FFC000"/>
                </a:solidFill>
              </a:rPr>
              <a:t>super classes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C000"/>
                </a:solidFill>
              </a:rPr>
              <a:t>instance</a:t>
            </a:r>
            <a:r>
              <a:rPr lang="en-IN" sz="2400" b="1" dirty="0">
                <a:solidFill>
                  <a:schemeClr val="bg1"/>
                </a:solidFill>
              </a:rPr>
              <a:t> initialization blocks of the class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constructor of the class.</a:t>
            </a:r>
          </a:p>
          <a:p>
            <a:pPr lvl="1">
              <a:lnSpc>
                <a:spcPct val="150000"/>
              </a:lnSpc>
            </a:pPr>
            <a:r>
              <a:rPr lang="en-IN" sz="2400" b="1" u="sng" dirty="0">
                <a:solidFill>
                  <a:srgbClr val="FFC000"/>
                </a:solidFill>
              </a:rPr>
              <a:t>Note:</a:t>
            </a:r>
            <a:r>
              <a:rPr lang="en-IN" sz="2400" b="1" dirty="0">
                <a:solidFill>
                  <a:schemeClr val="bg1"/>
                </a:solidFill>
              </a:rPr>
              <a:t> The code in </a:t>
            </a:r>
            <a:r>
              <a:rPr lang="en-IN" sz="2400" b="1" dirty="0">
                <a:solidFill>
                  <a:srgbClr val="FFC000"/>
                </a:solidFill>
              </a:rPr>
              <a:t>static initialization</a:t>
            </a:r>
            <a:r>
              <a:rPr lang="en-IN" sz="2400" b="1" dirty="0">
                <a:solidFill>
                  <a:schemeClr val="bg1"/>
                </a:solidFill>
              </a:rPr>
              <a:t> block will be </a:t>
            </a:r>
            <a:r>
              <a:rPr lang="en-IN" sz="2400" b="1" dirty="0">
                <a:solidFill>
                  <a:srgbClr val="FFC000"/>
                </a:solidFill>
              </a:rPr>
              <a:t>executed at class load time</a:t>
            </a: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sz="2400" b="1" dirty="0">
                <a:solidFill>
                  <a:srgbClr val="FFC000"/>
                </a:solidFill>
              </a:rPr>
              <a:t>before</a:t>
            </a: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sz="2400" b="1" dirty="0">
                <a:solidFill>
                  <a:srgbClr val="FFC000"/>
                </a:solidFill>
              </a:rPr>
              <a:t>any instances of the class </a:t>
            </a:r>
            <a:r>
              <a:rPr lang="en-IN" sz="2400" b="1" dirty="0">
                <a:solidFill>
                  <a:schemeClr val="bg1"/>
                </a:solidFill>
              </a:rPr>
              <a:t>are constructed and </a:t>
            </a:r>
            <a:r>
              <a:rPr lang="en-IN" sz="2400" b="1" dirty="0">
                <a:solidFill>
                  <a:srgbClr val="FFC000"/>
                </a:solidFill>
              </a:rPr>
              <a:t>before any static methods</a:t>
            </a:r>
            <a:r>
              <a:rPr lang="en-IN" sz="2400" b="1" dirty="0">
                <a:solidFill>
                  <a:schemeClr val="bg1"/>
                </a:solidFill>
              </a:rPr>
              <a:t> are called.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52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45566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final keyword 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54840" y="988364"/>
            <a:ext cx="1144091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final is a </a:t>
            </a:r>
            <a:r>
              <a:rPr lang="en-IN" sz="2400" dirty="0">
                <a:solidFill>
                  <a:srgbClr val="FFC000"/>
                </a:solidFill>
              </a:rPr>
              <a:t>non-access modifier</a:t>
            </a:r>
            <a:r>
              <a:rPr lang="en-IN" sz="2400" dirty="0">
                <a:solidFill>
                  <a:schemeClr val="bg1"/>
                </a:solidFill>
              </a:rPr>
              <a:t> applicable only </a:t>
            </a:r>
            <a:r>
              <a:rPr lang="en-IN" sz="2400" dirty="0">
                <a:solidFill>
                  <a:srgbClr val="FFC000"/>
                </a:solidFill>
              </a:rPr>
              <a:t>to a variable</a:t>
            </a:r>
            <a:r>
              <a:rPr lang="en-IN" sz="2400" dirty="0">
                <a:solidFill>
                  <a:schemeClr val="bg1"/>
                </a:solidFill>
              </a:rPr>
              <a:t>, </a:t>
            </a:r>
            <a:r>
              <a:rPr lang="en-IN" sz="2400" dirty="0">
                <a:solidFill>
                  <a:srgbClr val="FFC000"/>
                </a:solidFill>
              </a:rPr>
              <a:t>a method </a:t>
            </a:r>
            <a:r>
              <a:rPr lang="en-IN" sz="2400" dirty="0">
                <a:solidFill>
                  <a:schemeClr val="bg1"/>
                </a:solidFill>
              </a:rPr>
              <a:t>or a </a:t>
            </a:r>
            <a:r>
              <a:rPr lang="en-IN" sz="2400" dirty="0">
                <a:solidFill>
                  <a:srgbClr val="FFC000"/>
                </a:solidFill>
              </a:rPr>
              <a:t>class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Following are different contexts where final is used.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Final Variable                                      To Create Constant Variable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Final Method                                       Prevent Method Overriding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Final Class                                             Prevent Inheritance</a:t>
            </a:r>
          </a:p>
          <a:p>
            <a:pPr lvl="1">
              <a:lnSpc>
                <a:spcPct val="150000"/>
              </a:lnSpc>
            </a:pPr>
            <a:endParaRPr lang="en-IN" sz="2400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IN" sz="2400" b="1" u="sng" dirty="0">
                <a:solidFill>
                  <a:srgbClr val="FFC000"/>
                </a:solidFill>
              </a:rPr>
              <a:t>Note:</a:t>
            </a:r>
            <a:r>
              <a:rPr lang="en-IN" sz="2400" dirty="0">
                <a:solidFill>
                  <a:schemeClr val="bg1"/>
                </a:solidFill>
              </a:rPr>
              <a:t> We </a:t>
            </a:r>
            <a:r>
              <a:rPr lang="en-IN" sz="2400" dirty="0">
                <a:solidFill>
                  <a:srgbClr val="FFC000"/>
                </a:solidFill>
              </a:rPr>
              <a:t>must initialize a final variable</a:t>
            </a:r>
            <a:r>
              <a:rPr lang="en-IN" sz="2400" dirty="0">
                <a:solidFill>
                  <a:schemeClr val="bg1"/>
                </a:solidFill>
              </a:rPr>
              <a:t>, otherwise compiler will throw compile-time error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13463" y="2834639"/>
            <a:ext cx="1894115" cy="3657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Arrow 8"/>
          <p:cNvSpPr/>
          <p:nvPr/>
        </p:nvSpPr>
        <p:spPr>
          <a:xfrm>
            <a:off x="3209107" y="3339739"/>
            <a:ext cx="1894115" cy="3657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ight Arrow 9"/>
          <p:cNvSpPr/>
          <p:nvPr/>
        </p:nvSpPr>
        <p:spPr>
          <a:xfrm>
            <a:off x="3222170" y="3888379"/>
            <a:ext cx="1894115" cy="36576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244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45566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final keyword 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54841" y="1088963"/>
            <a:ext cx="11876136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Open Sans"/>
              </a:rPr>
              <a:t>There are three ways to initialize a final variable 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You can </a:t>
            </a:r>
            <a:r>
              <a:rPr lang="en-IN" sz="2400" dirty="0">
                <a:solidFill>
                  <a:srgbClr val="FFC000"/>
                </a:solidFill>
              </a:rPr>
              <a:t>initialize a final variable when it is declared</a:t>
            </a:r>
            <a:r>
              <a:rPr lang="en-IN" sz="2400" dirty="0">
                <a:solidFill>
                  <a:schemeClr val="bg1"/>
                </a:solidFill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A </a:t>
            </a:r>
            <a:r>
              <a:rPr lang="en-IN" sz="2400" dirty="0">
                <a:solidFill>
                  <a:srgbClr val="FFC000"/>
                </a:solidFill>
              </a:rPr>
              <a:t>blank final variable can be initialized inside instance-initializer block or inside constructor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400" b="1" u="sng" dirty="0">
                <a:solidFill>
                  <a:schemeClr val="bg1"/>
                </a:solidFill>
              </a:rPr>
              <a:t>Note:</a:t>
            </a:r>
            <a:r>
              <a:rPr lang="en-IN" sz="2400" dirty="0">
                <a:solidFill>
                  <a:schemeClr val="bg1"/>
                </a:solidFill>
              </a:rPr>
              <a:t> If you have more than one constructor in your class then it must be initialized in 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all of them,  otherwise compile time error will be thrown.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A </a:t>
            </a:r>
            <a:r>
              <a:rPr lang="en-IN" sz="2400" dirty="0">
                <a:solidFill>
                  <a:srgbClr val="FFC000"/>
                </a:solidFill>
              </a:rPr>
              <a:t>blank final static variable can be initialized inside static block</a:t>
            </a:r>
            <a:r>
              <a:rPr lang="en-IN" sz="2400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41719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45566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final keyword 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15652" y="945270"/>
            <a:ext cx="594145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Open Sans"/>
              </a:rPr>
              <a:t>public class </a:t>
            </a:r>
            <a:r>
              <a:rPr lang="en-IN" sz="2400" dirty="0" err="1">
                <a:solidFill>
                  <a:schemeClr val="bg1"/>
                </a:solidFill>
                <a:latin typeface="Open Sans"/>
              </a:rPr>
              <a:t>FinalEx</a:t>
            </a:r>
            <a:r>
              <a:rPr lang="en-IN" sz="2400" dirty="0">
                <a:solidFill>
                  <a:schemeClr val="bg1"/>
                </a:solidFill>
                <a:latin typeface="Open Sans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Open Sans"/>
              </a:rPr>
              <a:t>    private final </a:t>
            </a:r>
            <a:r>
              <a:rPr lang="en-IN" sz="2400" dirty="0" err="1">
                <a:solidFill>
                  <a:schemeClr val="bg1"/>
                </a:solidFill>
                <a:latin typeface="Open Sans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Open Sans"/>
              </a:rPr>
              <a:t> a;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Open Sans"/>
              </a:rPr>
              <a:t>    private final </a:t>
            </a:r>
            <a:r>
              <a:rPr lang="en-IN" sz="2400" dirty="0" err="1">
                <a:solidFill>
                  <a:schemeClr val="bg1"/>
                </a:solidFill>
                <a:latin typeface="Open Sans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Open Sans"/>
              </a:rPr>
              <a:t> b;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Open Sans"/>
              </a:rPr>
              <a:t>    private final </a:t>
            </a:r>
            <a:r>
              <a:rPr lang="en-IN" sz="2400" dirty="0" err="1">
                <a:solidFill>
                  <a:schemeClr val="bg1"/>
                </a:solidFill>
                <a:latin typeface="Open Sans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Open Sans"/>
              </a:rPr>
              <a:t> c = 10;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Open Sans"/>
              </a:rPr>
              <a:t>    </a:t>
            </a:r>
            <a:r>
              <a:rPr lang="en-IN" sz="2400" dirty="0" smtClean="0">
                <a:solidFill>
                  <a:schemeClr val="bg1"/>
                </a:solidFill>
                <a:latin typeface="Open Sans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Open Sans"/>
              </a:rPr>
              <a:t> </a:t>
            </a:r>
            <a:r>
              <a:rPr lang="en-IN" sz="2400" dirty="0" smtClean="0">
                <a:solidFill>
                  <a:schemeClr val="bg1"/>
                </a:solidFill>
                <a:latin typeface="Open Sans"/>
              </a:rPr>
              <a:t>      a=10;</a:t>
            </a:r>
            <a:endParaRPr lang="en-IN" sz="2400" dirty="0">
              <a:solidFill>
                <a:schemeClr val="bg1"/>
              </a:solidFill>
              <a:latin typeface="Open Sans"/>
            </a:endParaRPr>
          </a:p>
          <a:p>
            <a:pPr>
              <a:lnSpc>
                <a:spcPct val="150000"/>
              </a:lnSpc>
            </a:pPr>
            <a:r>
              <a:rPr lang="en-IN" sz="2400" dirty="0" smtClean="0">
                <a:solidFill>
                  <a:schemeClr val="bg1"/>
                </a:solidFill>
                <a:latin typeface="Open Sans"/>
              </a:rPr>
              <a:t>       </a:t>
            </a:r>
            <a:r>
              <a:rPr lang="en-IN" sz="2400" dirty="0">
                <a:solidFill>
                  <a:schemeClr val="bg1"/>
                </a:solidFill>
                <a:latin typeface="Open Sans"/>
              </a:rPr>
              <a:t>b = 20</a:t>
            </a:r>
            <a:r>
              <a:rPr lang="en-IN" sz="2400" dirty="0" smtClean="0">
                <a:solidFill>
                  <a:schemeClr val="bg1"/>
                </a:solidFill>
                <a:latin typeface="Open Sans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IN" sz="2400" dirty="0" smtClean="0">
                <a:solidFill>
                  <a:schemeClr val="bg1"/>
                </a:solidFill>
                <a:latin typeface="Open Sans"/>
              </a:rPr>
              <a:t>    </a:t>
            </a:r>
            <a:r>
              <a:rPr lang="en-IN" sz="2400" dirty="0">
                <a:solidFill>
                  <a:schemeClr val="bg1"/>
                </a:solidFill>
                <a:latin typeface="Open Sans"/>
              </a:rPr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6475862" y="1176102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Open Sans"/>
              </a:rPr>
              <a:t> public </a:t>
            </a:r>
            <a:r>
              <a:rPr lang="en-IN" sz="2400" dirty="0" err="1">
                <a:solidFill>
                  <a:schemeClr val="bg1"/>
                </a:solidFill>
                <a:latin typeface="Open Sans"/>
              </a:rPr>
              <a:t>FinalEx</a:t>
            </a:r>
            <a:r>
              <a:rPr lang="en-IN" sz="2400" dirty="0">
                <a:solidFill>
                  <a:schemeClr val="bg1"/>
                </a:solidFill>
                <a:latin typeface="Open Sans"/>
              </a:rPr>
              <a:t>(</a:t>
            </a:r>
            <a:r>
              <a:rPr lang="en-IN" sz="2400" dirty="0" err="1">
                <a:solidFill>
                  <a:schemeClr val="bg1"/>
                </a:solidFill>
                <a:latin typeface="Open Sans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Open Sans"/>
              </a:rPr>
              <a:t> </a:t>
            </a:r>
            <a:r>
              <a:rPr lang="en-IN" sz="2400" dirty="0" err="1">
                <a:solidFill>
                  <a:schemeClr val="bg1"/>
                </a:solidFill>
                <a:latin typeface="Open Sans"/>
              </a:rPr>
              <a:t>val</a:t>
            </a:r>
            <a:r>
              <a:rPr lang="en-IN" sz="2400" dirty="0">
                <a:solidFill>
                  <a:schemeClr val="bg1"/>
                </a:solidFill>
                <a:latin typeface="Open Sans"/>
              </a:rPr>
              <a:t>)    {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Open Sans"/>
              </a:rPr>
              <a:t>        a = 10;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Open Sans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Open Sans"/>
              </a:rPr>
              <a:t> public </a:t>
            </a:r>
            <a:r>
              <a:rPr lang="en-IN" sz="2400" dirty="0" err="1">
                <a:solidFill>
                  <a:schemeClr val="bg1"/>
                </a:solidFill>
                <a:latin typeface="Open Sans"/>
              </a:rPr>
              <a:t>FinalEx</a:t>
            </a:r>
            <a:r>
              <a:rPr lang="en-IN" sz="2400" dirty="0">
                <a:solidFill>
                  <a:schemeClr val="bg1"/>
                </a:solidFill>
                <a:latin typeface="Open Sans"/>
              </a:rPr>
              <a:t>( </a:t>
            </a:r>
            <a:r>
              <a:rPr lang="en-IN" sz="2400" dirty="0" err="1">
                <a:solidFill>
                  <a:schemeClr val="bg1"/>
                </a:solidFill>
                <a:latin typeface="Open Sans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Open Sans"/>
              </a:rPr>
              <a:t> val1, </a:t>
            </a:r>
            <a:r>
              <a:rPr lang="en-IN" sz="2400" dirty="0" err="1">
                <a:solidFill>
                  <a:schemeClr val="bg1"/>
                </a:solidFill>
                <a:latin typeface="Open Sans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Open Sans"/>
              </a:rPr>
              <a:t> val2){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Open Sans"/>
              </a:rPr>
              <a:t>        a =10;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Open Sans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Open Sans"/>
              </a:rPr>
              <a:t>}</a:t>
            </a:r>
            <a:endParaRPr lang="en-IN" sz="24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887104" y="4073236"/>
            <a:ext cx="92322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330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61141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Garbage Collection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50339" y="988364"/>
            <a:ext cx="1138866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Garbage Collection is process of </a:t>
            </a:r>
            <a:r>
              <a:rPr lang="en-IN" sz="2400" dirty="0">
                <a:solidFill>
                  <a:srgbClr val="FFC000"/>
                </a:solidFill>
              </a:rPr>
              <a:t>reclaiming the runtime unused memory automatically</a:t>
            </a:r>
            <a:r>
              <a:rPr lang="en-IN" sz="2400" dirty="0">
                <a:solidFill>
                  <a:schemeClr val="bg1"/>
                </a:solidFill>
              </a:rPr>
              <a:t>. In other words, it is a way to </a:t>
            </a:r>
            <a:r>
              <a:rPr lang="en-IN" sz="2400" dirty="0">
                <a:solidFill>
                  <a:srgbClr val="FFC000"/>
                </a:solidFill>
              </a:rPr>
              <a:t>destroy the unused objects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An automatic garbage collector essentially performs two tasks: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Decides if and when memory needs to be reclaimed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Finds objects that are no longer needed by the program and reclaims their storage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b="1" u="sng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b="1" u="sng" dirty="0">
                <a:solidFill>
                  <a:schemeClr val="bg1"/>
                </a:solidFill>
              </a:rPr>
              <a:t>Note:</a:t>
            </a:r>
            <a:r>
              <a:rPr lang="en-IN" sz="2400" dirty="0">
                <a:solidFill>
                  <a:schemeClr val="bg1"/>
                </a:solidFill>
              </a:rPr>
              <a:t> we were using </a:t>
            </a:r>
            <a:r>
              <a:rPr lang="en-IN" sz="2400" dirty="0">
                <a:solidFill>
                  <a:srgbClr val="FFC000"/>
                </a:solidFill>
              </a:rPr>
              <a:t>free()</a:t>
            </a:r>
            <a:r>
              <a:rPr lang="en-IN" sz="2400" dirty="0">
                <a:solidFill>
                  <a:schemeClr val="bg1"/>
                </a:solidFill>
              </a:rPr>
              <a:t> function in </a:t>
            </a:r>
            <a:r>
              <a:rPr lang="en-IN" sz="2400" dirty="0">
                <a:solidFill>
                  <a:srgbClr val="FFC000"/>
                </a:solidFill>
              </a:rPr>
              <a:t>C</a:t>
            </a:r>
            <a:r>
              <a:rPr lang="en-IN" sz="2400" dirty="0">
                <a:solidFill>
                  <a:schemeClr val="bg1"/>
                </a:solidFill>
              </a:rPr>
              <a:t> language and </a:t>
            </a:r>
            <a:r>
              <a:rPr lang="en-IN" sz="2400" dirty="0">
                <a:solidFill>
                  <a:srgbClr val="FFC000"/>
                </a:solidFill>
              </a:rPr>
              <a:t>delete() in C++</a:t>
            </a:r>
            <a:r>
              <a:rPr lang="en-IN" sz="2400" dirty="0">
                <a:solidFill>
                  <a:schemeClr val="bg1"/>
                </a:solidFill>
              </a:rPr>
              <a:t>. But, in </a:t>
            </a:r>
            <a:r>
              <a:rPr lang="en-IN" sz="2400" dirty="0">
                <a:solidFill>
                  <a:srgbClr val="FFC000"/>
                </a:solidFill>
              </a:rPr>
              <a:t>java</a:t>
            </a:r>
            <a:r>
              <a:rPr lang="en-IN" sz="2400" dirty="0">
                <a:solidFill>
                  <a:schemeClr val="bg1"/>
                </a:solidFill>
              </a:rPr>
              <a:t> it is performed </a:t>
            </a:r>
            <a:r>
              <a:rPr lang="en-IN" sz="2400" dirty="0">
                <a:solidFill>
                  <a:srgbClr val="FFC000"/>
                </a:solidFill>
              </a:rPr>
              <a:t>automatically </a:t>
            </a:r>
            <a:r>
              <a:rPr lang="en-IN" sz="2400" dirty="0">
                <a:solidFill>
                  <a:schemeClr val="bg1"/>
                </a:solidFill>
              </a:rPr>
              <a:t>or</a:t>
            </a:r>
            <a:r>
              <a:rPr lang="en-IN" sz="2400" dirty="0">
                <a:solidFill>
                  <a:srgbClr val="FFC000"/>
                </a:solidFill>
              </a:rPr>
              <a:t> Manually using </a:t>
            </a:r>
            <a:r>
              <a:rPr lang="en-IN" sz="2400" dirty="0" err="1">
                <a:solidFill>
                  <a:srgbClr val="FFC000"/>
                </a:solidFill>
              </a:rPr>
              <a:t>System.gc</a:t>
            </a:r>
            <a:r>
              <a:rPr lang="en-IN" sz="2400" dirty="0">
                <a:solidFill>
                  <a:srgbClr val="FFC000"/>
                </a:solidFill>
              </a:rPr>
              <a:t>() method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53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11654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How can an object be unreferenced?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50339" y="988364"/>
            <a:ext cx="1138866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By nulling the reference</a:t>
            </a:r>
          </a:p>
          <a:p>
            <a:pPr lvl="1">
              <a:lnSpc>
                <a:spcPct val="150000"/>
              </a:lnSpc>
            </a:pPr>
            <a:r>
              <a:rPr lang="en-IN" sz="2400" b="1" u="sng" dirty="0">
                <a:solidFill>
                  <a:srgbClr val="FFC000"/>
                </a:solidFill>
              </a:rPr>
              <a:t>Example: 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Employee e=new Employee();  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e=null;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By assigning a reference to another</a:t>
            </a:r>
          </a:p>
          <a:p>
            <a:pPr lvl="1">
              <a:lnSpc>
                <a:spcPct val="150000"/>
              </a:lnSpc>
            </a:pPr>
            <a:r>
              <a:rPr lang="en-IN" sz="2400" b="1" u="sng" dirty="0">
                <a:solidFill>
                  <a:srgbClr val="FFC000"/>
                </a:solidFill>
              </a:rPr>
              <a:t>Example: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Employee e1=new Employee();  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Employee e2=new Employee();  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e1=e2; //now the first object referred by </a:t>
            </a:r>
            <a:r>
              <a:rPr lang="en-IN" sz="2400" dirty="0">
                <a:solidFill>
                  <a:srgbClr val="FFC000"/>
                </a:solidFill>
              </a:rPr>
              <a:t>e1 is </a:t>
            </a:r>
            <a:r>
              <a:rPr lang="en-IN" sz="2400" dirty="0" smtClean="0">
                <a:solidFill>
                  <a:srgbClr val="FFC000"/>
                </a:solidFill>
              </a:rPr>
              <a:t>eligible </a:t>
            </a:r>
            <a:r>
              <a:rPr lang="en-IN" sz="2400" dirty="0">
                <a:solidFill>
                  <a:srgbClr val="FFC000"/>
                </a:solidFill>
              </a:rPr>
              <a:t>for garbage collection </a:t>
            </a:r>
          </a:p>
        </p:txBody>
      </p:sp>
    </p:spTree>
    <p:extLst>
      <p:ext uri="{BB962C8B-B14F-4D97-AF65-F5344CB8AC3E}">
        <p14:creationId xmlns:p14="http://schemas.microsoft.com/office/powerpoint/2010/main" val="133823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11654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How can an object be unreferenced?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50339" y="988364"/>
            <a:ext cx="113886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By </a:t>
            </a:r>
            <a:r>
              <a:rPr lang="en-IN" sz="2400" dirty="0" err="1">
                <a:solidFill>
                  <a:schemeClr val="bg1"/>
                </a:solidFill>
              </a:rPr>
              <a:t>annonymous</a:t>
            </a:r>
            <a:r>
              <a:rPr lang="en-IN" sz="2400" dirty="0">
                <a:solidFill>
                  <a:schemeClr val="bg1"/>
                </a:solidFill>
              </a:rPr>
              <a:t> object etc.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rgbClr val="FFC000"/>
                </a:solidFill>
              </a:rPr>
              <a:t>new Employee();  </a:t>
            </a:r>
          </a:p>
        </p:txBody>
      </p:sp>
    </p:spTree>
    <p:extLst>
      <p:ext uri="{BB962C8B-B14F-4D97-AF65-F5344CB8AC3E}">
        <p14:creationId xmlns:p14="http://schemas.microsoft.com/office/powerpoint/2010/main" val="81021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54980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finalize() method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54841" y="1068566"/>
            <a:ext cx="1138223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The </a:t>
            </a:r>
            <a:r>
              <a:rPr lang="en-IN" sz="2400" dirty="0">
                <a:solidFill>
                  <a:srgbClr val="FFC000"/>
                </a:solidFill>
              </a:rPr>
              <a:t>finalize() </a:t>
            </a:r>
            <a:r>
              <a:rPr lang="en-IN" sz="2400" dirty="0">
                <a:solidFill>
                  <a:schemeClr val="bg1"/>
                </a:solidFill>
              </a:rPr>
              <a:t>method is </a:t>
            </a:r>
            <a:r>
              <a:rPr lang="en-IN" sz="2400" dirty="0">
                <a:solidFill>
                  <a:srgbClr val="FFC000"/>
                </a:solidFill>
              </a:rPr>
              <a:t>invoked each time before the object is garbage collected</a:t>
            </a:r>
            <a:r>
              <a:rPr lang="en-IN" sz="2400" dirty="0">
                <a:solidFill>
                  <a:schemeClr val="bg1"/>
                </a:solidFill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This method can be used to perform </a:t>
            </a:r>
            <a:r>
              <a:rPr lang="en-IN" sz="2400" dirty="0" err="1">
                <a:solidFill>
                  <a:schemeClr val="bg1"/>
                </a:solidFill>
              </a:rPr>
              <a:t>cleanup</a:t>
            </a:r>
            <a:r>
              <a:rPr lang="en-IN" sz="2400" dirty="0">
                <a:solidFill>
                  <a:schemeClr val="bg1"/>
                </a:solidFill>
              </a:rPr>
              <a:t> processing. This method is defined in Object class as: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protected void finalize(){} </a:t>
            </a:r>
            <a:endParaRPr lang="en-IN" sz="2400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chemeClr val="bg1"/>
                </a:solidFill>
              </a:rPr>
              <a:t>Note: </a:t>
            </a:r>
            <a:r>
              <a:rPr lang="en-US" sz="2400" dirty="0">
                <a:solidFill>
                  <a:schemeClr val="bg1"/>
                </a:solidFill>
              </a:rPr>
              <a:t>Instead, it's recommended to use explicit resource management techniques like </a:t>
            </a:r>
            <a:r>
              <a:rPr lang="en-US" sz="2400" dirty="0">
                <a:solidFill>
                  <a:srgbClr val="FFC000"/>
                </a:solidFill>
              </a:rPr>
              <a:t>try-with-resources</a:t>
            </a:r>
            <a:r>
              <a:rPr lang="en-US" sz="2400" dirty="0">
                <a:solidFill>
                  <a:schemeClr val="bg1"/>
                </a:solidFill>
              </a:rPr>
              <a:t> or </a:t>
            </a:r>
            <a:r>
              <a:rPr lang="en-US" sz="2400" dirty="0">
                <a:solidFill>
                  <a:srgbClr val="FFC000"/>
                </a:solidFill>
              </a:rPr>
              <a:t>try-finally blocks</a:t>
            </a:r>
            <a:r>
              <a:rPr lang="en-US" sz="2400" dirty="0">
                <a:solidFill>
                  <a:schemeClr val="bg1"/>
                </a:solidFill>
              </a:rPr>
              <a:t>, or implement the </a:t>
            </a:r>
            <a:r>
              <a:rPr lang="en-US" sz="2400" dirty="0" err="1">
                <a:solidFill>
                  <a:srgbClr val="FFC000"/>
                </a:solidFill>
              </a:rPr>
              <a:t>AutoCloseable</a:t>
            </a:r>
            <a:r>
              <a:rPr lang="en-US" sz="2400" dirty="0">
                <a:solidFill>
                  <a:schemeClr val="bg1"/>
                </a:solidFill>
              </a:rPr>
              <a:t> interface for managing resources that need explicit cleanup.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303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92802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 err="1">
                <a:solidFill>
                  <a:schemeClr val="bg1"/>
                </a:solidFill>
              </a:rPr>
              <a:t>toString</a:t>
            </a:r>
            <a:r>
              <a:rPr lang="en-IN" sz="6000" dirty="0" smtClean="0">
                <a:solidFill>
                  <a:schemeClr val="bg1"/>
                </a:solidFill>
              </a:rPr>
              <a:t>() Method </a:t>
            </a:r>
            <a:r>
              <a:rPr lang="en-IN" sz="6000" dirty="0">
                <a:solidFill>
                  <a:schemeClr val="bg1"/>
                </a:solidFill>
              </a:rPr>
              <a:t>Overriding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54841" y="1068566"/>
            <a:ext cx="1138223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The </a:t>
            </a:r>
            <a:r>
              <a:rPr lang="en-US" sz="2400" dirty="0" err="1">
                <a:solidFill>
                  <a:srgbClr val="FFC000"/>
                </a:solidFill>
              </a:rPr>
              <a:t>toString</a:t>
            </a:r>
            <a:r>
              <a:rPr lang="en-US" sz="2400" dirty="0">
                <a:solidFill>
                  <a:srgbClr val="FFC000"/>
                </a:solidFill>
              </a:rPr>
              <a:t>() </a:t>
            </a:r>
            <a:r>
              <a:rPr lang="en-US" sz="2400" dirty="0">
                <a:solidFill>
                  <a:schemeClr val="bg1"/>
                </a:solidFill>
              </a:rPr>
              <a:t>method is a built-in method in Java, defined in </a:t>
            </a:r>
            <a:r>
              <a:rPr lang="en-US" sz="2400" dirty="0">
                <a:solidFill>
                  <a:srgbClr val="FFC000"/>
                </a:solidFill>
              </a:rPr>
              <a:t>the </a:t>
            </a:r>
            <a:r>
              <a:rPr lang="en-US" sz="2400" dirty="0" err="1">
                <a:solidFill>
                  <a:srgbClr val="FFC000"/>
                </a:solidFill>
              </a:rPr>
              <a:t>java.lang.Object</a:t>
            </a:r>
            <a:r>
              <a:rPr lang="en-US" sz="2400" dirty="0">
                <a:solidFill>
                  <a:srgbClr val="FFC0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class — which is the superclass of all Java classes</a:t>
            </a:r>
            <a:r>
              <a:rPr lang="en-US" sz="2400" dirty="0" smtClean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400" dirty="0" smtClean="0">
                <a:solidFill>
                  <a:schemeClr val="bg1"/>
                </a:solidFill>
              </a:rPr>
              <a:t>	</a:t>
            </a:r>
            <a:r>
              <a:rPr lang="en-IN" sz="2400" dirty="0" smtClean="0">
                <a:solidFill>
                  <a:srgbClr val="FFC000"/>
                </a:solidFill>
              </a:rPr>
              <a:t>public </a:t>
            </a:r>
            <a:r>
              <a:rPr lang="en-IN" sz="2400" dirty="0">
                <a:solidFill>
                  <a:srgbClr val="FFC000"/>
                </a:solidFill>
              </a:rPr>
              <a:t>String </a:t>
            </a:r>
            <a:r>
              <a:rPr lang="en-IN" sz="2400" dirty="0" err="1">
                <a:solidFill>
                  <a:srgbClr val="FFC000"/>
                </a:solidFill>
              </a:rPr>
              <a:t>toString</a:t>
            </a:r>
            <a:r>
              <a:rPr lang="en-IN" sz="2400" dirty="0" smtClean="0">
                <a:solidFill>
                  <a:srgbClr val="FFC000"/>
                </a:solidFill>
              </a:rPr>
              <a:t>():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bg1"/>
                </a:solidFill>
              </a:rPr>
              <a:t>It </a:t>
            </a:r>
            <a:r>
              <a:rPr lang="en-US" sz="2400" dirty="0">
                <a:solidFill>
                  <a:schemeClr val="bg1"/>
                </a:solidFill>
              </a:rPr>
              <a:t>is meant to </a:t>
            </a:r>
            <a:r>
              <a:rPr lang="en-US" sz="2400" dirty="0">
                <a:solidFill>
                  <a:srgbClr val="FFC000"/>
                </a:solidFill>
              </a:rPr>
              <a:t>return a string representation of an object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07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92802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 err="1">
                <a:solidFill>
                  <a:schemeClr val="bg1"/>
                </a:solidFill>
              </a:rPr>
              <a:t>toString</a:t>
            </a:r>
            <a:r>
              <a:rPr lang="en-IN" sz="6000" dirty="0" smtClean="0">
                <a:solidFill>
                  <a:schemeClr val="bg1"/>
                </a:solidFill>
              </a:rPr>
              <a:t>() Method </a:t>
            </a:r>
            <a:r>
              <a:rPr lang="en-IN" sz="6000" dirty="0">
                <a:solidFill>
                  <a:schemeClr val="bg1"/>
                </a:solidFill>
              </a:rPr>
              <a:t>Overriding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4840" y="1212748"/>
            <a:ext cx="802254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class Student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</a:t>
            </a:r>
            <a:r>
              <a:rPr lang="en-US" sz="2400" dirty="0" err="1">
                <a:solidFill>
                  <a:schemeClr val="bg1"/>
                </a:solidFill>
              </a:rPr>
              <a:t>int</a:t>
            </a:r>
            <a:r>
              <a:rPr lang="en-US" sz="2400" dirty="0">
                <a:solidFill>
                  <a:schemeClr val="bg1"/>
                </a:solidFill>
              </a:rPr>
              <a:t> id = 1;</a:t>
            </a:r>
          </a:p>
          <a:p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public class Main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public static void main(String[] </a:t>
            </a:r>
            <a:r>
              <a:rPr lang="en-US" sz="2400" dirty="0" err="1">
                <a:solidFill>
                  <a:schemeClr val="bg1"/>
                </a:solidFill>
              </a:rPr>
              <a:t>args</a:t>
            </a:r>
            <a:r>
              <a:rPr lang="en-US" sz="2400" dirty="0">
                <a:solidFill>
                  <a:schemeClr val="bg1"/>
                </a:solidFill>
              </a:rPr>
              <a:t>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Student s = new Student();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(s);  // Implicitly calls </a:t>
            </a:r>
            <a:r>
              <a:rPr lang="en-US" sz="2400" dirty="0" err="1">
                <a:solidFill>
                  <a:schemeClr val="bg1"/>
                </a:solidFill>
              </a:rPr>
              <a:t>s.toString</a:t>
            </a:r>
            <a:r>
              <a:rPr lang="en-US" sz="2400" dirty="0">
                <a:solidFill>
                  <a:schemeClr val="bg1"/>
                </a:solidFill>
              </a:rPr>
              <a:t>()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24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8522170" y="1622564"/>
            <a:ext cx="270651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C000"/>
                </a:solidFill>
              </a:rPr>
              <a:t>O/P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Student@6d06d69c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06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33168" y="252166"/>
            <a:ext cx="8022541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class Student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String name;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</a:t>
            </a:r>
            <a:r>
              <a:rPr lang="en-US" sz="2400" dirty="0" err="1">
                <a:solidFill>
                  <a:schemeClr val="bg1"/>
                </a:solidFill>
              </a:rPr>
              <a:t>int</a:t>
            </a:r>
            <a:r>
              <a:rPr lang="en-US" sz="2400" dirty="0">
                <a:solidFill>
                  <a:schemeClr val="bg1"/>
                </a:solidFill>
              </a:rPr>
              <a:t> roll;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    public Student(String name, </a:t>
            </a:r>
            <a:r>
              <a:rPr lang="en-US" sz="2400" dirty="0" err="1">
                <a:solidFill>
                  <a:schemeClr val="bg1"/>
                </a:solidFill>
              </a:rPr>
              <a:t>int</a:t>
            </a:r>
            <a:r>
              <a:rPr lang="en-US" sz="2400" dirty="0">
                <a:solidFill>
                  <a:schemeClr val="bg1"/>
                </a:solidFill>
              </a:rPr>
              <a:t> roll)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this.name = name;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this.roll</a:t>
            </a:r>
            <a:r>
              <a:rPr lang="en-US" sz="2400" dirty="0">
                <a:solidFill>
                  <a:schemeClr val="bg1"/>
                </a:solidFill>
              </a:rPr>
              <a:t> = roll;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2400" dirty="0" smtClean="0">
                <a:solidFill>
                  <a:srgbClr val="FFC000"/>
                </a:solidFill>
              </a:rPr>
              <a:t>public </a:t>
            </a:r>
            <a:r>
              <a:rPr lang="en-US" sz="2400" dirty="0">
                <a:solidFill>
                  <a:srgbClr val="FFC000"/>
                </a:solidFill>
              </a:rPr>
              <a:t>String </a:t>
            </a:r>
            <a:r>
              <a:rPr lang="en-US" sz="2400" dirty="0" err="1">
                <a:solidFill>
                  <a:srgbClr val="FFC000"/>
                </a:solidFill>
              </a:rPr>
              <a:t>toString</a:t>
            </a:r>
            <a:r>
              <a:rPr lang="en-US" sz="2400" dirty="0">
                <a:solidFill>
                  <a:srgbClr val="FFC000"/>
                </a:solidFill>
              </a:rPr>
              <a:t>()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return "</a:t>
            </a:r>
            <a:r>
              <a:rPr lang="en-US" sz="2400" dirty="0" smtClean="0">
                <a:solidFill>
                  <a:schemeClr val="bg1"/>
                </a:solidFill>
              </a:rPr>
              <a:t>Student {</a:t>
            </a:r>
            <a:r>
              <a:rPr lang="en-US" sz="2400" dirty="0">
                <a:solidFill>
                  <a:schemeClr val="bg1"/>
                </a:solidFill>
              </a:rPr>
              <a:t>name='" + name + "', roll=" + roll + "}";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}</a:t>
            </a:r>
          </a:p>
          <a:p>
            <a:r>
              <a:rPr lang="en-US" sz="2400" dirty="0">
                <a:solidFill>
                  <a:schemeClr val="bg1"/>
                </a:solidFill>
              </a:rPr>
              <a:t>public class Main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public static void main(String[] </a:t>
            </a:r>
            <a:r>
              <a:rPr lang="en-US" sz="2400" dirty="0" err="1">
                <a:solidFill>
                  <a:schemeClr val="bg1"/>
                </a:solidFill>
              </a:rPr>
              <a:t>args</a:t>
            </a:r>
            <a:r>
              <a:rPr lang="en-US" sz="2400" dirty="0">
                <a:solidFill>
                  <a:schemeClr val="bg1"/>
                </a:solidFill>
              </a:rPr>
              <a:t>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Student s = new Student</a:t>
            </a:r>
            <a:r>
              <a:rPr lang="en-US" sz="2400" dirty="0" smtClean="0">
                <a:solidFill>
                  <a:schemeClr val="bg1"/>
                </a:solidFill>
              </a:rPr>
              <a:t>(“JAVA", </a:t>
            </a:r>
            <a:r>
              <a:rPr lang="en-US" sz="2400" dirty="0">
                <a:solidFill>
                  <a:schemeClr val="bg1"/>
                </a:solidFill>
              </a:rPr>
              <a:t>101);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</a:t>
            </a:r>
            <a:r>
              <a:rPr lang="en-US" sz="2400" dirty="0" err="1">
                <a:solidFill>
                  <a:schemeClr val="bg1"/>
                </a:solidFill>
              </a:rPr>
              <a:t>System.out.println</a:t>
            </a:r>
            <a:r>
              <a:rPr lang="en-US" sz="2400" dirty="0">
                <a:solidFill>
                  <a:schemeClr val="bg1"/>
                </a:solidFill>
              </a:rPr>
              <a:t>(s);  // calls overridden </a:t>
            </a:r>
            <a:r>
              <a:rPr lang="en-US" sz="2400" dirty="0" err="1">
                <a:solidFill>
                  <a:schemeClr val="bg1"/>
                </a:solidFill>
              </a:rPr>
              <a:t>toString</a:t>
            </a:r>
            <a:r>
              <a:rPr lang="en-US" sz="2400" dirty="0">
                <a:solidFill>
                  <a:schemeClr val="bg1"/>
                </a:solidFill>
              </a:rPr>
              <a:t>()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</a:t>
            </a:r>
            <a:r>
              <a:rPr lang="en-US" sz="2400" dirty="0" smtClean="0">
                <a:solidFill>
                  <a:schemeClr val="bg1"/>
                </a:solidFill>
              </a:rPr>
              <a:t>}}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55199" y="1687218"/>
            <a:ext cx="429880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C000"/>
                </a:solidFill>
              </a:rPr>
              <a:t>O/P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Student {</a:t>
            </a:r>
            <a:r>
              <a:rPr lang="en-US" sz="2400" b="1" dirty="0">
                <a:solidFill>
                  <a:schemeClr val="bg1"/>
                </a:solidFill>
              </a:rPr>
              <a:t>name</a:t>
            </a:r>
            <a:r>
              <a:rPr lang="en-US" sz="2400" b="1" dirty="0" smtClean="0">
                <a:solidFill>
                  <a:schemeClr val="bg1"/>
                </a:solidFill>
              </a:rPr>
              <a:t>=‘JAVA', </a:t>
            </a:r>
            <a:r>
              <a:rPr lang="en-US" sz="2400" b="1" dirty="0">
                <a:solidFill>
                  <a:schemeClr val="bg1"/>
                </a:solidFill>
              </a:rPr>
              <a:t>roll=101}</a:t>
            </a:r>
          </a:p>
        </p:txBody>
      </p:sp>
    </p:spTree>
    <p:extLst>
      <p:ext uri="{BB962C8B-B14F-4D97-AF65-F5344CB8AC3E}">
        <p14:creationId xmlns:p14="http://schemas.microsoft.com/office/powerpoint/2010/main" val="107772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82548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inner class or nested class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54841" y="1068566"/>
            <a:ext cx="1138223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Define a </a:t>
            </a:r>
            <a:r>
              <a:rPr lang="en-IN" sz="2400" dirty="0">
                <a:solidFill>
                  <a:srgbClr val="FFC000"/>
                </a:solidFill>
              </a:rPr>
              <a:t>class within another class</a:t>
            </a:r>
            <a:r>
              <a:rPr lang="en-IN" sz="2400" dirty="0">
                <a:solidFill>
                  <a:schemeClr val="bg1"/>
                </a:solidFill>
              </a:rPr>
              <a:t>, such classes are known as </a:t>
            </a:r>
            <a:r>
              <a:rPr lang="en-IN" sz="2400" dirty="0">
                <a:solidFill>
                  <a:srgbClr val="FFC000"/>
                </a:solidFill>
              </a:rPr>
              <a:t>nested classes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They enable you to </a:t>
            </a:r>
            <a:r>
              <a:rPr lang="en-IN" sz="2400" dirty="0">
                <a:solidFill>
                  <a:srgbClr val="FFC000"/>
                </a:solidFill>
              </a:rPr>
              <a:t>logically group classes</a:t>
            </a:r>
            <a:r>
              <a:rPr lang="en-IN" sz="2400" dirty="0">
                <a:solidFill>
                  <a:schemeClr val="bg1"/>
                </a:solidFill>
              </a:rPr>
              <a:t> that are only used in </a:t>
            </a:r>
            <a:r>
              <a:rPr lang="en-IN" sz="2400" dirty="0">
                <a:solidFill>
                  <a:srgbClr val="FFC000"/>
                </a:solidFill>
              </a:rPr>
              <a:t>one place</a:t>
            </a:r>
            <a:r>
              <a:rPr lang="en-IN" sz="2400" dirty="0">
                <a:solidFill>
                  <a:schemeClr val="bg1"/>
                </a:solidFill>
              </a:rPr>
              <a:t>, thus this increases the use </a:t>
            </a:r>
            <a:r>
              <a:rPr lang="en-IN" sz="2400" dirty="0">
                <a:solidFill>
                  <a:srgbClr val="FFC000"/>
                </a:solidFill>
              </a:rPr>
              <a:t>of encapsulation</a:t>
            </a:r>
            <a:r>
              <a:rPr lang="en-IN" sz="2400" dirty="0">
                <a:solidFill>
                  <a:schemeClr val="bg1"/>
                </a:solidFill>
              </a:rPr>
              <a:t>, and create more </a:t>
            </a:r>
            <a:r>
              <a:rPr lang="en-IN" sz="2400" dirty="0">
                <a:solidFill>
                  <a:srgbClr val="FFC000"/>
                </a:solidFill>
              </a:rPr>
              <a:t>readable and maintainable code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9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82548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inner class or nested class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54841" y="1068566"/>
            <a:ext cx="1138223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Types of Nested classes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The </a:t>
            </a:r>
            <a:r>
              <a:rPr lang="en-IN" sz="2400" dirty="0">
                <a:solidFill>
                  <a:srgbClr val="FFC000"/>
                </a:solidFill>
              </a:rPr>
              <a:t>non-static nested classes</a:t>
            </a:r>
            <a:r>
              <a:rPr lang="en-IN" sz="2400" dirty="0">
                <a:solidFill>
                  <a:schemeClr val="bg1"/>
                </a:solidFill>
              </a:rPr>
              <a:t> are also known as inner classes.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bg1"/>
                </a:solidFill>
              </a:rPr>
              <a:t>Member inner class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bg1"/>
                </a:solidFill>
              </a:rPr>
              <a:t>Non-static nested class (inner class)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bg1"/>
                </a:solidFill>
              </a:rPr>
              <a:t>Anonymous inner class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bg1"/>
                </a:solidFill>
              </a:rPr>
              <a:t>Local inner class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C000"/>
                </a:solidFill>
              </a:rPr>
              <a:t>Static nested class</a:t>
            </a:r>
          </a:p>
        </p:txBody>
      </p:sp>
    </p:spTree>
    <p:extLst>
      <p:ext uri="{BB962C8B-B14F-4D97-AF65-F5344CB8AC3E}">
        <p14:creationId xmlns:p14="http://schemas.microsoft.com/office/powerpoint/2010/main" val="2165338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63690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Member Inner class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54840" y="1005045"/>
            <a:ext cx="1097280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A non-static </a:t>
            </a:r>
            <a:r>
              <a:rPr lang="en-IN" sz="2400" dirty="0">
                <a:solidFill>
                  <a:srgbClr val="FFC000"/>
                </a:solidFill>
              </a:rPr>
              <a:t>class that is created inside a class but outside a method </a:t>
            </a:r>
            <a:r>
              <a:rPr lang="en-IN" sz="2400" dirty="0">
                <a:solidFill>
                  <a:schemeClr val="bg1"/>
                </a:solidFill>
              </a:rPr>
              <a:t>is called member inner class.</a:t>
            </a:r>
          </a:p>
          <a:p>
            <a:pPr>
              <a:lnSpc>
                <a:spcPct val="150000"/>
              </a:lnSpc>
            </a:pPr>
            <a:r>
              <a:rPr lang="en-IN" sz="2400" b="1" u="sng" dirty="0">
                <a:solidFill>
                  <a:schemeClr val="bg1"/>
                </a:solidFill>
              </a:rPr>
              <a:t>Syntax: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class </a:t>
            </a:r>
            <a:r>
              <a:rPr lang="en-IN" sz="2400" dirty="0" err="1">
                <a:solidFill>
                  <a:schemeClr val="bg1"/>
                </a:solidFill>
              </a:rPr>
              <a:t>OuterClass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	 //code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	 class </a:t>
            </a:r>
            <a:r>
              <a:rPr lang="en-IN" sz="2400" dirty="0" err="1">
                <a:solidFill>
                  <a:schemeClr val="bg1"/>
                </a:solidFill>
              </a:rPr>
              <a:t>InnerClass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		  //code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	 }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80147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63690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Member Inner class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54840" y="800325"/>
            <a:ext cx="9444253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solidFill>
                  <a:schemeClr val="bg1"/>
                </a:solidFill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public class </a:t>
            </a:r>
            <a:r>
              <a:rPr lang="en-IN" sz="2400" dirty="0" err="1">
                <a:solidFill>
                  <a:srgbClr val="FFC000"/>
                </a:solidFill>
              </a:rPr>
              <a:t>OuterClass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private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data=100;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	 class </a:t>
            </a:r>
            <a:r>
              <a:rPr lang="en-IN" sz="2400" dirty="0" err="1">
                <a:solidFill>
                  <a:srgbClr val="FFC000"/>
                </a:solidFill>
              </a:rPr>
              <a:t>InnerClass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	  void </a:t>
            </a:r>
            <a:r>
              <a:rPr lang="en-IN" sz="2400" dirty="0" err="1">
                <a:solidFill>
                  <a:schemeClr val="bg1"/>
                </a:solidFill>
              </a:rPr>
              <a:t>msg</a:t>
            </a:r>
            <a:r>
              <a:rPr lang="en-IN" sz="2400" dirty="0">
                <a:solidFill>
                  <a:schemeClr val="bg1"/>
                </a:solidFill>
              </a:rPr>
              <a:t>(){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("data is "+data);}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	 }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public static void main(String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[]){  </a:t>
            </a:r>
          </a:p>
          <a:p>
            <a:pPr>
              <a:lnSpc>
                <a:spcPct val="150000"/>
              </a:lnSpc>
            </a:pPr>
            <a:r>
              <a:rPr lang="en-IN" sz="2400" dirty="0" err="1">
                <a:solidFill>
                  <a:schemeClr val="bg1"/>
                </a:solidFill>
              </a:rPr>
              <a:t>OuterClass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 err="1">
                <a:solidFill>
                  <a:srgbClr val="FFC000"/>
                </a:solidFill>
              </a:rPr>
              <a:t>objOuter</a:t>
            </a:r>
            <a:r>
              <a:rPr lang="en-IN" sz="2400" dirty="0">
                <a:solidFill>
                  <a:schemeClr val="bg1"/>
                </a:solidFill>
              </a:rPr>
              <a:t> = new </a:t>
            </a:r>
            <a:r>
              <a:rPr lang="en-IN" sz="2400" dirty="0" err="1">
                <a:solidFill>
                  <a:schemeClr val="bg1"/>
                </a:solidFill>
              </a:rPr>
              <a:t>OuterClass</a:t>
            </a:r>
            <a:r>
              <a:rPr lang="en-IN" sz="2400" dirty="0">
                <a:solidFill>
                  <a:schemeClr val="bg1"/>
                </a:solidFill>
              </a:rPr>
              <a:t>();  </a:t>
            </a:r>
          </a:p>
          <a:p>
            <a:pPr>
              <a:lnSpc>
                <a:spcPct val="150000"/>
              </a:lnSpc>
            </a:pPr>
            <a:r>
              <a:rPr lang="en-IN" sz="2400" dirty="0" err="1">
                <a:solidFill>
                  <a:srgbClr val="FFC000"/>
                </a:solidFill>
              </a:rPr>
              <a:t>OuterClass.InnerClass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 err="1">
                <a:solidFill>
                  <a:schemeClr val="bg1"/>
                </a:solidFill>
              </a:rPr>
              <a:t>objInner</a:t>
            </a:r>
            <a:r>
              <a:rPr lang="en-IN" sz="2400" dirty="0">
                <a:solidFill>
                  <a:schemeClr val="bg1"/>
                </a:solidFill>
              </a:rPr>
              <a:t> = </a:t>
            </a:r>
            <a:r>
              <a:rPr lang="en-IN" sz="2400" dirty="0" err="1">
                <a:solidFill>
                  <a:srgbClr val="FFC000"/>
                </a:solidFill>
              </a:rPr>
              <a:t>objOuter.new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 err="1">
                <a:solidFill>
                  <a:schemeClr val="bg1"/>
                </a:solidFill>
              </a:rPr>
              <a:t>InnerClass</a:t>
            </a:r>
            <a:r>
              <a:rPr lang="en-IN" sz="2400" dirty="0">
                <a:solidFill>
                  <a:schemeClr val="bg1"/>
                </a:solidFill>
              </a:rPr>
              <a:t>();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objInner.msg();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}  }           O/P: data is 100</a:t>
            </a:r>
          </a:p>
        </p:txBody>
      </p:sp>
    </p:spTree>
    <p:extLst>
      <p:ext uri="{BB962C8B-B14F-4D97-AF65-F5344CB8AC3E}">
        <p14:creationId xmlns:p14="http://schemas.microsoft.com/office/powerpoint/2010/main" val="46138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52533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Local Inner class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54840" y="1005045"/>
            <a:ext cx="109728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C000"/>
                </a:solidFill>
              </a:rPr>
              <a:t>Local Inner Classes </a:t>
            </a:r>
            <a:r>
              <a:rPr lang="en-IN" sz="2400" dirty="0">
                <a:solidFill>
                  <a:schemeClr val="bg1"/>
                </a:solidFill>
              </a:rPr>
              <a:t>are the inner classes that are </a:t>
            </a:r>
            <a:r>
              <a:rPr lang="en-IN" sz="2400" b="1" dirty="0">
                <a:solidFill>
                  <a:srgbClr val="FFC000"/>
                </a:solidFill>
              </a:rPr>
              <a:t>defined inside a block</a:t>
            </a:r>
            <a:r>
              <a:rPr lang="en-IN" sz="2400" dirty="0">
                <a:solidFill>
                  <a:schemeClr val="bg1"/>
                </a:solidFill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Generally, this block is a </a:t>
            </a:r>
            <a:r>
              <a:rPr lang="en-IN" sz="2400" dirty="0">
                <a:solidFill>
                  <a:srgbClr val="FFC000"/>
                </a:solidFill>
              </a:rPr>
              <a:t>method body</a:t>
            </a:r>
            <a:r>
              <a:rPr lang="en-IN" sz="2400" dirty="0">
                <a:solidFill>
                  <a:schemeClr val="bg1"/>
                </a:solidFill>
              </a:rPr>
              <a:t>. Sometimes this block can be a </a:t>
            </a:r>
            <a:r>
              <a:rPr lang="en-IN" sz="2400" dirty="0">
                <a:solidFill>
                  <a:srgbClr val="FFC000"/>
                </a:solidFill>
              </a:rPr>
              <a:t>for loop</a:t>
            </a:r>
            <a:r>
              <a:rPr lang="en-IN" sz="2400" dirty="0">
                <a:solidFill>
                  <a:schemeClr val="bg1"/>
                </a:solidFill>
              </a:rPr>
              <a:t>, or </a:t>
            </a:r>
            <a:r>
              <a:rPr lang="en-IN" sz="2400" dirty="0">
                <a:solidFill>
                  <a:srgbClr val="FFC000"/>
                </a:solidFill>
              </a:rPr>
              <a:t>an if clause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400" b="1" u="sng" dirty="0">
                <a:solidFill>
                  <a:schemeClr val="bg1"/>
                </a:solidFill>
              </a:rPr>
              <a:t>Note: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>
                <a:solidFill>
                  <a:srgbClr val="FFC000"/>
                </a:solidFill>
              </a:rPr>
              <a:t>Local Inner classes are not a member of any enclosing classes</a:t>
            </a:r>
            <a:r>
              <a:rPr lang="en-IN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3482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52533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Local Inner class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54840" y="1005045"/>
            <a:ext cx="1097280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Rules of Local Inner Class: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The </a:t>
            </a:r>
            <a:r>
              <a:rPr lang="en-IN" sz="2400" dirty="0">
                <a:solidFill>
                  <a:srgbClr val="FFC000"/>
                </a:solidFill>
              </a:rPr>
              <a:t>scope of local inner class </a:t>
            </a:r>
            <a:r>
              <a:rPr lang="en-IN" sz="2400" dirty="0">
                <a:solidFill>
                  <a:schemeClr val="bg1"/>
                </a:solidFill>
              </a:rPr>
              <a:t>is </a:t>
            </a:r>
            <a:r>
              <a:rPr lang="en-IN" sz="2400" dirty="0">
                <a:solidFill>
                  <a:srgbClr val="FFC000"/>
                </a:solidFill>
              </a:rPr>
              <a:t>restricted to the block </a:t>
            </a:r>
            <a:r>
              <a:rPr lang="en-IN" sz="2400" dirty="0">
                <a:solidFill>
                  <a:schemeClr val="bg1"/>
                </a:solidFill>
              </a:rPr>
              <a:t>they are defined in.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Local inner class </a:t>
            </a:r>
            <a:r>
              <a:rPr lang="en-IN" sz="2400" dirty="0">
                <a:solidFill>
                  <a:srgbClr val="FFC000"/>
                </a:solidFill>
              </a:rPr>
              <a:t>cannot be instantiated from outside the block </a:t>
            </a:r>
            <a:r>
              <a:rPr lang="en-IN" sz="2400" dirty="0">
                <a:solidFill>
                  <a:schemeClr val="bg1"/>
                </a:solidFill>
              </a:rPr>
              <a:t>where it is created in.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Till </a:t>
            </a:r>
            <a:r>
              <a:rPr lang="en-IN" sz="2400" dirty="0">
                <a:solidFill>
                  <a:srgbClr val="FFC000"/>
                </a:solidFill>
              </a:rPr>
              <a:t>JDK 7,Local inner class can access only final local variable </a:t>
            </a:r>
            <a:r>
              <a:rPr lang="en-IN" sz="2400" dirty="0">
                <a:solidFill>
                  <a:schemeClr val="bg1"/>
                </a:solidFill>
              </a:rPr>
              <a:t>of the enclosing block. However From </a:t>
            </a:r>
            <a:r>
              <a:rPr lang="en-IN" sz="2400" dirty="0">
                <a:solidFill>
                  <a:srgbClr val="FFC000"/>
                </a:solidFill>
              </a:rPr>
              <a:t>JDK 8, it is </a:t>
            </a:r>
            <a:r>
              <a:rPr lang="en-US" sz="2400" dirty="0">
                <a:solidFill>
                  <a:srgbClr val="FFC000"/>
                </a:solidFill>
              </a:rPr>
              <a:t>Allowed only if </a:t>
            </a:r>
            <a:r>
              <a:rPr lang="en-US" sz="2400" smtClean="0">
                <a:solidFill>
                  <a:srgbClr val="FFC000"/>
                </a:solidFill>
              </a:rPr>
              <a:t>final or effectively </a:t>
            </a:r>
            <a:r>
              <a:rPr lang="en-US" sz="2400" dirty="0" smtClean="0">
                <a:solidFill>
                  <a:srgbClr val="FFC000"/>
                </a:solidFill>
              </a:rPr>
              <a:t>final </a:t>
            </a:r>
            <a:r>
              <a:rPr lang="en-IN" sz="2400" dirty="0" smtClean="0">
                <a:solidFill>
                  <a:schemeClr val="bg1"/>
                </a:solidFill>
              </a:rPr>
              <a:t>of </a:t>
            </a:r>
            <a:r>
              <a:rPr lang="en-IN" sz="2400" dirty="0">
                <a:solidFill>
                  <a:schemeClr val="bg1"/>
                </a:solidFill>
              </a:rPr>
              <a:t>enclosing block in local inner class.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A local class has access to the members of its enclosing class.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Local inner classes can extend an abstract class or can also implement an interface. </a:t>
            </a:r>
          </a:p>
        </p:txBody>
      </p:sp>
    </p:spTree>
    <p:extLst>
      <p:ext uri="{BB962C8B-B14F-4D97-AF65-F5344CB8AC3E}">
        <p14:creationId xmlns:p14="http://schemas.microsoft.com/office/powerpoint/2010/main" val="21630401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52533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Local Inner class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54842" y="988364"/>
            <a:ext cx="596407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solidFill>
                  <a:schemeClr val="bg1"/>
                </a:solidFill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public class </a:t>
            </a:r>
            <a:r>
              <a:rPr lang="en-IN" sz="2400" dirty="0" err="1">
                <a:solidFill>
                  <a:schemeClr val="bg1"/>
                </a:solidFill>
              </a:rPr>
              <a:t>localInnerEx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private </a:t>
            </a:r>
            <a:r>
              <a:rPr lang="en-IN" sz="2400" dirty="0" err="1">
                <a:solidFill>
                  <a:schemeClr val="bg1"/>
                </a:solidFill>
              </a:rPr>
              <a:t>int</a:t>
            </a:r>
            <a:r>
              <a:rPr lang="en-IN" sz="2400" dirty="0">
                <a:solidFill>
                  <a:schemeClr val="bg1"/>
                </a:solidFill>
              </a:rPr>
              <a:t> data=30;//instance variable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>
                <a:solidFill>
                  <a:srgbClr val="FFC000"/>
                </a:solidFill>
              </a:rPr>
              <a:t>void display(){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</a:t>
            </a:r>
            <a:r>
              <a:rPr lang="en-IN" sz="2400" dirty="0">
                <a:solidFill>
                  <a:srgbClr val="FFC000"/>
                </a:solidFill>
              </a:rPr>
              <a:t>class </a:t>
            </a:r>
            <a:r>
              <a:rPr lang="en-IN" sz="2400" dirty="0" err="1">
                <a:solidFill>
                  <a:srgbClr val="FFC000"/>
                </a:solidFill>
              </a:rPr>
              <a:t>LocalInner</a:t>
            </a:r>
            <a:r>
              <a:rPr lang="en-IN" sz="2400" dirty="0">
                <a:solidFill>
                  <a:srgbClr val="FFC000"/>
                </a:solidFill>
              </a:rPr>
              <a:t>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 void </a:t>
            </a:r>
            <a:r>
              <a:rPr lang="en-IN" sz="2400" dirty="0" err="1">
                <a:solidFill>
                  <a:schemeClr val="bg1"/>
                </a:solidFill>
              </a:rPr>
              <a:t>msg</a:t>
            </a:r>
            <a:r>
              <a:rPr lang="en-IN" sz="2400" dirty="0">
                <a:solidFill>
                  <a:schemeClr val="bg1"/>
                </a:solidFill>
              </a:rPr>
              <a:t>(){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(data);}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}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</a:t>
            </a:r>
            <a:r>
              <a:rPr lang="en-IN" sz="2400" dirty="0" err="1">
                <a:solidFill>
                  <a:srgbClr val="FFC000"/>
                </a:solidFill>
              </a:rPr>
              <a:t>LocalInner</a:t>
            </a:r>
            <a:r>
              <a:rPr lang="en-IN" sz="2400" dirty="0">
                <a:solidFill>
                  <a:srgbClr val="FFC000"/>
                </a:solidFill>
              </a:rPr>
              <a:t> </a:t>
            </a:r>
            <a:r>
              <a:rPr lang="en-IN" sz="2400" dirty="0" err="1">
                <a:solidFill>
                  <a:srgbClr val="FFC000"/>
                </a:solidFill>
              </a:rPr>
              <a:t>obj</a:t>
            </a:r>
            <a:r>
              <a:rPr lang="en-IN" sz="2400" dirty="0">
                <a:solidFill>
                  <a:srgbClr val="FFC000"/>
                </a:solidFill>
              </a:rPr>
              <a:t>=new </a:t>
            </a:r>
            <a:r>
              <a:rPr lang="en-IN" sz="2400" dirty="0" err="1">
                <a:solidFill>
                  <a:srgbClr val="FFC000"/>
                </a:solidFill>
              </a:rPr>
              <a:t>LocalInner</a:t>
            </a:r>
            <a:r>
              <a:rPr lang="en-IN" sz="2400" dirty="0">
                <a:solidFill>
                  <a:srgbClr val="FFC000"/>
                </a:solidFill>
              </a:rPr>
              <a:t>();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obj.msg();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}  </a:t>
            </a:r>
          </a:p>
        </p:txBody>
      </p:sp>
      <p:sp>
        <p:nvSpPr>
          <p:cNvPr id="2" name="Rectangle 1"/>
          <p:cNvSpPr/>
          <p:nvPr/>
        </p:nvSpPr>
        <p:spPr>
          <a:xfrm>
            <a:off x="6596418" y="1102141"/>
            <a:ext cx="512700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public static void main(String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[]){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</a:t>
            </a:r>
            <a:r>
              <a:rPr lang="en-IN" sz="2400" dirty="0" err="1">
                <a:solidFill>
                  <a:schemeClr val="bg1"/>
                </a:solidFill>
              </a:rPr>
              <a:t>localInnerEx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dirty="0" err="1">
                <a:solidFill>
                  <a:schemeClr val="bg1"/>
                </a:solidFill>
              </a:rPr>
              <a:t>obj</a:t>
            </a:r>
            <a:r>
              <a:rPr lang="en-IN" sz="2400" dirty="0">
                <a:solidFill>
                  <a:schemeClr val="bg1"/>
                </a:solidFill>
              </a:rPr>
              <a:t>=new </a:t>
            </a:r>
            <a:r>
              <a:rPr lang="en-IN" sz="2400" dirty="0" err="1">
                <a:solidFill>
                  <a:schemeClr val="bg1"/>
                </a:solidFill>
              </a:rPr>
              <a:t>localInnerEx</a:t>
            </a:r>
            <a:r>
              <a:rPr lang="en-IN" sz="2400" dirty="0">
                <a:solidFill>
                  <a:schemeClr val="bg1"/>
                </a:solidFill>
              </a:rPr>
              <a:t>();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</a:t>
            </a:r>
            <a:r>
              <a:rPr lang="en-IN" sz="2400" dirty="0" err="1">
                <a:solidFill>
                  <a:schemeClr val="bg1"/>
                </a:solidFill>
              </a:rPr>
              <a:t>obj.display</a:t>
            </a:r>
            <a:r>
              <a:rPr lang="en-IN" sz="2400" dirty="0">
                <a:solidFill>
                  <a:schemeClr val="bg1"/>
                </a:solidFill>
              </a:rPr>
              <a:t>();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}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0496513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73598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Anonymous inner class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54840" y="1005045"/>
            <a:ext cx="1097280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It is an inner </a:t>
            </a:r>
            <a:r>
              <a:rPr lang="en-IN" sz="2400" dirty="0">
                <a:solidFill>
                  <a:srgbClr val="FFC000"/>
                </a:solidFill>
              </a:rPr>
              <a:t>class without a name </a:t>
            </a:r>
            <a:r>
              <a:rPr lang="en-IN" sz="2400" dirty="0">
                <a:solidFill>
                  <a:schemeClr val="bg1"/>
                </a:solidFill>
              </a:rPr>
              <a:t>and for which </a:t>
            </a:r>
            <a:r>
              <a:rPr lang="en-IN" sz="2400" dirty="0">
                <a:solidFill>
                  <a:srgbClr val="FFC000"/>
                </a:solidFill>
              </a:rPr>
              <a:t>only a single object is created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It should be used if you have </a:t>
            </a:r>
            <a:r>
              <a:rPr lang="en-IN" sz="2400" dirty="0">
                <a:solidFill>
                  <a:srgbClr val="FFC000"/>
                </a:solidFill>
              </a:rPr>
              <a:t>to override method of class or interface</a:t>
            </a:r>
            <a:r>
              <a:rPr lang="en-IN" sz="2400" dirty="0">
                <a:solidFill>
                  <a:schemeClr val="bg1"/>
                </a:solidFill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Java Anonymous inner class can be created by two ways: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bg1"/>
                </a:solidFill>
              </a:rPr>
              <a:t>Class (may be abstract or concrete).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bg1"/>
                </a:solidFill>
              </a:rPr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14523556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73598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Anonymous inner class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54840" y="1005045"/>
            <a:ext cx="1097280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u="sng" dirty="0">
                <a:solidFill>
                  <a:schemeClr val="bg1"/>
                </a:solidFill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abstract class Person{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abstract void eat();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}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class </a:t>
            </a:r>
            <a:r>
              <a:rPr lang="en-IN" sz="2400" dirty="0" err="1">
                <a:solidFill>
                  <a:schemeClr val="bg1"/>
                </a:solidFill>
              </a:rPr>
              <a:t>AnonymousInnerExample</a:t>
            </a:r>
            <a:r>
              <a:rPr lang="en-IN" sz="2400" dirty="0">
                <a:solidFill>
                  <a:schemeClr val="bg1"/>
                </a:solidFill>
              </a:rPr>
              <a:t>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public static void main(String[] </a:t>
            </a:r>
            <a:r>
              <a:rPr lang="en-IN" sz="2400" dirty="0" err="1">
                <a:solidFill>
                  <a:schemeClr val="bg1"/>
                </a:solidFill>
              </a:rPr>
              <a:t>args</a:t>
            </a:r>
            <a:r>
              <a:rPr lang="en-IN" sz="2400" dirty="0">
                <a:solidFill>
                  <a:schemeClr val="bg1"/>
                </a:solidFill>
              </a:rPr>
              <a:t>){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</a:t>
            </a:r>
            <a:r>
              <a:rPr lang="en-IN" sz="2400" dirty="0">
                <a:solidFill>
                  <a:srgbClr val="FFC000"/>
                </a:solidFill>
              </a:rPr>
              <a:t>Person p=new Person(){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void eat() {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("nice concept"); }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rgbClr val="FFC000"/>
                </a:solidFill>
              </a:rPr>
              <a:t>  }; 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</a:rPr>
              <a:t>  </a:t>
            </a:r>
            <a:r>
              <a:rPr lang="en-IN" sz="2400" dirty="0" err="1">
                <a:solidFill>
                  <a:schemeClr val="bg1"/>
                </a:solidFill>
              </a:rPr>
              <a:t>p.eat</a:t>
            </a:r>
            <a:r>
              <a:rPr lang="en-IN" sz="2400" dirty="0">
                <a:solidFill>
                  <a:schemeClr val="bg1"/>
                </a:solidFill>
              </a:rPr>
              <a:t>();   } } </a:t>
            </a:r>
          </a:p>
        </p:txBody>
      </p:sp>
    </p:spTree>
    <p:extLst>
      <p:ext uri="{BB962C8B-B14F-4D97-AF65-F5344CB8AC3E}">
        <p14:creationId xmlns:p14="http://schemas.microsoft.com/office/powerpoint/2010/main" val="3372190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841" y="-27299"/>
            <a:ext cx="73598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Anonymous inner class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87104" y="791567"/>
            <a:ext cx="11177517" cy="40943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-29470" y="988364"/>
            <a:ext cx="7359835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public class </a:t>
            </a:r>
            <a:r>
              <a:rPr lang="en-IN" sz="2400" dirty="0" err="1">
                <a:solidFill>
                  <a:schemeClr val="bg1"/>
                </a:solidFill>
              </a:rPr>
              <a:t>HelloWorldAnonymousClasses</a:t>
            </a:r>
            <a:r>
              <a:rPr lang="en-IN" sz="2400" dirty="0">
                <a:solidFill>
                  <a:schemeClr val="bg1"/>
                </a:solidFill>
              </a:rPr>
              <a:t>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</a:t>
            </a:r>
            <a:r>
              <a:rPr lang="en-IN" sz="2400" dirty="0">
                <a:solidFill>
                  <a:srgbClr val="FFFF00"/>
                </a:solidFill>
              </a:rPr>
              <a:t>interface</a:t>
            </a:r>
            <a:r>
              <a:rPr lang="en-IN" sz="2400" dirty="0">
                <a:solidFill>
                  <a:schemeClr val="bg1"/>
                </a:solidFill>
              </a:rPr>
              <a:t> HelloWorld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public void greet();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public void </a:t>
            </a:r>
            <a:r>
              <a:rPr lang="en-IN" sz="2400" dirty="0" err="1">
                <a:solidFill>
                  <a:schemeClr val="bg1"/>
                </a:solidFill>
              </a:rPr>
              <a:t>greetSomeone</a:t>
            </a:r>
            <a:r>
              <a:rPr lang="en-IN" sz="2400" dirty="0">
                <a:solidFill>
                  <a:schemeClr val="bg1"/>
                </a:solidFill>
              </a:rPr>
              <a:t>(String someone);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public void </a:t>
            </a:r>
            <a:r>
              <a:rPr lang="en-IN" sz="2400" dirty="0" err="1">
                <a:solidFill>
                  <a:schemeClr val="bg1"/>
                </a:solidFill>
              </a:rPr>
              <a:t>sayHello</a:t>
            </a:r>
            <a:r>
              <a:rPr lang="en-IN" sz="2400" dirty="0">
                <a:solidFill>
                  <a:schemeClr val="bg1"/>
                </a:solidFill>
              </a:rPr>
              <a:t>()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</a:t>
            </a:r>
            <a:r>
              <a:rPr lang="en-IN" sz="2400" dirty="0">
                <a:solidFill>
                  <a:srgbClr val="FFC000"/>
                </a:solidFill>
              </a:rPr>
              <a:t>class </a:t>
            </a:r>
            <a:r>
              <a:rPr lang="en-IN" sz="2400" dirty="0" err="1">
                <a:solidFill>
                  <a:srgbClr val="FFC000"/>
                </a:solidFill>
              </a:rPr>
              <a:t>EnglishGreeting</a:t>
            </a:r>
            <a:r>
              <a:rPr lang="en-IN" sz="2400" dirty="0">
                <a:solidFill>
                  <a:srgbClr val="FFC000"/>
                </a:solidFill>
              </a:rPr>
              <a:t> implements HelloWorld</a:t>
            </a:r>
            <a:r>
              <a:rPr lang="en-IN" sz="2400" dirty="0">
                <a:solidFill>
                  <a:schemeClr val="bg1"/>
                </a:solidFill>
              </a:rPr>
              <a:t>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    String name = "world";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    public void greet()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        </a:t>
            </a:r>
            <a:r>
              <a:rPr lang="en-IN" sz="2400" dirty="0" err="1">
                <a:solidFill>
                  <a:schemeClr val="bg1"/>
                </a:solidFill>
              </a:rPr>
              <a:t>greetSomeone</a:t>
            </a:r>
            <a:r>
              <a:rPr lang="en-IN" sz="2400" dirty="0">
                <a:solidFill>
                  <a:schemeClr val="bg1"/>
                </a:solidFill>
              </a:rPr>
              <a:t>("world");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    }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    public void </a:t>
            </a:r>
            <a:r>
              <a:rPr lang="en-IN" sz="2400" dirty="0" err="1">
                <a:solidFill>
                  <a:schemeClr val="bg1"/>
                </a:solidFill>
              </a:rPr>
              <a:t>greetSomeone</a:t>
            </a:r>
            <a:r>
              <a:rPr lang="en-IN" sz="2400" dirty="0">
                <a:solidFill>
                  <a:schemeClr val="bg1"/>
                </a:solidFill>
              </a:rPr>
              <a:t>(String someone)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        name = someone;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        </a:t>
            </a:r>
            <a:r>
              <a:rPr lang="en-IN" sz="2400" dirty="0" err="1">
                <a:solidFill>
                  <a:schemeClr val="bg1"/>
                </a:solidFill>
              </a:rPr>
              <a:t>System.out.println</a:t>
            </a:r>
            <a:r>
              <a:rPr lang="en-IN" sz="2400" dirty="0">
                <a:solidFill>
                  <a:schemeClr val="bg1"/>
                </a:solidFill>
              </a:rPr>
              <a:t>("Hello " + name);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        }     }      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</a:t>
            </a:r>
            <a:r>
              <a:rPr lang="en-IN" sz="2400" dirty="0">
                <a:solidFill>
                  <a:srgbClr val="FFC000"/>
                </a:solidFill>
              </a:rPr>
              <a:t>HelloWorld </a:t>
            </a:r>
            <a:r>
              <a:rPr lang="en-IN" sz="2400" dirty="0" err="1">
                <a:solidFill>
                  <a:srgbClr val="FFC000"/>
                </a:solidFill>
              </a:rPr>
              <a:t>englishGreeting</a:t>
            </a:r>
            <a:r>
              <a:rPr lang="en-IN" sz="2400" dirty="0">
                <a:solidFill>
                  <a:srgbClr val="FFC000"/>
                </a:solidFill>
              </a:rPr>
              <a:t> = new </a:t>
            </a:r>
            <a:r>
              <a:rPr lang="en-IN" sz="2400" dirty="0" err="1">
                <a:solidFill>
                  <a:srgbClr val="FFC000"/>
                </a:solidFill>
              </a:rPr>
              <a:t>EnglishGreeting</a:t>
            </a:r>
            <a:r>
              <a:rPr lang="en-IN" sz="2400" dirty="0">
                <a:solidFill>
                  <a:srgbClr val="FFC000"/>
                </a:solidFill>
              </a:rPr>
              <a:t>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A2D9D5-73D9-BBE8-34A7-C7ED76BF4F36}"/>
              </a:ext>
            </a:extLst>
          </p:cNvPr>
          <p:cNvSpPr txBox="1"/>
          <p:nvPr/>
        </p:nvSpPr>
        <p:spPr>
          <a:xfrm>
            <a:off x="6555374" y="996067"/>
            <a:ext cx="6188764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FFC000"/>
                </a:solidFill>
              </a:rPr>
              <a:t>HelloWorld </a:t>
            </a:r>
            <a:r>
              <a:rPr lang="en-IN" sz="2200" dirty="0" err="1">
                <a:solidFill>
                  <a:srgbClr val="FFC000"/>
                </a:solidFill>
              </a:rPr>
              <a:t>frenchGreeting</a:t>
            </a:r>
            <a:r>
              <a:rPr lang="en-IN" sz="2200" dirty="0">
                <a:solidFill>
                  <a:srgbClr val="FFC000"/>
                </a:solidFill>
              </a:rPr>
              <a:t> = new HelloWorld()</a:t>
            </a:r>
            <a:r>
              <a:rPr lang="en-IN" sz="2200" dirty="0">
                <a:solidFill>
                  <a:schemeClr val="bg1"/>
                </a:solidFill>
              </a:rPr>
              <a:t> {</a:t>
            </a:r>
          </a:p>
          <a:p>
            <a:r>
              <a:rPr lang="en-IN" sz="2200" dirty="0">
                <a:solidFill>
                  <a:schemeClr val="bg1"/>
                </a:solidFill>
              </a:rPr>
              <a:t>            String name = "Bonjour";</a:t>
            </a:r>
          </a:p>
          <a:p>
            <a:r>
              <a:rPr lang="en-IN" sz="2200" dirty="0">
                <a:solidFill>
                  <a:schemeClr val="bg1"/>
                </a:solidFill>
              </a:rPr>
              <a:t>            public void greet() {</a:t>
            </a:r>
          </a:p>
          <a:p>
            <a:r>
              <a:rPr lang="en-IN" sz="2200" dirty="0">
                <a:solidFill>
                  <a:schemeClr val="bg1"/>
                </a:solidFill>
              </a:rPr>
              <a:t>                </a:t>
            </a:r>
            <a:r>
              <a:rPr lang="en-IN" sz="2200" dirty="0" err="1">
                <a:solidFill>
                  <a:schemeClr val="bg1"/>
                </a:solidFill>
              </a:rPr>
              <a:t>greetSomeone</a:t>
            </a:r>
            <a:r>
              <a:rPr lang="en-IN" sz="2200" dirty="0">
                <a:solidFill>
                  <a:schemeClr val="bg1"/>
                </a:solidFill>
              </a:rPr>
              <a:t>("Bonjour");</a:t>
            </a:r>
          </a:p>
          <a:p>
            <a:r>
              <a:rPr lang="en-IN" sz="2200" dirty="0">
                <a:solidFill>
                  <a:schemeClr val="bg1"/>
                </a:solidFill>
              </a:rPr>
              <a:t>            }</a:t>
            </a:r>
          </a:p>
          <a:p>
            <a:r>
              <a:rPr lang="en-IN" sz="2200" dirty="0">
                <a:solidFill>
                  <a:schemeClr val="bg1"/>
                </a:solidFill>
              </a:rPr>
              <a:t>public void </a:t>
            </a:r>
            <a:r>
              <a:rPr lang="en-IN" sz="2200" dirty="0" err="1">
                <a:solidFill>
                  <a:schemeClr val="bg1"/>
                </a:solidFill>
              </a:rPr>
              <a:t>greetSomeone</a:t>
            </a:r>
            <a:r>
              <a:rPr lang="en-IN" sz="2200" dirty="0">
                <a:solidFill>
                  <a:schemeClr val="bg1"/>
                </a:solidFill>
              </a:rPr>
              <a:t>(String someone) {</a:t>
            </a:r>
          </a:p>
          <a:p>
            <a:r>
              <a:rPr lang="en-IN" sz="2200" dirty="0">
                <a:solidFill>
                  <a:schemeClr val="bg1"/>
                </a:solidFill>
              </a:rPr>
              <a:t>                name = someone;</a:t>
            </a:r>
          </a:p>
          <a:p>
            <a:r>
              <a:rPr lang="en-IN" sz="2200" dirty="0">
                <a:solidFill>
                  <a:schemeClr val="bg1"/>
                </a:solidFill>
              </a:rPr>
              <a:t>                </a:t>
            </a:r>
            <a:r>
              <a:rPr lang="en-IN" sz="2200" dirty="0" err="1">
                <a:solidFill>
                  <a:schemeClr val="bg1"/>
                </a:solidFill>
              </a:rPr>
              <a:t>System.out.println</a:t>
            </a:r>
            <a:r>
              <a:rPr lang="en-IN" sz="2200" dirty="0">
                <a:solidFill>
                  <a:schemeClr val="bg1"/>
                </a:solidFill>
              </a:rPr>
              <a:t>("Salut " + name);</a:t>
            </a:r>
          </a:p>
          <a:p>
            <a:r>
              <a:rPr lang="en-IN" sz="2200" dirty="0">
                <a:solidFill>
                  <a:schemeClr val="bg1"/>
                </a:solidFill>
              </a:rPr>
              <a:t>            }   };</a:t>
            </a:r>
          </a:p>
          <a:p>
            <a:endParaRPr lang="en-GB" sz="2200" dirty="0">
              <a:solidFill>
                <a:schemeClr val="bg1"/>
              </a:solidFill>
            </a:endParaRPr>
          </a:p>
          <a:p>
            <a:r>
              <a:rPr lang="en-GB" sz="2200" dirty="0" err="1">
                <a:solidFill>
                  <a:srgbClr val="FFC000"/>
                </a:solidFill>
              </a:rPr>
              <a:t>englishGreeting.greet</a:t>
            </a:r>
            <a:r>
              <a:rPr lang="en-GB" sz="2200" dirty="0">
                <a:solidFill>
                  <a:srgbClr val="FFC000"/>
                </a:solidFill>
              </a:rPr>
              <a:t>();</a:t>
            </a:r>
          </a:p>
          <a:p>
            <a:r>
              <a:rPr lang="en-GB" sz="2200" dirty="0" err="1">
                <a:solidFill>
                  <a:srgbClr val="FFC000"/>
                </a:solidFill>
              </a:rPr>
              <a:t>frenchGreeting.greetSomeone</a:t>
            </a:r>
            <a:r>
              <a:rPr lang="en-GB" sz="2200" dirty="0">
                <a:solidFill>
                  <a:srgbClr val="FFC000"/>
                </a:solidFill>
              </a:rPr>
              <a:t>(“Mrugendra");</a:t>
            </a:r>
          </a:p>
          <a:p>
            <a:r>
              <a:rPr lang="en-IN" sz="2200" dirty="0">
                <a:solidFill>
                  <a:schemeClr val="bg1"/>
                </a:solidFill>
              </a:rPr>
              <a:t>public static void main(String... </a:t>
            </a:r>
            <a:r>
              <a:rPr lang="en-IN" sz="2200" dirty="0" err="1">
                <a:solidFill>
                  <a:schemeClr val="bg1"/>
                </a:solidFill>
              </a:rPr>
              <a:t>args</a:t>
            </a:r>
            <a:r>
              <a:rPr lang="en-IN" sz="2200" dirty="0">
                <a:solidFill>
                  <a:schemeClr val="bg1"/>
                </a:solidFill>
              </a:rPr>
              <a:t>) {</a:t>
            </a:r>
          </a:p>
          <a:p>
            <a:r>
              <a:rPr lang="en-IN" sz="2200" dirty="0">
                <a:solidFill>
                  <a:schemeClr val="bg1"/>
                </a:solidFill>
              </a:rPr>
              <a:t>        </a:t>
            </a:r>
            <a:r>
              <a:rPr lang="en-IN" sz="2200" dirty="0" err="1">
                <a:solidFill>
                  <a:schemeClr val="bg1"/>
                </a:solidFill>
              </a:rPr>
              <a:t>HelloWorldAnonymousClasses</a:t>
            </a:r>
            <a:r>
              <a:rPr lang="en-IN" sz="2200" dirty="0">
                <a:solidFill>
                  <a:schemeClr val="bg1"/>
                </a:solidFill>
              </a:rPr>
              <a:t> </a:t>
            </a:r>
            <a:r>
              <a:rPr lang="en-IN" sz="2200" dirty="0" err="1">
                <a:solidFill>
                  <a:schemeClr val="bg1"/>
                </a:solidFill>
              </a:rPr>
              <a:t>myApp</a:t>
            </a:r>
            <a:r>
              <a:rPr lang="en-IN" sz="2200" dirty="0">
                <a:solidFill>
                  <a:schemeClr val="bg1"/>
                </a:solidFill>
              </a:rPr>
              <a:t> =</a:t>
            </a:r>
          </a:p>
          <a:p>
            <a:r>
              <a:rPr lang="en-IN" sz="2200" dirty="0">
                <a:solidFill>
                  <a:schemeClr val="bg1"/>
                </a:solidFill>
              </a:rPr>
              <a:t>            new </a:t>
            </a:r>
            <a:r>
              <a:rPr lang="en-IN" sz="2200" dirty="0" err="1">
                <a:solidFill>
                  <a:schemeClr val="bg1"/>
                </a:solidFill>
              </a:rPr>
              <a:t>HelloWorldAnonymousClasses</a:t>
            </a:r>
            <a:r>
              <a:rPr lang="en-IN" sz="2200" dirty="0">
                <a:solidFill>
                  <a:schemeClr val="bg1"/>
                </a:solidFill>
              </a:rPr>
              <a:t>();</a:t>
            </a:r>
          </a:p>
          <a:p>
            <a:r>
              <a:rPr lang="en-IN" sz="2200" dirty="0">
                <a:solidFill>
                  <a:schemeClr val="bg1"/>
                </a:solidFill>
              </a:rPr>
              <a:t>        </a:t>
            </a:r>
            <a:r>
              <a:rPr lang="en-IN" sz="2200" dirty="0" err="1">
                <a:solidFill>
                  <a:schemeClr val="bg1"/>
                </a:solidFill>
              </a:rPr>
              <a:t>myApp.sayHello</a:t>
            </a:r>
            <a:r>
              <a:rPr lang="en-IN" sz="2200" dirty="0">
                <a:solidFill>
                  <a:schemeClr val="bg1"/>
                </a:solidFill>
              </a:rPr>
              <a:t>();</a:t>
            </a:r>
          </a:p>
          <a:p>
            <a:r>
              <a:rPr lang="en-IN" sz="2200" dirty="0">
                <a:solidFill>
                  <a:schemeClr val="bg1"/>
                </a:solidFill>
              </a:rPr>
              <a:t>    } </a:t>
            </a:r>
          </a:p>
        </p:txBody>
      </p:sp>
    </p:spTree>
    <p:extLst>
      <p:ext uri="{BB962C8B-B14F-4D97-AF65-F5344CB8AC3E}">
        <p14:creationId xmlns:p14="http://schemas.microsoft.com/office/powerpoint/2010/main" val="38298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2197</TotalTime>
  <Words>4052</Words>
  <Application>Microsoft Office PowerPoint</Application>
  <PresentationFormat>Widescreen</PresentationFormat>
  <Paragraphs>775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Calibri</vt:lpstr>
      <vt:lpstr>Calibri Light</vt:lpstr>
      <vt:lpstr>Open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Mrugendra</dc:creator>
  <cp:lastModifiedBy>Mrugendra</cp:lastModifiedBy>
  <cp:revision>290</cp:revision>
  <dcterms:created xsi:type="dcterms:W3CDTF">2017-07-29T08:12:59Z</dcterms:created>
  <dcterms:modified xsi:type="dcterms:W3CDTF">2025-07-08T04:37:16Z</dcterms:modified>
</cp:coreProperties>
</file>