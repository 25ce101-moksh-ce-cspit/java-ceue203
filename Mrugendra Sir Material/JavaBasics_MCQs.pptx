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5" r:id="rId2"/>
    <p:sldId id="316" r:id="rId3"/>
    <p:sldId id="323" r:id="rId4"/>
    <p:sldId id="321" r:id="rId5"/>
    <p:sldId id="324" r:id="rId6"/>
    <p:sldId id="322" r:id="rId7"/>
    <p:sldId id="325" r:id="rId8"/>
    <p:sldId id="320" r:id="rId9"/>
    <p:sldId id="317" r:id="rId10"/>
    <p:sldId id="31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3" d="100"/>
          <a:sy n="83" d="100"/>
        </p:scale>
        <p:origin x="61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4BB7511-6A2C-4FC7-AD62-5EB35A7B85DC}" type="datetimeFigureOut">
              <a:rPr lang="en-IN" smtClean="0"/>
              <a:t>01-08-2024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1373294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4BB7511-6A2C-4FC7-AD62-5EB35A7B85DC}" type="datetimeFigureOut">
              <a:rPr lang="en-IN" smtClean="0"/>
              <a:t>01-08-2024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3123293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4BB7511-6A2C-4FC7-AD62-5EB35A7B85DC}" type="datetimeFigureOut">
              <a:rPr lang="en-IN" smtClean="0"/>
              <a:t>01-08-2024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31292858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4BB7511-6A2C-4FC7-AD62-5EB35A7B85DC}" type="datetimeFigureOut">
              <a:rPr lang="en-IN" smtClean="0"/>
              <a:t>01-08-2024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132879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4BB7511-6A2C-4FC7-AD62-5EB35A7B85DC}" type="datetimeFigureOut">
              <a:rPr lang="en-IN" smtClean="0"/>
              <a:t>01-08-2024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150635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4BB7511-6A2C-4FC7-AD62-5EB35A7B85DC}" type="datetimeFigureOut">
              <a:rPr lang="en-IN" smtClean="0"/>
              <a:t>01-08-2024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2209172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B7511-6A2C-4FC7-AD62-5EB35A7B85DC}" type="datetimeFigureOut">
              <a:rPr lang="en-IN" smtClean="0"/>
              <a:t>01-08-2024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3800176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4BB7511-6A2C-4FC7-AD62-5EB35A7B85DC}" type="datetimeFigureOut">
              <a:rPr lang="en-IN" smtClean="0"/>
              <a:t>01-08-2024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12684045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4BB7511-6A2C-4FC7-AD62-5EB35A7B85DC}" type="datetimeFigureOut">
              <a:rPr lang="en-IN" smtClean="0"/>
              <a:t>01-08-2024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7313276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4BB7511-6A2C-4FC7-AD62-5EB35A7B85DC}" type="datetimeFigureOut">
              <a:rPr lang="en-IN" smtClean="0"/>
              <a:t>01-08-2024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4120038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4BB7511-6A2C-4FC7-AD62-5EB35A7B85DC}" type="datetimeFigureOut">
              <a:rPr lang="en-IN" smtClean="0"/>
              <a:t>01-08-2024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3043879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BB7511-6A2C-4FC7-AD62-5EB35A7B85DC}" type="datetimeFigureOut">
              <a:rPr lang="en-IN" smtClean="0"/>
              <a:t>01-08-2024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8BC8CE-00A2-4570-A7C4-CF89774406DD}" type="slidenum">
              <a:rPr lang="en-IN" smtClean="0"/>
              <a:t>‹#›</a:t>
            </a:fld>
            <a:endParaRPr lang="en-IN"/>
          </a:p>
        </p:txBody>
      </p:sp>
    </p:spTree>
    <p:extLst>
      <p:ext uri="{BB962C8B-B14F-4D97-AF65-F5344CB8AC3E}">
        <p14:creationId xmlns:p14="http://schemas.microsoft.com/office/powerpoint/2010/main" val="42146468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7547" y="177413"/>
            <a:ext cx="11395880" cy="6001643"/>
          </a:xfrm>
          <a:prstGeom prst="rect">
            <a:avLst/>
          </a:prstGeom>
          <a:noFill/>
        </p:spPr>
        <p:txBody>
          <a:bodyPr wrap="square" rtlCol="0">
            <a:spAutoFit/>
          </a:bodyPr>
          <a:lstStyle/>
          <a:p>
            <a:pPr algn="ctr"/>
            <a:r>
              <a:rPr lang="en-IN" sz="7200" dirty="0">
                <a:solidFill>
                  <a:schemeClr val="bg1"/>
                </a:solidFill>
              </a:rPr>
              <a:t>CE251 </a:t>
            </a:r>
          </a:p>
          <a:p>
            <a:pPr algn="ctr"/>
            <a:r>
              <a:rPr lang="en-IN" sz="7200" dirty="0">
                <a:solidFill>
                  <a:schemeClr val="bg1"/>
                </a:solidFill>
              </a:rPr>
              <a:t>JAVA Programming</a:t>
            </a:r>
          </a:p>
          <a:p>
            <a:pPr algn="ctr"/>
            <a:endParaRPr lang="en-IN" sz="7200" dirty="0">
              <a:solidFill>
                <a:schemeClr val="bg1"/>
              </a:solidFill>
            </a:endParaRPr>
          </a:p>
          <a:p>
            <a:pPr algn="ctr"/>
            <a:r>
              <a:rPr lang="en-IN" sz="7200" dirty="0" smtClean="0">
                <a:solidFill>
                  <a:schemeClr val="bg1"/>
                </a:solidFill>
              </a:rPr>
              <a:t>Assignment</a:t>
            </a:r>
            <a:endParaRPr lang="en-IN" sz="7200" dirty="0">
              <a:solidFill>
                <a:schemeClr val="bg1"/>
              </a:solidFill>
            </a:endParaRPr>
          </a:p>
          <a:p>
            <a:pPr algn="ctr"/>
            <a:endParaRPr lang="en-IN" sz="9600" cap="all" dirty="0">
              <a:solidFill>
                <a:schemeClr val="bg1"/>
              </a:solidFill>
            </a:endParaRPr>
          </a:p>
        </p:txBody>
      </p:sp>
    </p:spTree>
    <p:extLst>
      <p:ext uri="{BB962C8B-B14F-4D97-AF65-F5344CB8AC3E}">
        <p14:creationId xmlns:p14="http://schemas.microsoft.com/office/powerpoint/2010/main" val="1694130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03200"/>
            <a:ext cx="11916229" cy="5909310"/>
          </a:xfrm>
          <a:prstGeom prst="rect">
            <a:avLst/>
          </a:prstGeom>
          <a:noFill/>
        </p:spPr>
        <p:txBody>
          <a:bodyPr wrap="square" rtlCol="0">
            <a:spAutoFit/>
          </a:bodyPr>
          <a:lstStyle/>
          <a:p>
            <a:pPr algn="just">
              <a:lnSpc>
                <a:spcPct val="150000"/>
              </a:lnSpc>
            </a:pPr>
            <a:r>
              <a:rPr lang="en-US" sz="2800" dirty="0" smtClean="0">
                <a:solidFill>
                  <a:schemeClr val="bg1"/>
                </a:solidFill>
              </a:rPr>
              <a:t>1</a:t>
            </a:r>
            <a:r>
              <a:rPr lang="en-US" sz="2800" dirty="0">
                <a:solidFill>
                  <a:schemeClr val="bg1"/>
                </a:solidFill>
              </a:rPr>
              <a:t>: Managing Student </a:t>
            </a:r>
            <a:r>
              <a:rPr lang="en-US" sz="2800" dirty="0" smtClean="0">
                <a:solidFill>
                  <a:schemeClr val="bg1"/>
                </a:solidFill>
              </a:rPr>
              <a:t>Records</a:t>
            </a:r>
          </a:p>
          <a:p>
            <a:pPr algn="just">
              <a:lnSpc>
                <a:spcPct val="150000"/>
              </a:lnSpc>
            </a:pPr>
            <a:r>
              <a:rPr lang="en-US" sz="2800" b="1" dirty="0" smtClean="0">
                <a:solidFill>
                  <a:schemeClr val="bg1"/>
                </a:solidFill>
              </a:rPr>
              <a:t>Objective:</a:t>
            </a:r>
            <a:r>
              <a:rPr lang="en-US" sz="2800" dirty="0" smtClean="0">
                <a:solidFill>
                  <a:schemeClr val="bg1"/>
                </a:solidFill>
              </a:rPr>
              <a:t>  To </a:t>
            </a:r>
            <a:r>
              <a:rPr lang="en-US" sz="2800" dirty="0">
                <a:solidFill>
                  <a:schemeClr val="bg1"/>
                </a:solidFill>
              </a:rPr>
              <a:t>design and implement a system for storing and retrieving student </a:t>
            </a:r>
            <a:r>
              <a:rPr lang="en-US" sz="2800" dirty="0" smtClean="0">
                <a:solidFill>
                  <a:schemeClr val="bg1"/>
                </a:solidFill>
              </a:rPr>
              <a:t>records.</a:t>
            </a:r>
          </a:p>
          <a:p>
            <a:pPr marL="457200" indent="-457200" algn="just">
              <a:lnSpc>
                <a:spcPct val="150000"/>
              </a:lnSpc>
              <a:buFont typeface="Arial" panose="020B0604020202020204" pitchFamily="34" charset="0"/>
              <a:buChar char="•"/>
            </a:pPr>
            <a:r>
              <a:rPr lang="en-US" sz="2800" dirty="0" smtClean="0">
                <a:solidFill>
                  <a:schemeClr val="bg1"/>
                </a:solidFill>
              </a:rPr>
              <a:t>Create </a:t>
            </a:r>
            <a:r>
              <a:rPr lang="en-US" sz="2800" dirty="0">
                <a:solidFill>
                  <a:schemeClr val="bg1"/>
                </a:solidFill>
              </a:rPr>
              <a:t>a Student class that includes data members such as student ID, name, age, and department</a:t>
            </a:r>
            <a:r>
              <a:rPr lang="en-US" sz="2800" dirty="0" smtClean="0">
                <a:solidFill>
                  <a:schemeClr val="bg1"/>
                </a:solidFill>
              </a:rPr>
              <a:t>.</a:t>
            </a:r>
          </a:p>
          <a:p>
            <a:pPr marL="457200" indent="-457200" algn="just">
              <a:lnSpc>
                <a:spcPct val="150000"/>
              </a:lnSpc>
              <a:buFont typeface="Arial" panose="020B0604020202020204" pitchFamily="34" charset="0"/>
              <a:buChar char="•"/>
            </a:pPr>
            <a:r>
              <a:rPr lang="en-US" sz="2800" dirty="0" smtClean="0">
                <a:solidFill>
                  <a:schemeClr val="bg1"/>
                </a:solidFill>
              </a:rPr>
              <a:t>Implement </a:t>
            </a:r>
            <a:r>
              <a:rPr lang="en-US" sz="2800" dirty="0">
                <a:solidFill>
                  <a:schemeClr val="bg1"/>
                </a:solidFill>
              </a:rPr>
              <a:t>methods to add new student records, view existing records, and search for a student by their ID</a:t>
            </a:r>
            <a:r>
              <a:rPr lang="en-US" sz="2800" dirty="0" smtClean="0">
                <a:solidFill>
                  <a:schemeClr val="bg1"/>
                </a:solidFill>
              </a:rPr>
              <a:t>.</a:t>
            </a:r>
          </a:p>
          <a:p>
            <a:pPr marL="457200" indent="-457200" algn="just">
              <a:lnSpc>
                <a:spcPct val="150000"/>
              </a:lnSpc>
              <a:buFont typeface="Arial" panose="020B0604020202020204" pitchFamily="34" charset="0"/>
              <a:buChar char="•"/>
            </a:pPr>
            <a:r>
              <a:rPr lang="en-US" sz="2800" dirty="0" smtClean="0">
                <a:solidFill>
                  <a:schemeClr val="bg1"/>
                </a:solidFill>
              </a:rPr>
              <a:t>Write </a:t>
            </a:r>
            <a:r>
              <a:rPr lang="en-US" sz="2800" dirty="0">
                <a:solidFill>
                  <a:schemeClr val="bg1"/>
                </a:solidFill>
              </a:rPr>
              <a:t>a program that allows users to interact with the system, adding new student records and retrieving information as needed.</a:t>
            </a:r>
            <a:endParaRPr lang="en-IN" sz="2800" dirty="0">
              <a:solidFill>
                <a:schemeClr val="bg1"/>
              </a:solidFill>
            </a:endParaRPr>
          </a:p>
        </p:txBody>
      </p:sp>
    </p:spTree>
    <p:extLst>
      <p:ext uri="{BB962C8B-B14F-4D97-AF65-F5344CB8AC3E}">
        <p14:creationId xmlns:p14="http://schemas.microsoft.com/office/powerpoint/2010/main" val="3964235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3964" y="447188"/>
            <a:ext cx="3546763" cy="5170646"/>
          </a:xfrm>
          <a:prstGeom prst="rect">
            <a:avLst/>
          </a:prstGeom>
        </p:spPr>
        <p:txBody>
          <a:bodyPr wrap="square">
            <a:spAutoFit/>
          </a:bodyPr>
          <a:lstStyle/>
          <a:p>
            <a:r>
              <a:rPr lang="en-US" sz="2200" dirty="0" smtClean="0">
                <a:solidFill>
                  <a:schemeClr val="bg1"/>
                </a:solidFill>
              </a:rPr>
              <a:t>+-------------------------+</a:t>
            </a:r>
            <a:endParaRPr lang="en-US" sz="2200" dirty="0">
              <a:solidFill>
                <a:schemeClr val="bg1"/>
              </a:solidFill>
            </a:endParaRPr>
          </a:p>
          <a:p>
            <a:r>
              <a:rPr lang="en-US" sz="2200" dirty="0">
                <a:solidFill>
                  <a:schemeClr val="bg1"/>
                </a:solidFill>
              </a:rPr>
              <a:t>|       </a:t>
            </a:r>
            <a:r>
              <a:rPr lang="en-US" sz="2200" b="1" dirty="0">
                <a:solidFill>
                  <a:srgbClr val="FFC000"/>
                </a:solidFill>
              </a:rPr>
              <a:t>Student</a:t>
            </a:r>
            <a:r>
              <a:rPr lang="en-US" sz="2200" dirty="0">
                <a:solidFill>
                  <a:schemeClr val="bg1"/>
                </a:solidFill>
              </a:rPr>
              <a:t>          |</a:t>
            </a:r>
          </a:p>
          <a:p>
            <a:r>
              <a:rPr lang="en-US" sz="2200" dirty="0">
                <a:solidFill>
                  <a:schemeClr val="bg1"/>
                </a:solidFill>
              </a:rPr>
              <a:t>+------------------------+</a:t>
            </a:r>
          </a:p>
          <a:p>
            <a:r>
              <a:rPr lang="en-US" sz="2200" dirty="0">
                <a:solidFill>
                  <a:schemeClr val="bg1"/>
                </a:solidFill>
              </a:rPr>
              <a:t>| - </a:t>
            </a:r>
            <a:r>
              <a:rPr lang="en-US" sz="2200" dirty="0" err="1">
                <a:solidFill>
                  <a:schemeClr val="bg1"/>
                </a:solidFill>
              </a:rPr>
              <a:t>studentID</a:t>
            </a:r>
            <a:r>
              <a:rPr lang="en-US" sz="2200" dirty="0">
                <a:solidFill>
                  <a:schemeClr val="bg1"/>
                </a:solidFill>
              </a:rPr>
              <a:t>: </a:t>
            </a:r>
            <a:r>
              <a:rPr lang="en-US" sz="2200" dirty="0" err="1">
                <a:solidFill>
                  <a:schemeClr val="bg1"/>
                </a:solidFill>
              </a:rPr>
              <a:t>int</a:t>
            </a:r>
            <a:r>
              <a:rPr lang="en-US" sz="2200" dirty="0">
                <a:solidFill>
                  <a:schemeClr val="bg1"/>
                </a:solidFill>
              </a:rPr>
              <a:t>       |</a:t>
            </a:r>
          </a:p>
          <a:p>
            <a:r>
              <a:rPr lang="en-US" sz="2200" dirty="0">
                <a:solidFill>
                  <a:schemeClr val="bg1"/>
                </a:solidFill>
              </a:rPr>
              <a:t>| - name: String         |</a:t>
            </a:r>
          </a:p>
          <a:p>
            <a:r>
              <a:rPr lang="en-US" sz="2200" dirty="0">
                <a:solidFill>
                  <a:schemeClr val="bg1"/>
                </a:solidFill>
              </a:rPr>
              <a:t>| - age: </a:t>
            </a:r>
            <a:r>
              <a:rPr lang="en-US" sz="2200" dirty="0" err="1">
                <a:solidFill>
                  <a:schemeClr val="bg1"/>
                </a:solidFill>
              </a:rPr>
              <a:t>int</a:t>
            </a:r>
            <a:r>
              <a:rPr lang="en-US" sz="2200" dirty="0">
                <a:solidFill>
                  <a:schemeClr val="bg1"/>
                </a:solidFill>
              </a:rPr>
              <a:t>             |</a:t>
            </a:r>
          </a:p>
          <a:p>
            <a:r>
              <a:rPr lang="en-US" sz="2200" dirty="0">
                <a:solidFill>
                  <a:schemeClr val="bg1"/>
                </a:solidFill>
              </a:rPr>
              <a:t>| - department: String   |</a:t>
            </a:r>
          </a:p>
          <a:p>
            <a:r>
              <a:rPr lang="en-US" sz="2200" dirty="0" smtClean="0">
                <a:solidFill>
                  <a:schemeClr val="bg1"/>
                </a:solidFill>
              </a:rPr>
              <a:t>+-----------------------------+</a:t>
            </a:r>
            <a:endParaRPr lang="en-US" sz="2200" dirty="0">
              <a:solidFill>
                <a:schemeClr val="bg1"/>
              </a:solidFill>
            </a:endParaRPr>
          </a:p>
          <a:p>
            <a:r>
              <a:rPr lang="en-US" sz="2200" dirty="0">
                <a:solidFill>
                  <a:schemeClr val="bg1"/>
                </a:solidFill>
              </a:rPr>
              <a:t>| + </a:t>
            </a:r>
            <a:r>
              <a:rPr lang="en-US" sz="2200" dirty="0" err="1">
                <a:solidFill>
                  <a:schemeClr val="bg1"/>
                </a:solidFill>
              </a:rPr>
              <a:t>getStudentID</a:t>
            </a:r>
            <a:r>
              <a:rPr lang="en-US" sz="2200" dirty="0">
                <a:solidFill>
                  <a:schemeClr val="bg1"/>
                </a:solidFill>
              </a:rPr>
              <a:t>(): </a:t>
            </a:r>
            <a:r>
              <a:rPr lang="en-US" sz="2200" dirty="0" err="1">
                <a:solidFill>
                  <a:schemeClr val="bg1"/>
                </a:solidFill>
              </a:rPr>
              <a:t>int</a:t>
            </a:r>
            <a:r>
              <a:rPr lang="en-US" sz="2200" dirty="0">
                <a:solidFill>
                  <a:schemeClr val="bg1"/>
                </a:solidFill>
              </a:rPr>
              <a:t>  |</a:t>
            </a:r>
          </a:p>
          <a:p>
            <a:r>
              <a:rPr lang="en-US" sz="2200" dirty="0">
                <a:solidFill>
                  <a:schemeClr val="bg1"/>
                </a:solidFill>
              </a:rPr>
              <a:t>| + </a:t>
            </a:r>
            <a:r>
              <a:rPr lang="en-US" sz="2200" dirty="0" err="1">
                <a:solidFill>
                  <a:schemeClr val="bg1"/>
                </a:solidFill>
              </a:rPr>
              <a:t>getName</a:t>
            </a:r>
            <a:r>
              <a:rPr lang="en-US" sz="2200" dirty="0">
                <a:solidFill>
                  <a:schemeClr val="bg1"/>
                </a:solidFill>
              </a:rPr>
              <a:t>(): String    |</a:t>
            </a:r>
          </a:p>
          <a:p>
            <a:r>
              <a:rPr lang="en-US" sz="2200" dirty="0">
                <a:solidFill>
                  <a:schemeClr val="bg1"/>
                </a:solidFill>
              </a:rPr>
              <a:t>| + </a:t>
            </a:r>
            <a:r>
              <a:rPr lang="en-US" sz="2200" dirty="0" err="1">
                <a:solidFill>
                  <a:schemeClr val="bg1"/>
                </a:solidFill>
              </a:rPr>
              <a:t>getAge</a:t>
            </a:r>
            <a:r>
              <a:rPr lang="en-US" sz="2200" dirty="0">
                <a:solidFill>
                  <a:schemeClr val="bg1"/>
                </a:solidFill>
              </a:rPr>
              <a:t>(): </a:t>
            </a:r>
            <a:r>
              <a:rPr lang="en-US" sz="2200" dirty="0" err="1">
                <a:solidFill>
                  <a:schemeClr val="bg1"/>
                </a:solidFill>
              </a:rPr>
              <a:t>int</a:t>
            </a:r>
            <a:r>
              <a:rPr lang="en-US" sz="2200" dirty="0">
                <a:solidFill>
                  <a:schemeClr val="bg1"/>
                </a:solidFill>
              </a:rPr>
              <a:t>        |</a:t>
            </a:r>
          </a:p>
          <a:p>
            <a:r>
              <a:rPr lang="en-US" sz="2200" dirty="0">
                <a:solidFill>
                  <a:schemeClr val="bg1"/>
                </a:solidFill>
              </a:rPr>
              <a:t>| + </a:t>
            </a:r>
            <a:r>
              <a:rPr lang="en-US" sz="2200" dirty="0" err="1">
                <a:solidFill>
                  <a:schemeClr val="bg1"/>
                </a:solidFill>
              </a:rPr>
              <a:t>getDepartment</a:t>
            </a:r>
            <a:r>
              <a:rPr lang="en-US" sz="2200" dirty="0">
                <a:solidFill>
                  <a:schemeClr val="bg1"/>
                </a:solidFill>
              </a:rPr>
              <a:t>(): String |</a:t>
            </a:r>
          </a:p>
          <a:p>
            <a:r>
              <a:rPr lang="en-US" sz="2200" dirty="0">
                <a:solidFill>
                  <a:schemeClr val="bg1"/>
                </a:solidFill>
              </a:rPr>
              <a:t>| + </a:t>
            </a:r>
            <a:r>
              <a:rPr lang="en-US" sz="2200" dirty="0" err="1">
                <a:solidFill>
                  <a:schemeClr val="bg1"/>
                </a:solidFill>
              </a:rPr>
              <a:t>toString</a:t>
            </a:r>
            <a:r>
              <a:rPr lang="en-US" sz="2200" dirty="0">
                <a:solidFill>
                  <a:schemeClr val="bg1"/>
                </a:solidFill>
              </a:rPr>
              <a:t>(): String   |</a:t>
            </a:r>
          </a:p>
          <a:p>
            <a:r>
              <a:rPr lang="en-US" sz="2200" dirty="0" smtClean="0">
                <a:solidFill>
                  <a:schemeClr val="bg1"/>
                </a:solidFill>
              </a:rPr>
              <a:t>+-----------------------------+</a:t>
            </a:r>
            <a:endParaRPr lang="en-US" sz="2200" dirty="0">
              <a:solidFill>
                <a:schemeClr val="bg1"/>
              </a:solidFill>
            </a:endParaRPr>
          </a:p>
          <a:p>
            <a:endParaRPr lang="en-US" sz="2200" dirty="0">
              <a:solidFill>
                <a:schemeClr val="bg1"/>
              </a:solidFill>
            </a:endParaRPr>
          </a:p>
        </p:txBody>
      </p:sp>
      <p:sp>
        <p:nvSpPr>
          <p:cNvPr id="3" name="Rectangle 2"/>
          <p:cNvSpPr/>
          <p:nvPr/>
        </p:nvSpPr>
        <p:spPr>
          <a:xfrm>
            <a:off x="7407570" y="441794"/>
            <a:ext cx="4959921" cy="3477875"/>
          </a:xfrm>
          <a:prstGeom prst="rect">
            <a:avLst/>
          </a:prstGeom>
        </p:spPr>
        <p:txBody>
          <a:bodyPr wrap="square">
            <a:spAutoFit/>
          </a:bodyPr>
          <a:lstStyle/>
          <a:p>
            <a:r>
              <a:rPr lang="en-US" sz="2200" dirty="0" smtClean="0">
                <a:solidFill>
                  <a:schemeClr val="bg1"/>
                </a:solidFill>
              </a:rPr>
              <a:t>+------------------------------------+</a:t>
            </a:r>
            <a:endParaRPr lang="en-US" sz="2200" dirty="0">
              <a:solidFill>
                <a:schemeClr val="bg1"/>
              </a:solidFill>
            </a:endParaRPr>
          </a:p>
          <a:p>
            <a:r>
              <a:rPr lang="en-US" sz="2200" dirty="0">
                <a:solidFill>
                  <a:schemeClr val="bg1"/>
                </a:solidFill>
              </a:rPr>
              <a:t>|    </a:t>
            </a:r>
            <a:r>
              <a:rPr lang="en-US" sz="2200" b="1" dirty="0" err="1">
                <a:solidFill>
                  <a:srgbClr val="FFC000"/>
                </a:solidFill>
              </a:rPr>
              <a:t>StudentRecordSystem</a:t>
            </a:r>
            <a:r>
              <a:rPr lang="en-US" sz="2200" b="1" dirty="0">
                <a:solidFill>
                  <a:srgbClr val="FFC000"/>
                </a:solidFill>
              </a:rPr>
              <a:t> </a:t>
            </a:r>
            <a:r>
              <a:rPr lang="en-US" sz="2200" dirty="0">
                <a:solidFill>
                  <a:schemeClr val="bg1"/>
                </a:solidFill>
              </a:rPr>
              <a:t>    |</a:t>
            </a:r>
          </a:p>
          <a:p>
            <a:r>
              <a:rPr lang="en-US" sz="2200" dirty="0" smtClean="0">
                <a:solidFill>
                  <a:schemeClr val="bg1"/>
                </a:solidFill>
              </a:rPr>
              <a:t>+------------------------------------+</a:t>
            </a:r>
            <a:endParaRPr lang="en-US" sz="2200" dirty="0">
              <a:solidFill>
                <a:schemeClr val="bg1"/>
              </a:solidFill>
            </a:endParaRPr>
          </a:p>
          <a:p>
            <a:r>
              <a:rPr lang="en-US" sz="2200" dirty="0">
                <a:solidFill>
                  <a:schemeClr val="bg1"/>
                </a:solidFill>
              </a:rPr>
              <a:t>| - students: Student[]      |</a:t>
            </a:r>
          </a:p>
          <a:p>
            <a:r>
              <a:rPr lang="en-US" sz="2200" dirty="0">
                <a:solidFill>
                  <a:schemeClr val="bg1"/>
                </a:solidFill>
              </a:rPr>
              <a:t>| - count: </a:t>
            </a:r>
            <a:r>
              <a:rPr lang="en-US" sz="2200" dirty="0" err="1">
                <a:solidFill>
                  <a:schemeClr val="bg1"/>
                </a:solidFill>
              </a:rPr>
              <a:t>int</a:t>
            </a:r>
            <a:r>
              <a:rPr lang="en-US" sz="2200" dirty="0">
                <a:solidFill>
                  <a:schemeClr val="bg1"/>
                </a:solidFill>
              </a:rPr>
              <a:t>               |</a:t>
            </a:r>
          </a:p>
          <a:p>
            <a:r>
              <a:rPr lang="en-US" sz="2200" dirty="0" smtClean="0">
                <a:solidFill>
                  <a:schemeClr val="bg1"/>
                </a:solidFill>
              </a:rPr>
              <a:t>+---------------------------------------------------+</a:t>
            </a:r>
            <a:endParaRPr lang="en-US" sz="2200" dirty="0">
              <a:solidFill>
                <a:schemeClr val="bg1"/>
              </a:solidFill>
            </a:endParaRPr>
          </a:p>
          <a:p>
            <a:r>
              <a:rPr lang="en-US" sz="2200" dirty="0">
                <a:solidFill>
                  <a:schemeClr val="bg1"/>
                </a:solidFill>
              </a:rPr>
              <a:t>| + </a:t>
            </a:r>
            <a:r>
              <a:rPr lang="en-US" sz="2200" dirty="0" err="1">
                <a:solidFill>
                  <a:schemeClr val="bg1"/>
                </a:solidFill>
              </a:rPr>
              <a:t>addStudent</a:t>
            </a:r>
            <a:r>
              <a:rPr lang="en-US" sz="2200" dirty="0">
                <a:solidFill>
                  <a:schemeClr val="bg1"/>
                </a:solidFill>
              </a:rPr>
              <a:t>(student: Student): void |</a:t>
            </a:r>
          </a:p>
          <a:p>
            <a:r>
              <a:rPr lang="en-US" sz="2200" dirty="0">
                <a:solidFill>
                  <a:schemeClr val="bg1"/>
                </a:solidFill>
              </a:rPr>
              <a:t>| + </a:t>
            </a:r>
            <a:r>
              <a:rPr lang="en-US" sz="2200" dirty="0" err="1">
                <a:solidFill>
                  <a:schemeClr val="bg1"/>
                </a:solidFill>
              </a:rPr>
              <a:t>getStudent</a:t>
            </a:r>
            <a:r>
              <a:rPr lang="en-US" sz="2200" dirty="0">
                <a:solidFill>
                  <a:schemeClr val="bg1"/>
                </a:solidFill>
              </a:rPr>
              <a:t>(</a:t>
            </a:r>
            <a:r>
              <a:rPr lang="en-US" sz="2200" dirty="0" err="1">
                <a:solidFill>
                  <a:schemeClr val="bg1"/>
                </a:solidFill>
              </a:rPr>
              <a:t>studentID</a:t>
            </a:r>
            <a:r>
              <a:rPr lang="en-US" sz="2200" dirty="0">
                <a:solidFill>
                  <a:schemeClr val="bg1"/>
                </a:solidFill>
              </a:rPr>
              <a:t>: </a:t>
            </a:r>
            <a:r>
              <a:rPr lang="en-US" sz="2200" dirty="0" err="1">
                <a:solidFill>
                  <a:schemeClr val="bg1"/>
                </a:solidFill>
              </a:rPr>
              <a:t>int</a:t>
            </a:r>
            <a:r>
              <a:rPr lang="en-US" sz="2200" dirty="0">
                <a:solidFill>
                  <a:schemeClr val="bg1"/>
                </a:solidFill>
              </a:rPr>
              <a:t>): Student |</a:t>
            </a:r>
          </a:p>
          <a:p>
            <a:r>
              <a:rPr lang="en-US" sz="2200" dirty="0">
                <a:solidFill>
                  <a:schemeClr val="bg1"/>
                </a:solidFill>
              </a:rPr>
              <a:t>| + </a:t>
            </a:r>
            <a:r>
              <a:rPr lang="en-US" sz="2200" dirty="0" err="1">
                <a:solidFill>
                  <a:schemeClr val="bg1"/>
                </a:solidFill>
              </a:rPr>
              <a:t>displayAllStudents</a:t>
            </a:r>
            <a:r>
              <a:rPr lang="en-US" sz="2200" dirty="0">
                <a:solidFill>
                  <a:schemeClr val="bg1"/>
                </a:solidFill>
              </a:rPr>
              <a:t>(): void          |</a:t>
            </a:r>
          </a:p>
          <a:p>
            <a:r>
              <a:rPr lang="en-US" sz="2200" dirty="0" smtClean="0">
                <a:solidFill>
                  <a:schemeClr val="bg1"/>
                </a:solidFill>
              </a:rPr>
              <a:t>+---------------------------------------------------+</a:t>
            </a:r>
            <a:endParaRPr lang="en-US" sz="2200" dirty="0">
              <a:solidFill>
                <a:schemeClr val="bg1"/>
              </a:solidFill>
            </a:endParaRPr>
          </a:p>
        </p:txBody>
      </p:sp>
      <p:sp>
        <p:nvSpPr>
          <p:cNvPr id="5" name="Rectangle 4"/>
          <p:cNvSpPr/>
          <p:nvPr/>
        </p:nvSpPr>
        <p:spPr>
          <a:xfrm>
            <a:off x="3412843" y="412548"/>
            <a:ext cx="3994727" cy="2462213"/>
          </a:xfrm>
          <a:prstGeom prst="rect">
            <a:avLst/>
          </a:prstGeom>
        </p:spPr>
        <p:txBody>
          <a:bodyPr wrap="square">
            <a:spAutoFit/>
          </a:bodyPr>
          <a:lstStyle/>
          <a:p>
            <a:r>
              <a:rPr lang="en-US" sz="2200" dirty="0" smtClean="0">
                <a:solidFill>
                  <a:schemeClr val="bg1"/>
                </a:solidFill>
              </a:rPr>
              <a:t>+----------------------------------------+</a:t>
            </a:r>
            <a:endParaRPr lang="en-US" sz="2200" dirty="0">
              <a:solidFill>
                <a:schemeClr val="bg1"/>
              </a:solidFill>
            </a:endParaRPr>
          </a:p>
          <a:p>
            <a:r>
              <a:rPr lang="en-US" sz="2200" dirty="0">
                <a:solidFill>
                  <a:schemeClr val="bg1"/>
                </a:solidFill>
              </a:rPr>
              <a:t>|       </a:t>
            </a:r>
            <a:r>
              <a:rPr lang="en-US" sz="2200" b="1" dirty="0" err="1">
                <a:solidFill>
                  <a:srgbClr val="FFC000"/>
                </a:solidFill>
              </a:rPr>
              <a:t>StudentRecordMGMT</a:t>
            </a:r>
            <a:r>
              <a:rPr lang="en-US" sz="2200" dirty="0">
                <a:solidFill>
                  <a:schemeClr val="bg1"/>
                </a:solidFill>
              </a:rPr>
              <a:t>        |</a:t>
            </a:r>
          </a:p>
          <a:p>
            <a:r>
              <a:rPr lang="en-US" sz="2200" dirty="0" smtClean="0">
                <a:solidFill>
                  <a:schemeClr val="bg1"/>
                </a:solidFill>
              </a:rPr>
              <a:t>+----------------------------------------+</a:t>
            </a:r>
            <a:endParaRPr lang="en-US" sz="2200" dirty="0">
              <a:solidFill>
                <a:schemeClr val="bg1"/>
              </a:solidFill>
            </a:endParaRPr>
          </a:p>
          <a:p>
            <a:r>
              <a:rPr lang="en-US" sz="2200" dirty="0">
                <a:solidFill>
                  <a:schemeClr val="bg1"/>
                </a:solidFill>
              </a:rPr>
              <a:t>|            </a:t>
            </a:r>
            <a:r>
              <a:rPr lang="en-US" sz="2200" dirty="0" smtClean="0">
                <a:solidFill>
                  <a:schemeClr val="bg1"/>
                </a:solidFill>
              </a:rPr>
              <a:t>                                          </a:t>
            </a:r>
            <a:r>
              <a:rPr lang="en-US" sz="2200" dirty="0">
                <a:solidFill>
                  <a:schemeClr val="bg1"/>
                </a:solidFill>
              </a:rPr>
              <a:t>|</a:t>
            </a:r>
          </a:p>
          <a:p>
            <a:r>
              <a:rPr lang="en-US" sz="2200" dirty="0" smtClean="0">
                <a:solidFill>
                  <a:schemeClr val="bg1"/>
                </a:solidFill>
              </a:rPr>
              <a:t>+----------------------------------------+</a:t>
            </a:r>
            <a:endParaRPr lang="en-US" sz="2200" dirty="0">
              <a:solidFill>
                <a:schemeClr val="bg1"/>
              </a:solidFill>
            </a:endParaRPr>
          </a:p>
          <a:p>
            <a:r>
              <a:rPr lang="en-US" sz="2200" dirty="0">
                <a:solidFill>
                  <a:schemeClr val="bg1"/>
                </a:solidFill>
              </a:rPr>
              <a:t>| + main(</a:t>
            </a:r>
            <a:r>
              <a:rPr lang="en-US" sz="2200" dirty="0" err="1">
                <a:solidFill>
                  <a:schemeClr val="bg1"/>
                </a:solidFill>
              </a:rPr>
              <a:t>args</a:t>
            </a:r>
            <a:r>
              <a:rPr lang="en-US" sz="2200" dirty="0">
                <a:solidFill>
                  <a:schemeClr val="bg1"/>
                </a:solidFill>
              </a:rPr>
              <a:t>: String[]): void |</a:t>
            </a:r>
          </a:p>
          <a:p>
            <a:r>
              <a:rPr lang="en-US" sz="2200" dirty="0" smtClean="0">
                <a:solidFill>
                  <a:schemeClr val="bg1"/>
                </a:solidFill>
              </a:rPr>
              <a:t>+----------------------------------------+</a:t>
            </a:r>
            <a:endParaRPr lang="en-US" sz="2200" dirty="0">
              <a:solidFill>
                <a:schemeClr val="bg1"/>
              </a:solidFill>
            </a:endParaRPr>
          </a:p>
        </p:txBody>
      </p:sp>
    </p:spTree>
    <p:extLst>
      <p:ext uri="{BB962C8B-B14F-4D97-AF65-F5344CB8AC3E}">
        <p14:creationId xmlns:p14="http://schemas.microsoft.com/office/powerpoint/2010/main" val="3337245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03200"/>
            <a:ext cx="11916229" cy="6509474"/>
          </a:xfrm>
          <a:prstGeom prst="rect">
            <a:avLst/>
          </a:prstGeom>
          <a:noFill/>
        </p:spPr>
        <p:txBody>
          <a:bodyPr wrap="square" rtlCol="0">
            <a:spAutoFit/>
          </a:bodyPr>
          <a:lstStyle/>
          <a:p>
            <a:pPr algn="just">
              <a:lnSpc>
                <a:spcPct val="150000"/>
              </a:lnSpc>
            </a:pPr>
            <a:r>
              <a:rPr lang="en-US" sz="2800" dirty="0" smtClean="0">
                <a:solidFill>
                  <a:schemeClr val="bg1"/>
                </a:solidFill>
              </a:rPr>
              <a:t>2</a:t>
            </a:r>
            <a:r>
              <a:rPr lang="en-US" sz="2800" dirty="0">
                <a:solidFill>
                  <a:schemeClr val="bg1"/>
                </a:solidFill>
              </a:rPr>
              <a:t>: Course Enrollment </a:t>
            </a:r>
            <a:r>
              <a:rPr lang="en-US" sz="2800" dirty="0" smtClean="0">
                <a:solidFill>
                  <a:schemeClr val="bg1"/>
                </a:solidFill>
              </a:rPr>
              <a:t>System:</a:t>
            </a:r>
          </a:p>
          <a:p>
            <a:pPr algn="just">
              <a:lnSpc>
                <a:spcPct val="150000"/>
              </a:lnSpc>
            </a:pPr>
            <a:r>
              <a:rPr lang="en-US" sz="2600" dirty="0" smtClean="0">
                <a:solidFill>
                  <a:schemeClr val="bg1"/>
                </a:solidFill>
              </a:rPr>
              <a:t>Objective</a:t>
            </a:r>
            <a:r>
              <a:rPr lang="en-US" sz="2600" dirty="0">
                <a:solidFill>
                  <a:schemeClr val="bg1"/>
                </a:solidFill>
              </a:rPr>
              <a:t>: To develop a system for managing student course </a:t>
            </a:r>
            <a:r>
              <a:rPr lang="en-US" sz="2600" dirty="0" smtClean="0">
                <a:solidFill>
                  <a:schemeClr val="bg1"/>
                </a:solidFill>
              </a:rPr>
              <a:t>enrollments.</a:t>
            </a:r>
          </a:p>
          <a:p>
            <a:pPr marL="457200" indent="-457200" algn="just">
              <a:lnSpc>
                <a:spcPct val="150000"/>
              </a:lnSpc>
              <a:buFont typeface="Arial" panose="020B0604020202020204" pitchFamily="34" charset="0"/>
              <a:buChar char="•"/>
            </a:pPr>
            <a:r>
              <a:rPr lang="en-US" sz="2800" dirty="0">
                <a:solidFill>
                  <a:schemeClr val="bg1"/>
                </a:solidFill>
              </a:rPr>
              <a:t>Create </a:t>
            </a:r>
            <a:r>
              <a:rPr lang="en-US" sz="2800" dirty="0">
                <a:solidFill>
                  <a:schemeClr val="bg1"/>
                </a:solidFill>
              </a:rPr>
              <a:t>a Course class with data members such as course ID, course name, and credits</a:t>
            </a:r>
            <a:r>
              <a:rPr lang="en-US" sz="2800" dirty="0">
                <a:solidFill>
                  <a:schemeClr val="bg1"/>
                </a:solidFill>
              </a:rPr>
              <a:t>.</a:t>
            </a:r>
          </a:p>
          <a:p>
            <a:pPr marL="457200" indent="-457200" algn="just">
              <a:lnSpc>
                <a:spcPct val="150000"/>
              </a:lnSpc>
              <a:buFont typeface="Arial" panose="020B0604020202020204" pitchFamily="34" charset="0"/>
              <a:buChar char="•"/>
            </a:pPr>
            <a:r>
              <a:rPr lang="en-US" sz="2800" dirty="0" smtClean="0">
                <a:solidFill>
                  <a:schemeClr val="bg1"/>
                </a:solidFill>
              </a:rPr>
              <a:t>Create </a:t>
            </a:r>
            <a:r>
              <a:rPr lang="en-US" sz="2800" dirty="0">
                <a:solidFill>
                  <a:schemeClr val="bg1"/>
                </a:solidFill>
              </a:rPr>
              <a:t>an Enrollment class that links students to courses and records their enrollment status</a:t>
            </a:r>
            <a:r>
              <a:rPr lang="en-US" sz="2800" dirty="0" smtClean="0">
                <a:solidFill>
                  <a:schemeClr val="bg1"/>
                </a:solidFill>
              </a:rPr>
              <a:t>.</a:t>
            </a:r>
          </a:p>
          <a:p>
            <a:pPr marL="457200" indent="-457200" algn="just">
              <a:lnSpc>
                <a:spcPct val="150000"/>
              </a:lnSpc>
              <a:buFont typeface="Arial" panose="020B0604020202020204" pitchFamily="34" charset="0"/>
              <a:buChar char="•"/>
            </a:pPr>
            <a:r>
              <a:rPr lang="en-US" sz="2800" dirty="0" smtClean="0">
                <a:solidFill>
                  <a:schemeClr val="bg1"/>
                </a:solidFill>
              </a:rPr>
              <a:t>Implement </a:t>
            </a:r>
            <a:r>
              <a:rPr lang="en-US" sz="2800" dirty="0">
                <a:solidFill>
                  <a:schemeClr val="bg1"/>
                </a:solidFill>
              </a:rPr>
              <a:t>methods to enroll a student in a course, drop a course, and view all courses a student is enrolled in</a:t>
            </a:r>
            <a:r>
              <a:rPr lang="en-US" sz="2800" dirty="0" smtClean="0">
                <a:solidFill>
                  <a:schemeClr val="bg1"/>
                </a:solidFill>
              </a:rPr>
              <a:t>.</a:t>
            </a:r>
          </a:p>
          <a:p>
            <a:pPr marL="457200" indent="-457200" algn="just">
              <a:lnSpc>
                <a:spcPct val="150000"/>
              </a:lnSpc>
              <a:buFont typeface="Arial" panose="020B0604020202020204" pitchFamily="34" charset="0"/>
              <a:buChar char="•"/>
            </a:pPr>
            <a:r>
              <a:rPr lang="en-US" sz="2800" dirty="0" smtClean="0">
                <a:solidFill>
                  <a:schemeClr val="bg1"/>
                </a:solidFill>
              </a:rPr>
              <a:t>Write </a:t>
            </a:r>
            <a:r>
              <a:rPr lang="en-US" sz="2800" dirty="0">
                <a:solidFill>
                  <a:schemeClr val="bg1"/>
                </a:solidFill>
              </a:rPr>
              <a:t>a program that allows users to enroll students in courses and view their enrollments.</a:t>
            </a:r>
            <a:endParaRPr lang="en-IN" sz="2800" dirty="0">
              <a:solidFill>
                <a:schemeClr val="bg1"/>
              </a:solidFill>
            </a:endParaRPr>
          </a:p>
        </p:txBody>
      </p:sp>
    </p:spTree>
    <p:extLst>
      <p:ext uri="{BB962C8B-B14F-4D97-AF65-F5344CB8AC3E}">
        <p14:creationId xmlns:p14="http://schemas.microsoft.com/office/powerpoint/2010/main" val="420492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1600" y="139365"/>
            <a:ext cx="3620655" cy="4154984"/>
          </a:xfrm>
          <a:prstGeom prst="rect">
            <a:avLst/>
          </a:prstGeom>
        </p:spPr>
        <p:txBody>
          <a:bodyPr wrap="square">
            <a:spAutoFit/>
          </a:bodyPr>
          <a:lstStyle/>
          <a:p>
            <a:r>
              <a:rPr lang="en-US" sz="2200" dirty="0" smtClean="0">
                <a:solidFill>
                  <a:schemeClr val="bg1"/>
                </a:solidFill>
              </a:rPr>
              <a:t>+------------------------------------+</a:t>
            </a:r>
            <a:endParaRPr lang="en-US" sz="2200" dirty="0">
              <a:solidFill>
                <a:schemeClr val="bg1"/>
              </a:solidFill>
            </a:endParaRPr>
          </a:p>
          <a:p>
            <a:r>
              <a:rPr lang="en-US" sz="2200" dirty="0">
                <a:solidFill>
                  <a:schemeClr val="bg1"/>
                </a:solidFill>
              </a:rPr>
              <a:t>|      </a:t>
            </a:r>
            <a:r>
              <a:rPr lang="en-US" sz="2200" b="1" dirty="0">
                <a:solidFill>
                  <a:srgbClr val="FFC000"/>
                </a:solidFill>
              </a:rPr>
              <a:t>   Course     </a:t>
            </a:r>
            <a:r>
              <a:rPr lang="en-US" sz="2200" b="1" dirty="0" smtClean="0">
                <a:solidFill>
                  <a:srgbClr val="FFC000"/>
                </a:solidFill>
              </a:rPr>
              <a:t>                      </a:t>
            </a:r>
            <a:r>
              <a:rPr lang="en-US" sz="2200" dirty="0">
                <a:solidFill>
                  <a:schemeClr val="bg1"/>
                </a:solidFill>
              </a:rPr>
              <a:t>|</a:t>
            </a:r>
          </a:p>
          <a:p>
            <a:r>
              <a:rPr lang="en-US" sz="2200" dirty="0" smtClean="0">
                <a:solidFill>
                  <a:schemeClr val="bg1"/>
                </a:solidFill>
              </a:rPr>
              <a:t>+------------------------------------+</a:t>
            </a:r>
            <a:endParaRPr lang="en-US" sz="2200" dirty="0">
              <a:solidFill>
                <a:schemeClr val="bg1"/>
              </a:solidFill>
            </a:endParaRPr>
          </a:p>
          <a:p>
            <a:r>
              <a:rPr lang="en-US" sz="2200" dirty="0">
                <a:solidFill>
                  <a:schemeClr val="bg1"/>
                </a:solidFill>
              </a:rPr>
              <a:t>| - </a:t>
            </a:r>
            <a:r>
              <a:rPr lang="en-US" sz="2200" dirty="0" err="1">
                <a:solidFill>
                  <a:schemeClr val="bg1"/>
                </a:solidFill>
              </a:rPr>
              <a:t>courseID</a:t>
            </a:r>
            <a:r>
              <a:rPr lang="en-US" sz="2200" dirty="0">
                <a:solidFill>
                  <a:schemeClr val="bg1"/>
                </a:solidFill>
              </a:rPr>
              <a:t>: </a:t>
            </a:r>
            <a:r>
              <a:rPr lang="en-US" sz="2200" dirty="0" err="1">
                <a:solidFill>
                  <a:schemeClr val="bg1"/>
                </a:solidFill>
              </a:rPr>
              <a:t>int</a:t>
            </a:r>
            <a:r>
              <a:rPr lang="en-US" sz="2200" dirty="0">
                <a:solidFill>
                  <a:schemeClr val="bg1"/>
                </a:solidFill>
              </a:rPr>
              <a:t>           |</a:t>
            </a:r>
          </a:p>
          <a:p>
            <a:r>
              <a:rPr lang="en-US" sz="2200" dirty="0">
                <a:solidFill>
                  <a:schemeClr val="bg1"/>
                </a:solidFill>
              </a:rPr>
              <a:t>| - </a:t>
            </a:r>
            <a:r>
              <a:rPr lang="en-US" sz="2200" dirty="0" err="1">
                <a:solidFill>
                  <a:schemeClr val="bg1"/>
                </a:solidFill>
              </a:rPr>
              <a:t>courseName</a:t>
            </a:r>
            <a:r>
              <a:rPr lang="en-US" sz="2200" dirty="0">
                <a:solidFill>
                  <a:schemeClr val="bg1"/>
                </a:solidFill>
              </a:rPr>
              <a:t>: String      |</a:t>
            </a:r>
          </a:p>
          <a:p>
            <a:r>
              <a:rPr lang="en-US" sz="2200" dirty="0">
                <a:solidFill>
                  <a:schemeClr val="bg1"/>
                </a:solidFill>
              </a:rPr>
              <a:t>| - credits: </a:t>
            </a:r>
            <a:r>
              <a:rPr lang="en-US" sz="2200" dirty="0" err="1">
                <a:solidFill>
                  <a:schemeClr val="bg1"/>
                </a:solidFill>
              </a:rPr>
              <a:t>int</a:t>
            </a:r>
            <a:r>
              <a:rPr lang="en-US" sz="2200" dirty="0">
                <a:solidFill>
                  <a:schemeClr val="bg1"/>
                </a:solidFill>
              </a:rPr>
              <a:t>            |</a:t>
            </a:r>
          </a:p>
          <a:p>
            <a:r>
              <a:rPr lang="en-US" sz="2200" dirty="0" smtClean="0">
                <a:solidFill>
                  <a:schemeClr val="bg1"/>
                </a:solidFill>
              </a:rPr>
              <a:t>+------------------------------------+</a:t>
            </a:r>
            <a:endParaRPr lang="en-US" sz="2200" dirty="0">
              <a:solidFill>
                <a:schemeClr val="bg1"/>
              </a:solidFill>
            </a:endParaRPr>
          </a:p>
          <a:p>
            <a:r>
              <a:rPr lang="en-US" sz="2200" dirty="0">
                <a:solidFill>
                  <a:schemeClr val="bg1"/>
                </a:solidFill>
              </a:rPr>
              <a:t>| + </a:t>
            </a:r>
            <a:r>
              <a:rPr lang="en-US" sz="2200" dirty="0" err="1">
                <a:solidFill>
                  <a:schemeClr val="bg1"/>
                </a:solidFill>
              </a:rPr>
              <a:t>getCourseID</a:t>
            </a:r>
            <a:r>
              <a:rPr lang="en-US" sz="2200" dirty="0">
                <a:solidFill>
                  <a:schemeClr val="bg1"/>
                </a:solidFill>
              </a:rPr>
              <a:t>(): </a:t>
            </a:r>
            <a:r>
              <a:rPr lang="en-US" sz="2200" dirty="0" err="1">
                <a:solidFill>
                  <a:schemeClr val="bg1"/>
                </a:solidFill>
              </a:rPr>
              <a:t>int</a:t>
            </a:r>
            <a:r>
              <a:rPr lang="en-US" sz="2200" dirty="0">
                <a:solidFill>
                  <a:schemeClr val="bg1"/>
                </a:solidFill>
              </a:rPr>
              <a:t>      |</a:t>
            </a:r>
          </a:p>
          <a:p>
            <a:r>
              <a:rPr lang="en-US" sz="2200" dirty="0">
                <a:solidFill>
                  <a:schemeClr val="bg1"/>
                </a:solidFill>
              </a:rPr>
              <a:t>| + </a:t>
            </a:r>
            <a:r>
              <a:rPr lang="en-US" sz="2200" dirty="0" err="1">
                <a:solidFill>
                  <a:schemeClr val="bg1"/>
                </a:solidFill>
              </a:rPr>
              <a:t>getCourseName</a:t>
            </a:r>
            <a:r>
              <a:rPr lang="en-US" sz="2200" dirty="0">
                <a:solidFill>
                  <a:schemeClr val="bg1"/>
                </a:solidFill>
              </a:rPr>
              <a:t>(): String |</a:t>
            </a:r>
          </a:p>
          <a:p>
            <a:r>
              <a:rPr lang="en-US" sz="2200" dirty="0">
                <a:solidFill>
                  <a:schemeClr val="bg1"/>
                </a:solidFill>
              </a:rPr>
              <a:t>| + </a:t>
            </a:r>
            <a:r>
              <a:rPr lang="en-US" sz="2200" dirty="0" err="1">
                <a:solidFill>
                  <a:schemeClr val="bg1"/>
                </a:solidFill>
              </a:rPr>
              <a:t>getCredits</a:t>
            </a:r>
            <a:r>
              <a:rPr lang="en-US" sz="2200" dirty="0">
                <a:solidFill>
                  <a:schemeClr val="bg1"/>
                </a:solidFill>
              </a:rPr>
              <a:t>(): </a:t>
            </a:r>
            <a:r>
              <a:rPr lang="en-US" sz="2200" dirty="0" err="1">
                <a:solidFill>
                  <a:schemeClr val="bg1"/>
                </a:solidFill>
              </a:rPr>
              <a:t>int</a:t>
            </a:r>
            <a:r>
              <a:rPr lang="en-US" sz="2200" dirty="0">
                <a:solidFill>
                  <a:schemeClr val="bg1"/>
                </a:solidFill>
              </a:rPr>
              <a:t>       |</a:t>
            </a:r>
          </a:p>
          <a:p>
            <a:r>
              <a:rPr lang="en-US" sz="2200" dirty="0">
                <a:solidFill>
                  <a:schemeClr val="bg1"/>
                </a:solidFill>
              </a:rPr>
              <a:t>| + </a:t>
            </a:r>
            <a:r>
              <a:rPr lang="en-US" sz="2200" dirty="0" err="1">
                <a:solidFill>
                  <a:schemeClr val="bg1"/>
                </a:solidFill>
              </a:rPr>
              <a:t>toString</a:t>
            </a:r>
            <a:r>
              <a:rPr lang="en-US" sz="2200" dirty="0">
                <a:solidFill>
                  <a:schemeClr val="bg1"/>
                </a:solidFill>
              </a:rPr>
              <a:t>(): String      |</a:t>
            </a:r>
          </a:p>
          <a:p>
            <a:r>
              <a:rPr lang="en-US" sz="2200" dirty="0" smtClean="0">
                <a:solidFill>
                  <a:schemeClr val="bg1"/>
                </a:solidFill>
              </a:rPr>
              <a:t>+------------------------------------+</a:t>
            </a:r>
            <a:endParaRPr lang="en-US" sz="2200" dirty="0">
              <a:solidFill>
                <a:schemeClr val="bg1"/>
              </a:solidFill>
            </a:endParaRPr>
          </a:p>
        </p:txBody>
      </p:sp>
      <p:sp>
        <p:nvSpPr>
          <p:cNvPr id="3" name="Rectangle 2"/>
          <p:cNvSpPr/>
          <p:nvPr/>
        </p:nvSpPr>
        <p:spPr>
          <a:xfrm>
            <a:off x="4165600" y="3041571"/>
            <a:ext cx="6096000" cy="3816429"/>
          </a:xfrm>
          <a:prstGeom prst="rect">
            <a:avLst/>
          </a:prstGeom>
        </p:spPr>
        <p:txBody>
          <a:bodyPr>
            <a:spAutoFit/>
          </a:bodyPr>
          <a:lstStyle/>
          <a:p>
            <a:r>
              <a:rPr lang="en-US" sz="2200" dirty="0" smtClean="0">
                <a:solidFill>
                  <a:schemeClr val="bg1"/>
                </a:solidFill>
              </a:rPr>
              <a:t>+------------------------------------------------------+</a:t>
            </a:r>
            <a:endParaRPr lang="en-US" sz="2200" dirty="0">
              <a:solidFill>
                <a:schemeClr val="bg1"/>
              </a:solidFill>
            </a:endParaRPr>
          </a:p>
          <a:p>
            <a:r>
              <a:rPr lang="en-US" sz="2200" dirty="0">
                <a:solidFill>
                  <a:schemeClr val="bg1"/>
                </a:solidFill>
              </a:rPr>
              <a:t>|        </a:t>
            </a:r>
            <a:r>
              <a:rPr lang="en-US" sz="2200" b="1" dirty="0">
                <a:solidFill>
                  <a:srgbClr val="FFC000"/>
                </a:solidFill>
              </a:rPr>
              <a:t>Enrollment</a:t>
            </a:r>
            <a:r>
              <a:rPr lang="en-US" sz="2200" dirty="0">
                <a:solidFill>
                  <a:schemeClr val="bg1"/>
                </a:solidFill>
              </a:rPr>
              <a:t>         |</a:t>
            </a:r>
          </a:p>
          <a:p>
            <a:r>
              <a:rPr lang="en-US" sz="2200" dirty="0" smtClean="0">
                <a:solidFill>
                  <a:schemeClr val="bg1"/>
                </a:solidFill>
              </a:rPr>
              <a:t>+-------------------------------------------------------+</a:t>
            </a:r>
            <a:endParaRPr lang="en-US" sz="2200" dirty="0">
              <a:solidFill>
                <a:schemeClr val="bg1"/>
              </a:solidFill>
            </a:endParaRPr>
          </a:p>
          <a:p>
            <a:r>
              <a:rPr lang="en-US" sz="2200" dirty="0">
                <a:solidFill>
                  <a:schemeClr val="bg1"/>
                </a:solidFill>
              </a:rPr>
              <a:t>| - </a:t>
            </a:r>
            <a:r>
              <a:rPr lang="en-US" sz="2200" dirty="0" err="1">
                <a:solidFill>
                  <a:schemeClr val="bg1"/>
                </a:solidFill>
              </a:rPr>
              <a:t>studentCourses</a:t>
            </a:r>
            <a:r>
              <a:rPr lang="en-US" sz="2200" dirty="0">
                <a:solidFill>
                  <a:schemeClr val="bg1"/>
                </a:solidFill>
              </a:rPr>
              <a:t>: </a:t>
            </a:r>
            <a:r>
              <a:rPr lang="en-US" sz="2200" dirty="0" err="1">
                <a:solidFill>
                  <a:schemeClr val="bg1"/>
                </a:solidFill>
              </a:rPr>
              <a:t>int</a:t>
            </a:r>
            <a:r>
              <a:rPr lang="en-US" sz="2200" dirty="0">
                <a:solidFill>
                  <a:schemeClr val="bg1"/>
                </a:solidFill>
              </a:rPr>
              <a:t>[][] |</a:t>
            </a:r>
          </a:p>
          <a:p>
            <a:r>
              <a:rPr lang="en-US" sz="2200" dirty="0">
                <a:solidFill>
                  <a:schemeClr val="bg1"/>
                </a:solidFill>
              </a:rPr>
              <a:t>| - count: </a:t>
            </a:r>
            <a:r>
              <a:rPr lang="en-US" sz="2200" dirty="0" err="1">
                <a:solidFill>
                  <a:schemeClr val="bg1"/>
                </a:solidFill>
              </a:rPr>
              <a:t>int</a:t>
            </a:r>
            <a:r>
              <a:rPr lang="en-US" sz="2200" dirty="0">
                <a:solidFill>
                  <a:schemeClr val="bg1"/>
                </a:solidFill>
              </a:rPr>
              <a:t>[]            |</a:t>
            </a:r>
          </a:p>
          <a:p>
            <a:r>
              <a:rPr lang="en-US" sz="2200" dirty="0" smtClean="0">
                <a:solidFill>
                  <a:schemeClr val="bg1"/>
                </a:solidFill>
              </a:rPr>
              <a:t>+--------------------------------------------------------+</a:t>
            </a:r>
            <a:endParaRPr lang="en-US" sz="2200" dirty="0">
              <a:solidFill>
                <a:schemeClr val="bg1"/>
              </a:solidFill>
            </a:endParaRPr>
          </a:p>
          <a:p>
            <a:r>
              <a:rPr lang="en-US" sz="2200" dirty="0">
                <a:solidFill>
                  <a:schemeClr val="bg1"/>
                </a:solidFill>
              </a:rPr>
              <a:t>| + enroll(</a:t>
            </a:r>
            <a:r>
              <a:rPr lang="en-US" sz="2200" dirty="0" err="1">
                <a:solidFill>
                  <a:schemeClr val="bg1"/>
                </a:solidFill>
              </a:rPr>
              <a:t>studentID</a:t>
            </a:r>
            <a:r>
              <a:rPr lang="en-US" sz="2200" dirty="0">
                <a:solidFill>
                  <a:schemeClr val="bg1"/>
                </a:solidFill>
              </a:rPr>
              <a:t>: </a:t>
            </a:r>
            <a:r>
              <a:rPr lang="en-US" sz="2200" dirty="0" err="1">
                <a:solidFill>
                  <a:schemeClr val="bg1"/>
                </a:solidFill>
              </a:rPr>
              <a:t>int</a:t>
            </a:r>
            <a:r>
              <a:rPr lang="en-US" sz="2200" dirty="0">
                <a:solidFill>
                  <a:schemeClr val="bg1"/>
                </a:solidFill>
              </a:rPr>
              <a:t>, </a:t>
            </a:r>
            <a:r>
              <a:rPr lang="en-US" sz="2200" dirty="0" err="1">
                <a:solidFill>
                  <a:schemeClr val="bg1"/>
                </a:solidFill>
              </a:rPr>
              <a:t>courseID</a:t>
            </a:r>
            <a:r>
              <a:rPr lang="en-US" sz="2200" dirty="0">
                <a:solidFill>
                  <a:schemeClr val="bg1"/>
                </a:solidFill>
              </a:rPr>
              <a:t>: </a:t>
            </a:r>
            <a:r>
              <a:rPr lang="en-US" sz="2200" dirty="0" err="1">
                <a:solidFill>
                  <a:schemeClr val="bg1"/>
                </a:solidFill>
              </a:rPr>
              <a:t>int</a:t>
            </a:r>
            <a:r>
              <a:rPr lang="en-US" sz="2200" dirty="0">
                <a:solidFill>
                  <a:schemeClr val="bg1"/>
                </a:solidFill>
              </a:rPr>
              <a:t>): void |</a:t>
            </a:r>
          </a:p>
          <a:p>
            <a:r>
              <a:rPr lang="en-US" sz="2200" dirty="0">
                <a:solidFill>
                  <a:schemeClr val="bg1"/>
                </a:solidFill>
              </a:rPr>
              <a:t>| + drop(</a:t>
            </a:r>
            <a:r>
              <a:rPr lang="en-US" sz="2200" dirty="0" err="1">
                <a:solidFill>
                  <a:schemeClr val="bg1"/>
                </a:solidFill>
              </a:rPr>
              <a:t>studentID</a:t>
            </a:r>
            <a:r>
              <a:rPr lang="en-US" sz="2200" dirty="0">
                <a:solidFill>
                  <a:schemeClr val="bg1"/>
                </a:solidFill>
              </a:rPr>
              <a:t>: </a:t>
            </a:r>
            <a:r>
              <a:rPr lang="en-US" sz="2200" dirty="0" err="1">
                <a:solidFill>
                  <a:schemeClr val="bg1"/>
                </a:solidFill>
              </a:rPr>
              <a:t>int</a:t>
            </a:r>
            <a:r>
              <a:rPr lang="en-US" sz="2200" dirty="0">
                <a:solidFill>
                  <a:schemeClr val="bg1"/>
                </a:solidFill>
              </a:rPr>
              <a:t>, </a:t>
            </a:r>
            <a:r>
              <a:rPr lang="en-US" sz="2200" dirty="0" err="1">
                <a:solidFill>
                  <a:schemeClr val="bg1"/>
                </a:solidFill>
              </a:rPr>
              <a:t>courseID</a:t>
            </a:r>
            <a:r>
              <a:rPr lang="en-US" sz="2200" dirty="0">
                <a:solidFill>
                  <a:schemeClr val="bg1"/>
                </a:solidFill>
              </a:rPr>
              <a:t>: </a:t>
            </a:r>
            <a:r>
              <a:rPr lang="en-US" sz="2200" dirty="0" err="1">
                <a:solidFill>
                  <a:schemeClr val="bg1"/>
                </a:solidFill>
              </a:rPr>
              <a:t>int</a:t>
            </a:r>
            <a:r>
              <a:rPr lang="en-US" sz="2200" dirty="0">
                <a:solidFill>
                  <a:schemeClr val="bg1"/>
                </a:solidFill>
              </a:rPr>
              <a:t>): void   |</a:t>
            </a:r>
          </a:p>
          <a:p>
            <a:r>
              <a:rPr lang="en-US" sz="2200" dirty="0">
                <a:solidFill>
                  <a:schemeClr val="bg1"/>
                </a:solidFill>
              </a:rPr>
              <a:t>| + </a:t>
            </a:r>
            <a:r>
              <a:rPr lang="en-US" sz="2200" dirty="0" err="1">
                <a:solidFill>
                  <a:schemeClr val="bg1"/>
                </a:solidFill>
              </a:rPr>
              <a:t>getEnrolledCourses</a:t>
            </a:r>
            <a:r>
              <a:rPr lang="en-US" sz="2200" dirty="0">
                <a:solidFill>
                  <a:schemeClr val="bg1"/>
                </a:solidFill>
              </a:rPr>
              <a:t>(</a:t>
            </a:r>
            <a:r>
              <a:rPr lang="en-US" sz="2200" dirty="0" err="1">
                <a:solidFill>
                  <a:schemeClr val="bg1"/>
                </a:solidFill>
              </a:rPr>
              <a:t>studentID</a:t>
            </a:r>
            <a:r>
              <a:rPr lang="en-US" sz="2200" dirty="0">
                <a:solidFill>
                  <a:schemeClr val="bg1"/>
                </a:solidFill>
              </a:rPr>
              <a:t>: </a:t>
            </a:r>
            <a:r>
              <a:rPr lang="en-US" sz="2200" dirty="0" err="1">
                <a:solidFill>
                  <a:schemeClr val="bg1"/>
                </a:solidFill>
              </a:rPr>
              <a:t>int</a:t>
            </a:r>
            <a:r>
              <a:rPr lang="en-US" sz="2200" dirty="0">
                <a:solidFill>
                  <a:schemeClr val="bg1"/>
                </a:solidFill>
              </a:rPr>
              <a:t>, </a:t>
            </a:r>
            <a:r>
              <a:rPr lang="en-US" sz="2200" dirty="0" err="1">
                <a:solidFill>
                  <a:schemeClr val="bg1"/>
                </a:solidFill>
              </a:rPr>
              <a:t>courseCatalog</a:t>
            </a:r>
            <a:r>
              <a:rPr lang="en-US" sz="2200" dirty="0">
                <a:solidFill>
                  <a:schemeClr val="bg1"/>
                </a:solidFill>
              </a:rPr>
              <a:t>: Course[]): void |</a:t>
            </a:r>
          </a:p>
          <a:p>
            <a:r>
              <a:rPr lang="en-US" sz="2200" dirty="0" smtClean="0">
                <a:solidFill>
                  <a:schemeClr val="bg1"/>
                </a:solidFill>
              </a:rPr>
              <a:t>+----------------------------------------------------------+</a:t>
            </a:r>
            <a:endParaRPr lang="en-US" sz="2200" dirty="0">
              <a:solidFill>
                <a:schemeClr val="bg1"/>
              </a:solidFill>
            </a:endParaRPr>
          </a:p>
        </p:txBody>
      </p:sp>
      <p:sp>
        <p:nvSpPr>
          <p:cNvPr id="5" name="Rectangle 4"/>
          <p:cNvSpPr/>
          <p:nvPr/>
        </p:nvSpPr>
        <p:spPr>
          <a:xfrm>
            <a:off x="4073236" y="265667"/>
            <a:ext cx="4165600" cy="2800767"/>
          </a:xfrm>
          <a:prstGeom prst="rect">
            <a:avLst/>
          </a:prstGeom>
        </p:spPr>
        <p:txBody>
          <a:bodyPr wrap="square">
            <a:spAutoFit/>
          </a:bodyPr>
          <a:lstStyle/>
          <a:p>
            <a:r>
              <a:rPr lang="en-US" sz="2200" dirty="0" smtClean="0">
                <a:solidFill>
                  <a:schemeClr val="bg1"/>
                </a:solidFill>
              </a:rPr>
              <a:t>+------------------------------------+</a:t>
            </a:r>
            <a:endParaRPr lang="en-US" sz="2200" dirty="0">
              <a:solidFill>
                <a:schemeClr val="bg1"/>
              </a:solidFill>
            </a:endParaRPr>
          </a:p>
          <a:p>
            <a:r>
              <a:rPr lang="en-US" sz="2200" dirty="0">
                <a:solidFill>
                  <a:schemeClr val="bg1"/>
                </a:solidFill>
              </a:rPr>
              <a:t>|       </a:t>
            </a:r>
            <a:r>
              <a:rPr lang="en-US" sz="2200" dirty="0" err="1">
                <a:solidFill>
                  <a:schemeClr val="bg1"/>
                </a:solidFill>
              </a:rPr>
              <a:t>CourseEnrollement</a:t>
            </a:r>
            <a:r>
              <a:rPr lang="en-US" sz="2200" dirty="0">
                <a:solidFill>
                  <a:schemeClr val="bg1"/>
                </a:solidFill>
              </a:rPr>
              <a:t>        |</a:t>
            </a:r>
          </a:p>
          <a:p>
            <a:r>
              <a:rPr lang="en-US" sz="2200" dirty="0" smtClean="0">
                <a:solidFill>
                  <a:schemeClr val="bg1"/>
                </a:solidFill>
              </a:rPr>
              <a:t>+------------------------------------+</a:t>
            </a:r>
            <a:endParaRPr lang="en-US" sz="2200" dirty="0">
              <a:solidFill>
                <a:schemeClr val="bg1"/>
              </a:solidFill>
            </a:endParaRPr>
          </a:p>
          <a:p>
            <a:r>
              <a:rPr lang="en-US" sz="2200" dirty="0">
                <a:solidFill>
                  <a:schemeClr val="bg1"/>
                </a:solidFill>
              </a:rPr>
              <a:t>| - </a:t>
            </a:r>
            <a:r>
              <a:rPr lang="en-US" sz="2200" dirty="0" err="1">
                <a:solidFill>
                  <a:schemeClr val="bg1"/>
                </a:solidFill>
              </a:rPr>
              <a:t>courseCatalog</a:t>
            </a:r>
            <a:r>
              <a:rPr lang="en-US" sz="2200" dirty="0">
                <a:solidFill>
                  <a:schemeClr val="bg1"/>
                </a:solidFill>
              </a:rPr>
              <a:t>: Course[] |</a:t>
            </a:r>
          </a:p>
          <a:p>
            <a:r>
              <a:rPr lang="en-US" sz="2200" dirty="0">
                <a:solidFill>
                  <a:schemeClr val="bg1"/>
                </a:solidFill>
              </a:rPr>
              <a:t>| - enrollment: Enrollment  |</a:t>
            </a:r>
          </a:p>
          <a:p>
            <a:r>
              <a:rPr lang="en-US" sz="2200" dirty="0" smtClean="0">
                <a:solidFill>
                  <a:schemeClr val="bg1"/>
                </a:solidFill>
              </a:rPr>
              <a:t>+------------------------------------+</a:t>
            </a:r>
            <a:endParaRPr lang="en-US" sz="2200" dirty="0">
              <a:solidFill>
                <a:schemeClr val="bg1"/>
              </a:solidFill>
            </a:endParaRPr>
          </a:p>
          <a:p>
            <a:r>
              <a:rPr lang="en-US" sz="2200" dirty="0">
                <a:solidFill>
                  <a:schemeClr val="bg1"/>
                </a:solidFill>
              </a:rPr>
              <a:t>| + main(</a:t>
            </a:r>
            <a:r>
              <a:rPr lang="en-US" sz="2200" dirty="0" err="1">
                <a:solidFill>
                  <a:schemeClr val="bg1"/>
                </a:solidFill>
              </a:rPr>
              <a:t>args</a:t>
            </a:r>
            <a:r>
              <a:rPr lang="en-US" sz="2200" dirty="0">
                <a:solidFill>
                  <a:schemeClr val="bg1"/>
                </a:solidFill>
              </a:rPr>
              <a:t>: String[]): void |</a:t>
            </a:r>
          </a:p>
          <a:p>
            <a:r>
              <a:rPr lang="en-US" sz="2200" dirty="0" smtClean="0">
                <a:solidFill>
                  <a:schemeClr val="bg1"/>
                </a:solidFill>
              </a:rPr>
              <a:t>+------------------------------------+</a:t>
            </a:r>
            <a:endParaRPr lang="en-US" sz="2200" dirty="0">
              <a:solidFill>
                <a:schemeClr val="bg1"/>
              </a:solidFill>
            </a:endParaRPr>
          </a:p>
        </p:txBody>
      </p:sp>
    </p:spTree>
    <p:extLst>
      <p:ext uri="{BB962C8B-B14F-4D97-AF65-F5344CB8AC3E}">
        <p14:creationId xmlns:p14="http://schemas.microsoft.com/office/powerpoint/2010/main" val="2972129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03200"/>
            <a:ext cx="11916229" cy="5909310"/>
          </a:xfrm>
          <a:prstGeom prst="rect">
            <a:avLst/>
          </a:prstGeom>
          <a:noFill/>
        </p:spPr>
        <p:txBody>
          <a:bodyPr wrap="square" rtlCol="0">
            <a:spAutoFit/>
          </a:bodyPr>
          <a:lstStyle/>
          <a:p>
            <a:pPr algn="just">
              <a:lnSpc>
                <a:spcPct val="150000"/>
              </a:lnSpc>
            </a:pPr>
            <a:r>
              <a:rPr lang="en-US" sz="2800" dirty="0" smtClean="0">
                <a:solidFill>
                  <a:schemeClr val="bg1"/>
                </a:solidFill>
              </a:rPr>
              <a:t>3</a:t>
            </a:r>
            <a:r>
              <a:rPr lang="en-US" sz="2800" dirty="0">
                <a:solidFill>
                  <a:schemeClr val="bg1"/>
                </a:solidFill>
              </a:rPr>
              <a:t>: Grading and Result Declaration </a:t>
            </a:r>
            <a:r>
              <a:rPr lang="en-US" sz="2800" dirty="0" smtClean="0">
                <a:solidFill>
                  <a:schemeClr val="bg1"/>
                </a:solidFill>
              </a:rPr>
              <a:t>System </a:t>
            </a:r>
          </a:p>
          <a:p>
            <a:pPr algn="just">
              <a:lnSpc>
                <a:spcPct val="150000"/>
              </a:lnSpc>
            </a:pPr>
            <a:r>
              <a:rPr lang="en-US" sz="2800" dirty="0" smtClean="0">
                <a:solidFill>
                  <a:schemeClr val="bg1"/>
                </a:solidFill>
              </a:rPr>
              <a:t>Objective</a:t>
            </a:r>
            <a:r>
              <a:rPr lang="en-US" sz="2800" dirty="0">
                <a:solidFill>
                  <a:schemeClr val="bg1"/>
                </a:solidFill>
              </a:rPr>
              <a:t>: To design a system for recording and calculating student </a:t>
            </a:r>
            <a:r>
              <a:rPr lang="en-US" sz="2800" dirty="0" smtClean="0">
                <a:solidFill>
                  <a:schemeClr val="bg1"/>
                </a:solidFill>
              </a:rPr>
              <a:t>grades.</a:t>
            </a:r>
          </a:p>
          <a:p>
            <a:pPr marL="457200" indent="-457200" algn="just">
              <a:lnSpc>
                <a:spcPct val="150000"/>
              </a:lnSpc>
              <a:buFont typeface="Arial" panose="020B0604020202020204" pitchFamily="34" charset="0"/>
              <a:buChar char="•"/>
            </a:pPr>
            <a:r>
              <a:rPr lang="en-US" sz="2800" dirty="0" smtClean="0">
                <a:solidFill>
                  <a:schemeClr val="bg1"/>
                </a:solidFill>
              </a:rPr>
              <a:t>Create </a:t>
            </a:r>
            <a:r>
              <a:rPr lang="en-US" sz="2800" dirty="0">
                <a:solidFill>
                  <a:schemeClr val="bg1"/>
                </a:solidFill>
              </a:rPr>
              <a:t>a Student class to store student information</a:t>
            </a:r>
            <a:r>
              <a:rPr lang="en-US" sz="2800" dirty="0" smtClean="0">
                <a:solidFill>
                  <a:schemeClr val="bg1"/>
                </a:solidFill>
              </a:rPr>
              <a:t>.</a:t>
            </a:r>
          </a:p>
          <a:p>
            <a:pPr marL="457200" indent="-457200" algn="just">
              <a:lnSpc>
                <a:spcPct val="150000"/>
              </a:lnSpc>
              <a:buFont typeface="Arial" panose="020B0604020202020204" pitchFamily="34" charset="0"/>
              <a:buChar char="•"/>
            </a:pPr>
            <a:r>
              <a:rPr lang="en-US" sz="2800" dirty="0" smtClean="0">
                <a:solidFill>
                  <a:schemeClr val="bg1"/>
                </a:solidFill>
              </a:rPr>
              <a:t>Create </a:t>
            </a:r>
            <a:r>
              <a:rPr lang="en-US" sz="2800" dirty="0">
                <a:solidFill>
                  <a:schemeClr val="bg1"/>
                </a:solidFill>
              </a:rPr>
              <a:t>a Grade class to store information about grades, including student ID, course ID, and grade received</a:t>
            </a:r>
            <a:r>
              <a:rPr lang="en-US" sz="2800" dirty="0" smtClean="0">
                <a:solidFill>
                  <a:schemeClr val="bg1"/>
                </a:solidFill>
              </a:rPr>
              <a:t>.</a:t>
            </a:r>
          </a:p>
          <a:p>
            <a:pPr marL="457200" indent="-457200" algn="just">
              <a:lnSpc>
                <a:spcPct val="150000"/>
              </a:lnSpc>
              <a:buFont typeface="Arial" panose="020B0604020202020204" pitchFamily="34" charset="0"/>
              <a:buChar char="•"/>
            </a:pPr>
            <a:r>
              <a:rPr lang="en-US" sz="2800" dirty="0" smtClean="0">
                <a:solidFill>
                  <a:schemeClr val="bg1"/>
                </a:solidFill>
              </a:rPr>
              <a:t>Implement </a:t>
            </a:r>
            <a:r>
              <a:rPr lang="en-US" sz="2800" dirty="0">
                <a:solidFill>
                  <a:schemeClr val="bg1"/>
                </a:solidFill>
              </a:rPr>
              <a:t>methods to add grades for students, calculate GPA, and generate grade reports</a:t>
            </a:r>
            <a:r>
              <a:rPr lang="en-US" sz="2800" dirty="0" smtClean="0">
                <a:solidFill>
                  <a:schemeClr val="bg1"/>
                </a:solidFill>
              </a:rPr>
              <a:t>.</a:t>
            </a:r>
          </a:p>
          <a:p>
            <a:pPr marL="457200" indent="-457200" algn="just">
              <a:lnSpc>
                <a:spcPct val="150000"/>
              </a:lnSpc>
              <a:buFont typeface="Arial" panose="020B0604020202020204" pitchFamily="34" charset="0"/>
              <a:buChar char="•"/>
            </a:pPr>
            <a:r>
              <a:rPr lang="en-US" sz="2800" dirty="0" smtClean="0">
                <a:solidFill>
                  <a:schemeClr val="bg1"/>
                </a:solidFill>
              </a:rPr>
              <a:t>Write </a:t>
            </a:r>
            <a:r>
              <a:rPr lang="en-US" sz="2800" dirty="0">
                <a:solidFill>
                  <a:schemeClr val="bg1"/>
                </a:solidFill>
              </a:rPr>
              <a:t>a program that allows users to input grades for students, calculate their GPA, and print their grade reports.</a:t>
            </a:r>
            <a:endParaRPr lang="en-IN" sz="2800" dirty="0">
              <a:solidFill>
                <a:schemeClr val="bg1"/>
              </a:solidFill>
            </a:endParaRPr>
          </a:p>
        </p:txBody>
      </p:sp>
    </p:spTree>
    <p:extLst>
      <p:ext uri="{BB962C8B-B14F-4D97-AF65-F5344CB8AC3E}">
        <p14:creationId xmlns:p14="http://schemas.microsoft.com/office/powerpoint/2010/main" val="2862665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137236" y="104339"/>
            <a:ext cx="3906981" cy="2462213"/>
          </a:xfrm>
          <a:prstGeom prst="rect">
            <a:avLst/>
          </a:prstGeom>
        </p:spPr>
        <p:txBody>
          <a:bodyPr wrap="square">
            <a:spAutoFit/>
          </a:bodyPr>
          <a:lstStyle/>
          <a:p>
            <a:r>
              <a:rPr lang="en-US" sz="2200" dirty="0" smtClean="0">
                <a:solidFill>
                  <a:schemeClr val="bg1"/>
                </a:solidFill>
              </a:rPr>
              <a:t>+------------------------------------+</a:t>
            </a:r>
            <a:endParaRPr lang="en-US" sz="2200" dirty="0">
              <a:solidFill>
                <a:schemeClr val="bg1"/>
              </a:solidFill>
            </a:endParaRPr>
          </a:p>
          <a:p>
            <a:r>
              <a:rPr lang="en-US" sz="2200" dirty="0">
                <a:solidFill>
                  <a:schemeClr val="bg1"/>
                </a:solidFill>
              </a:rPr>
              <a:t>| </a:t>
            </a:r>
            <a:r>
              <a:rPr lang="en-US" sz="2200" b="1" dirty="0" err="1" smtClean="0">
                <a:solidFill>
                  <a:srgbClr val="FFC000"/>
                </a:solidFill>
              </a:rPr>
              <a:t>GradingSystemMGTM</a:t>
            </a:r>
            <a:r>
              <a:rPr lang="en-US" sz="2200" dirty="0" smtClean="0">
                <a:solidFill>
                  <a:schemeClr val="bg1"/>
                </a:solidFill>
              </a:rPr>
              <a:t>        </a:t>
            </a:r>
            <a:r>
              <a:rPr lang="en-US" sz="2200" dirty="0">
                <a:solidFill>
                  <a:schemeClr val="bg1"/>
                </a:solidFill>
              </a:rPr>
              <a:t>|</a:t>
            </a:r>
          </a:p>
          <a:p>
            <a:r>
              <a:rPr lang="en-US" sz="2200" dirty="0" smtClean="0">
                <a:solidFill>
                  <a:schemeClr val="bg1"/>
                </a:solidFill>
              </a:rPr>
              <a:t>+------------------------------------+</a:t>
            </a:r>
            <a:endParaRPr lang="en-US" sz="2200" dirty="0">
              <a:solidFill>
                <a:schemeClr val="bg1"/>
              </a:solidFill>
            </a:endParaRPr>
          </a:p>
          <a:p>
            <a:r>
              <a:rPr lang="en-US" sz="2200" dirty="0">
                <a:solidFill>
                  <a:schemeClr val="bg1"/>
                </a:solidFill>
              </a:rPr>
              <a:t>|                   |</a:t>
            </a:r>
          </a:p>
          <a:p>
            <a:r>
              <a:rPr lang="en-US" sz="2200" dirty="0" smtClean="0">
                <a:solidFill>
                  <a:schemeClr val="bg1"/>
                </a:solidFill>
              </a:rPr>
              <a:t>+------------------------------------+</a:t>
            </a:r>
            <a:endParaRPr lang="en-US" sz="2200" dirty="0">
              <a:solidFill>
                <a:schemeClr val="bg1"/>
              </a:solidFill>
            </a:endParaRPr>
          </a:p>
          <a:p>
            <a:r>
              <a:rPr lang="en-US" sz="2200" dirty="0">
                <a:solidFill>
                  <a:schemeClr val="bg1"/>
                </a:solidFill>
              </a:rPr>
              <a:t>| + main(</a:t>
            </a:r>
            <a:r>
              <a:rPr lang="en-US" sz="2200" dirty="0" err="1">
                <a:solidFill>
                  <a:schemeClr val="bg1"/>
                </a:solidFill>
              </a:rPr>
              <a:t>args</a:t>
            </a:r>
            <a:r>
              <a:rPr lang="en-US" sz="2200" dirty="0">
                <a:solidFill>
                  <a:schemeClr val="bg1"/>
                </a:solidFill>
              </a:rPr>
              <a:t>: String[]): void |</a:t>
            </a:r>
          </a:p>
          <a:p>
            <a:r>
              <a:rPr lang="en-US" sz="2200" dirty="0" smtClean="0">
                <a:solidFill>
                  <a:schemeClr val="bg1"/>
                </a:solidFill>
              </a:rPr>
              <a:t>+------------------------------------+</a:t>
            </a:r>
            <a:endParaRPr lang="en-US" sz="2200" dirty="0">
              <a:solidFill>
                <a:schemeClr val="bg1"/>
              </a:solidFill>
            </a:endParaRPr>
          </a:p>
        </p:txBody>
      </p:sp>
      <p:sp>
        <p:nvSpPr>
          <p:cNvPr id="3" name="Rectangle 2"/>
          <p:cNvSpPr/>
          <p:nvPr/>
        </p:nvSpPr>
        <p:spPr>
          <a:xfrm>
            <a:off x="3509818" y="1754862"/>
            <a:ext cx="6705601" cy="5170646"/>
          </a:xfrm>
          <a:prstGeom prst="rect">
            <a:avLst/>
          </a:prstGeom>
        </p:spPr>
        <p:txBody>
          <a:bodyPr wrap="square">
            <a:spAutoFit/>
          </a:bodyPr>
          <a:lstStyle/>
          <a:p>
            <a:r>
              <a:rPr lang="en-US" sz="2200" dirty="0">
                <a:solidFill>
                  <a:schemeClr val="bg1"/>
                </a:solidFill>
              </a:rPr>
              <a:t>+---------------------------+</a:t>
            </a:r>
          </a:p>
          <a:p>
            <a:r>
              <a:rPr lang="en-US" sz="2200" dirty="0">
                <a:solidFill>
                  <a:schemeClr val="bg1"/>
                </a:solidFill>
              </a:rPr>
              <a:t>|      </a:t>
            </a:r>
            <a:r>
              <a:rPr lang="en-US" sz="2200" b="1" dirty="0" err="1">
                <a:solidFill>
                  <a:srgbClr val="FFC000"/>
                </a:solidFill>
              </a:rPr>
              <a:t>GradingSystem</a:t>
            </a:r>
            <a:r>
              <a:rPr lang="en-US" sz="2200" dirty="0">
                <a:solidFill>
                  <a:schemeClr val="bg1"/>
                </a:solidFill>
              </a:rPr>
              <a:t>        </a:t>
            </a:r>
            <a:r>
              <a:rPr lang="en-US" sz="2200" dirty="0" smtClean="0">
                <a:solidFill>
                  <a:schemeClr val="bg1"/>
                </a:solidFill>
              </a:rPr>
              <a:t>|</a:t>
            </a:r>
            <a:endParaRPr lang="en-US" sz="2200" dirty="0">
              <a:solidFill>
                <a:schemeClr val="bg1"/>
              </a:solidFill>
            </a:endParaRPr>
          </a:p>
          <a:p>
            <a:r>
              <a:rPr lang="en-US" sz="2200" dirty="0">
                <a:solidFill>
                  <a:schemeClr val="bg1"/>
                </a:solidFill>
              </a:rPr>
              <a:t>+---------------------------+</a:t>
            </a:r>
          </a:p>
          <a:p>
            <a:r>
              <a:rPr lang="en-US" sz="2200" dirty="0">
                <a:solidFill>
                  <a:schemeClr val="bg1"/>
                </a:solidFill>
              </a:rPr>
              <a:t>| - students: Student[]     |</a:t>
            </a:r>
          </a:p>
          <a:p>
            <a:r>
              <a:rPr lang="en-US" sz="2200" dirty="0">
                <a:solidFill>
                  <a:schemeClr val="bg1"/>
                </a:solidFill>
              </a:rPr>
              <a:t>| - grades: Grade[]         |</a:t>
            </a:r>
          </a:p>
          <a:p>
            <a:r>
              <a:rPr lang="en-US" sz="2200" dirty="0">
                <a:solidFill>
                  <a:schemeClr val="bg1"/>
                </a:solidFill>
              </a:rPr>
              <a:t>| - </a:t>
            </a:r>
            <a:r>
              <a:rPr lang="en-US" sz="2200" dirty="0" err="1">
                <a:solidFill>
                  <a:schemeClr val="bg1"/>
                </a:solidFill>
              </a:rPr>
              <a:t>courseCredits</a:t>
            </a:r>
            <a:r>
              <a:rPr lang="en-US" sz="2200" dirty="0">
                <a:solidFill>
                  <a:schemeClr val="bg1"/>
                </a:solidFill>
              </a:rPr>
              <a:t>: </a:t>
            </a:r>
            <a:r>
              <a:rPr lang="en-US" sz="2200" dirty="0" err="1">
                <a:solidFill>
                  <a:schemeClr val="bg1"/>
                </a:solidFill>
              </a:rPr>
              <a:t>int</a:t>
            </a:r>
            <a:r>
              <a:rPr lang="en-US" sz="2200" dirty="0">
                <a:solidFill>
                  <a:schemeClr val="bg1"/>
                </a:solidFill>
              </a:rPr>
              <a:t>[]    |</a:t>
            </a:r>
          </a:p>
          <a:p>
            <a:r>
              <a:rPr lang="en-US" sz="2200" dirty="0">
                <a:solidFill>
                  <a:schemeClr val="bg1"/>
                </a:solidFill>
              </a:rPr>
              <a:t>| - </a:t>
            </a:r>
            <a:r>
              <a:rPr lang="en-US" sz="2200" dirty="0" err="1">
                <a:solidFill>
                  <a:schemeClr val="bg1"/>
                </a:solidFill>
              </a:rPr>
              <a:t>studentCount</a:t>
            </a:r>
            <a:r>
              <a:rPr lang="en-US" sz="2200" dirty="0">
                <a:solidFill>
                  <a:schemeClr val="bg1"/>
                </a:solidFill>
              </a:rPr>
              <a:t>: </a:t>
            </a:r>
            <a:r>
              <a:rPr lang="en-US" sz="2200" dirty="0" err="1">
                <a:solidFill>
                  <a:schemeClr val="bg1"/>
                </a:solidFill>
              </a:rPr>
              <a:t>int</a:t>
            </a:r>
            <a:r>
              <a:rPr lang="en-US" sz="2200" dirty="0">
                <a:solidFill>
                  <a:schemeClr val="bg1"/>
                </a:solidFill>
              </a:rPr>
              <a:t>       |</a:t>
            </a:r>
          </a:p>
          <a:p>
            <a:r>
              <a:rPr lang="en-US" sz="2200" dirty="0">
                <a:solidFill>
                  <a:schemeClr val="bg1"/>
                </a:solidFill>
              </a:rPr>
              <a:t>| - </a:t>
            </a:r>
            <a:r>
              <a:rPr lang="en-US" sz="2200" dirty="0" err="1">
                <a:solidFill>
                  <a:schemeClr val="bg1"/>
                </a:solidFill>
              </a:rPr>
              <a:t>gradeCount</a:t>
            </a:r>
            <a:r>
              <a:rPr lang="en-US" sz="2200" dirty="0">
                <a:solidFill>
                  <a:schemeClr val="bg1"/>
                </a:solidFill>
              </a:rPr>
              <a:t>: </a:t>
            </a:r>
            <a:r>
              <a:rPr lang="en-US" sz="2200" dirty="0" err="1">
                <a:solidFill>
                  <a:schemeClr val="bg1"/>
                </a:solidFill>
              </a:rPr>
              <a:t>int</a:t>
            </a:r>
            <a:r>
              <a:rPr lang="en-US" sz="2200" dirty="0">
                <a:solidFill>
                  <a:schemeClr val="bg1"/>
                </a:solidFill>
              </a:rPr>
              <a:t>         |</a:t>
            </a:r>
          </a:p>
          <a:p>
            <a:r>
              <a:rPr lang="en-US" sz="2200" dirty="0">
                <a:solidFill>
                  <a:schemeClr val="bg1"/>
                </a:solidFill>
              </a:rPr>
              <a:t>+---------------------------+</a:t>
            </a:r>
          </a:p>
          <a:p>
            <a:r>
              <a:rPr lang="en-US" sz="2200" dirty="0">
                <a:solidFill>
                  <a:schemeClr val="bg1"/>
                </a:solidFill>
              </a:rPr>
              <a:t>| + </a:t>
            </a:r>
            <a:r>
              <a:rPr lang="en-US" sz="2200" dirty="0" err="1">
                <a:solidFill>
                  <a:schemeClr val="bg1"/>
                </a:solidFill>
              </a:rPr>
              <a:t>addStudent</a:t>
            </a:r>
            <a:r>
              <a:rPr lang="en-US" sz="2200" dirty="0">
                <a:solidFill>
                  <a:schemeClr val="bg1"/>
                </a:solidFill>
              </a:rPr>
              <a:t>(student: Student): void |</a:t>
            </a:r>
          </a:p>
          <a:p>
            <a:r>
              <a:rPr lang="en-US" sz="2200" dirty="0">
                <a:solidFill>
                  <a:schemeClr val="bg1"/>
                </a:solidFill>
              </a:rPr>
              <a:t>| + </a:t>
            </a:r>
            <a:r>
              <a:rPr lang="en-US" sz="2200" dirty="0" err="1">
                <a:solidFill>
                  <a:schemeClr val="bg1"/>
                </a:solidFill>
              </a:rPr>
              <a:t>addGrade</a:t>
            </a:r>
            <a:r>
              <a:rPr lang="en-US" sz="2200" dirty="0">
                <a:solidFill>
                  <a:schemeClr val="bg1"/>
                </a:solidFill>
              </a:rPr>
              <a:t>(grade: Grade): void       |</a:t>
            </a:r>
          </a:p>
          <a:p>
            <a:r>
              <a:rPr lang="en-US" sz="2200" dirty="0">
                <a:solidFill>
                  <a:schemeClr val="bg1"/>
                </a:solidFill>
              </a:rPr>
              <a:t>| + </a:t>
            </a:r>
            <a:r>
              <a:rPr lang="en-US" sz="2200" dirty="0" err="1">
                <a:solidFill>
                  <a:schemeClr val="bg1"/>
                </a:solidFill>
              </a:rPr>
              <a:t>addCourseCredits</a:t>
            </a:r>
            <a:r>
              <a:rPr lang="en-US" sz="2200" dirty="0">
                <a:solidFill>
                  <a:schemeClr val="bg1"/>
                </a:solidFill>
              </a:rPr>
              <a:t>(</a:t>
            </a:r>
            <a:r>
              <a:rPr lang="en-US" sz="2200" dirty="0" err="1">
                <a:solidFill>
                  <a:schemeClr val="bg1"/>
                </a:solidFill>
              </a:rPr>
              <a:t>courseID</a:t>
            </a:r>
            <a:r>
              <a:rPr lang="en-US" sz="2200" dirty="0">
                <a:solidFill>
                  <a:schemeClr val="bg1"/>
                </a:solidFill>
              </a:rPr>
              <a:t>: </a:t>
            </a:r>
            <a:r>
              <a:rPr lang="en-US" sz="2200" dirty="0" err="1">
                <a:solidFill>
                  <a:schemeClr val="bg1"/>
                </a:solidFill>
              </a:rPr>
              <a:t>int</a:t>
            </a:r>
            <a:r>
              <a:rPr lang="en-US" sz="2200" dirty="0">
                <a:solidFill>
                  <a:schemeClr val="bg1"/>
                </a:solidFill>
              </a:rPr>
              <a:t>, credits: </a:t>
            </a:r>
            <a:r>
              <a:rPr lang="en-US" sz="2200" dirty="0" err="1">
                <a:solidFill>
                  <a:schemeClr val="bg1"/>
                </a:solidFill>
              </a:rPr>
              <a:t>int</a:t>
            </a:r>
            <a:r>
              <a:rPr lang="en-US" sz="2200" dirty="0">
                <a:solidFill>
                  <a:schemeClr val="bg1"/>
                </a:solidFill>
              </a:rPr>
              <a:t>): void |</a:t>
            </a:r>
          </a:p>
          <a:p>
            <a:r>
              <a:rPr lang="en-US" sz="2200" dirty="0">
                <a:solidFill>
                  <a:schemeClr val="bg1"/>
                </a:solidFill>
              </a:rPr>
              <a:t>| + </a:t>
            </a:r>
            <a:r>
              <a:rPr lang="en-US" sz="2200" dirty="0" err="1">
                <a:solidFill>
                  <a:schemeClr val="bg1"/>
                </a:solidFill>
              </a:rPr>
              <a:t>calculateGPA</a:t>
            </a:r>
            <a:r>
              <a:rPr lang="en-US" sz="2200" dirty="0">
                <a:solidFill>
                  <a:schemeClr val="bg1"/>
                </a:solidFill>
              </a:rPr>
              <a:t>(</a:t>
            </a:r>
            <a:r>
              <a:rPr lang="en-US" sz="2200" dirty="0" err="1">
                <a:solidFill>
                  <a:schemeClr val="bg1"/>
                </a:solidFill>
              </a:rPr>
              <a:t>studentID</a:t>
            </a:r>
            <a:r>
              <a:rPr lang="en-US" sz="2200" dirty="0">
                <a:solidFill>
                  <a:schemeClr val="bg1"/>
                </a:solidFill>
              </a:rPr>
              <a:t>: </a:t>
            </a:r>
            <a:r>
              <a:rPr lang="en-US" sz="2200" dirty="0" err="1">
                <a:solidFill>
                  <a:schemeClr val="bg1"/>
                </a:solidFill>
              </a:rPr>
              <a:t>int</a:t>
            </a:r>
            <a:r>
              <a:rPr lang="en-US" sz="2200" dirty="0">
                <a:solidFill>
                  <a:schemeClr val="bg1"/>
                </a:solidFill>
              </a:rPr>
              <a:t>): double |</a:t>
            </a:r>
          </a:p>
          <a:p>
            <a:r>
              <a:rPr lang="en-US" sz="2200" dirty="0">
                <a:solidFill>
                  <a:schemeClr val="bg1"/>
                </a:solidFill>
              </a:rPr>
              <a:t>| - </a:t>
            </a:r>
            <a:r>
              <a:rPr lang="en-US" sz="2200" dirty="0" err="1">
                <a:solidFill>
                  <a:schemeClr val="bg1"/>
                </a:solidFill>
              </a:rPr>
              <a:t>gradeToPoints</a:t>
            </a:r>
            <a:r>
              <a:rPr lang="en-US" sz="2200" dirty="0">
                <a:solidFill>
                  <a:schemeClr val="bg1"/>
                </a:solidFill>
              </a:rPr>
              <a:t>(grade: char): </a:t>
            </a:r>
            <a:r>
              <a:rPr lang="en-US" sz="2200" dirty="0" err="1">
                <a:solidFill>
                  <a:schemeClr val="bg1"/>
                </a:solidFill>
              </a:rPr>
              <a:t>int</a:t>
            </a:r>
            <a:r>
              <a:rPr lang="en-US" sz="2200" dirty="0">
                <a:solidFill>
                  <a:schemeClr val="bg1"/>
                </a:solidFill>
              </a:rPr>
              <a:t>     |</a:t>
            </a:r>
          </a:p>
          <a:p>
            <a:r>
              <a:rPr lang="en-US" sz="2200" dirty="0">
                <a:solidFill>
                  <a:schemeClr val="bg1"/>
                </a:solidFill>
              </a:rPr>
              <a:t>+---------------------------+</a:t>
            </a:r>
            <a:endParaRPr lang="en-US" sz="2200" dirty="0">
              <a:solidFill>
                <a:schemeClr val="bg1"/>
              </a:solidFill>
            </a:endParaRPr>
          </a:p>
        </p:txBody>
      </p:sp>
      <p:sp>
        <p:nvSpPr>
          <p:cNvPr id="5" name="Rectangle 4"/>
          <p:cNvSpPr/>
          <p:nvPr/>
        </p:nvSpPr>
        <p:spPr>
          <a:xfrm>
            <a:off x="147782" y="104339"/>
            <a:ext cx="3186545" cy="3139321"/>
          </a:xfrm>
          <a:prstGeom prst="rect">
            <a:avLst/>
          </a:prstGeom>
        </p:spPr>
        <p:txBody>
          <a:bodyPr wrap="square">
            <a:spAutoFit/>
          </a:bodyPr>
          <a:lstStyle/>
          <a:p>
            <a:r>
              <a:rPr lang="en-US" sz="2200" dirty="0">
                <a:solidFill>
                  <a:schemeClr val="bg1"/>
                </a:solidFill>
              </a:rPr>
              <a:t>+---------------------------+</a:t>
            </a:r>
          </a:p>
          <a:p>
            <a:r>
              <a:rPr lang="en-US" sz="2200" dirty="0">
                <a:solidFill>
                  <a:schemeClr val="bg1"/>
                </a:solidFill>
              </a:rPr>
              <a:t>|         </a:t>
            </a:r>
            <a:r>
              <a:rPr lang="en-US" sz="2200" b="1" dirty="0">
                <a:solidFill>
                  <a:srgbClr val="FFC000"/>
                </a:solidFill>
              </a:rPr>
              <a:t>Student</a:t>
            </a:r>
            <a:r>
              <a:rPr lang="en-US" sz="2200" dirty="0">
                <a:solidFill>
                  <a:schemeClr val="bg1"/>
                </a:solidFill>
              </a:rPr>
              <a:t>           |</a:t>
            </a:r>
          </a:p>
          <a:p>
            <a:r>
              <a:rPr lang="en-US" sz="2200" dirty="0">
                <a:solidFill>
                  <a:schemeClr val="bg1"/>
                </a:solidFill>
              </a:rPr>
              <a:t>+---------------------------+</a:t>
            </a:r>
          </a:p>
          <a:p>
            <a:r>
              <a:rPr lang="en-US" sz="2200" dirty="0">
                <a:solidFill>
                  <a:schemeClr val="bg1"/>
                </a:solidFill>
              </a:rPr>
              <a:t>| - </a:t>
            </a:r>
            <a:r>
              <a:rPr lang="en-US" sz="2200" dirty="0" err="1">
                <a:solidFill>
                  <a:schemeClr val="bg1"/>
                </a:solidFill>
              </a:rPr>
              <a:t>studentID</a:t>
            </a:r>
            <a:r>
              <a:rPr lang="en-US" sz="2200" dirty="0">
                <a:solidFill>
                  <a:schemeClr val="bg1"/>
                </a:solidFill>
              </a:rPr>
              <a:t>: </a:t>
            </a:r>
            <a:r>
              <a:rPr lang="en-US" sz="2200" dirty="0" err="1">
                <a:solidFill>
                  <a:schemeClr val="bg1"/>
                </a:solidFill>
              </a:rPr>
              <a:t>int</a:t>
            </a:r>
            <a:r>
              <a:rPr lang="en-US" sz="2200" dirty="0">
                <a:solidFill>
                  <a:schemeClr val="bg1"/>
                </a:solidFill>
              </a:rPr>
              <a:t>          |</a:t>
            </a:r>
          </a:p>
          <a:p>
            <a:r>
              <a:rPr lang="en-US" sz="2200" dirty="0">
                <a:solidFill>
                  <a:schemeClr val="bg1"/>
                </a:solidFill>
              </a:rPr>
              <a:t>| - name: String            |</a:t>
            </a:r>
          </a:p>
          <a:p>
            <a:r>
              <a:rPr lang="en-US" sz="2200" dirty="0">
                <a:solidFill>
                  <a:schemeClr val="bg1"/>
                </a:solidFill>
              </a:rPr>
              <a:t>+---------------------------+</a:t>
            </a:r>
          </a:p>
          <a:p>
            <a:r>
              <a:rPr lang="en-US" sz="2200" dirty="0">
                <a:solidFill>
                  <a:schemeClr val="bg1"/>
                </a:solidFill>
              </a:rPr>
              <a:t>| + </a:t>
            </a:r>
            <a:r>
              <a:rPr lang="en-US" sz="2200" dirty="0" err="1">
                <a:solidFill>
                  <a:schemeClr val="bg1"/>
                </a:solidFill>
              </a:rPr>
              <a:t>getStudentID</a:t>
            </a:r>
            <a:r>
              <a:rPr lang="en-US" sz="2200" dirty="0">
                <a:solidFill>
                  <a:schemeClr val="bg1"/>
                </a:solidFill>
              </a:rPr>
              <a:t>(): </a:t>
            </a:r>
            <a:r>
              <a:rPr lang="en-US" sz="2200" dirty="0" err="1">
                <a:solidFill>
                  <a:schemeClr val="bg1"/>
                </a:solidFill>
              </a:rPr>
              <a:t>int</a:t>
            </a:r>
            <a:r>
              <a:rPr lang="en-US" sz="2200" dirty="0">
                <a:solidFill>
                  <a:schemeClr val="bg1"/>
                </a:solidFill>
              </a:rPr>
              <a:t>     |</a:t>
            </a:r>
          </a:p>
          <a:p>
            <a:r>
              <a:rPr lang="en-US" sz="2200" dirty="0">
                <a:solidFill>
                  <a:schemeClr val="bg1"/>
                </a:solidFill>
              </a:rPr>
              <a:t>| + </a:t>
            </a:r>
            <a:r>
              <a:rPr lang="en-US" sz="2200" dirty="0" err="1">
                <a:solidFill>
                  <a:schemeClr val="bg1"/>
                </a:solidFill>
              </a:rPr>
              <a:t>getName</a:t>
            </a:r>
            <a:r>
              <a:rPr lang="en-US" sz="2200" dirty="0">
                <a:solidFill>
                  <a:schemeClr val="bg1"/>
                </a:solidFill>
              </a:rPr>
              <a:t>(): String       |</a:t>
            </a:r>
          </a:p>
          <a:p>
            <a:r>
              <a:rPr lang="en-US" sz="2200" dirty="0">
                <a:solidFill>
                  <a:schemeClr val="bg1"/>
                </a:solidFill>
              </a:rPr>
              <a:t>+---------------------------+</a:t>
            </a:r>
            <a:endParaRPr lang="en-US" sz="2200" dirty="0">
              <a:solidFill>
                <a:schemeClr val="bg1"/>
              </a:solidFill>
            </a:endParaRPr>
          </a:p>
        </p:txBody>
      </p:sp>
      <p:sp>
        <p:nvSpPr>
          <p:cNvPr id="6" name="Rectangle 5"/>
          <p:cNvSpPr/>
          <p:nvPr/>
        </p:nvSpPr>
        <p:spPr>
          <a:xfrm>
            <a:off x="-27709" y="3041571"/>
            <a:ext cx="3186545" cy="3816429"/>
          </a:xfrm>
          <a:prstGeom prst="rect">
            <a:avLst/>
          </a:prstGeom>
        </p:spPr>
        <p:txBody>
          <a:bodyPr wrap="square">
            <a:spAutoFit/>
          </a:bodyPr>
          <a:lstStyle/>
          <a:p>
            <a:r>
              <a:rPr lang="en-US" sz="2200" dirty="0">
                <a:solidFill>
                  <a:schemeClr val="bg1"/>
                </a:solidFill>
              </a:rPr>
              <a:t>+---------------------------+</a:t>
            </a:r>
          </a:p>
          <a:p>
            <a:r>
              <a:rPr lang="en-US" sz="2200" dirty="0">
                <a:solidFill>
                  <a:schemeClr val="bg1"/>
                </a:solidFill>
              </a:rPr>
              <a:t>|         </a:t>
            </a:r>
            <a:r>
              <a:rPr lang="en-US" sz="2200" b="1" dirty="0">
                <a:solidFill>
                  <a:srgbClr val="FFC000"/>
                </a:solidFill>
              </a:rPr>
              <a:t>Grade</a:t>
            </a:r>
            <a:r>
              <a:rPr lang="en-US" sz="2200" dirty="0">
                <a:solidFill>
                  <a:schemeClr val="bg1"/>
                </a:solidFill>
              </a:rPr>
              <a:t>             |</a:t>
            </a:r>
          </a:p>
          <a:p>
            <a:r>
              <a:rPr lang="en-US" sz="2200" dirty="0">
                <a:solidFill>
                  <a:schemeClr val="bg1"/>
                </a:solidFill>
              </a:rPr>
              <a:t>+---------------------------+</a:t>
            </a:r>
          </a:p>
          <a:p>
            <a:r>
              <a:rPr lang="en-US" sz="2200" dirty="0">
                <a:solidFill>
                  <a:schemeClr val="bg1"/>
                </a:solidFill>
              </a:rPr>
              <a:t>| - </a:t>
            </a:r>
            <a:r>
              <a:rPr lang="en-US" sz="2200" dirty="0" err="1">
                <a:solidFill>
                  <a:schemeClr val="bg1"/>
                </a:solidFill>
              </a:rPr>
              <a:t>studentID</a:t>
            </a:r>
            <a:r>
              <a:rPr lang="en-US" sz="2200" dirty="0">
                <a:solidFill>
                  <a:schemeClr val="bg1"/>
                </a:solidFill>
              </a:rPr>
              <a:t>: </a:t>
            </a:r>
            <a:r>
              <a:rPr lang="en-US" sz="2200" dirty="0" err="1">
                <a:solidFill>
                  <a:schemeClr val="bg1"/>
                </a:solidFill>
              </a:rPr>
              <a:t>int</a:t>
            </a:r>
            <a:r>
              <a:rPr lang="en-US" sz="2200" dirty="0">
                <a:solidFill>
                  <a:schemeClr val="bg1"/>
                </a:solidFill>
              </a:rPr>
              <a:t>          |</a:t>
            </a:r>
          </a:p>
          <a:p>
            <a:r>
              <a:rPr lang="en-US" sz="2200" dirty="0">
                <a:solidFill>
                  <a:schemeClr val="bg1"/>
                </a:solidFill>
              </a:rPr>
              <a:t>| - </a:t>
            </a:r>
            <a:r>
              <a:rPr lang="en-US" sz="2200" dirty="0" err="1">
                <a:solidFill>
                  <a:schemeClr val="bg1"/>
                </a:solidFill>
              </a:rPr>
              <a:t>courseID</a:t>
            </a:r>
            <a:r>
              <a:rPr lang="en-US" sz="2200" dirty="0">
                <a:solidFill>
                  <a:schemeClr val="bg1"/>
                </a:solidFill>
              </a:rPr>
              <a:t>: </a:t>
            </a:r>
            <a:r>
              <a:rPr lang="en-US" sz="2200" dirty="0" err="1">
                <a:solidFill>
                  <a:schemeClr val="bg1"/>
                </a:solidFill>
              </a:rPr>
              <a:t>int</a:t>
            </a:r>
            <a:r>
              <a:rPr lang="en-US" sz="2200" dirty="0">
                <a:solidFill>
                  <a:schemeClr val="bg1"/>
                </a:solidFill>
              </a:rPr>
              <a:t>           |</a:t>
            </a:r>
          </a:p>
          <a:p>
            <a:r>
              <a:rPr lang="en-US" sz="2200" dirty="0">
                <a:solidFill>
                  <a:schemeClr val="bg1"/>
                </a:solidFill>
              </a:rPr>
              <a:t>| - grade: char             |</a:t>
            </a:r>
          </a:p>
          <a:p>
            <a:r>
              <a:rPr lang="en-US" sz="2200" dirty="0">
                <a:solidFill>
                  <a:schemeClr val="bg1"/>
                </a:solidFill>
              </a:rPr>
              <a:t>+---------------------------+</a:t>
            </a:r>
          </a:p>
          <a:p>
            <a:r>
              <a:rPr lang="en-US" sz="2200" dirty="0">
                <a:solidFill>
                  <a:schemeClr val="bg1"/>
                </a:solidFill>
              </a:rPr>
              <a:t>| + </a:t>
            </a:r>
            <a:r>
              <a:rPr lang="en-US" sz="2200" dirty="0" err="1">
                <a:solidFill>
                  <a:schemeClr val="bg1"/>
                </a:solidFill>
              </a:rPr>
              <a:t>getStudentID</a:t>
            </a:r>
            <a:r>
              <a:rPr lang="en-US" sz="2200" dirty="0">
                <a:solidFill>
                  <a:schemeClr val="bg1"/>
                </a:solidFill>
              </a:rPr>
              <a:t>(): </a:t>
            </a:r>
            <a:r>
              <a:rPr lang="en-US" sz="2200" dirty="0" err="1">
                <a:solidFill>
                  <a:schemeClr val="bg1"/>
                </a:solidFill>
              </a:rPr>
              <a:t>int</a:t>
            </a:r>
            <a:r>
              <a:rPr lang="en-US" sz="2200" dirty="0">
                <a:solidFill>
                  <a:schemeClr val="bg1"/>
                </a:solidFill>
              </a:rPr>
              <a:t>     |</a:t>
            </a:r>
          </a:p>
          <a:p>
            <a:r>
              <a:rPr lang="en-US" sz="2200" dirty="0">
                <a:solidFill>
                  <a:schemeClr val="bg1"/>
                </a:solidFill>
              </a:rPr>
              <a:t>| + </a:t>
            </a:r>
            <a:r>
              <a:rPr lang="en-US" sz="2200" dirty="0" err="1">
                <a:solidFill>
                  <a:schemeClr val="bg1"/>
                </a:solidFill>
              </a:rPr>
              <a:t>getCourseID</a:t>
            </a:r>
            <a:r>
              <a:rPr lang="en-US" sz="2200" dirty="0">
                <a:solidFill>
                  <a:schemeClr val="bg1"/>
                </a:solidFill>
              </a:rPr>
              <a:t>(): </a:t>
            </a:r>
            <a:r>
              <a:rPr lang="en-US" sz="2200" dirty="0" err="1">
                <a:solidFill>
                  <a:schemeClr val="bg1"/>
                </a:solidFill>
              </a:rPr>
              <a:t>int</a:t>
            </a:r>
            <a:r>
              <a:rPr lang="en-US" sz="2200" dirty="0">
                <a:solidFill>
                  <a:schemeClr val="bg1"/>
                </a:solidFill>
              </a:rPr>
              <a:t>      |</a:t>
            </a:r>
          </a:p>
          <a:p>
            <a:r>
              <a:rPr lang="en-US" sz="2200" dirty="0">
                <a:solidFill>
                  <a:schemeClr val="bg1"/>
                </a:solidFill>
              </a:rPr>
              <a:t>| + </a:t>
            </a:r>
            <a:r>
              <a:rPr lang="en-US" sz="2200" dirty="0" err="1">
                <a:solidFill>
                  <a:schemeClr val="bg1"/>
                </a:solidFill>
              </a:rPr>
              <a:t>getGrade</a:t>
            </a:r>
            <a:r>
              <a:rPr lang="en-US" sz="2200" dirty="0">
                <a:solidFill>
                  <a:schemeClr val="bg1"/>
                </a:solidFill>
              </a:rPr>
              <a:t>(): char        |</a:t>
            </a:r>
          </a:p>
          <a:p>
            <a:r>
              <a:rPr lang="en-US" sz="2200" dirty="0">
                <a:solidFill>
                  <a:schemeClr val="bg1"/>
                </a:solidFill>
              </a:rPr>
              <a:t>+---------------------------+</a:t>
            </a:r>
            <a:endParaRPr lang="en-US" sz="2200" dirty="0">
              <a:solidFill>
                <a:schemeClr val="bg1"/>
              </a:solidFill>
            </a:endParaRPr>
          </a:p>
        </p:txBody>
      </p:sp>
    </p:spTree>
    <p:extLst>
      <p:ext uri="{BB962C8B-B14F-4D97-AF65-F5344CB8AC3E}">
        <p14:creationId xmlns:p14="http://schemas.microsoft.com/office/powerpoint/2010/main" val="2499488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03200"/>
            <a:ext cx="11916229" cy="3323987"/>
          </a:xfrm>
          <a:prstGeom prst="rect">
            <a:avLst/>
          </a:prstGeom>
          <a:noFill/>
        </p:spPr>
        <p:txBody>
          <a:bodyPr wrap="square" rtlCol="0">
            <a:spAutoFit/>
          </a:bodyPr>
          <a:lstStyle/>
          <a:p>
            <a:pPr algn="just">
              <a:lnSpc>
                <a:spcPct val="150000"/>
              </a:lnSpc>
            </a:pPr>
            <a:r>
              <a:rPr lang="en-IN" sz="2800" dirty="0">
                <a:solidFill>
                  <a:schemeClr val="bg1"/>
                </a:solidFill>
              </a:rPr>
              <a:t>1. Write a java class Student to meet the following specification: </a:t>
            </a:r>
          </a:p>
          <a:p>
            <a:pPr algn="just">
              <a:lnSpc>
                <a:spcPct val="150000"/>
              </a:lnSpc>
            </a:pPr>
            <a:r>
              <a:rPr lang="en-IN" sz="2800" dirty="0">
                <a:solidFill>
                  <a:schemeClr val="bg1"/>
                </a:solidFill>
              </a:rPr>
              <a:t>The class should be able to support a 5 digit student ID, Student name, marks for 3 subjects. You should  have methods to set and get each of the attributes, and calculate the average marks </a:t>
            </a:r>
            <a:r>
              <a:rPr lang="en-IN" sz="2800">
                <a:solidFill>
                  <a:schemeClr val="bg1"/>
                </a:solidFill>
              </a:rPr>
              <a:t>for each </a:t>
            </a:r>
            <a:r>
              <a:rPr lang="en-IN" sz="2800" dirty="0">
                <a:solidFill>
                  <a:schemeClr val="bg1"/>
                </a:solidFill>
              </a:rPr>
              <a:t>student. Write a tester program to test Your class. You should create 2 or 3 students and write code to test the class.</a:t>
            </a:r>
          </a:p>
        </p:txBody>
      </p:sp>
    </p:spTree>
    <p:extLst>
      <p:ext uri="{BB962C8B-B14F-4D97-AF65-F5344CB8AC3E}">
        <p14:creationId xmlns:p14="http://schemas.microsoft.com/office/powerpoint/2010/main" val="3631847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03200"/>
            <a:ext cx="11916229" cy="3970318"/>
          </a:xfrm>
          <a:prstGeom prst="rect">
            <a:avLst/>
          </a:prstGeom>
          <a:noFill/>
        </p:spPr>
        <p:txBody>
          <a:bodyPr wrap="square" rtlCol="0">
            <a:spAutoFit/>
          </a:bodyPr>
          <a:lstStyle/>
          <a:p>
            <a:pPr algn="just">
              <a:lnSpc>
                <a:spcPct val="150000"/>
              </a:lnSpc>
            </a:pPr>
            <a:r>
              <a:rPr lang="en-IN" sz="2800" dirty="0">
                <a:solidFill>
                  <a:schemeClr val="bg1"/>
                </a:solidFill>
              </a:rPr>
              <a:t>2. Consider an example of declaring the examination result. Design three classes: Student, Exam, and Result. The Student class has data members such as those representing roll number, name etc. Create the class Exam by inheriting Student class. The Exam class adds fields representing the marks scored in six subjects. Derive the Result from the Exam class, and it has its own fields such as </a:t>
            </a:r>
            <a:r>
              <a:rPr lang="en-IN" sz="2800" dirty="0" err="1">
                <a:solidFill>
                  <a:schemeClr val="bg1"/>
                </a:solidFill>
              </a:rPr>
              <a:t>total_marks</a:t>
            </a:r>
            <a:r>
              <a:rPr lang="en-IN" sz="2800" dirty="0">
                <a:solidFill>
                  <a:schemeClr val="bg1"/>
                </a:solidFill>
              </a:rPr>
              <a:t>. Write an interactive program to model this relationship.</a:t>
            </a:r>
          </a:p>
        </p:txBody>
      </p:sp>
    </p:spTree>
    <p:extLst>
      <p:ext uri="{BB962C8B-B14F-4D97-AF65-F5344CB8AC3E}">
        <p14:creationId xmlns:p14="http://schemas.microsoft.com/office/powerpoint/2010/main" val="2624299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03200"/>
            <a:ext cx="11916229" cy="6555641"/>
          </a:xfrm>
          <a:prstGeom prst="rect">
            <a:avLst/>
          </a:prstGeom>
          <a:noFill/>
        </p:spPr>
        <p:txBody>
          <a:bodyPr wrap="square" rtlCol="0">
            <a:spAutoFit/>
          </a:bodyPr>
          <a:lstStyle/>
          <a:p>
            <a:pPr algn="just">
              <a:lnSpc>
                <a:spcPct val="150000"/>
              </a:lnSpc>
            </a:pPr>
            <a:r>
              <a:rPr lang="en-IN" sz="2800" dirty="0">
                <a:solidFill>
                  <a:schemeClr val="bg1"/>
                </a:solidFill>
              </a:rPr>
              <a:t>3. Declare an interface called Function that has a method named evaluate that takes an </a:t>
            </a:r>
            <a:r>
              <a:rPr lang="en-IN" sz="2800" dirty="0" err="1">
                <a:solidFill>
                  <a:schemeClr val="bg1"/>
                </a:solidFill>
              </a:rPr>
              <a:t>int</a:t>
            </a:r>
            <a:r>
              <a:rPr lang="en-IN" sz="2800" dirty="0">
                <a:solidFill>
                  <a:schemeClr val="bg1"/>
                </a:solidFill>
              </a:rPr>
              <a:t> parameter and returns an </a:t>
            </a:r>
            <a:r>
              <a:rPr lang="en-IN" sz="2800" dirty="0" err="1">
                <a:solidFill>
                  <a:schemeClr val="bg1"/>
                </a:solidFill>
              </a:rPr>
              <a:t>int</a:t>
            </a:r>
            <a:r>
              <a:rPr lang="en-IN" sz="2800" dirty="0">
                <a:solidFill>
                  <a:schemeClr val="bg1"/>
                </a:solidFill>
              </a:rPr>
              <a:t> value. Create a class called Half that implements the Function interface. The implementation of the method evaluate() should return the value obtained by dividing the </a:t>
            </a:r>
            <a:r>
              <a:rPr lang="en-IN" sz="2800" dirty="0" err="1">
                <a:solidFill>
                  <a:schemeClr val="bg1"/>
                </a:solidFill>
              </a:rPr>
              <a:t>int</a:t>
            </a:r>
            <a:r>
              <a:rPr lang="en-IN" sz="2800" dirty="0">
                <a:solidFill>
                  <a:schemeClr val="bg1"/>
                </a:solidFill>
              </a:rPr>
              <a:t> argument by 2. In a client, create a method that takes an arbitrary array of </a:t>
            </a:r>
            <a:r>
              <a:rPr lang="en-IN" sz="2800" dirty="0" err="1">
                <a:solidFill>
                  <a:schemeClr val="bg1"/>
                </a:solidFill>
              </a:rPr>
              <a:t>int</a:t>
            </a:r>
            <a:r>
              <a:rPr lang="en-IN" sz="2800" dirty="0">
                <a:solidFill>
                  <a:schemeClr val="bg1"/>
                </a:solidFill>
              </a:rPr>
              <a:t> values as a parameter, and returns an array that has the same length, but the value of an element in the new array is half that of the value in the corresponding element in the array passed as the parameter. Let the implementation of this method create an instance of Half, and use this instance to calculate values for the array that is returned.</a:t>
            </a:r>
          </a:p>
        </p:txBody>
      </p:sp>
    </p:spTree>
    <p:extLst>
      <p:ext uri="{BB962C8B-B14F-4D97-AF65-F5344CB8AC3E}">
        <p14:creationId xmlns:p14="http://schemas.microsoft.com/office/powerpoint/2010/main" val="39147264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1344</TotalTime>
  <Words>1000</Words>
  <Application>Microsoft Office PowerPoint</Application>
  <PresentationFormat>Widescreen</PresentationFormat>
  <Paragraphs>128</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Mrugendra</dc:creator>
  <cp:lastModifiedBy>Mrugendra</cp:lastModifiedBy>
  <cp:revision>193</cp:revision>
  <dcterms:created xsi:type="dcterms:W3CDTF">2017-07-29T08:12:59Z</dcterms:created>
  <dcterms:modified xsi:type="dcterms:W3CDTF">2024-08-01T07:36:21Z</dcterms:modified>
</cp:coreProperties>
</file>