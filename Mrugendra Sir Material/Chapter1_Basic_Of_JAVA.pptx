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75" r:id="rId2"/>
    <p:sldId id="256" r:id="rId3"/>
    <p:sldId id="300" r:id="rId4"/>
    <p:sldId id="258" r:id="rId5"/>
    <p:sldId id="291" r:id="rId6"/>
    <p:sldId id="293" r:id="rId7"/>
    <p:sldId id="292" r:id="rId8"/>
    <p:sldId id="289" r:id="rId9"/>
    <p:sldId id="294" r:id="rId10"/>
    <p:sldId id="297" r:id="rId11"/>
    <p:sldId id="298" r:id="rId12"/>
    <p:sldId id="299" r:id="rId13"/>
    <p:sldId id="295" r:id="rId14"/>
    <p:sldId id="296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83" d="100"/>
          <a:sy n="83" d="100"/>
        </p:scale>
        <p:origin x="614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BB7511-6A2C-4FC7-AD62-5EB35A7B85DC}" type="datetimeFigureOut">
              <a:rPr lang="en-IN" smtClean="0"/>
              <a:t>25-06-2025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8BC8CE-00A2-4570-A7C4-CF89774406D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732949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BB7511-6A2C-4FC7-AD62-5EB35A7B85DC}" type="datetimeFigureOut">
              <a:rPr lang="en-IN" smtClean="0"/>
              <a:t>25-06-2025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8BC8CE-00A2-4570-A7C4-CF89774406D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232931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BB7511-6A2C-4FC7-AD62-5EB35A7B85DC}" type="datetimeFigureOut">
              <a:rPr lang="en-IN" smtClean="0"/>
              <a:t>25-06-2025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8BC8CE-00A2-4570-A7C4-CF89774406D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292858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BB7511-6A2C-4FC7-AD62-5EB35A7B85DC}" type="datetimeFigureOut">
              <a:rPr lang="en-IN" smtClean="0"/>
              <a:t>25-06-2025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8BC8CE-00A2-4570-A7C4-CF89774406D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28795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BB7511-6A2C-4FC7-AD62-5EB35A7B85DC}" type="datetimeFigureOut">
              <a:rPr lang="en-IN" smtClean="0"/>
              <a:t>25-06-2025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8BC8CE-00A2-4570-A7C4-CF89774406D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06357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BB7511-6A2C-4FC7-AD62-5EB35A7B85DC}" type="datetimeFigureOut">
              <a:rPr lang="en-IN" smtClean="0"/>
              <a:t>25-06-2025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8BC8CE-00A2-4570-A7C4-CF89774406D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091721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BB7511-6A2C-4FC7-AD62-5EB35A7B85DC}" type="datetimeFigureOut">
              <a:rPr lang="en-IN" smtClean="0"/>
              <a:t>25-06-2025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8BC8CE-00A2-4570-A7C4-CF89774406D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001761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BB7511-6A2C-4FC7-AD62-5EB35A7B85DC}" type="datetimeFigureOut">
              <a:rPr lang="en-IN" smtClean="0"/>
              <a:t>25-06-2025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8BC8CE-00A2-4570-A7C4-CF89774406D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684045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BB7511-6A2C-4FC7-AD62-5EB35A7B85DC}" type="datetimeFigureOut">
              <a:rPr lang="en-IN" smtClean="0"/>
              <a:t>25-06-2025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8BC8CE-00A2-4570-A7C4-CF89774406D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313276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BB7511-6A2C-4FC7-AD62-5EB35A7B85DC}" type="datetimeFigureOut">
              <a:rPr lang="en-IN" smtClean="0"/>
              <a:t>25-06-2025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8BC8CE-00A2-4570-A7C4-CF89774406D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200382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BB7511-6A2C-4FC7-AD62-5EB35A7B85DC}" type="datetimeFigureOut">
              <a:rPr lang="en-IN" smtClean="0"/>
              <a:t>25-06-2025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8BC8CE-00A2-4570-A7C4-CF89774406D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438791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70C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4BB7511-6A2C-4FC7-AD62-5EB35A7B85DC}" type="datetimeFigureOut">
              <a:rPr lang="en-IN" smtClean="0"/>
              <a:t>25-06-2025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08BC8CE-00A2-4570-A7C4-CF89774406D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146468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27547" y="177413"/>
            <a:ext cx="11395880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7200" dirty="0">
                <a:solidFill>
                  <a:schemeClr val="bg1"/>
                </a:solidFill>
              </a:rPr>
              <a:t>CEUE203 </a:t>
            </a:r>
          </a:p>
          <a:p>
            <a:pPr algn="ctr"/>
            <a:r>
              <a:rPr lang="en-IN" sz="7200" cap="all" dirty="0">
                <a:solidFill>
                  <a:schemeClr val="bg1"/>
                </a:solidFill>
              </a:rPr>
              <a:t>Object Oriented </a:t>
            </a:r>
            <a:r>
              <a:rPr lang="en-IN" sz="7200" cap="all" dirty="0" smtClean="0">
                <a:solidFill>
                  <a:schemeClr val="bg1"/>
                </a:solidFill>
              </a:rPr>
              <a:t>Programming (Java)</a:t>
            </a:r>
            <a:endParaRPr lang="en-IN" sz="9600" cap="all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941300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54842" y="163773"/>
            <a:ext cx="8134066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6000" dirty="0">
                <a:solidFill>
                  <a:schemeClr val="bg1"/>
                </a:solidFill>
              </a:rPr>
              <a:t>Teaching Scheme</a:t>
            </a:r>
          </a:p>
        </p:txBody>
      </p:sp>
      <p:cxnSp>
        <p:nvCxnSpPr>
          <p:cNvPr id="4" name="Straight Connector 3"/>
          <p:cNvCxnSpPr/>
          <p:nvPr/>
        </p:nvCxnSpPr>
        <p:spPr>
          <a:xfrm flipV="1">
            <a:off x="873456" y="996287"/>
            <a:ext cx="11177517" cy="40943"/>
          </a:xfrm>
          <a:prstGeom prst="line">
            <a:avLst/>
          </a:prstGeom>
          <a:ln w="381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49218904"/>
              </p:ext>
            </p:extLst>
          </p:nvPr>
        </p:nvGraphicFramePr>
        <p:xfrm>
          <a:off x="600365" y="1179436"/>
          <a:ext cx="9632785" cy="2057400"/>
        </p:xfrm>
        <a:graphic>
          <a:graphicData uri="http://schemas.openxmlformats.org/drawingml/2006/table">
            <a:tbl>
              <a:tblPr/>
              <a:tblGrid>
                <a:gridCol w="2112320">
                  <a:extLst>
                    <a:ext uri="{9D8B030D-6E8A-4147-A177-3AD203B41FA5}">
                      <a16:colId xmlns:a16="http://schemas.microsoft.com/office/drawing/2014/main" val="3839615061"/>
                    </a:ext>
                  </a:extLst>
                </a:gridCol>
                <a:gridCol w="2374780">
                  <a:extLst>
                    <a:ext uri="{9D8B030D-6E8A-4147-A177-3AD203B41FA5}">
                      <a16:colId xmlns:a16="http://schemas.microsoft.com/office/drawing/2014/main" val="2819428127"/>
                    </a:ext>
                  </a:extLst>
                </a:gridCol>
                <a:gridCol w="2107662">
                  <a:extLst>
                    <a:ext uri="{9D8B030D-6E8A-4147-A177-3AD203B41FA5}">
                      <a16:colId xmlns:a16="http://schemas.microsoft.com/office/drawing/2014/main" val="410525220"/>
                    </a:ext>
                  </a:extLst>
                </a:gridCol>
                <a:gridCol w="1269630">
                  <a:extLst>
                    <a:ext uri="{9D8B030D-6E8A-4147-A177-3AD203B41FA5}">
                      <a16:colId xmlns:a16="http://schemas.microsoft.com/office/drawing/2014/main" val="3575830713"/>
                    </a:ext>
                  </a:extLst>
                </a:gridCol>
                <a:gridCol w="1768393">
                  <a:extLst>
                    <a:ext uri="{9D8B030D-6E8A-4147-A177-3AD203B41FA5}">
                      <a16:colId xmlns:a16="http://schemas.microsoft.com/office/drawing/2014/main" val="4004435262"/>
                    </a:ext>
                  </a:extLst>
                </a:gridCol>
              </a:tblGrid>
              <a:tr h="297180"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b="1" i="0" u="none" strike="noStrike" dirty="0">
                          <a:solidFill>
                            <a:srgbClr val="FFFFFF"/>
                          </a:solidFill>
                          <a:effectLst/>
                          <a:latin typeface="Nunito Sans"/>
                        </a:rPr>
                        <a:t>Teaching Scheme </a:t>
                      </a:r>
                      <a:endParaRPr lang="en-US" sz="2400" dirty="0">
                        <a:effectLst/>
                      </a:endParaRPr>
                    </a:p>
                  </a:txBody>
                  <a:tcPr marL="76200" marR="76200" marT="38100" marB="38100" anchor="ctr">
                    <a:lnL w="1015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5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5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048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b="1" i="0" u="none" strike="noStrike" dirty="0">
                          <a:solidFill>
                            <a:srgbClr val="FFFFFF"/>
                          </a:solidFill>
                          <a:effectLst/>
                          <a:latin typeface="Nunito Sans"/>
                        </a:rPr>
                        <a:t>Theory</a:t>
                      </a:r>
                      <a:endParaRPr lang="en-US" sz="2400" dirty="0">
                        <a:effectLst/>
                      </a:endParaRPr>
                    </a:p>
                  </a:txBody>
                  <a:tcPr marL="76200" marR="76200" marT="38100" marB="38100" anchor="ctr">
                    <a:lnL w="1015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5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5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048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b="1" i="0" u="none" strike="noStrike" dirty="0">
                          <a:solidFill>
                            <a:srgbClr val="FFFFFF"/>
                          </a:solidFill>
                          <a:effectLst/>
                          <a:latin typeface="Nunito Sans"/>
                        </a:rPr>
                        <a:t>Practical</a:t>
                      </a:r>
                      <a:endParaRPr lang="en-US" sz="2400" dirty="0">
                        <a:effectLst/>
                      </a:endParaRPr>
                    </a:p>
                  </a:txBody>
                  <a:tcPr marL="76200" marR="76200" marT="38100" marB="38100" anchor="ctr">
                    <a:lnL w="1015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5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5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048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b="1" i="0" u="none" strike="noStrike" dirty="0">
                          <a:solidFill>
                            <a:srgbClr val="FFFFFF"/>
                          </a:solidFill>
                          <a:effectLst/>
                          <a:latin typeface="Nunito Sans"/>
                        </a:rPr>
                        <a:t>Total</a:t>
                      </a:r>
                      <a:endParaRPr lang="en-US" sz="2400" dirty="0">
                        <a:effectLst/>
                      </a:endParaRPr>
                    </a:p>
                  </a:txBody>
                  <a:tcPr marL="76200" marR="76200" marT="38100" marB="38100" anchor="ctr">
                    <a:lnL w="1015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5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5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048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b="1" i="0" u="none" strike="noStrike">
                          <a:solidFill>
                            <a:srgbClr val="FFFFFF"/>
                          </a:solidFill>
                          <a:effectLst/>
                          <a:latin typeface="Nunito Sans"/>
                        </a:rPr>
                        <a:t>Credit</a:t>
                      </a:r>
                      <a:endParaRPr lang="en-US" sz="2400">
                        <a:effectLst/>
                      </a:endParaRPr>
                    </a:p>
                  </a:txBody>
                  <a:tcPr marL="76200" marR="76200" marT="38100" marB="38100" anchor="ctr">
                    <a:lnL w="1015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5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5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048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9B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71547601"/>
                  </a:ext>
                </a:extLst>
              </a:tr>
              <a:tr h="297180"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b="1" i="0" u="none" strike="noStrike">
                          <a:solidFill>
                            <a:srgbClr val="000000"/>
                          </a:solidFill>
                          <a:effectLst/>
                          <a:latin typeface="Nunito Sans"/>
                        </a:rPr>
                        <a:t>Hours/Week</a:t>
                      </a:r>
                      <a:endParaRPr lang="en-US" sz="2400">
                        <a:effectLst/>
                      </a:endParaRPr>
                    </a:p>
                  </a:txBody>
                  <a:tcPr marL="76200" marR="76200" marT="38100" marB="38100" anchor="ctr">
                    <a:lnL w="1015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5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048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5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DEE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b="0" i="0" u="none" strike="noStrike">
                          <a:solidFill>
                            <a:srgbClr val="000000"/>
                          </a:solidFill>
                          <a:effectLst/>
                          <a:latin typeface="Nunito Sans Normal"/>
                        </a:rPr>
                        <a:t>2</a:t>
                      </a:r>
                      <a:endParaRPr lang="en-US" sz="2400">
                        <a:effectLst/>
                      </a:endParaRPr>
                    </a:p>
                  </a:txBody>
                  <a:tcPr marL="76200" marR="76200" marT="38100" marB="38100" anchor="ctr">
                    <a:lnL w="1015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5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048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5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DEE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Nunito Sans Normal"/>
                        </a:rPr>
                        <a:t>2</a:t>
                      </a:r>
                      <a:endParaRPr lang="en-US" sz="2400" dirty="0">
                        <a:effectLst/>
                      </a:endParaRPr>
                    </a:p>
                  </a:txBody>
                  <a:tcPr marL="76200" marR="76200" marT="38100" marB="38100" anchor="ctr">
                    <a:lnL w="1015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5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048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5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DEE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Nunito Sans Normal"/>
                        </a:rPr>
                        <a:t>4</a:t>
                      </a:r>
                      <a:endParaRPr lang="en-US" sz="2400" dirty="0">
                        <a:effectLst/>
                      </a:endParaRPr>
                    </a:p>
                  </a:txBody>
                  <a:tcPr marL="76200" marR="76200" marT="38100" marB="38100" anchor="ctr">
                    <a:lnL w="1015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5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048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5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DEEF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2400" b="0" i="0" u="none" strike="noStrike" dirty="0" smtClean="0">
                        <a:solidFill>
                          <a:srgbClr val="000000"/>
                        </a:solidFill>
                        <a:effectLst/>
                        <a:latin typeface="Nunito Sans Normal"/>
                      </a:endParaRPr>
                    </a:p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Nunito Sans Normal"/>
                        </a:rPr>
                        <a:t>3</a:t>
                      </a:r>
                      <a:endParaRPr lang="en-US" sz="2400" dirty="0">
                        <a:effectLst/>
                      </a:endParaRPr>
                    </a:p>
                    <a:p>
                      <a:pPr algn="ctr" fontAlgn="t"/>
                      <a:r>
                        <a:rPr lang="en-US" sz="2400" dirty="0">
                          <a:effectLst/>
                        </a:rPr>
                        <a:t> </a:t>
                      </a:r>
                    </a:p>
                  </a:txBody>
                  <a:tcPr marL="76200" marR="76200" marT="38100" marB="38100" anchor="ctr">
                    <a:lnL w="1015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5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048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5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DE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49289418"/>
                  </a:ext>
                </a:extLst>
              </a:tr>
              <a:tr h="297180"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Nunito Sans"/>
                        </a:rPr>
                        <a:t> </a:t>
                      </a:r>
                      <a:r>
                        <a:rPr lang="en-US" sz="2400" b="1" i="0" u="none" strike="noStrike" dirty="0">
                          <a:solidFill>
                            <a:srgbClr val="000000"/>
                          </a:solidFill>
                          <a:effectLst/>
                          <a:latin typeface="Nunito Sans"/>
                        </a:rPr>
                        <a:t>Marks </a:t>
                      </a:r>
                      <a:endParaRPr lang="en-US" sz="2400" dirty="0">
                        <a:effectLst/>
                      </a:endParaRPr>
                    </a:p>
                  </a:txBody>
                  <a:tcPr marL="76200" marR="76200" marT="38100" marB="38100" anchor="ctr">
                    <a:lnL w="1015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5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5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5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FF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Nunito Sans Normal"/>
                        </a:rPr>
                        <a:t>50</a:t>
                      </a:r>
                    </a:p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Nunito Sans Normal"/>
                        </a:rPr>
                        <a:t>(9/25  + 9/25)</a:t>
                      </a:r>
                      <a:endParaRPr lang="en-US" sz="2400" dirty="0">
                        <a:effectLst/>
                      </a:endParaRPr>
                    </a:p>
                  </a:txBody>
                  <a:tcPr marL="76200" marR="76200" marT="38100" marB="38100" anchor="ctr">
                    <a:lnL w="1015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5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5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5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FF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Nunito Sans Normal"/>
                        </a:rPr>
                        <a:t>50</a:t>
                      </a:r>
                    </a:p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Nunito Sans Normal"/>
                        </a:rPr>
                        <a:t>(9/25  + 9/25)</a:t>
                      </a:r>
                      <a:endParaRPr lang="en-US" sz="2400" dirty="0">
                        <a:effectLst/>
                      </a:endParaRPr>
                    </a:p>
                  </a:txBody>
                  <a:tcPr marL="76200" marR="76200" marT="38100" marB="38100" anchor="ctr">
                    <a:lnL w="1015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5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5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5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FF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Nunito Sans Normal"/>
                        </a:rPr>
                        <a:t>100</a:t>
                      </a:r>
                      <a:endParaRPr lang="en-US" sz="2400" dirty="0">
                        <a:effectLst/>
                      </a:endParaRPr>
                    </a:p>
                  </a:txBody>
                  <a:tcPr marL="76200" marR="76200" marT="38100" marB="38100" anchor="ctr">
                    <a:lnL w="1015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5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5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5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FF7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 fontAlgn="t"/>
                      <a:endParaRPr lang="en-US" sz="2400" dirty="0">
                        <a:effectLst/>
                      </a:endParaRPr>
                    </a:p>
                  </a:txBody>
                  <a:tcPr marL="76200" marR="76200" marT="38100" marB="38100">
                    <a:lnL w="1015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5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5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5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F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94459107"/>
                  </a:ext>
                </a:extLst>
              </a:tr>
            </a:tbl>
          </a:graphicData>
        </a:graphic>
      </p:graphicFrame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1088881" y="1867671"/>
            <a:ext cx="184731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 sz="2400"/>
          </a:p>
        </p:txBody>
      </p:sp>
      <p:sp>
        <p:nvSpPr>
          <p:cNvPr id="7" name="Rectangle 6"/>
          <p:cNvSpPr/>
          <p:nvPr/>
        </p:nvSpPr>
        <p:spPr>
          <a:xfrm>
            <a:off x="271715" y="3623651"/>
            <a:ext cx="5085376" cy="265970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base">
              <a:spcBef>
                <a:spcPts val="500"/>
              </a:spcBef>
            </a:pPr>
            <a:r>
              <a:rPr lang="en-US" sz="2400" b="1" dirty="0" smtClean="0">
                <a:solidFill>
                  <a:srgbClr val="FFC000"/>
                </a:solidFill>
              </a:rPr>
              <a:t>Internal Theory Evaluation(25)</a:t>
            </a:r>
          </a:p>
          <a:p>
            <a:pPr marL="800100" lvl="1" indent="-342900" fontAlgn="base">
              <a:spcBef>
                <a:spcPts val="500"/>
              </a:spcBef>
              <a:buFont typeface="Arial" panose="020B0604020202020204" pitchFamily="34" charset="0"/>
              <a:buChar char="•"/>
            </a:pPr>
            <a:r>
              <a:rPr lang="en-US" sz="2400" dirty="0" smtClean="0">
                <a:solidFill>
                  <a:schemeClr val="bg1"/>
                </a:solidFill>
              </a:rPr>
              <a:t>Internal </a:t>
            </a:r>
            <a:r>
              <a:rPr lang="en-US" sz="2400" dirty="0">
                <a:solidFill>
                  <a:schemeClr val="bg1"/>
                </a:solidFill>
              </a:rPr>
              <a:t>Theory Examination (</a:t>
            </a:r>
            <a:r>
              <a:rPr lang="en-US" sz="2400" dirty="0" smtClean="0">
                <a:solidFill>
                  <a:schemeClr val="bg1"/>
                </a:solidFill>
              </a:rPr>
              <a:t>10)</a:t>
            </a:r>
          </a:p>
          <a:p>
            <a:pPr marL="800100" lvl="1" indent="-342900" fontAlgn="base">
              <a:spcBef>
                <a:spcPts val="500"/>
              </a:spcBef>
              <a:buFont typeface="Arial" panose="020B0604020202020204" pitchFamily="34" charset="0"/>
              <a:buChar char="•"/>
            </a:pPr>
            <a:r>
              <a:rPr lang="en-US" sz="2400" dirty="0" smtClean="0">
                <a:solidFill>
                  <a:schemeClr val="bg1"/>
                </a:solidFill>
              </a:rPr>
              <a:t>Three </a:t>
            </a:r>
            <a:r>
              <a:rPr lang="en-US" sz="2400" dirty="0">
                <a:solidFill>
                  <a:schemeClr val="bg1"/>
                </a:solidFill>
              </a:rPr>
              <a:t>Quizzes (Best of two) (</a:t>
            </a:r>
            <a:r>
              <a:rPr lang="en-US" sz="2400" dirty="0" smtClean="0">
                <a:solidFill>
                  <a:schemeClr val="bg1"/>
                </a:solidFill>
              </a:rPr>
              <a:t>10)</a:t>
            </a:r>
          </a:p>
          <a:p>
            <a:pPr marL="800100" lvl="1" indent="-342900" fontAlgn="base">
              <a:spcBef>
                <a:spcPts val="500"/>
              </a:spcBef>
              <a:buFont typeface="Arial" panose="020B0604020202020204" pitchFamily="34" charset="0"/>
              <a:buChar char="•"/>
            </a:pPr>
            <a:r>
              <a:rPr lang="en-US" sz="2400" dirty="0" smtClean="0">
                <a:solidFill>
                  <a:schemeClr val="bg1"/>
                </a:solidFill>
              </a:rPr>
              <a:t>MOOC Course(05)</a:t>
            </a:r>
          </a:p>
          <a:p>
            <a:pPr marL="800100" lvl="1" indent="-342900" fontAlgn="base">
              <a:spcBef>
                <a:spcPts val="500"/>
              </a:spcBef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bg1"/>
              </a:solidFill>
            </a:endParaRPr>
          </a:p>
          <a:p>
            <a:pPr marL="461963" lvl="1" indent="-4763" fontAlgn="base">
              <a:spcBef>
                <a:spcPts val="500"/>
              </a:spcBef>
            </a:pPr>
            <a:r>
              <a:rPr lang="en-US" sz="2600" b="1" dirty="0" smtClean="0">
                <a:solidFill>
                  <a:srgbClr val="FFFF00"/>
                </a:solidFill>
              </a:rPr>
              <a:t>Passing Marks: 9 </a:t>
            </a:r>
            <a:endParaRPr lang="en-US" sz="2600" b="1" i="0" u="none" strike="noStrike" dirty="0">
              <a:solidFill>
                <a:srgbClr val="FFFF00"/>
              </a:solidFill>
              <a:effectLst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6557817" y="3623651"/>
            <a:ext cx="4987636" cy="26289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base">
              <a:spcBef>
                <a:spcPts val="500"/>
              </a:spcBef>
            </a:pPr>
            <a:r>
              <a:rPr lang="en-US" sz="2400" b="1" dirty="0" smtClean="0">
                <a:solidFill>
                  <a:srgbClr val="FFC000"/>
                </a:solidFill>
              </a:rPr>
              <a:t>Internal Practical Evaluation(25)</a:t>
            </a:r>
          </a:p>
          <a:p>
            <a:pPr marL="800100" lvl="1" indent="-342900" fontAlgn="base">
              <a:spcBef>
                <a:spcPts val="500"/>
              </a:spcBef>
              <a:buFont typeface="Arial" panose="020B0604020202020204" pitchFamily="34" charset="0"/>
              <a:buChar char="•"/>
            </a:pPr>
            <a:r>
              <a:rPr lang="en-US" sz="2400" dirty="0" smtClean="0">
                <a:solidFill>
                  <a:schemeClr val="bg1"/>
                </a:solidFill>
              </a:rPr>
              <a:t>Practical Evaluation Exam (10)</a:t>
            </a:r>
          </a:p>
          <a:p>
            <a:pPr marL="800100" lvl="1" indent="-342900" fontAlgn="base">
              <a:spcBef>
                <a:spcPts val="500"/>
              </a:spcBef>
              <a:buFont typeface="Arial" panose="020B0604020202020204" pitchFamily="34" charset="0"/>
              <a:buChar char="•"/>
            </a:pPr>
            <a:r>
              <a:rPr lang="en-US" sz="2400" dirty="0" smtClean="0">
                <a:solidFill>
                  <a:schemeClr val="bg1"/>
                </a:solidFill>
              </a:rPr>
              <a:t>Term Work Submission (10)</a:t>
            </a:r>
          </a:p>
          <a:p>
            <a:pPr marL="800100" lvl="1" indent="-342900" fontAlgn="base">
              <a:spcBef>
                <a:spcPts val="500"/>
              </a:spcBef>
              <a:buFont typeface="Arial" panose="020B0604020202020204" pitchFamily="34" charset="0"/>
              <a:buChar char="•"/>
            </a:pPr>
            <a:r>
              <a:rPr lang="en-US" sz="2400" dirty="0" smtClean="0">
                <a:solidFill>
                  <a:schemeClr val="bg1"/>
                </a:solidFill>
              </a:rPr>
              <a:t>Assignment (05)</a:t>
            </a:r>
          </a:p>
          <a:p>
            <a:pPr marL="800100" lvl="1" indent="-342900" fontAlgn="base">
              <a:spcBef>
                <a:spcPts val="500"/>
              </a:spcBef>
              <a:buFont typeface="Arial" panose="020B0604020202020204" pitchFamily="34" charset="0"/>
              <a:buChar char="•"/>
            </a:pPr>
            <a:endParaRPr lang="en-US" sz="2400" b="0" i="0" u="none" strike="noStrike" dirty="0">
              <a:solidFill>
                <a:schemeClr val="bg1"/>
              </a:solidFill>
              <a:effectLst/>
            </a:endParaRPr>
          </a:p>
          <a:p>
            <a:pPr lvl="1" fontAlgn="base">
              <a:spcBef>
                <a:spcPts val="500"/>
              </a:spcBef>
            </a:pPr>
            <a:r>
              <a:rPr lang="en-US" sz="2400" b="1" dirty="0">
                <a:solidFill>
                  <a:srgbClr val="FFFF00"/>
                </a:solidFill>
              </a:rPr>
              <a:t>Passing Marks: 9 </a:t>
            </a:r>
          </a:p>
        </p:txBody>
      </p:sp>
    </p:spTree>
    <p:extLst>
      <p:ext uri="{BB962C8B-B14F-4D97-AF65-F5344CB8AC3E}">
        <p14:creationId xmlns:p14="http://schemas.microsoft.com/office/powerpoint/2010/main" val="13043010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54842" y="163773"/>
            <a:ext cx="8134066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6000" dirty="0">
                <a:solidFill>
                  <a:schemeClr val="bg1"/>
                </a:solidFill>
              </a:rPr>
              <a:t>Teaching Scheme</a:t>
            </a:r>
          </a:p>
        </p:txBody>
      </p:sp>
      <p:cxnSp>
        <p:nvCxnSpPr>
          <p:cNvPr id="4" name="Straight Connector 3"/>
          <p:cNvCxnSpPr/>
          <p:nvPr/>
        </p:nvCxnSpPr>
        <p:spPr>
          <a:xfrm flipV="1">
            <a:off x="873456" y="996287"/>
            <a:ext cx="11177517" cy="40943"/>
          </a:xfrm>
          <a:prstGeom prst="line">
            <a:avLst/>
          </a:prstGeom>
          <a:ln w="381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1088881" y="1867671"/>
            <a:ext cx="184731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 sz="2400"/>
          </a:p>
        </p:txBody>
      </p:sp>
      <p:sp>
        <p:nvSpPr>
          <p:cNvPr id="9" name="Rectangle 8"/>
          <p:cNvSpPr/>
          <p:nvPr/>
        </p:nvSpPr>
        <p:spPr>
          <a:xfrm>
            <a:off x="1181246" y="3617970"/>
            <a:ext cx="8359918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rgbClr val="FFC000"/>
                </a:solidFill>
              </a:rPr>
              <a:t>External (50)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</a:rPr>
              <a:t>University Examination (25)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</a:rPr>
              <a:t>University Practical Exam(25) (Viva(05) + Practical(20</a:t>
            </a:r>
            <a:r>
              <a:rPr lang="en-US" sz="2400" dirty="0" smtClean="0">
                <a:solidFill>
                  <a:schemeClr val="bg1"/>
                </a:solidFill>
              </a:rPr>
              <a:t>))</a:t>
            </a:r>
          </a:p>
          <a:p>
            <a:pPr lvl="1"/>
            <a:r>
              <a:rPr lang="en-US" sz="2400" b="1" dirty="0">
                <a:solidFill>
                  <a:srgbClr val="FFFF00"/>
                </a:solidFill>
              </a:rPr>
              <a:t>Passing Marks: 9 </a:t>
            </a:r>
            <a:r>
              <a:rPr lang="en-US" sz="2400" dirty="0" smtClean="0">
                <a:solidFill>
                  <a:schemeClr val="bg1"/>
                </a:solidFill>
              </a:rPr>
              <a:t> (in each component)</a:t>
            </a:r>
            <a:endParaRPr lang="en-US" sz="2400" b="1" dirty="0">
              <a:solidFill>
                <a:srgbClr val="FFFF00"/>
              </a:solidFill>
            </a:endParaRPr>
          </a:p>
        </p:txBody>
      </p:sp>
      <p:graphicFrame>
        <p:nvGraphicFramePr>
          <p:cNvPr id="10" name="Table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89658990"/>
              </p:ext>
            </p:extLst>
          </p:nvPr>
        </p:nvGraphicFramePr>
        <p:xfrm>
          <a:off x="600365" y="1179436"/>
          <a:ext cx="9632785" cy="2057400"/>
        </p:xfrm>
        <a:graphic>
          <a:graphicData uri="http://schemas.openxmlformats.org/drawingml/2006/table">
            <a:tbl>
              <a:tblPr/>
              <a:tblGrid>
                <a:gridCol w="2112320">
                  <a:extLst>
                    <a:ext uri="{9D8B030D-6E8A-4147-A177-3AD203B41FA5}">
                      <a16:colId xmlns:a16="http://schemas.microsoft.com/office/drawing/2014/main" val="3839615061"/>
                    </a:ext>
                  </a:extLst>
                </a:gridCol>
                <a:gridCol w="2374780">
                  <a:extLst>
                    <a:ext uri="{9D8B030D-6E8A-4147-A177-3AD203B41FA5}">
                      <a16:colId xmlns:a16="http://schemas.microsoft.com/office/drawing/2014/main" val="2819428127"/>
                    </a:ext>
                  </a:extLst>
                </a:gridCol>
                <a:gridCol w="2107662">
                  <a:extLst>
                    <a:ext uri="{9D8B030D-6E8A-4147-A177-3AD203B41FA5}">
                      <a16:colId xmlns:a16="http://schemas.microsoft.com/office/drawing/2014/main" val="410525220"/>
                    </a:ext>
                  </a:extLst>
                </a:gridCol>
                <a:gridCol w="1269630">
                  <a:extLst>
                    <a:ext uri="{9D8B030D-6E8A-4147-A177-3AD203B41FA5}">
                      <a16:colId xmlns:a16="http://schemas.microsoft.com/office/drawing/2014/main" val="3575830713"/>
                    </a:ext>
                  </a:extLst>
                </a:gridCol>
                <a:gridCol w="1768393">
                  <a:extLst>
                    <a:ext uri="{9D8B030D-6E8A-4147-A177-3AD203B41FA5}">
                      <a16:colId xmlns:a16="http://schemas.microsoft.com/office/drawing/2014/main" val="4004435262"/>
                    </a:ext>
                  </a:extLst>
                </a:gridCol>
              </a:tblGrid>
              <a:tr h="297180"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b="1" i="0" u="none" strike="noStrike" dirty="0">
                          <a:solidFill>
                            <a:srgbClr val="FFFFFF"/>
                          </a:solidFill>
                          <a:effectLst/>
                          <a:latin typeface="Nunito Sans"/>
                        </a:rPr>
                        <a:t>Teaching Scheme </a:t>
                      </a:r>
                      <a:endParaRPr lang="en-US" sz="2400" dirty="0">
                        <a:effectLst/>
                      </a:endParaRPr>
                    </a:p>
                  </a:txBody>
                  <a:tcPr marL="76200" marR="76200" marT="38100" marB="38100" anchor="ctr">
                    <a:lnL w="1015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5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5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048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b="1" i="0" u="none" strike="noStrike" dirty="0">
                          <a:solidFill>
                            <a:srgbClr val="FFFFFF"/>
                          </a:solidFill>
                          <a:effectLst/>
                          <a:latin typeface="Nunito Sans"/>
                        </a:rPr>
                        <a:t>Theory</a:t>
                      </a:r>
                      <a:endParaRPr lang="en-US" sz="2400" dirty="0">
                        <a:effectLst/>
                      </a:endParaRPr>
                    </a:p>
                  </a:txBody>
                  <a:tcPr marL="76200" marR="76200" marT="38100" marB="38100" anchor="ctr">
                    <a:lnL w="1015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5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5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048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b="1" i="0" u="none" strike="noStrike" dirty="0">
                          <a:solidFill>
                            <a:srgbClr val="FFFFFF"/>
                          </a:solidFill>
                          <a:effectLst/>
                          <a:latin typeface="Nunito Sans"/>
                        </a:rPr>
                        <a:t>Practical</a:t>
                      </a:r>
                      <a:endParaRPr lang="en-US" sz="2400" dirty="0">
                        <a:effectLst/>
                      </a:endParaRPr>
                    </a:p>
                  </a:txBody>
                  <a:tcPr marL="76200" marR="76200" marT="38100" marB="38100" anchor="ctr">
                    <a:lnL w="1015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5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5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048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b="1" i="0" u="none" strike="noStrike" dirty="0">
                          <a:solidFill>
                            <a:srgbClr val="FFFFFF"/>
                          </a:solidFill>
                          <a:effectLst/>
                          <a:latin typeface="Nunito Sans"/>
                        </a:rPr>
                        <a:t>Total</a:t>
                      </a:r>
                      <a:endParaRPr lang="en-US" sz="2400" dirty="0">
                        <a:effectLst/>
                      </a:endParaRPr>
                    </a:p>
                  </a:txBody>
                  <a:tcPr marL="76200" marR="76200" marT="38100" marB="38100" anchor="ctr">
                    <a:lnL w="1015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5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5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048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b="1" i="0" u="none" strike="noStrike">
                          <a:solidFill>
                            <a:srgbClr val="FFFFFF"/>
                          </a:solidFill>
                          <a:effectLst/>
                          <a:latin typeface="Nunito Sans"/>
                        </a:rPr>
                        <a:t>Credit</a:t>
                      </a:r>
                      <a:endParaRPr lang="en-US" sz="2400">
                        <a:effectLst/>
                      </a:endParaRPr>
                    </a:p>
                  </a:txBody>
                  <a:tcPr marL="76200" marR="76200" marT="38100" marB="38100" anchor="ctr">
                    <a:lnL w="1015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5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5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048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9B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71547601"/>
                  </a:ext>
                </a:extLst>
              </a:tr>
              <a:tr h="297180"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b="1" i="0" u="none" strike="noStrike">
                          <a:solidFill>
                            <a:srgbClr val="000000"/>
                          </a:solidFill>
                          <a:effectLst/>
                          <a:latin typeface="Nunito Sans"/>
                        </a:rPr>
                        <a:t>Hours/Week</a:t>
                      </a:r>
                      <a:endParaRPr lang="en-US" sz="2400">
                        <a:effectLst/>
                      </a:endParaRPr>
                    </a:p>
                  </a:txBody>
                  <a:tcPr marL="76200" marR="76200" marT="38100" marB="38100" anchor="ctr">
                    <a:lnL w="1015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5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048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5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DEE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b="0" i="0" u="none" strike="noStrike">
                          <a:solidFill>
                            <a:srgbClr val="000000"/>
                          </a:solidFill>
                          <a:effectLst/>
                          <a:latin typeface="Nunito Sans Normal"/>
                        </a:rPr>
                        <a:t>2</a:t>
                      </a:r>
                      <a:endParaRPr lang="en-US" sz="2400">
                        <a:effectLst/>
                      </a:endParaRPr>
                    </a:p>
                  </a:txBody>
                  <a:tcPr marL="76200" marR="76200" marT="38100" marB="38100" anchor="ctr">
                    <a:lnL w="1015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5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048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5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DEE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Nunito Sans Normal"/>
                        </a:rPr>
                        <a:t>2</a:t>
                      </a:r>
                      <a:endParaRPr lang="en-US" sz="2400" dirty="0">
                        <a:effectLst/>
                      </a:endParaRPr>
                    </a:p>
                  </a:txBody>
                  <a:tcPr marL="76200" marR="76200" marT="38100" marB="38100" anchor="ctr">
                    <a:lnL w="1015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5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048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5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DEE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Nunito Sans Normal"/>
                        </a:rPr>
                        <a:t>4</a:t>
                      </a:r>
                      <a:endParaRPr lang="en-US" sz="2400" dirty="0">
                        <a:effectLst/>
                      </a:endParaRPr>
                    </a:p>
                  </a:txBody>
                  <a:tcPr marL="76200" marR="76200" marT="38100" marB="38100" anchor="ctr">
                    <a:lnL w="1015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5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048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5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DEEF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2400" b="0" i="0" u="none" strike="noStrike" dirty="0" smtClean="0">
                        <a:solidFill>
                          <a:srgbClr val="000000"/>
                        </a:solidFill>
                        <a:effectLst/>
                        <a:latin typeface="Nunito Sans Normal"/>
                      </a:endParaRPr>
                    </a:p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Nunito Sans Normal"/>
                        </a:rPr>
                        <a:t>3</a:t>
                      </a:r>
                      <a:endParaRPr lang="en-US" sz="2400" dirty="0">
                        <a:effectLst/>
                      </a:endParaRPr>
                    </a:p>
                    <a:p>
                      <a:pPr algn="ctr" fontAlgn="t"/>
                      <a:r>
                        <a:rPr lang="en-US" sz="2400" dirty="0">
                          <a:effectLst/>
                        </a:rPr>
                        <a:t> </a:t>
                      </a:r>
                    </a:p>
                  </a:txBody>
                  <a:tcPr marL="76200" marR="76200" marT="38100" marB="38100" anchor="ctr">
                    <a:lnL w="1015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5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048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5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DE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49289418"/>
                  </a:ext>
                </a:extLst>
              </a:tr>
              <a:tr h="297180"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Nunito Sans"/>
                        </a:rPr>
                        <a:t> </a:t>
                      </a:r>
                      <a:r>
                        <a:rPr lang="en-US" sz="2400" b="1" i="0" u="none" strike="noStrike" dirty="0">
                          <a:solidFill>
                            <a:srgbClr val="000000"/>
                          </a:solidFill>
                          <a:effectLst/>
                          <a:latin typeface="Nunito Sans"/>
                        </a:rPr>
                        <a:t>Marks </a:t>
                      </a:r>
                      <a:endParaRPr lang="en-US" sz="2400" dirty="0">
                        <a:effectLst/>
                      </a:endParaRPr>
                    </a:p>
                  </a:txBody>
                  <a:tcPr marL="76200" marR="76200" marT="38100" marB="38100" anchor="ctr">
                    <a:lnL w="1015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5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5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5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FF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Nunito Sans Normal"/>
                        </a:rPr>
                        <a:t>50</a:t>
                      </a:r>
                    </a:p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Nunito Sans Normal"/>
                        </a:rPr>
                        <a:t>(9/25  + 9/25)</a:t>
                      </a:r>
                      <a:endParaRPr lang="en-US" sz="2400" dirty="0">
                        <a:effectLst/>
                      </a:endParaRPr>
                    </a:p>
                  </a:txBody>
                  <a:tcPr marL="76200" marR="76200" marT="38100" marB="38100" anchor="ctr">
                    <a:lnL w="1015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5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5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5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FF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Nunito Sans Normal"/>
                        </a:rPr>
                        <a:t>50</a:t>
                      </a:r>
                    </a:p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Nunito Sans Normal"/>
                        </a:rPr>
                        <a:t>(9/25  + 9/25)</a:t>
                      </a:r>
                      <a:endParaRPr lang="en-US" sz="2400" dirty="0">
                        <a:effectLst/>
                      </a:endParaRPr>
                    </a:p>
                  </a:txBody>
                  <a:tcPr marL="76200" marR="76200" marT="38100" marB="38100" anchor="ctr">
                    <a:lnL w="1015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5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5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5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FF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Nunito Sans Normal"/>
                        </a:rPr>
                        <a:t>100</a:t>
                      </a:r>
                      <a:endParaRPr lang="en-US" sz="2400" dirty="0">
                        <a:effectLst/>
                      </a:endParaRPr>
                    </a:p>
                  </a:txBody>
                  <a:tcPr marL="76200" marR="76200" marT="38100" marB="38100" anchor="ctr">
                    <a:lnL w="1015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5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5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5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FF7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 fontAlgn="t"/>
                      <a:endParaRPr lang="en-US" sz="2400" dirty="0">
                        <a:effectLst/>
                      </a:endParaRPr>
                    </a:p>
                  </a:txBody>
                  <a:tcPr marL="76200" marR="76200" marT="38100" marB="38100">
                    <a:lnL w="1015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5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5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5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F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94459107"/>
                  </a:ext>
                </a:extLst>
              </a:tr>
            </a:tbl>
          </a:graphicData>
        </a:graphic>
      </p:graphicFrame>
      <p:sp>
        <p:nvSpPr>
          <p:cNvPr id="11" name="Rectangle 10"/>
          <p:cNvSpPr/>
          <p:nvPr/>
        </p:nvSpPr>
        <p:spPr>
          <a:xfrm>
            <a:off x="5977217" y="3244334"/>
            <a:ext cx="23756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 </a:t>
            </a:r>
          </a:p>
        </p:txBody>
      </p:sp>
    </p:spTree>
    <p:extLst>
      <p:ext uri="{BB962C8B-B14F-4D97-AF65-F5344CB8AC3E}">
        <p14:creationId xmlns:p14="http://schemas.microsoft.com/office/powerpoint/2010/main" val="16601794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54841" y="1413066"/>
            <a:ext cx="11696132" cy="390350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</a:rPr>
              <a:t>Java is a general-purpose computer-programming language that is </a:t>
            </a:r>
            <a:r>
              <a:rPr lang="en-US" sz="2800" dirty="0">
                <a:solidFill>
                  <a:srgbClr val="FFC000"/>
                </a:solidFill>
              </a:rPr>
              <a:t>concurrent</a:t>
            </a:r>
            <a:r>
              <a:rPr lang="en-US" sz="2800" dirty="0">
                <a:solidFill>
                  <a:schemeClr val="bg1"/>
                </a:solidFill>
              </a:rPr>
              <a:t>, </a:t>
            </a:r>
            <a:r>
              <a:rPr lang="en-US" sz="2800" dirty="0">
                <a:solidFill>
                  <a:srgbClr val="FFC000"/>
                </a:solidFill>
              </a:rPr>
              <a:t>class-based</a:t>
            </a:r>
            <a:r>
              <a:rPr lang="en-US" sz="2800" dirty="0">
                <a:solidFill>
                  <a:schemeClr val="bg1"/>
                </a:solidFill>
              </a:rPr>
              <a:t>, </a:t>
            </a:r>
            <a:r>
              <a:rPr lang="en-US" sz="2800" dirty="0">
                <a:solidFill>
                  <a:srgbClr val="FFC000"/>
                </a:solidFill>
              </a:rPr>
              <a:t>object-oriented</a:t>
            </a:r>
            <a:r>
              <a:rPr lang="en-US" sz="2800" dirty="0">
                <a:solidFill>
                  <a:schemeClr val="bg1"/>
                </a:solidFill>
              </a:rPr>
              <a:t>, and specifically designed to have as few </a:t>
            </a:r>
            <a:r>
              <a:rPr lang="en-US" sz="2800" dirty="0">
                <a:solidFill>
                  <a:srgbClr val="FFC000"/>
                </a:solidFill>
              </a:rPr>
              <a:t>implementation dependencies </a:t>
            </a:r>
            <a:r>
              <a:rPr lang="en-US" sz="2800" dirty="0">
                <a:solidFill>
                  <a:schemeClr val="bg1"/>
                </a:solidFill>
              </a:rPr>
              <a:t>as possible. </a:t>
            </a:r>
          </a:p>
          <a:p>
            <a:pPr marL="45720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</a:rPr>
              <a:t>It is intended to let application developers "</a:t>
            </a:r>
            <a:r>
              <a:rPr lang="en-US" sz="2800" dirty="0">
                <a:solidFill>
                  <a:srgbClr val="FFC000"/>
                </a:solidFill>
              </a:rPr>
              <a:t>write once, run anywhere</a:t>
            </a:r>
            <a:r>
              <a:rPr lang="en-US" sz="2800" dirty="0">
                <a:solidFill>
                  <a:schemeClr val="bg1"/>
                </a:solidFill>
              </a:rPr>
              <a:t>" </a:t>
            </a:r>
            <a:r>
              <a:rPr lang="en-US" sz="2800" dirty="0">
                <a:solidFill>
                  <a:srgbClr val="FFC000"/>
                </a:solidFill>
              </a:rPr>
              <a:t>(WORA)</a:t>
            </a:r>
            <a:r>
              <a:rPr lang="en-US" sz="2800" dirty="0">
                <a:solidFill>
                  <a:schemeClr val="bg1"/>
                </a:solidFill>
              </a:rPr>
              <a:t>,meaning that compiled Java code can run on all platforms that support Java without the need for recompilation.</a:t>
            </a:r>
            <a:endParaRPr lang="en-IN" sz="2800" dirty="0">
              <a:solidFill>
                <a:srgbClr val="FFC000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354841" y="163773"/>
            <a:ext cx="4540154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6000" dirty="0">
                <a:solidFill>
                  <a:schemeClr val="bg1"/>
                </a:solidFill>
              </a:rPr>
              <a:t>What is JAVA?</a:t>
            </a:r>
          </a:p>
        </p:txBody>
      </p:sp>
      <p:cxnSp>
        <p:nvCxnSpPr>
          <p:cNvPr id="4" name="Straight Connector 3"/>
          <p:cNvCxnSpPr/>
          <p:nvPr/>
        </p:nvCxnSpPr>
        <p:spPr>
          <a:xfrm flipV="1">
            <a:off x="873456" y="996287"/>
            <a:ext cx="11177517" cy="40943"/>
          </a:xfrm>
          <a:prstGeom prst="line">
            <a:avLst/>
          </a:prstGeom>
          <a:ln w="381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158354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54841" y="1413066"/>
            <a:ext cx="11696132" cy="13181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</a:rPr>
              <a:t>Java Development Kit (in short JDK) is Kit which provides the environment to </a:t>
            </a:r>
            <a:r>
              <a:rPr lang="en-US" sz="2800" dirty="0">
                <a:solidFill>
                  <a:srgbClr val="FFC000"/>
                </a:solidFill>
              </a:rPr>
              <a:t>Develop</a:t>
            </a:r>
            <a:r>
              <a:rPr lang="en-US" sz="2800" dirty="0">
                <a:solidFill>
                  <a:schemeClr val="bg1"/>
                </a:solidFill>
              </a:rPr>
              <a:t> and </a:t>
            </a:r>
            <a:r>
              <a:rPr lang="en-US" sz="2800" dirty="0">
                <a:solidFill>
                  <a:srgbClr val="FFC000"/>
                </a:solidFill>
              </a:rPr>
              <a:t>execute</a:t>
            </a:r>
            <a:r>
              <a:rPr lang="en-US" sz="2800" dirty="0">
                <a:solidFill>
                  <a:schemeClr val="bg1"/>
                </a:solidFill>
              </a:rPr>
              <a:t>(run ) the Java program. </a:t>
            </a:r>
            <a:endParaRPr lang="en-IN" sz="2800" dirty="0">
              <a:solidFill>
                <a:srgbClr val="FFC000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354841" y="163773"/>
            <a:ext cx="4193071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6000" dirty="0">
                <a:solidFill>
                  <a:schemeClr val="bg1"/>
                </a:solidFill>
              </a:rPr>
              <a:t>What is JDK?</a:t>
            </a:r>
          </a:p>
        </p:txBody>
      </p:sp>
      <p:cxnSp>
        <p:nvCxnSpPr>
          <p:cNvPr id="4" name="Straight Connector 3"/>
          <p:cNvCxnSpPr/>
          <p:nvPr/>
        </p:nvCxnSpPr>
        <p:spPr>
          <a:xfrm flipV="1">
            <a:off x="873456" y="996287"/>
            <a:ext cx="11177517" cy="40943"/>
          </a:xfrm>
          <a:prstGeom prst="line">
            <a:avLst/>
          </a:prstGeom>
          <a:ln w="381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298916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54841" y="666087"/>
            <a:ext cx="11696132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</a:rPr>
              <a:t>Java Runtime Environment (to say JRE) is an installation package which </a:t>
            </a:r>
            <a:r>
              <a:rPr lang="en-US" sz="2800" dirty="0">
                <a:solidFill>
                  <a:srgbClr val="FFC000"/>
                </a:solidFill>
              </a:rPr>
              <a:t>provides environment to only run(not develop)</a:t>
            </a:r>
            <a:r>
              <a:rPr lang="en-US" sz="2800" dirty="0">
                <a:solidFill>
                  <a:schemeClr val="bg1"/>
                </a:solidFill>
              </a:rPr>
              <a:t> the java program onto your machine. </a:t>
            </a:r>
            <a:endParaRPr lang="en-IN" sz="2800" dirty="0">
              <a:solidFill>
                <a:srgbClr val="FFC000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88005" y="-169573"/>
            <a:ext cx="4114524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6000" dirty="0">
                <a:solidFill>
                  <a:schemeClr val="bg1"/>
                </a:solidFill>
              </a:rPr>
              <a:t>What is JRE?</a:t>
            </a:r>
          </a:p>
        </p:txBody>
      </p:sp>
      <p:cxnSp>
        <p:nvCxnSpPr>
          <p:cNvPr id="4" name="Straight Connector 3"/>
          <p:cNvCxnSpPr/>
          <p:nvPr/>
        </p:nvCxnSpPr>
        <p:spPr>
          <a:xfrm flipV="1">
            <a:off x="873456" y="674313"/>
            <a:ext cx="11177517" cy="40943"/>
          </a:xfrm>
          <a:prstGeom prst="line">
            <a:avLst/>
          </a:prstGeom>
          <a:ln w="381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968920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779653"/>
            <a:ext cx="11696132" cy="196451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</a:rPr>
              <a:t>A Java virtual machine </a:t>
            </a:r>
            <a:r>
              <a:rPr lang="en-US" sz="2800" dirty="0">
                <a:solidFill>
                  <a:srgbClr val="FFC000"/>
                </a:solidFill>
              </a:rPr>
              <a:t>(JVM)</a:t>
            </a:r>
            <a:r>
              <a:rPr lang="en-US" sz="2800" dirty="0">
                <a:solidFill>
                  <a:schemeClr val="bg1"/>
                </a:solidFill>
              </a:rPr>
              <a:t> is a virtual machine that enables a computer to run Java programs as well as programs written in other languages and </a:t>
            </a:r>
            <a:r>
              <a:rPr lang="en-US" sz="2800" dirty="0">
                <a:solidFill>
                  <a:srgbClr val="FFC000"/>
                </a:solidFill>
              </a:rPr>
              <a:t>compiled to Java </a:t>
            </a:r>
            <a:r>
              <a:rPr lang="en-US" sz="2800" dirty="0" err="1">
                <a:solidFill>
                  <a:srgbClr val="FFC000"/>
                </a:solidFill>
              </a:rPr>
              <a:t>bytecode</a:t>
            </a:r>
            <a:r>
              <a:rPr lang="en-US" sz="2800" dirty="0">
                <a:solidFill>
                  <a:schemeClr val="bg1"/>
                </a:solidFill>
              </a:rPr>
              <a:t>.</a:t>
            </a:r>
            <a:endParaRPr lang="en-IN" sz="2800" dirty="0">
              <a:solidFill>
                <a:schemeClr val="bg1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-25758" y="-70892"/>
            <a:ext cx="4414285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6000" dirty="0">
                <a:solidFill>
                  <a:schemeClr val="bg1"/>
                </a:solidFill>
              </a:rPr>
              <a:t>What is JVM?</a:t>
            </a:r>
          </a:p>
        </p:txBody>
      </p:sp>
      <p:cxnSp>
        <p:nvCxnSpPr>
          <p:cNvPr id="4" name="Straight Connector 3"/>
          <p:cNvCxnSpPr/>
          <p:nvPr/>
        </p:nvCxnSpPr>
        <p:spPr>
          <a:xfrm flipV="1">
            <a:off x="757546" y="738710"/>
            <a:ext cx="11177517" cy="40943"/>
          </a:xfrm>
          <a:prstGeom prst="line">
            <a:avLst/>
          </a:prstGeom>
          <a:ln w="381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8527" y="2158668"/>
            <a:ext cx="7546536" cy="43773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89336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354841" y="163773"/>
            <a:ext cx="5673989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6000" dirty="0">
                <a:solidFill>
                  <a:schemeClr val="bg1"/>
                </a:solidFill>
              </a:rPr>
              <a:t>Life Cycle Of JAVA</a:t>
            </a:r>
          </a:p>
        </p:txBody>
      </p:sp>
      <p:cxnSp>
        <p:nvCxnSpPr>
          <p:cNvPr id="4" name="Straight Connector 3"/>
          <p:cNvCxnSpPr/>
          <p:nvPr/>
        </p:nvCxnSpPr>
        <p:spPr>
          <a:xfrm flipV="1">
            <a:off x="873456" y="996287"/>
            <a:ext cx="11177517" cy="40943"/>
          </a:xfrm>
          <a:prstGeom prst="line">
            <a:avLst/>
          </a:prstGeom>
          <a:ln w="381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050" name="Picture 2" descr="https://qph.fs.quoracdn.net/main-qimg-3d375760a6564a7b34c5936dfd66a81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3456" y="1077060"/>
            <a:ext cx="10627378" cy="57809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546058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354841" y="-67133"/>
            <a:ext cx="6254276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6000" dirty="0">
                <a:solidFill>
                  <a:schemeClr val="bg1"/>
                </a:solidFill>
              </a:rPr>
              <a:t>Java version history</a:t>
            </a:r>
          </a:p>
        </p:txBody>
      </p:sp>
      <p:cxnSp>
        <p:nvCxnSpPr>
          <p:cNvPr id="4" name="Straight Connector 3"/>
          <p:cNvCxnSpPr/>
          <p:nvPr/>
        </p:nvCxnSpPr>
        <p:spPr>
          <a:xfrm flipV="1">
            <a:off x="873456" y="737669"/>
            <a:ext cx="11177517" cy="40943"/>
          </a:xfrm>
          <a:prstGeom prst="line">
            <a:avLst/>
          </a:prstGeom>
          <a:ln w="381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34066612"/>
              </p:ext>
            </p:extLst>
          </p:nvPr>
        </p:nvGraphicFramePr>
        <p:xfrm>
          <a:off x="263856" y="948530"/>
          <a:ext cx="5270574" cy="583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9022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86978">
                  <a:extLst>
                    <a:ext uri="{9D8B030D-6E8A-4147-A177-3AD203B41FA5}">
                      <a16:colId xmlns:a16="http://schemas.microsoft.com/office/drawing/2014/main" val="277796887"/>
                    </a:ext>
                  </a:extLst>
                </a:gridCol>
                <a:gridCol w="18933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Version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Class File Format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Release </a:t>
                      </a:r>
                      <a:r>
                        <a:rPr lang="en-US" dirty="0" smtClean="0"/>
                        <a:t>Date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JDK Beta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-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1995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JDK 1.0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45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1996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JDK 1.1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45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1997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JDK 1.2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46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1998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JDK 1.3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47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JDK 1.4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48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2002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JDK 5.0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49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2004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JDK 6.0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50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2006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JDK 7.0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51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2011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b="1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JDK 8.0(LTS)</a:t>
                      </a:r>
                      <a:endParaRPr lang="en-US" b="1" dirty="0"/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 smtClean="0"/>
                        <a:t>52</a:t>
                      </a:r>
                      <a:endParaRPr lang="en-US" b="1" dirty="0"/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2014</a:t>
                      </a:r>
                    </a:p>
                  </a:txBody>
                  <a:tcPr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JDK 9.0</a:t>
                      </a:r>
                      <a:endParaRPr 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 smtClean="0"/>
                        <a:t>53</a:t>
                      </a:r>
                      <a:endParaRPr 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/>
                        <a:t>2017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JDK 10.0</a:t>
                      </a:r>
                      <a:endParaRPr 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 smtClean="0"/>
                        <a:t>54</a:t>
                      </a:r>
                      <a:endParaRPr 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 smtClean="0"/>
                        <a:t>March 2018</a:t>
                      </a:r>
                      <a:endParaRPr lang="en-US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b="1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JDK 11.0(LTS) </a:t>
                      </a:r>
                      <a:endParaRPr lang="en-US" b="1" dirty="0"/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 smtClean="0"/>
                        <a:t>55</a:t>
                      </a:r>
                      <a:endParaRPr lang="en-US" b="1" dirty="0"/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 smtClean="0"/>
                        <a:t>September 2018</a:t>
                      </a:r>
                      <a:endParaRPr lang="en-US" b="1" dirty="0"/>
                    </a:p>
                  </a:txBody>
                  <a:tcPr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0" dirty="0"/>
                        <a:t>JDK </a:t>
                      </a:r>
                      <a:r>
                        <a:rPr lang="en-US" b="0" dirty="0" smtClean="0"/>
                        <a:t>12.0</a:t>
                      </a:r>
                      <a:endParaRPr 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 smtClean="0"/>
                        <a:t>56</a:t>
                      </a:r>
                      <a:endParaRPr 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 smtClean="0"/>
                        <a:t>March 2019</a:t>
                      </a:r>
                      <a:endParaRPr lang="en-US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61502609"/>
                  </a:ext>
                </a:extLst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41329782"/>
              </p:ext>
            </p:extLst>
          </p:nvPr>
        </p:nvGraphicFramePr>
        <p:xfrm>
          <a:off x="6004256" y="948530"/>
          <a:ext cx="5084921" cy="547074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6512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93091">
                  <a:extLst>
                    <a:ext uri="{9D8B030D-6E8A-4147-A177-3AD203B41FA5}">
                      <a16:colId xmlns:a16="http://schemas.microsoft.com/office/drawing/2014/main" val="2473431493"/>
                    </a:ext>
                  </a:extLst>
                </a:gridCol>
                <a:gridCol w="192670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Version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Class File Format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Release Date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0" dirty="0" smtClean="0"/>
                        <a:t>JDK 13.0</a:t>
                      </a:r>
                      <a:endParaRPr 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 smtClean="0"/>
                        <a:t>57</a:t>
                      </a:r>
                      <a:endParaRPr 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 smtClean="0"/>
                        <a:t>September 2019</a:t>
                      </a:r>
                      <a:endParaRPr lang="en-US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0" dirty="0" smtClean="0"/>
                        <a:t>JDK 14.0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 smtClean="0"/>
                        <a:t>58</a:t>
                      </a:r>
                      <a:endParaRPr 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 smtClean="0"/>
                        <a:t>March 2020</a:t>
                      </a:r>
                      <a:endParaRPr lang="en-US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0" dirty="0" smtClean="0"/>
                        <a:t>JDK</a:t>
                      </a:r>
                      <a:r>
                        <a:rPr lang="en-US" b="0" baseline="0" dirty="0" smtClean="0"/>
                        <a:t> 15.0</a:t>
                      </a:r>
                      <a:endParaRPr lang="en-US" b="0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 smtClean="0"/>
                        <a:t>59</a:t>
                      </a:r>
                      <a:endParaRPr 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 smtClean="0"/>
                        <a:t>September 2020</a:t>
                      </a:r>
                      <a:endParaRPr lang="en-US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0" dirty="0" smtClean="0"/>
                        <a:t>JDK</a:t>
                      </a:r>
                      <a:r>
                        <a:rPr lang="en-US" b="0" baseline="0" dirty="0"/>
                        <a:t> </a:t>
                      </a:r>
                      <a:r>
                        <a:rPr lang="en-US" b="0" baseline="0" dirty="0" smtClean="0"/>
                        <a:t>16.0</a:t>
                      </a:r>
                      <a:endParaRPr lang="en-US" b="0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 smtClean="0"/>
                        <a:t>60</a:t>
                      </a:r>
                      <a:endParaRPr 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 smtClean="0"/>
                        <a:t>March 2021</a:t>
                      </a:r>
                      <a:endParaRPr lang="en-US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dirty="0" smtClean="0"/>
                        <a:t>JDK</a:t>
                      </a:r>
                      <a:r>
                        <a:rPr lang="en-US" b="0" baseline="0" dirty="0"/>
                        <a:t> </a:t>
                      </a:r>
                      <a:r>
                        <a:rPr lang="en-US" b="0" baseline="0" dirty="0" smtClean="0"/>
                        <a:t>17.0 (LTS)</a:t>
                      </a:r>
                      <a:endParaRPr lang="en-US" b="1" dirty="0" smtClean="0"/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61</a:t>
                      </a:r>
                      <a:endParaRPr lang="en-US" dirty="0"/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 smtClean="0"/>
                        <a:t>September </a:t>
                      </a:r>
                      <a:r>
                        <a:rPr lang="en-US" dirty="0" smtClean="0"/>
                        <a:t>2021</a:t>
                      </a:r>
                      <a:endParaRPr lang="en-US" dirty="0"/>
                    </a:p>
                  </a:txBody>
                  <a:tcPr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0" dirty="0" smtClean="0"/>
                        <a:t>JDK</a:t>
                      </a:r>
                      <a:r>
                        <a:rPr lang="en-US" b="0" baseline="0" dirty="0"/>
                        <a:t> </a:t>
                      </a:r>
                      <a:r>
                        <a:rPr lang="en-US" b="0" baseline="0" dirty="0" smtClean="0"/>
                        <a:t>18.0</a:t>
                      </a:r>
                      <a:endParaRPr lang="en-US" b="0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 smtClean="0"/>
                        <a:t>62</a:t>
                      </a:r>
                      <a:endParaRPr 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 smtClean="0"/>
                        <a:t>March 2022</a:t>
                      </a:r>
                      <a:endParaRPr lang="en-US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0" dirty="0" smtClean="0"/>
                        <a:t>JDK</a:t>
                      </a:r>
                      <a:r>
                        <a:rPr lang="en-US" b="0" baseline="0" dirty="0"/>
                        <a:t> </a:t>
                      </a:r>
                      <a:r>
                        <a:rPr lang="en-US" b="0" baseline="0" dirty="0" smtClean="0"/>
                        <a:t>19.0</a:t>
                      </a:r>
                      <a:endParaRPr lang="en-US" b="0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 smtClean="0"/>
                        <a:t>63</a:t>
                      </a:r>
                      <a:endParaRPr 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 smtClean="0"/>
                        <a:t>September 2022</a:t>
                      </a:r>
                      <a:endParaRPr lang="en-US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0" dirty="0" smtClean="0"/>
                        <a:t>JDK 20.0</a:t>
                      </a:r>
                      <a:endParaRPr 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 smtClean="0"/>
                        <a:t>64</a:t>
                      </a:r>
                      <a:endParaRPr 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 smtClean="0"/>
                        <a:t>March 2023</a:t>
                      </a:r>
                      <a:endParaRPr lang="en-US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dirty="0" smtClean="0"/>
                        <a:t>JDK 21.0  (LTS)</a:t>
                      </a:r>
                      <a:endParaRPr lang="en-US" b="1" dirty="0"/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65</a:t>
                      </a:r>
                      <a:endParaRPr lang="en-US" dirty="0"/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 smtClean="0"/>
                        <a:t>September </a:t>
                      </a:r>
                      <a:r>
                        <a:rPr lang="en-US" dirty="0" smtClean="0"/>
                        <a:t>2023</a:t>
                      </a:r>
                      <a:endParaRPr lang="en-US" dirty="0"/>
                    </a:p>
                  </a:txBody>
                  <a:tcPr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0" dirty="0" smtClean="0"/>
                        <a:t>JDK</a:t>
                      </a:r>
                      <a:r>
                        <a:rPr lang="en-US" b="0" baseline="0" dirty="0"/>
                        <a:t> </a:t>
                      </a:r>
                      <a:r>
                        <a:rPr lang="en-US" b="0" baseline="0" dirty="0" smtClean="0"/>
                        <a:t>22.0</a:t>
                      </a:r>
                      <a:endParaRPr lang="en-US" b="0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 smtClean="0"/>
                        <a:t>66</a:t>
                      </a:r>
                      <a:endParaRPr 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 smtClean="0"/>
                        <a:t>March 2024</a:t>
                      </a:r>
                      <a:endParaRPr lang="en-US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0" dirty="0" smtClean="0"/>
                        <a:t>JDK</a:t>
                      </a:r>
                      <a:r>
                        <a:rPr lang="en-US" b="0" baseline="0" dirty="0"/>
                        <a:t> </a:t>
                      </a:r>
                      <a:r>
                        <a:rPr lang="en-US" b="0" baseline="0" dirty="0" smtClean="0"/>
                        <a:t>23.0</a:t>
                      </a:r>
                      <a:endParaRPr lang="en-US" b="0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 smtClean="0"/>
                        <a:t>67</a:t>
                      </a:r>
                      <a:endParaRPr 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 smtClean="0"/>
                        <a:t>September 2024</a:t>
                      </a:r>
                      <a:endParaRPr lang="en-US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0" dirty="0" smtClean="0"/>
                        <a:t>JDK</a:t>
                      </a:r>
                      <a:r>
                        <a:rPr lang="en-US" b="0" baseline="0" dirty="0"/>
                        <a:t> </a:t>
                      </a:r>
                      <a:r>
                        <a:rPr lang="en-US" b="0" baseline="0" dirty="0" smtClean="0"/>
                        <a:t>24.0</a:t>
                      </a:r>
                      <a:endParaRPr lang="en-US" b="0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 smtClean="0"/>
                        <a:t>68</a:t>
                      </a:r>
                      <a:endParaRPr 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 smtClean="0"/>
                        <a:t>March 2025</a:t>
                      </a:r>
                      <a:endParaRPr lang="en-US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80586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dirty="0" smtClean="0"/>
                        <a:t>JDK</a:t>
                      </a:r>
                      <a:r>
                        <a:rPr lang="en-US" b="1" baseline="0" dirty="0"/>
                        <a:t> </a:t>
                      </a:r>
                      <a:r>
                        <a:rPr lang="en-US" b="1" baseline="0" dirty="0" smtClean="0"/>
                        <a:t>25.0  (LTS)</a:t>
                      </a:r>
                      <a:endParaRPr lang="en-US" b="1" dirty="0" smtClean="0"/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 smtClean="0"/>
                        <a:t>69</a:t>
                      </a:r>
                      <a:endParaRPr lang="en-US" b="1" dirty="0"/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 smtClean="0"/>
                        <a:t>September 2025</a:t>
                      </a:r>
                      <a:endParaRPr lang="en-US" b="1" dirty="0"/>
                    </a:p>
                  </a:txBody>
                  <a:tcPr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579158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66351" y="0"/>
            <a:ext cx="8154978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6000" dirty="0">
                <a:solidFill>
                  <a:schemeClr val="bg1"/>
                </a:solidFill>
              </a:rPr>
              <a:t>Procedural Programming</a:t>
            </a:r>
          </a:p>
        </p:txBody>
      </p:sp>
      <p:cxnSp>
        <p:nvCxnSpPr>
          <p:cNvPr id="4" name="Straight Connector 3"/>
          <p:cNvCxnSpPr/>
          <p:nvPr/>
        </p:nvCxnSpPr>
        <p:spPr>
          <a:xfrm flipV="1">
            <a:off x="837503" y="972744"/>
            <a:ext cx="11177517" cy="40943"/>
          </a:xfrm>
          <a:prstGeom prst="line">
            <a:avLst/>
          </a:prstGeom>
          <a:ln w="381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Rectangle 4"/>
          <p:cNvSpPr/>
          <p:nvPr/>
        </p:nvSpPr>
        <p:spPr>
          <a:xfrm>
            <a:off x="266350" y="1398242"/>
            <a:ext cx="11748669" cy="196451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IN" sz="2800" dirty="0">
                <a:solidFill>
                  <a:srgbClr val="FFC000"/>
                </a:solidFill>
              </a:rPr>
              <a:t>Procedural programming (PP)</a:t>
            </a:r>
            <a:r>
              <a:rPr lang="en-IN" sz="2800" dirty="0">
                <a:solidFill>
                  <a:schemeClr val="bg1"/>
                </a:solidFill>
              </a:rPr>
              <a:t>, also known as </a:t>
            </a:r>
            <a:r>
              <a:rPr lang="en-IN" sz="2800" dirty="0">
                <a:solidFill>
                  <a:srgbClr val="FFC000"/>
                </a:solidFill>
              </a:rPr>
              <a:t>inline programming</a:t>
            </a:r>
            <a:r>
              <a:rPr lang="en-IN" sz="2800" dirty="0">
                <a:solidFill>
                  <a:schemeClr val="bg1"/>
                </a:solidFill>
              </a:rPr>
              <a:t> takes a top-down approach. It is about </a:t>
            </a:r>
            <a:r>
              <a:rPr lang="en-IN" sz="2800" dirty="0">
                <a:solidFill>
                  <a:srgbClr val="FFC000"/>
                </a:solidFill>
              </a:rPr>
              <a:t>writing a list of instructions</a:t>
            </a:r>
            <a:r>
              <a:rPr lang="en-IN" sz="2800" dirty="0">
                <a:solidFill>
                  <a:schemeClr val="bg1"/>
                </a:solidFill>
              </a:rPr>
              <a:t> to tell the computer what to do step by step. It </a:t>
            </a:r>
            <a:r>
              <a:rPr lang="en-IN" sz="2800" dirty="0">
                <a:solidFill>
                  <a:srgbClr val="FFC000"/>
                </a:solidFill>
              </a:rPr>
              <a:t>relies on procedures or routines</a:t>
            </a:r>
            <a:r>
              <a:rPr lang="en-IN" sz="2800" dirty="0">
                <a:solidFill>
                  <a:schemeClr val="bg1"/>
                </a:solidFill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7244344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54841" y="163773"/>
            <a:ext cx="1183715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6000" dirty="0">
                <a:solidFill>
                  <a:schemeClr val="bg1"/>
                </a:solidFill>
              </a:rPr>
              <a:t>Object-oriented programming (OOP)</a:t>
            </a:r>
          </a:p>
        </p:txBody>
      </p:sp>
      <p:cxnSp>
        <p:nvCxnSpPr>
          <p:cNvPr id="4" name="Straight Connector 3"/>
          <p:cNvCxnSpPr/>
          <p:nvPr/>
        </p:nvCxnSpPr>
        <p:spPr>
          <a:xfrm flipV="1">
            <a:off x="873456" y="996287"/>
            <a:ext cx="11177517" cy="40943"/>
          </a:xfrm>
          <a:prstGeom prst="line">
            <a:avLst/>
          </a:prstGeom>
          <a:ln w="381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Rectangle 4"/>
          <p:cNvSpPr/>
          <p:nvPr/>
        </p:nvSpPr>
        <p:spPr>
          <a:xfrm>
            <a:off x="467033" y="1687446"/>
            <a:ext cx="11464412" cy="2677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IN" sz="2800" dirty="0">
                <a:solidFill>
                  <a:srgbClr val="FFC000"/>
                </a:solidFill>
              </a:rPr>
              <a:t>Object-oriented programming (OOP)</a:t>
            </a:r>
            <a:r>
              <a:rPr lang="en-IN" sz="2800" dirty="0">
                <a:solidFill>
                  <a:schemeClr val="bg1"/>
                </a:solidFill>
              </a:rPr>
              <a:t> is a programming paradigm based on the concept of “</a:t>
            </a:r>
            <a:r>
              <a:rPr lang="en-IN" sz="2800" dirty="0">
                <a:solidFill>
                  <a:srgbClr val="FFC000"/>
                </a:solidFill>
              </a:rPr>
              <a:t>objects</a:t>
            </a:r>
            <a:r>
              <a:rPr lang="en-IN" sz="2800" dirty="0">
                <a:solidFill>
                  <a:schemeClr val="bg1"/>
                </a:solidFill>
              </a:rPr>
              <a:t>”, which may contain data, in the form of fields, often known as attributes; and </a:t>
            </a:r>
            <a:r>
              <a:rPr lang="en-IN" sz="2800" dirty="0">
                <a:solidFill>
                  <a:srgbClr val="FFC000"/>
                </a:solidFill>
              </a:rPr>
              <a:t>code</a:t>
            </a:r>
            <a:r>
              <a:rPr lang="en-IN" sz="2800" dirty="0">
                <a:solidFill>
                  <a:schemeClr val="bg1"/>
                </a:solidFill>
              </a:rPr>
              <a:t>, in the form of procedures, often known as methods.” — Wikipedia</a:t>
            </a:r>
          </a:p>
        </p:txBody>
      </p:sp>
    </p:spTree>
    <p:extLst>
      <p:ext uri="{BB962C8B-B14F-4D97-AF65-F5344CB8AC3E}">
        <p14:creationId xmlns:p14="http://schemas.microsoft.com/office/powerpoint/2010/main" val="40544941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54841" y="163773"/>
            <a:ext cx="1183715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6000" dirty="0">
                <a:solidFill>
                  <a:schemeClr val="bg1"/>
                </a:solidFill>
              </a:rPr>
              <a:t>Functional programming (FP)</a:t>
            </a:r>
          </a:p>
        </p:txBody>
      </p:sp>
      <p:cxnSp>
        <p:nvCxnSpPr>
          <p:cNvPr id="4" name="Straight Connector 3"/>
          <p:cNvCxnSpPr/>
          <p:nvPr/>
        </p:nvCxnSpPr>
        <p:spPr>
          <a:xfrm flipV="1">
            <a:off x="873456" y="996287"/>
            <a:ext cx="11177517" cy="40943"/>
          </a:xfrm>
          <a:prstGeom prst="line">
            <a:avLst/>
          </a:prstGeom>
          <a:ln w="381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Rectangle 4"/>
          <p:cNvSpPr/>
          <p:nvPr/>
        </p:nvSpPr>
        <p:spPr>
          <a:xfrm>
            <a:off x="366213" y="1273286"/>
            <a:ext cx="11684759" cy="33239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800" dirty="0">
                <a:solidFill>
                  <a:srgbClr val="FFC000"/>
                </a:solidFill>
              </a:rPr>
              <a:t>Functional programming (FP)</a:t>
            </a:r>
            <a:r>
              <a:rPr lang="en-IN" sz="2800" dirty="0">
                <a:solidFill>
                  <a:schemeClr val="bg1"/>
                </a:solidFill>
              </a:rPr>
              <a:t> is about </a:t>
            </a:r>
            <a:r>
              <a:rPr lang="en-IN" sz="2800" dirty="0">
                <a:solidFill>
                  <a:srgbClr val="FFC000"/>
                </a:solidFill>
              </a:rPr>
              <a:t>passing data from function to function</a:t>
            </a:r>
            <a:r>
              <a:rPr lang="en-IN" sz="2800" dirty="0">
                <a:solidFill>
                  <a:schemeClr val="bg1"/>
                </a:solidFill>
              </a:rPr>
              <a:t> to get a result. </a:t>
            </a:r>
          </a:p>
          <a:p>
            <a:pPr marL="45720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800" dirty="0">
                <a:solidFill>
                  <a:schemeClr val="bg1"/>
                </a:solidFill>
              </a:rPr>
              <a:t>In FP, </a:t>
            </a:r>
            <a:r>
              <a:rPr lang="en-IN" sz="2800" dirty="0">
                <a:solidFill>
                  <a:srgbClr val="FFC000"/>
                </a:solidFill>
              </a:rPr>
              <a:t>functions are treated as data</a:t>
            </a:r>
            <a:r>
              <a:rPr lang="en-IN" sz="2800" dirty="0">
                <a:solidFill>
                  <a:schemeClr val="bg1"/>
                </a:solidFill>
              </a:rPr>
              <a:t>, meaning you can </a:t>
            </a:r>
            <a:r>
              <a:rPr lang="en-IN" sz="2800" dirty="0">
                <a:solidFill>
                  <a:srgbClr val="FFC000"/>
                </a:solidFill>
              </a:rPr>
              <a:t>use them as parameters</a:t>
            </a:r>
            <a:r>
              <a:rPr lang="en-IN" sz="2800" dirty="0">
                <a:solidFill>
                  <a:schemeClr val="bg1"/>
                </a:solidFill>
              </a:rPr>
              <a:t>,</a:t>
            </a:r>
            <a:r>
              <a:rPr lang="en-IN" sz="2800" dirty="0">
                <a:solidFill>
                  <a:srgbClr val="FFC000"/>
                </a:solidFill>
              </a:rPr>
              <a:t> return them</a:t>
            </a:r>
            <a:r>
              <a:rPr lang="en-IN" sz="2800" dirty="0">
                <a:solidFill>
                  <a:schemeClr val="bg1"/>
                </a:solidFill>
              </a:rPr>
              <a:t>,</a:t>
            </a:r>
            <a:r>
              <a:rPr lang="en-IN" sz="2800" dirty="0">
                <a:solidFill>
                  <a:srgbClr val="FFC000"/>
                </a:solidFill>
              </a:rPr>
              <a:t> build functions from other functions</a:t>
            </a:r>
            <a:r>
              <a:rPr lang="en-IN" sz="2800" dirty="0">
                <a:solidFill>
                  <a:schemeClr val="bg1"/>
                </a:solidFill>
              </a:rPr>
              <a:t>,</a:t>
            </a:r>
            <a:r>
              <a:rPr lang="en-IN" sz="2800" dirty="0">
                <a:solidFill>
                  <a:srgbClr val="FFC000"/>
                </a:solidFill>
              </a:rPr>
              <a:t> and build custom functions</a:t>
            </a:r>
            <a:r>
              <a:rPr lang="en-IN" sz="2800" dirty="0">
                <a:solidFill>
                  <a:schemeClr val="bg1"/>
                </a:solidFill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800734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354841" y="163773"/>
            <a:ext cx="4782143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6000" dirty="0">
                <a:solidFill>
                  <a:schemeClr val="bg1"/>
                </a:solidFill>
              </a:rPr>
              <a:t>What is OOPs?</a:t>
            </a:r>
          </a:p>
        </p:txBody>
      </p:sp>
      <p:cxnSp>
        <p:nvCxnSpPr>
          <p:cNvPr id="4" name="Straight Connector 3"/>
          <p:cNvCxnSpPr/>
          <p:nvPr/>
        </p:nvCxnSpPr>
        <p:spPr>
          <a:xfrm flipV="1">
            <a:off x="873456" y="996287"/>
            <a:ext cx="11177517" cy="40943"/>
          </a:xfrm>
          <a:prstGeom prst="line">
            <a:avLst/>
          </a:prstGeom>
          <a:ln w="381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>
          <a:xfrm>
            <a:off x="366214" y="1179436"/>
            <a:ext cx="11405076" cy="26108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2800" dirty="0">
                <a:solidFill>
                  <a:schemeClr val="bg1"/>
                </a:solidFill>
              </a:rPr>
              <a:t>Object-oriented programming (OOP) is a programming paradigm based on the concept of "</a:t>
            </a:r>
            <a:r>
              <a:rPr lang="en-US" sz="2800" dirty="0">
                <a:solidFill>
                  <a:srgbClr val="FFC000"/>
                </a:solidFill>
              </a:rPr>
              <a:t>objects</a:t>
            </a:r>
            <a:r>
              <a:rPr lang="en-US" sz="2800" dirty="0">
                <a:solidFill>
                  <a:schemeClr val="bg1"/>
                </a:solidFill>
              </a:rPr>
              <a:t>", which may </a:t>
            </a:r>
            <a:r>
              <a:rPr lang="en-US" sz="2800" dirty="0">
                <a:solidFill>
                  <a:srgbClr val="FFC000"/>
                </a:solidFill>
              </a:rPr>
              <a:t>contain data</a:t>
            </a:r>
            <a:r>
              <a:rPr lang="en-US" sz="2800" dirty="0">
                <a:solidFill>
                  <a:schemeClr val="bg1"/>
                </a:solidFill>
              </a:rPr>
              <a:t>, in the </a:t>
            </a:r>
            <a:r>
              <a:rPr lang="en-US" sz="2800" dirty="0">
                <a:solidFill>
                  <a:srgbClr val="FFC000"/>
                </a:solidFill>
              </a:rPr>
              <a:t>form of fields</a:t>
            </a:r>
            <a:r>
              <a:rPr lang="en-US" sz="2800" dirty="0">
                <a:solidFill>
                  <a:schemeClr val="bg1"/>
                </a:solidFill>
              </a:rPr>
              <a:t>, often </a:t>
            </a:r>
            <a:r>
              <a:rPr lang="en-US" sz="2800" dirty="0">
                <a:solidFill>
                  <a:srgbClr val="FFC000"/>
                </a:solidFill>
              </a:rPr>
              <a:t>known as attributes</a:t>
            </a:r>
            <a:r>
              <a:rPr lang="en-US" sz="2800" dirty="0">
                <a:solidFill>
                  <a:schemeClr val="bg1"/>
                </a:solidFill>
              </a:rPr>
              <a:t>; and </a:t>
            </a:r>
            <a:r>
              <a:rPr lang="en-US" sz="2800" dirty="0">
                <a:solidFill>
                  <a:srgbClr val="FFC000"/>
                </a:solidFill>
              </a:rPr>
              <a:t>code</a:t>
            </a:r>
            <a:r>
              <a:rPr lang="en-US" sz="2800" dirty="0">
                <a:solidFill>
                  <a:schemeClr val="bg1"/>
                </a:solidFill>
              </a:rPr>
              <a:t>, in the </a:t>
            </a:r>
            <a:r>
              <a:rPr lang="en-US" sz="2800" dirty="0">
                <a:solidFill>
                  <a:srgbClr val="FFC000"/>
                </a:solidFill>
              </a:rPr>
              <a:t>form of procedures</a:t>
            </a:r>
            <a:r>
              <a:rPr lang="en-US" sz="2800" dirty="0">
                <a:solidFill>
                  <a:schemeClr val="bg1"/>
                </a:solidFill>
              </a:rPr>
              <a:t>, often </a:t>
            </a:r>
            <a:r>
              <a:rPr lang="en-US" sz="2800" dirty="0">
                <a:solidFill>
                  <a:srgbClr val="FFC000"/>
                </a:solidFill>
              </a:rPr>
              <a:t>known as methods</a:t>
            </a:r>
            <a:r>
              <a:rPr lang="en-US" sz="2800" dirty="0">
                <a:solidFill>
                  <a:schemeClr val="bg1"/>
                </a:solidFill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3756870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354841" y="163773"/>
            <a:ext cx="4954177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6000" dirty="0">
                <a:solidFill>
                  <a:schemeClr val="bg1"/>
                </a:solidFill>
              </a:rPr>
              <a:t>OOPs Concepts</a:t>
            </a:r>
          </a:p>
        </p:txBody>
      </p:sp>
      <p:cxnSp>
        <p:nvCxnSpPr>
          <p:cNvPr id="4" name="Straight Connector 3"/>
          <p:cNvCxnSpPr/>
          <p:nvPr/>
        </p:nvCxnSpPr>
        <p:spPr>
          <a:xfrm flipV="1">
            <a:off x="873456" y="996287"/>
            <a:ext cx="11177517" cy="40943"/>
          </a:xfrm>
          <a:prstGeom prst="line">
            <a:avLst/>
          </a:prstGeom>
          <a:ln w="381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>
          <a:xfrm>
            <a:off x="366214" y="1179436"/>
            <a:ext cx="11405076" cy="390350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</a:rPr>
              <a:t>Object</a:t>
            </a:r>
          </a:p>
          <a:p>
            <a:pPr marL="45720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</a:rPr>
              <a:t>Class</a:t>
            </a:r>
          </a:p>
          <a:p>
            <a:pPr marL="45720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</a:rPr>
              <a:t>Inheritance</a:t>
            </a:r>
          </a:p>
          <a:p>
            <a:pPr marL="45720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</a:rPr>
              <a:t>Polymorphism</a:t>
            </a:r>
          </a:p>
          <a:p>
            <a:pPr marL="45720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</a:rPr>
              <a:t>Abstraction</a:t>
            </a:r>
          </a:p>
          <a:p>
            <a:pPr marL="45720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</a:rPr>
              <a:t>Encapsulation</a:t>
            </a:r>
            <a:endParaRPr lang="en-US" sz="2800" dirty="0">
              <a:solidFill>
                <a:srgbClr val="FFC000"/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3076889" y="4545100"/>
            <a:ext cx="4438203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dirty="0">
                <a:solidFill>
                  <a:srgbClr val="FFC000"/>
                </a:solidFill>
              </a:rPr>
              <a:t>(all data member are private)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33315284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1106</TotalTime>
  <Words>668</Words>
  <Application>Microsoft Office PowerPoint</Application>
  <PresentationFormat>Widescreen</PresentationFormat>
  <Paragraphs>172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0" baseType="lpstr">
      <vt:lpstr>Arial</vt:lpstr>
      <vt:lpstr>Calibri</vt:lpstr>
      <vt:lpstr>Calibri Light</vt:lpstr>
      <vt:lpstr>Nunito Sans</vt:lpstr>
      <vt:lpstr>Nunito Sans Normal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Mrugendra</dc:creator>
  <cp:lastModifiedBy>Mrugendra</cp:lastModifiedBy>
  <cp:revision>143</cp:revision>
  <dcterms:created xsi:type="dcterms:W3CDTF">2017-07-29T08:12:59Z</dcterms:created>
  <dcterms:modified xsi:type="dcterms:W3CDTF">2025-06-25T04:28:57Z</dcterms:modified>
</cp:coreProperties>
</file>