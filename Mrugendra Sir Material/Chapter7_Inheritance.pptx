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5" r:id="rId2"/>
    <p:sldId id="256" r:id="rId3"/>
    <p:sldId id="257" r:id="rId4"/>
    <p:sldId id="258" r:id="rId5"/>
    <p:sldId id="259" r:id="rId6"/>
    <p:sldId id="260" r:id="rId7"/>
    <p:sldId id="261" r:id="rId8"/>
    <p:sldId id="262" r:id="rId9"/>
    <p:sldId id="277" r:id="rId10"/>
    <p:sldId id="263" r:id="rId11"/>
    <p:sldId id="264" r:id="rId12"/>
    <p:sldId id="276" r:id="rId13"/>
    <p:sldId id="265" r:id="rId14"/>
    <p:sldId id="266" r:id="rId15"/>
    <p:sldId id="282" r:id="rId16"/>
    <p:sldId id="283" r:id="rId17"/>
    <p:sldId id="284" r:id="rId18"/>
    <p:sldId id="285" r:id="rId19"/>
    <p:sldId id="269" r:id="rId20"/>
    <p:sldId id="270" r:id="rId21"/>
    <p:sldId id="271" r:id="rId22"/>
    <p:sldId id="272" r:id="rId23"/>
    <p:sldId id="273" r:id="rId24"/>
    <p:sldId id="274" r:id="rId25"/>
    <p:sldId id="278" r:id="rId26"/>
    <p:sldId id="279" r:id="rId27"/>
    <p:sldId id="280" r:id="rId28"/>
    <p:sldId id="281" r:id="rId29"/>
    <p:sldId id="267" r:id="rId30"/>
    <p:sldId id="268" r:id="rId31"/>
    <p:sldId id="287" r:id="rId32"/>
    <p:sldId id="286"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3" d="100"/>
          <a:sy n="83" d="100"/>
        </p:scale>
        <p:origin x="61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4BB7511-6A2C-4FC7-AD62-5EB35A7B85DC}" type="datetimeFigureOut">
              <a:rPr lang="en-IN" smtClean="0"/>
              <a:t>22-07-2025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1373294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BB7511-6A2C-4FC7-AD62-5EB35A7B85DC}" type="datetimeFigureOut">
              <a:rPr lang="en-IN" smtClean="0"/>
              <a:t>22-07-2025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3123293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4BB7511-6A2C-4FC7-AD62-5EB35A7B85DC}" type="datetimeFigureOut">
              <a:rPr lang="en-IN" smtClean="0"/>
              <a:t>22-07-2025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3129285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4BB7511-6A2C-4FC7-AD62-5EB35A7B85DC}" type="datetimeFigureOut">
              <a:rPr lang="en-IN" smtClean="0"/>
              <a:t>22-07-2025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132879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4BB7511-6A2C-4FC7-AD62-5EB35A7B85DC}" type="datetimeFigureOut">
              <a:rPr lang="en-IN" smtClean="0"/>
              <a:t>22-07-2025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150635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4BB7511-6A2C-4FC7-AD62-5EB35A7B85DC}" type="datetimeFigureOut">
              <a:rPr lang="en-IN" smtClean="0"/>
              <a:t>22-07-2025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2209172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BB7511-6A2C-4FC7-AD62-5EB35A7B85DC}" type="datetimeFigureOut">
              <a:rPr lang="en-IN" smtClean="0"/>
              <a:t>22-07-2025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3800176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4BB7511-6A2C-4FC7-AD62-5EB35A7B85DC}" type="datetimeFigureOut">
              <a:rPr lang="en-IN" smtClean="0"/>
              <a:t>22-07-2025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1268404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4BB7511-6A2C-4FC7-AD62-5EB35A7B85DC}" type="datetimeFigureOut">
              <a:rPr lang="en-IN" smtClean="0"/>
              <a:t>22-07-2025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731327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BB7511-6A2C-4FC7-AD62-5EB35A7B85DC}" type="datetimeFigureOut">
              <a:rPr lang="en-IN" smtClean="0"/>
              <a:t>22-07-2025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4120038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4BB7511-6A2C-4FC7-AD62-5EB35A7B85DC}" type="datetimeFigureOut">
              <a:rPr lang="en-IN" smtClean="0"/>
              <a:t>22-07-2025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8BC8CE-00A2-4570-A7C4-CF89774406DD}" type="slidenum">
              <a:rPr lang="en-IN" smtClean="0"/>
              <a:t>‹#›</a:t>
            </a:fld>
            <a:endParaRPr lang="en-IN"/>
          </a:p>
        </p:txBody>
      </p:sp>
    </p:spTree>
    <p:extLst>
      <p:ext uri="{BB962C8B-B14F-4D97-AF65-F5344CB8AC3E}">
        <p14:creationId xmlns:p14="http://schemas.microsoft.com/office/powerpoint/2010/main" val="3043879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7511-6A2C-4FC7-AD62-5EB35A7B85DC}" type="datetimeFigureOut">
              <a:rPr lang="en-IN" smtClean="0"/>
              <a:t>22-07-2025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8BC8CE-00A2-4570-A7C4-CF89774406DD}" type="slidenum">
              <a:rPr lang="en-IN" smtClean="0"/>
              <a:t>‹#›</a:t>
            </a:fld>
            <a:endParaRPr lang="en-IN"/>
          </a:p>
        </p:txBody>
      </p:sp>
    </p:spTree>
    <p:extLst>
      <p:ext uri="{BB962C8B-B14F-4D97-AF65-F5344CB8AC3E}">
        <p14:creationId xmlns:p14="http://schemas.microsoft.com/office/powerpoint/2010/main" val="4214646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05218" y="177413"/>
            <a:ext cx="10153934" cy="6940361"/>
          </a:xfrm>
          <a:prstGeom prst="rect">
            <a:avLst/>
          </a:prstGeom>
          <a:noFill/>
        </p:spPr>
        <p:txBody>
          <a:bodyPr wrap="square" rtlCol="0">
            <a:spAutoFit/>
          </a:bodyPr>
          <a:lstStyle/>
          <a:p>
            <a:pPr algn="ctr"/>
            <a:r>
              <a:rPr lang="en-IN" sz="7200" cap="all" dirty="0" smtClean="0">
                <a:solidFill>
                  <a:schemeClr val="bg1"/>
                </a:solidFill>
              </a:rPr>
              <a:t>Chapter 7</a:t>
            </a:r>
          </a:p>
          <a:p>
            <a:pPr algn="ctr"/>
            <a:endParaRPr lang="en-IN" sz="7200" dirty="0" smtClean="0">
              <a:solidFill>
                <a:schemeClr val="bg1"/>
              </a:solidFill>
            </a:endParaRPr>
          </a:p>
          <a:p>
            <a:pPr algn="ctr"/>
            <a:r>
              <a:rPr lang="en-IN" sz="9600" cap="all" spc="500" dirty="0" smtClean="0">
                <a:solidFill>
                  <a:schemeClr val="bg1"/>
                </a:solidFill>
              </a:rPr>
              <a:t>Inheritance</a:t>
            </a:r>
          </a:p>
          <a:p>
            <a:pPr lvl="0" algn="ctr">
              <a:lnSpc>
                <a:spcPct val="90000"/>
              </a:lnSpc>
              <a:spcBef>
                <a:spcPts val="1000"/>
              </a:spcBef>
              <a:defRPr/>
            </a:pPr>
            <a:r>
              <a:rPr lang="en-US" altLang="en-AU" sz="4000" cap="all" spc="300" dirty="0">
                <a:solidFill>
                  <a:srgbClr val="FFC000"/>
                </a:solidFill>
                <a:latin typeface="Tahoma"/>
                <a:ea typeface="SimSun"/>
              </a:rPr>
              <a:t>Classes and Subclasses</a:t>
            </a:r>
          </a:p>
          <a:p>
            <a:pPr lvl="0" algn="ctr">
              <a:lnSpc>
                <a:spcPct val="90000"/>
              </a:lnSpc>
              <a:spcBef>
                <a:spcPts val="1000"/>
              </a:spcBef>
              <a:defRPr/>
            </a:pPr>
            <a:r>
              <a:rPr lang="en-AU" altLang="en-US" sz="4000" cap="all" spc="300" dirty="0" smtClean="0">
                <a:solidFill>
                  <a:srgbClr val="FFC000"/>
                </a:solidFill>
                <a:latin typeface="Tahoma"/>
                <a:ea typeface="SimSun"/>
              </a:rPr>
              <a:t>OR</a:t>
            </a:r>
          </a:p>
          <a:p>
            <a:pPr lvl="0" algn="ctr">
              <a:lnSpc>
                <a:spcPct val="90000"/>
              </a:lnSpc>
              <a:spcBef>
                <a:spcPts val="1000"/>
              </a:spcBef>
              <a:defRPr/>
            </a:pPr>
            <a:r>
              <a:rPr lang="en-AU" altLang="en-US" sz="4000" cap="all" spc="300" dirty="0" smtClean="0">
                <a:solidFill>
                  <a:srgbClr val="FFC000"/>
                </a:solidFill>
                <a:latin typeface="Tahoma"/>
                <a:ea typeface="SimSun"/>
              </a:rPr>
              <a:t>Extending </a:t>
            </a:r>
            <a:r>
              <a:rPr lang="en-AU" altLang="en-US" sz="4000" cap="all" spc="300" dirty="0">
                <a:solidFill>
                  <a:srgbClr val="FFC000"/>
                </a:solidFill>
                <a:latin typeface="Tahoma"/>
                <a:ea typeface="SimSun"/>
              </a:rPr>
              <a:t>a Class</a:t>
            </a:r>
            <a:endParaRPr lang="en-GB" altLang="en-US" sz="4000" cap="all" spc="300" dirty="0">
              <a:solidFill>
                <a:srgbClr val="FFC000"/>
              </a:solidFill>
              <a:latin typeface="Tahoma"/>
              <a:ea typeface="SimSun"/>
            </a:endParaRPr>
          </a:p>
          <a:p>
            <a:pPr algn="ctr"/>
            <a:endParaRPr lang="en-IN" sz="7200" dirty="0">
              <a:solidFill>
                <a:schemeClr val="bg1"/>
              </a:solidFill>
            </a:endParaRPr>
          </a:p>
        </p:txBody>
      </p:sp>
    </p:spTree>
    <p:extLst>
      <p:ext uri="{BB962C8B-B14F-4D97-AF65-F5344CB8AC3E}">
        <p14:creationId xmlns:p14="http://schemas.microsoft.com/office/powerpoint/2010/main" val="16941300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841" y="163773"/>
            <a:ext cx="6634701" cy="1015663"/>
          </a:xfrm>
          <a:prstGeom prst="rect">
            <a:avLst/>
          </a:prstGeom>
          <a:noFill/>
        </p:spPr>
        <p:txBody>
          <a:bodyPr wrap="none" rtlCol="0">
            <a:spAutoFit/>
          </a:bodyPr>
          <a:lstStyle/>
          <a:p>
            <a:r>
              <a:rPr lang="en-IN" sz="6000" dirty="0" smtClean="0">
                <a:solidFill>
                  <a:schemeClr val="bg1"/>
                </a:solidFill>
              </a:rPr>
              <a:t>What is Inheritance?</a:t>
            </a:r>
            <a:endParaRPr lang="en-IN" sz="6000" dirty="0">
              <a:solidFill>
                <a:schemeClr val="bg1"/>
              </a:solidFill>
            </a:endParaRPr>
          </a:p>
        </p:txBody>
      </p:sp>
      <p:cxnSp>
        <p:nvCxnSpPr>
          <p:cNvPr id="4" name="Straight Connector 3"/>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291" y="1429820"/>
            <a:ext cx="9343190" cy="4752616"/>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Tree>
    <p:extLst>
      <p:ext uri="{BB962C8B-B14F-4D97-AF65-F5344CB8AC3E}">
        <p14:creationId xmlns:p14="http://schemas.microsoft.com/office/powerpoint/2010/main" val="1304301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41446" y="1365619"/>
            <a:ext cx="11409528" cy="1580882"/>
          </a:xfrm>
          <a:prstGeom prst="rect">
            <a:avLst/>
          </a:prstGeom>
        </p:spPr>
        <p:txBody>
          <a:bodyPr wrap="square">
            <a:spAutoFit/>
          </a:bodyPr>
          <a:lstStyle/>
          <a:p>
            <a:pPr algn="ctr">
              <a:lnSpc>
                <a:spcPct val="150000"/>
              </a:lnSpc>
            </a:pPr>
            <a:r>
              <a:rPr lang="en-IN" sz="3400" dirty="0" smtClean="0">
                <a:solidFill>
                  <a:schemeClr val="bg1"/>
                </a:solidFill>
              </a:rPr>
              <a:t>“Object-oriented </a:t>
            </a:r>
            <a:r>
              <a:rPr lang="en-IN" sz="3400" dirty="0">
                <a:solidFill>
                  <a:schemeClr val="bg1"/>
                </a:solidFill>
              </a:rPr>
              <a:t>programming allows you to define new classes from existing </a:t>
            </a:r>
            <a:r>
              <a:rPr lang="en-IN" sz="3400" dirty="0" smtClean="0">
                <a:solidFill>
                  <a:schemeClr val="bg1"/>
                </a:solidFill>
              </a:rPr>
              <a:t>classes.”</a:t>
            </a:r>
            <a:endParaRPr lang="en-IN" sz="3400" dirty="0">
              <a:solidFill>
                <a:schemeClr val="bg1"/>
              </a:solidFill>
            </a:endParaRPr>
          </a:p>
        </p:txBody>
      </p:sp>
      <p:sp>
        <p:nvSpPr>
          <p:cNvPr id="4" name="TextBox 3"/>
          <p:cNvSpPr txBox="1"/>
          <p:nvPr/>
        </p:nvSpPr>
        <p:spPr>
          <a:xfrm>
            <a:off x="354841" y="163773"/>
            <a:ext cx="6634701" cy="1015663"/>
          </a:xfrm>
          <a:prstGeom prst="rect">
            <a:avLst/>
          </a:prstGeom>
          <a:noFill/>
        </p:spPr>
        <p:txBody>
          <a:bodyPr wrap="none" rtlCol="0">
            <a:spAutoFit/>
          </a:bodyPr>
          <a:lstStyle/>
          <a:p>
            <a:r>
              <a:rPr lang="en-IN" sz="6000" dirty="0" smtClean="0">
                <a:solidFill>
                  <a:schemeClr val="bg1"/>
                </a:solidFill>
              </a:rPr>
              <a:t>What is Inheritance?</a:t>
            </a:r>
            <a:endParaRPr lang="en-IN" sz="6000" dirty="0">
              <a:solidFill>
                <a:schemeClr val="bg1"/>
              </a:solidFill>
            </a:endParaRPr>
          </a:p>
        </p:txBody>
      </p:sp>
      <p:cxnSp>
        <p:nvCxnSpPr>
          <p:cNvPr id="5" name="Straight Connector 4"/>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08227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4841" y="1413066"/>
            <a:ext cx="11696132" cy="4616648"/>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IN" sz="2800" i="1" dirty="0">
                <a:solidFill>
                  <a:schemeClr val="bg1"/>
                </a:solidFill>
              </a:rPr>
              <a:t>Inheritance </a:t>
            </a:r>
            <a:r>
              <a:rPr lang="en-IN" sz="2800" dirty="0">
                <a:solidFill>
                  <a:schemeClr val="bg1"/>
                </a:solidFill>
              </a:rPr>
              <a:t>is one of the fundamental mechanisms for </a:t>
            </a:r>
            <a:r>
              <a:rPr lang="en-IN" sz="2800" b="1" dirty="0">
                <a:solidFill>
                  <a:srgbClr val="FFC000"/>
                </a:solidFill>
              </a:rPr>
              <a:t>code reuse</a:t>
            </a:r>
            <a:r>
              <a:rPr lang="en-IN" sz="2800" dirty="0">
                <a:solidFill>
                  <a:schemeClr val="bg1"/>
                </a:solidFill>
              </a:rPr>
              <a:t> in OOP. </a:t>
            </a:r>
            <a:endParaRPr lang="en-IN" sz="2800" dirty="0" smtClean="0">
              <a:solidFill>
                <a:schemeClr val="bg1"/>
              </a:solidFill>
            </a:endParaRPr>
          </a:p>
          <a:p>
            <a:pPr marL="457200" indent="-457200" algn="just">
              <a:lnSpc>
                <a:spcPct val="150000"/>
              </a:lnSpc>
              <a:buFont typeface="Arial" panose="020B0604020202020204" pitchFamily="34" charset="0"/>
              <a:buChar char="•"/>
            </a:pPr>
            <a:r>
              <a:rPr lang="en-IN" sz="2800" dirty="0" smtClean="0">
                <a:solidFill>
                  <a:schemeClr val="bg1"/>
                </a:solidFill>
              </a:rPr>
              <a:t>It allows new </a:t>
            </a:r>
            <a:r>
              <a:rPr lang="en-IN" sz="2800" dirty="0">
                <a:solidFill>
                  <a:schemeClr val="bg1"/>
                </a:solidFill>
              </a:rPr>
              <a:t>classes to be derived from an existing class. The new class (also called </a:t>
            </a:r>
            <a:r>
              <a:rPr lang="en-IN" sz="2800" i="1" dirty="0" smtClean="0">
                <a:solidFill>
                  <a:srgbClr val="FFC000"/>
                </a:solidFill>
              </a:rPr>
              <a:t>subclass</a:t>
            </a:r>
            <a:r>
              <a:rPr lang="en-IN" sz="2800" dirty="0" smtClean="0">
                <a:solidFill>
                  <a:srgbClr val="FFC000"/>
                </a:solidFill>
              </a:rPr>
              <a:t>, </a:t>
            </a:r>
            <a:r>
              <a:rPr lang="en-IN" sz="2800" i="1" dirty="0" smtClean="0">
                <a:solidFill>
                  <a:srgbClr val="FFC000"/>
                </a:solidFill>
              </a:rPr>
              <a:t>subtype</a:t>
            </a:r>
            <a:r>
              <a:rPr lang="en-IN" sz="2800" dirty="0">
                <a:solidFill>
                  <a:srgbClr val="FFC000"/>
                </a:solidFill>
              </a:rPr>
              <a:t>, </a:t>
            </a:r>
            <a:r>
              <a:rPr lang="en-IN" sz="2800" i="1" dirty="0">
                <a:solidFill>
                  <a:srgbClr val="FFC000"/>
                </a:solidFill>
              </a:rPr>
              <a:t>derived class</a:t>
            </a:r>
            <a:r>
              <a:rPr lang="en-IN" sz="2800" dirty="0">
                <a:solidFill>
                  <a:srgbClr val="FFC000"/>
                </a:solidFill>
              </a:rPr>
              <a:t>, </a:t>
            </a:r>
            <a:r>
              <a:rPr lang="en-IN" sz="2800" i="1" dirty="0">
                <a:solidFill>
                  <a:srgbClr val="FFC000"/>
                </a:solidFill>
              </a:rPr>
              <a:t>child class</a:t>
            </a:r>
            <a:r>
              <a:rPr lang="en-IN" sz="2800" dirty="0">
                <a:solidFill>
                  <a:schemeClr val="bg1"/>
                </a:solidFill>
              </a:rPr>
              <a:t>) can inherit members from the old class (also </a:t>
            </a:r>
            <a:r>
              <a:rPr lang="en-IN" sz="2800" dirty="0" smtClean="0">
                <a:solidFill>
                  <a:schemeClr val="bg1"/>
                </a:solidFill>
              </a:rPr>
              <a:t>called </a:t>
            </a:r>
            <a:r>
              <a:rPr lang="en-IN" sz="2800" i="1" dirty="0" smtClean="0">
                <a:solidFill>
                  <a:srgbClr val="FFC000"/>
                </a:solidFill>
              </a:rPr>
              <a:t>superclass</a:t>
            </a:r>
            <a:r>
              <a:rPr lang="en-IN" sz="2800" dirty="0">
                <a:solidFill>
                  <a:srgbClr val="FFC000"/>
                </a:solidFill>
              </a:rPr>
              <a:t>, </a:t>
            </a:r>
            <a:r>
              <a:rPr lang="en-IN" sz="2800" i="1" dirty="0" err="1">
                <a:solidFill>
                  <a:srgbClr val="FFC000"/>
                </a:solidFill>
              </a:rPr>
              <a:t>supertype</a:t>
            </a:r>
            <a:r>
              <a:rPr lang="en-IN" sz="2800" dirty="0">
                <a:solidFill>
                  <a:srgbClr val="FFC000"/>
                </a:solidFill>
              </a:rPr>
              <a:t>, </a:t>
            </a:r>
            <a:r>
              <a:rPr lang="en-IN" sz="2800" i="1" dirty="0">
                <a:solidFill>
                  <a:srgbClr val="FFC000"/>
                </a:solidFill>
              </a:rPr>
              <a:t>base class</a:t>
            </a:r>
            <a:r>
              <a:rPr lang="en-IN" sz="2800" dirty="0">
                <a:solidFill>
                  <a:srgbClr val="FFC000"/>
                </a:solidFill>
              </a:rPr>
              <a:t>, </a:t>
            </a:r>
            <a:r>
              <a:rPr lang="en-IN" sz="2800" i="1" dirty="0">
                <a:solidFill>
                  <a:srgbClr val="FFC000"/>
                </a:solidFill>
              </a:rPr>
              <a:t>parent class</a:t>
            </a:r>
            <a:r>
              <a:rPr lang="en-IN" sz="2800" dirty="0">
                <a:solidFill>
                  <a:schemeClr val="bg1"/>
                </a:solidFill>
              </a:rPr>
              <a:t>). </a:t>
            </a:r>
            <a:endParaRPr lang="en-IN" sz="2800" dirty="0" smtClean="0">
              <a:solidFill>
                <a:schemeClr val="bg1"/>
              </a:solidFill>
            </a:endParaRPr>
          </a:p>
          <a:p>
            <a:pPr marL="457200" indent="-457200" algn="just">
              <a:lnSpc>
                <a:spcPct val="150000"/>
              </a:lnSpc>
              <a:buFont typeface="Arial" panose="020B0604020202020204" pitchFamily="34" charset="0"/>
              <a:buChar char="•"/>
            </a:pPr>
            <a:r>
              <a:rPr lang="en-IN" sz="2800" dirty="0">
                <a:solidFill>
                  <a:schemeClr val="bg1"/>
                </a:solidFill>
              </a:rPr>
              <a:t>T</a:t>
            </a:r>
            <a:r>
              <a:rPr lang="en-IN" sz="2800" dirty="0" smtClean="0">
                <a:solidFill>
                  <a:schemeClr val="bg1"/>
                </a:solidFill>
              </a:rPr>
              <a:t>he </a:t>
            </a:r>
            <a:r>
              <a:rPr lang="en-IN" sz="2800" dirty="0">
                <a:solidFill>
                  <a:schemeClr val="bg1"/>
                </a:solidFill>
              </a:rPr>
              <a:t>subclass can add </a:t>
            </a:r>
            <a:r>
              <a:rPr lang="en-IN" sz="2800" dirty="0">
                <a:solidFill>
                  <a:srgbClr val="FFC000"/>
                </a:solidFill>
              </a:rPr>
              <a:t>new </a:t>
            </a:r>
            <a:r>
              <a:rPr lang="en-IN" sz="2800" dirty="0" err="1">
                <a:solidFill>
                  <a:srgbClr val="FFC000"/>
                </a:solidFill>
              </a:rPr>
              <a:t>behavior</a:t>
            </a:r>
            <a:r>
              <a:rPr lang="en-IN" sz="2800" dirty="0">
                <a:solidFill>
                  <a:srgbClr val="FFC000"/>
                </a:solidFill>
              </a:rPr>
              <a:t> </a:t>
            </a:r>
            <a:r>
              <a:rPr lang="en-IN" sz="2800" dirty="0" smtClean="0">
                <a:solidFill>
                  <a:srgbClr val="FFC000"/>
                </a:solidFill>
              </a:rPr>
              <a:t>and properties</a:t>
            </a:r>
            <a:r>
              <a:rPr lang="en-IN" sz="2800" dirty="0" smtClean="0">
                <a:solidFill>
                  <a:schemeClr val="bg1"/>
                </a:solidFill>
              </a:rPr>
              <a:t> </a:t>
            </a:r>
            <a:r>
              <a:rPr lang="en-IN" sz="2800" dirty="0">
                <a:solidFill>
                  <a:schemeClr val="bg1"/>
                </a:solidFill>
              </a:rPr>
              <a:t>and, under certain </a:t>
            </a:r>
            <a:r>
              <a:rPr lang="en-IN" sz="2800" dirty="0" smtClean="0">
                <a:solidFill>
                  <a:schemeClr val="bg1"/>
                </a:solidFill>
              </a:rPr>
              <a:t>circumstances</a:t>
            </a:r>
            <a:r>
              <a:rPr lang="en-IN" sz="2800" dirty="0">
                <a:solidFill>
                  <a:schemeClr val="bg1"/>
                </a:solidFill>
              </a:rPr>
              <a:t>, </a:t>
            </a:r>
            <a:r>
              <a:rPr lang="en-IN" sz="2800" dirty="0">
                <a:solidFill>
                  <a:srgbClr val="FFC000"/>
                </a:solidFill>
              </a:rPr>
              <a:t>modify its inherited </a:t>
            </a:r>
            <a:r>
              <a:rPr lang="en-IN" sz="2800" dirty="0" err="1">
                <a:solidFill>
                  <a:srgbClr val="FFC000"/>
                </a:solidFill>
              </a:rPr>
              <a:t>behavior</a:t>
            </a:r>
            <a:r>
              <a:rPr lang="en-IN" sz="2800" dirty="0">
                <a:solidFill>
                  <a:srgbClr val="FFC000"/>
                </a:solidFill>
              </a:rPr>
              <a:t>.</a:t>
            </a:r>
          </a:p>
        </p:txBody>
      </p:sp>
      <p:sp>
        <p:nvSpPr>
          <p:cNvPr id="3" name="TextBox 2"/>
          <p:cNvSpPr txBox="1"/>
          <p:nvPr/>
        </p:nvSpPr>
        <p:spPr>
          <a:xfrm>
            <a:off x="354841" y="163773"/>
            <a:ext cx="6634701" cy="1015663"/>
          </a:xfrm>
          <a:prstGeom prst="rect">
            <a:avLst/>
          </a:prstGeom>
          <a:noFill/>
        </p:spPr>
        <p:txBody>
          <a:bodyPr wrap="none" rtlCol="0">
            <a:spAutoFit/>
          </a:bodyPr>
          <a:lstStyle/>
          <a:p>
            <a:r>
              <a:rPr lang="en-IN" sz="6000" dirty="0" smtClean="0">
                <a:solidFill>
                  <a:schemeClr val="bg1"/>
                </a:solidFill>
              </a:rPr>
              <a:t>What is Inheritance?</a:t>
            </a:r>
            <a:endParaRPr lang="en-IN" sz="6000" dirty="0">
              <a:solidFill>
                <a:schemeClr val="bg1"/>
              </a:solidFill>
            </a:endParaRPr>
          </a:p>
        </p:txBody>
      </p:sp>
      <p:cxnSp>
        <p:nvCxnSpPr>
          <p:cNvPr id="4" name="Straight Connector 3"/>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5835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4841" y="163773"/>
            <a:ext cx="9609041" cy="1015663"/>
          </a:xfrm>
          <a:prstGeom prst="rect">
            <a:avLst/>
          </a:prstGeom>
          <a:noFill/>
        </p:spPr>
        <p:txBody>
          <a:bodyPr wrap="none" rtlCol="0">
            <a:spAutoFit/>
          </a:bodyPr>
          <a:lstStyle/>
          <a:p>
            <a:r>
              <a:rPr lang="en-IN" sz="6000" dirty="0" smtClean="0">
                <a:solidFill>
                  <a:schemeClr val="bg1"/>
                </a:solidFill>
              </a:rPr>
              <a:t>Different Forms </a:t>
            </a:r>
            <a:r>
              <a:rPr lang="en-IN" sz="6000" dirty="0">
                <a:solidFill>
                  <a:schemeClr val="bg1"/>
                </a:solidFill>
              </a:rPr>
              <a:t>of Inheritance</a:t>
            </a:r>
          </a:p>
        </p:txBody>
      </p:sp>
      <p:cxnSp>
        <p:nvCxnSpPr>
          <p:cNvPr id="4" name="Straight Connector 3"/>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Rectangle 4"/>
          <p:cNvSpPr>
            <a:spLocks noChangeArrowheads="1"/>
          </p:cNvSpPr>
          <p:nvPr/>
        </p:nvSpPr>
        <p:spPr bwMode="auto">
          <a:xfrm>
            <a:off x="1634326" y="1524000"/>
            <a:ext cx="914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A</a:t>
            </a:r>
          </a:p>
        </p:txBody>
      </p:sp>
      <p:sp>
        <p:nvSpPr>
          <p:cNvPr id="8" name="Rectangle 6"/>
          <p:cNvSpPr>
            <a:spLocks noChangeArrowheads="1"/>
          </p:cNvSpPr>
          <p:nvPr/>
        </p:nvSpPr>
        <p:spPr bwMode="auto">
          <a:xfrm>
            <a:off x="1634326" y="2743200"/>
            <a:ext cx="914400" cy="6096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B</a:t>
            </a:r>
          </a:p>
        </p:txBody>
      </p:sp>
      <p:sp>
        <p:nvSpPr>
          <p:cNvPr id="9" name="Line 8"/>
          <p:cNvSpPr>
            <a:spLocks noChangeShapeType="1"/>
          </p:cNvSpPr>
          <p:nvPr/>
        </p:nvSpPr>
        <p:spPr bwMode="auto">
          <a:xfrm flipV="1">
            <a:off x="2091526" y="2133600"/>
            <a:ext cx="0" cy="609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0" name="Text Box 9"/>
          <p:cNvSpPr txBox="1">
            <a:spLocks noChangeArrowheads="1"/>
          </p:cNvSpPr>
          <p:nvPr/>
        </p:nvSpPr>
        <p:spPr bwMode="auto">
          <a:xfrm>
            <a:off x="724689" y="3636963"/>
            <a:ext cx="22310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b="1" dirty="0" smtClean="0">
                <a:solidFill>
                  <a:srgbClr val="FFC000"/>
                </a:solidFill>
              </a:rPr>
              <a:t>(A) </a:t>
            </a:r>
            <a:r>
              <a:rPr lang="en-GB" altLang="en-US" b="1" dirty="0">
                <a:solidFill>
                  <a:srgbClr val="FFC000"/>
                </a:solidFill>
              </a:rPr>
              <a:t>Single Inheritance</a:t>
            </a:r>
          </a:p>
        </p:txBody>
      </p:sp>
      <p:sp>
        <p:nvSpPr>
          <p:cNvPr id="11" name="Rectangle 10"/>
          <p:cNvSpPr>
            <a:spLocks noChangeArrowheads="1"/>
          </p:cNvSpPr>
          <p:nvPr/>
        </p:nvSpPr>
        <p:spPr bwMode="auto">
          <a:xfrm>
            <a:off x="4557230" y="1524000"/>
            <a:ext cx="914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A</a:t>
            </a:r>
          </a:p>
        </p:txBody>
      </p:sp>
      <p:sp>
        <p:nvSpPr>
          <p:cNvPr id="12" name="Rectangle 11"/>
          <p:cNvSpPr>
            <a:spLocks noChangeArrowheads="1"/>
          </p:cNvSpPr>
          <p:nvPr/>
        </p:nvSpPr>
        <p:spPr bwMode="auto">
          <a:xfrm>
            <a:off x="5238268" y="2743200"/>
            <a:ext cx="914400" cy="6096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C</a:t>
            </a:r>
          </a:p>
        </p:txBody>
      </p:sp>
      <p:sp>
        <p:nvSpPr>
          <p:cNvPr id="13" name="Line 12"/>
          <p:cNvSpPr>
            <a:spLocks noChangeShapeType="1"/>
          </p:cNvSpPr>
          <p:nvPr/>
        </p:nvSpPr>
        <p:spPr bwMode="auto">
          <a:xfrm flipV="1">
            <a:off x="5700230" y="2362200"/>
            <a:ext cx="0" cy="3810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4" name="Text Box 13"/>
          <p:cNvSpPr txBox="1">
            <a:spLocks noChangeArrowheads="1"/>
          </p:cNvSpPr>
          <p:nvPr/>
        </p:nvSpPr>
        <p:spPr bwMode="auto">
          <a:xfrm>
            <a:off x="4230205" y="3636963"/>
            <a:ext cx="24650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b="1" dirty="0" smtClean="0">
                <a:solidFill>
                  <a:srgbClr val="FFC000"/>
                </a:solidFill>
              </a:rPr>
              <a:t>(B) </a:t>
            </a:r>
            <a:r>
              <a:rPr lang="en-GB" altLang="en-US" b="1" dirty="0">
                <a:solidFill>
                  <a:srgbClr val="FFC000"/>
                </a:solidFill>
              </a:rPr>
              <a:t>Multiple Inheritance</a:t>
            </a:r>
          </a:p>
        </p:txBody>
      </p:sp>
      <p:sp>
        <p:nvSpPr>
          <p:cNvPr id="15" name="Rectangle 14"/>
          <p:cNvSpPr>
            <a:spLocks noChangeArrowheads="1"/>
          </p:cNvSpPr>
          <p:nvPr/>
        </p:nvSpPr>
        <p:spPr bwMode="auto">
          <a:xfrm>
            <a:off x="6081230" y="1524000"/>
            <a:ext cx="914400" cy="6096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B</a:t>
            </a:r>
          </a:p>
        </p:txBody>
      </p:sp>
      <p:sp>
        <p:nvSpPr>
          <p:cNvPr id="16" name="Line 15"/>
          <p:cNvSpPr>
            <a:spLocks noChangeShapeType="1"/>
          </p:cNvSpPr>
          <p:nvPr/>
        </p:nvSpPr>
        <p:spPr bwMode="auto">
          <a:xfrm>
            <a:off x="5014430" y="2362200"/>
            <a:ext cx="1447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7" name="Line 16"/>
          <p:cNvSpPr>
            <a:spLocks noChangeShapeType="1"/>
          </p:cNvSpPr>
          <p:nvPr/>
        </p:nvSpPr>
        <p:spPr bwMode="auto">
          <a:xfrm flipV="1">
            <a:off x="6462230" y="213360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8" name="Line 17"/>
          <p:cNvSpPr>
            <a:spLocks noChangeShapeType="1"/>
          </p:cNvSpPr>
          <p:nvPr/>
        </p:nvSpPr>
        <p:spPr bwMode="auto">
          <a:xfrm flipV="1">
            <a:off x="5014430" y="213360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19" name="Rectangle 18"/>
          <p:cNvSpPr>
            <a:spLocks noChangeArrowheads="1"/>
          </p:cNvSpPr>
          <p:nvPr/>
        </p:nvSpPr>
        <p:spPr bwMode="auto">
          <a:xfrm>
            <a:off x="9579390" y="1360224"/>
            <a:ext cx="914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A</a:t>
            </a:r>
          </a:p>
        </p:txBody>
      </p:sp>
      <p:sp>
        <p:nvSpPr>
          <p:cNvPr id="20" name="Rectangle 19"/>
          <p:cNvSpPr>
            <a:spLocks noChangeArrowheads="1"/>
          </p:cNvSpPr>
          <p:nvPr/>
        </p:nvSpPr>
        <p:spPr bwMode="auto">
          <a:xfrm>
            <a:off x="9579390" y="2579424"/>
            <a:ext cx="914400" cy="6096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C</a:t>
            </a:r>
          </a:p>
        </p:txBody>
      </p:sp>
      <p:sp>
        <p:nvSpPr>
          <p:cNvPr id="21" name="Line 20"/>
          <p:cNvSpPr>
            <a:spLocks noChangeShapeType="1"/>
          </p:cNvSpPr>
          <p:nvPr/>
        </p:nvSpPr>
        <p:spPr bwMode="auto">
          <a:xfrm flipV="1">
            <a:off x="10036590" y="1969824"/>
            <a:ext cx="0" cy="609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2" name="Text Box 21"/>
          <p:cNvSpPr txBox="1">
            <a:spLocks noChangeArrowheads="1"/>
          </p:cNvSpPr>
          <p:nvPr/>
        </p:nvSpPr>
        <p:spPr bwMode="auto">
          <a:xfrm>
            <a:off x="8380827" y="3473187"/>
            <a:ext cx="27455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b="1" dirty="0" smtClean="0">
                <a:solidFill>
                  <a:srgbClr val="FFC000"/>
                </a:solidFill>
              </a:rPr>
              <a:t>(C) </a:t>
            </a:r>
            <a:r>
              <a:rPr lang="en-GB" altLang="en-US" b="1" dirty="0">
                <a:solidFill>
                  <a:srgbClr val="FFC000"/>
                </a:solidFill>
              </a:rPr>
              <a:t>Hierarchical Inheritance</a:t>
            </a:r>
          </a:p>
        </p:txBody>
      </p:sp>
      <p:sp>
        <p:nvSpPr>
          <p:cNvPr id="23" name="Rectangle 22"/>
          <p:cNvSpPr>
            <a:spLocks noChangeArrowheads="1"/>
          </p:cNvSpPr>
          <p:nvPr/>
        </p:nvSpPr>
        <p:spPr bwMode="auto">
          <a:xfrm>
            <a:off x="8441152" y="2579424"/>
            <a:ext cx="914400" cy="6096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B</a:t>
            </a:r>
          </a:p>
        </p:txBody>
      </p:sp>
      <p:sp>
        <p:nvSpPr>
          <p:cNvPr id="24" name="Rectangle 23"/>
          <p:cNvSpPr>
            <a:spLocks noChangeArrowheads="1"/>
          </p:cNvSpPr>
          <p:nvPr/>
        </p:nvSpPr>
        <p:spPr bwMode="auto">
          <a:xfrm>
            <a:off x="10727152" y="2579424"/>
            <a:ext cx="7620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D</a:t>
            </a:r>
          </a:p>
        </p:txBody>
      </p:sp>
      <p:sp>
        <p:nvSpPr>
          <p:cNvPr id="25" name="Line 25"/>
          <p:cNvSpPr>
            <a:spLocks noChangeShapeType="1"/>
          </p:cNvSpPr>
          <p:nvPr/>
        </p:nvSpPr>
        <p:spPr bwMode="auto">
          <a:xfrm flipV="1">
            <a:off x="8974552" y="1969824"/>
            <a:ext cx="914400" cy="609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6" name="Line 26"/>
          <p:cNvSpPr>
            <a:spLocks noChangeShapeType="1"/>
          </p:cNvSpPr>
          <p:nvPr/>
        </p:nvSpPr>
        <p:spPr bwMode="auto">
          <a:xfrm flipH="1" flipV="1">
            <a:off x="10269952" y="1969824"/>
            <a:ext cx="838200" cy="609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27" name="Rectangle 27"/>
          <p:cNvSpPr>
            <a:spLocks noChangeArrowheads="1"/>
          </p:cNvSpPr>
          <p:nvPr/>
        </p:nvSpPr>
        <p:spPr bwMode="auto">
          <a:xfrm>
            <a:off x="1629564" y="4103688"/>
            <a:ext cx="914400" cy="609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A</a:t>
            </a:r>
          </a:p>
        </p:txBody>
      </p:sp>
      <p:sp>
        <p:nvSpPr>
          <p:cNvPr id="28" name="Rectangle 28"/>
          <p:cNvSpPr>
            <a:spLocks noChangeArrowheads="1"/>
          </p:cNvSpPr>
          <p:nvPr/>
        </p:nvSpPr>
        <p:spPr bwMode="auto">
          <a:xfrm>
            <a:off x="1629564" y="5715000"/>
            <a:ext cx="842962" cy="5334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C</a:t>
            </a:r>
          </a:p>
        </p:txBody>
      </p:sp>
      <p:sp>
        <p:nvSpPr>
          <p:cNvPr id="29" name="Line 29"/>
          <p:cNvSpPr>
            <a:spLocks noChangeShapeType="1"/>
          </p:cNvSpPr>
          <p:nvPr/>
        </p:nvSpPr>
        <p:spPr bwMode="auto">
          <a:xfrm flipH="1" flipV="1">
            <a:off x="2086764" y="4713288"/>
            <a:ext cx="4762" cy="315912"/>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0" name="Text Box 30"/>
          <p:cNvSpPr txBox="1">
            <a:spLocks noChangeArrowheads="1"/>
          </p:cNvSpPr>
          <p:nvPr/>
        </p:nvSpPr>
        <p:spPr bwMode="auto">
          <a:xfrm>
            <a:off x="665951" y="6216650"/>
            <a:ext cx="274716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b="1" dirty="0" smtClean="0">
                <a:solidFill>
                  <a:srgbClr val="FFC000"/>
                </a:solidFill>
              </a:rPr>
              <a:t>(D) </a:t>
            </a:r>
            <a:r>
              <a:rPr lang="en-GB" altLang="en-US" b="1" dirty="0">
                <a:solidFill>
                  <a:srgbClr val="FFC000"/>
                </a:solidFill>
              </a:rPr>
              <a:t>Multi-Level Inheritance</a:t>
            </a:r>
          </a:p>
        </p:txBody>
      </p:sp>
      <p:sp>
        <p:nvSpPr>
          <p:cNvPr id="31" name="Rectangle 31"/>
          <p:cNvSpPr>
            <a:spLocks noChangeArrowheads="1"/>
          </p:cNvSpPr>
          <p:nvPr/>
        </p:nvSpPr>
        <p:spPr bwMode="auto">
          <a:xfrm>
            <a:off x="1634326" y="4953000"/>
            <a:ext cx="838200" cy="5334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B</a:t>
            </a:r>
          </a:p>
        </p:txBody>
      </p:sp>
      <p:sp>
        <p:nvSpPr>
          <p:cNvPr id="32" name="Line 32"/>
          <p:cNvSpPr>
            <a:spLocks noChangeShapeType="1"/>
          </p:cNvSpPr>
          <p:nvPr/>
        </p:nvSpPr>
        <p:spPr bwMode="auto">
          <a:xfrm flipV="1">
            <a:off x="2091526" y="548640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3" name="Rectangle 33"/>
          <p:cNvSpPr>
            <a:spLocks noChangeArrowheads="1"/>
          </p:cNvSpPr>
          <p:nvPr/>
        </p:nvSpPr>
        <p:spPr bwMode="auto">
          <a:xfrm>
            <a:off x="4709630" y="4800600"/>
            <a:ext cx="6858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B</a:t>
            </a:r>
          </a:p>
        </p:txBody>
      </p:sp>
      <p:sp>
        <p:nvSpPr>
          <p:cNvPr id="34" name="Rectangle 34"/>
          <p:cNvSpPr>
            <a:spLocks noChangeArrowheads="1"/>
          </p:cNvSpPr>
          <p:nvPr/>
        </p:nvSpPr>
        <p:spPr bwMode="auto">
          <a:xfrm>
            <a:off x="5390668" y="5715000"/>
            <a:ext cx="842962"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D</a:t>
            </a:r>
          </a:p>
        </p:txBody>
      </p:sp>
      <p:sp>
        <p:nvSpPr>
          <p:cNvPr id="35" name="Line 35"/>
          <p:cNvSpPr>
            <a:spLocks noChangeShapeType="1"/>
          </p:cNvSpPr>
          <p:nvPr/>
        </p:nvSpPr>
        <p:spPr bwMode="auto">
          <a:xfrm flipV="1">
            <a:off x="5852630" y="5486400"/>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6" name="Text Box 36"/>
          <p:cNvSpPr txBox="1">
            <a:spLocks noChangeArrowheads="1"/>
          </p:cNvSpPr>
          <p:nvPr/>
        </p:nvSpPr>
        <p:spPr bwMode="auto">
          <a:xfrm>
            <a:off x="4535005" y="6227763"/>
            <a:ext cx="22743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b="1" dirty="0" smtClean="0">
                <a:solidFill>
                  <a:srgbClr val="FFC000"/>
                </a:solidFill>
              </a:rPr>
              <a:t>(E) </a:t>
            </a:r>
            <a:r>
              <a:rPr lang="en-GB" altLang="en-US" b="1" dirty="0">
                <a:solidFill>
                  <a:srgbClr val="FFC000"/>
                </a:solidFill>
              </a:rPr>
              <a:t>Hybrid Inheritance</a:t>
            </a:r>
          </a:p>
        </p:txBody>
      </p:sp>
      <p:sp>
        <p:nvSpPr>
          <p:cNvPr id="37" name="Rectangle 37"/>
          <p:cNvSpPr>
            <a:spLocks noChangeArrowheads="1"/>
          </p:cNvSpPr>
          <p:nvPr/>
        </p:nvSpPr>
        <p:spPr bwMode="auto">
          <a:xfrm>
            <a:off x="6233630" y="4800600"/>
            <a:ext cx="762000" cy="457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c</a:t>
            </a:r>
          </a:p>
        </p:txBody>
      </p:sp>
      <p:sp>
        <p:nvSpPr>
          <p:cNvPr id="38" name="Line 38"/>
          <p:cNvSpPr>
            <a:spLocks noChangeShapeType="1"/>
          </p:cNvSpPr>
          <p:nvPr/>
        </p:nvSpPr>
        <p:spPr bwMode="auto">
          <a:xfrm>
            <a:off x="5166830" y="5486400"/>
            <a:ext cx="1447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39" name="Line 39"/>
          <p:cNvSpPr>
            <a:spLocks noChangeShapeType="1"/>
          </p:cNvSpPr>
          <p:nvPr/>
        </p:nvSpPr>
        <p:spPr bwMode="auto">
          <a:xfrm flipV="1">
            <a:off x="6614630" y="525780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40" name="Line 40"/>
          <p:cNvSpPr>
            <a:spLocks noChangeShapeType="1"/>
          </p:cNvSpPr>
          <p:nvPr/>
        </p:nvSpPr>
        <p:spPr bwMode="auto">
          <a:xfrm flipV="1">
            <a:off x="5166830" y="5257800"/>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41" name="Rectangle 41"/>
          <p:cNvSpPr>
            <a:spLocks noChangeArrowheads="1"/>
          </p:cNvSpPr>
          <p:nvPr/>
        </p:nvSpPr>
        <p:spPr bwMode="auto">
          <a:xfrm>
            <a:off x="4709630" y="4038600"/>
            <a:ext cx="6858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A</a:t>
            </a:r>
          </a:p>
        </p:txBody>
      </p:sp>
      <p:sp>
        <p:nvSpPr>
          <p:cNvPr id="42" name="Line 42"/>
          <p:cNvSpPr>
            <a:spLocks noChangeShapeType="1"/>
          </p:cNvSpPr>
          <p:nvPr/>
        </p:nvSpPr>
        <p:spPr bwMode="auto">
          <a:xfrm flipV="1">
            <a:off x="5014430" y="4495800"/>
            <a:ext cx="0" cy="304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43" name="Rectangle 43"/>
          <p:cNvSpPr>
            <a:spLocks noChangeArrowheads="1"/>
          </p:cNvSpPr>
          <p:nvPr/>
        </p:nvSpPr>
        <p:spPr bwMode="auto">
          <a:xfrm>
            <a:off x="8712615" y="4636824"/>
            <a:ext cx="6858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B</a:t>
            </a:r>
          </a:p>
        </p:txBody>
      </p:sp>
      <p:sp>
        <p:nvSpPr>
          <p:cNvPr id="44" name="Rectangle 44"/>
          <p:cNvSpPr>
            <a:spLocks noChangeArrowheads="1"/>
          </p:cNvSpPr>
          <p:nvPr/>
        </p:nvSpPr>
        <p:spPr bwMode="auto">
          <a:xfrm>
            <a:off x="9393652" y="5551224"/>
            <a:ext cx="842963" cy="457200"/>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D</a:t>
            </a:r>
          </a:p>
        </p:txBody>
      </p:sp>
      <p:sp>
        <p:nvSpPr>
          <p:cNvPr id="45" name="Line 45"/>
          <p:cNvSpPr>
            <a:spLocks noChangeShapeType="1"/>
          </p:cNvSpPr>
          <p:nvPr/>
        </p:nvSpPr>
        <p:spPr bwMode="auto">
          <a:xfrm flipV="1">
            <a:off x="9855615" y="5322624"/>
            <a:ext cx="0" cy="2286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46" name="Text Box 46"/>
          <p:cNvSpPr txBox="1">
            <a:spLocks noChangeArrowheads="1"/>
          </p:cNvSpPr>
          <p:nvPr/>
        </p:nvSpPr>
        <p:spPr bwMode="auto">
          <a:xfrm>
            <a:off x="8390352" y="6063987"/>
            <a:ext cx="258481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GB" altLang="en-US" b="1" dirty="0" smtClean="0">
                <a:solidFill>
                  <a:srgbClr val="FFC000"/>
                </a:solidFill>
              </a:rPr>
              <a:t>(F) </a:t>
            </a:r>
            <a:r>
              <a:rPr lang="en-GB" altLang="en-US" b="1" dirty="0">
                <a:solidFill>
                  <a:srgbClr val="FFC000"/>
                </a:solidFill>
              </a:rPr>
              <a:t>Multipath Inheritance</a:t>
            </a:r>
          </a:p>
        </p:txBody>
      </p:sp>
      <p:sp>
        <p:nvSpPr>
          <p:cNvPr id="47" name="Rectangle 47"/>
          <p:cNvSpPr>
            <a:spLocks noChangeArrowheads="1"/>
          </p:cNvSpPr>
          <p:nvPr/>
        </p:nvSpPr>
        <p:spPr bwMode="auto">
          <a:xfrm>
            <a:off x="10236615" y="4636824"/>
            <a:ext cx="762000" cy="457200"/>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c</a:t>
            </a:r>
          </a:p>
        </p:txBody>
      </p:sp>
      <p:sp>
        <p:nvSpPr>
          <p:cNvPr id="48" name="Line 48"/>
          <p:cNvSpPr>
            <a:spLocks noChangeShapeType="1"/>
          </p:cNvSpPr>
          <p:nvPr/>
        </p:nvSpPr>
        <p:spPr bwMode="auto">
          <a:xfrm>
            <a:off x="9169815" y="5322624"/>
            <a:ext cx="14478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49" name="Line 49"/>
          <p:cNvSpPr>
            <a:spLocks noChangeShapeType="1"/>
          </p:cNvSpPr>
          <p:nvPr/>
        </p:nvSpPr>
        <p:spPr bwMode="auto">
          <a:xfrm flipV="1">
            <a:off x="10617615" y="5094024"/>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50" name="Line 50"/>
          <p:cNvSpPr>
            <a:spLocks noChangeShapeType="1"/>
          </p:cNvSpPr>
          <p:nvPr/>
        </p:nvSpPr>
        <p:spPr bwMode="auto">
          <a:xfrm flipV="1">
            <a:off x="9169815" y="5094024"/>
            <a:ext cx="0" cy="2286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51" name="Rectangle 51"/>
          <p:cNvSpPr>
            <a:spLocks noChangeArrowheads="1"/>
          </p:cNvSpPr>
          <p:nvPr/>
        </p:nvSpPr>
        <p:spPr bwMode="auto">
          <a:xfrm>
            <a:off x="9431752" y="3874824"/>
            <a:ext cx="6858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GB" altLang="en-US"/>
              <a:t>A</a:t>
            </a:r>
          </a:p>
        </p:txBody>
      </p:sp>
      <p:sp>
        <p:nvSpPr>
          <p:cNvPr id="52" name="Line 63"/>
          <p:cNvSpPr>
            <a:spLocks noChangeShapeType="1"/>
          </p:cNvSpPr>
          <p:nvPr/>
        </p:nvSpPr>
        <p:spPr bwMode="auto">
          <a:xfrm flipV="1">
            <a:off x="9050752" y="4179624"/>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53" name="Line 64"/>
          <p:cNvSpPr>
            <a:spLocks noChangeShapeType="1"/>
          </p:cNvSpPr>
          <p:nvPr/>
        </p:nvSpPr>
        <p:spPr bwMode="auto">
          <a:xfrm>
            <a:off x="9050752" y="4179624"/>
            <a:ext cx="381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54" name="Line 65"/>
          <p:cNvSpPr>
            <a:spLocks noChangeShapeType="1"/>
          </p:cNvSpPr>
          <p:nvPr/>
        </p:nvSpPr>
        <p:spPr bwMode="auto">
          <a:xfrm flipV="1">
            <a:off x="10650952" y="4179624"/>
            <a:ext cx="0" cy="4572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55" name="Line 66"/>
          <p:cNvSpPr>
            <a:spLocks noChangeShapeType="1"/>
          </p:cNvSpPr>
          <p:nvPr/>
        </p:nvSpPr>
        <p:spPr bwMode="auto">
          <a:xfrm flipH="1">
            <a:off x="10117552" y="4179624"/>
            <a:ext cx="5334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sp>
        <p:nvSpPr>
          <p:cNvPr id="56" name="Line 67"/>
          <p:cNvSpPr>
            <a:spLocks noChangeShapeType="1"/>
          </p:cNvSpPr>
          <p:nvPr/>
        </p:nvSpPr>
        <p:spPr bwMode="auto">
          <a:xfrm>
            <a:off x="9812752" y="4484424"/>
            <a:ext cx="0" cy="762000"/>
          </a:xfrm>
          <a:prstGeom prst="line">
            <a:avLst/>
          </a:prstGeom>
          <a:noFill/>
          <a:ln w="952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IN"/>
          </a:p>
        </p:txBody>
      </p:sp>
      <p:cxnSp>
        <p:nvCxnSpPr>
          <p:cNvPr id="59" name="Straight Connector 58"/>
          <p:cNvCxnSpPr/>
          <p:nvPr/>
        </p:nvCxnSpPr>
        <p:spPr>
          <a:xfrm flipH="1">
            <a:off x="5456237" y="5272300"/>
            <a:ext cx="688992" cy="5189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flipH="1" flipV="1">
            <a:off x="5457437" y="5257800"/>
            <a:ext cx="712987" cy="52498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flipH="1">
            <a:off x="9459223" y="4595762"/>
            <a:ext cx="688992" cy="5189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flipH="1" flipV="1">
            <a:off x="9460423" y="4581262"/>
            <a:ext cx="712987" cy="52498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flipH="1">
            <a:off x="5347297" y="2149061"/>
            <a:ext cx="688992" cy="5189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H="1" flipV="1">
            <a:off x="5348497" y="2134561"/>
            <a:ext cx="712987" cy="52498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996287" y="2151793"/>
            <a:ext cx="477672" cy="691488"/>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flipV="1">
            <a:off x="1462024" y="1740217"/>
            <a:ext cx="1760749" cy="10728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929867" y="5090102"/>
            <a:ext cx="477672" cy="691488"/>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flipV="1">
            <a:off x="1395604" y="4678526"/>
            <a:ext cx="1760749" cy="10728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8899901" y="2454587"/>
            <a:ext cx="477672" cy="691488"/>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flipV="1">
            <a:off x="9365638" y="2043011"/>
            <a:ext cx="1760749" cy="1072824"/>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0703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down)">
                                      <p:cBhvr>
                                        <p:cTn id="13" dur="500"/>
                                        <p:tgtEl>
                                          <p:spTgt spid="8"/>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down)">
                                      <p:cBhvr>
                                        <p:cTn id="16" dur="500"/>
                                        <p:tgtEl>
                                          <p:spTgt spid="9"/>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500"/>
                                        <p:tgtEl>
                                          <p:spTgt spid="1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down)">
                                      <p:cBhvr>
                                        <p:cTn id="22" dur="500"/>
                                        <p:tgtEl>
                                          <p:spTgt spid="1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00"/>
                                        <p:tgtEl>
                                          <p:spTgt spid="12"/>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down)">
                                      <p:cBhvr>
                                        <p:cTn id="28" dur="500"/>
                                        <p:tgtEl>
                                          <p:spTgt spid="13"/>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down)">
                                      <p:cBhvr>
                                        <p:cTn id="31" dur="500"/>
                                        <p:tgtEl>
                                          <p:spTgt spid="14"/>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down)">
                                      <p:cBhvr>
                                        <p:cTn id="34" dur="500"/>
                                        <p:tgtEl>
                                          <p:spTgt spid="15"/>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down)">
                                      <p:cBhvr>
                                        <p:cTn id="37" dur="500"/>
                                        <p:tgtEl>
                                          <p:spTgt spid="16"/>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down)">
                                      <p:cBhvr>
                                        <p:cTn id="40" dur="500"/>
                                        <p:tgtEl>
                                          <p:spTgt spid="17"/>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wipe(down)">
                                      <p:cBhvr>
                                        <p:cTn id="43" dur="500"/>
                                        <p:tgtEl>
                                          <p:spTgt spid="18"/>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wipe(down)">
                                      <p:cBhvr>
                                        <p:cTn id="46" dur="500"/>
                                        <p:tgtEl>
                                          <p:spTgt spid="19"/>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wipe(down)">
                                      <p:cBhvr>
                                        <p:cTn id="49" dur="500"/>
                                        <p:tgtEl>
                                          <p:spTgt spid="20"/>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wipe(down)">
                                      <p:cBhvr>
                                        <p:cTn id="52" dur="500"/>
                                        <p:tgtEl>
                                          <p:spTgt spid="21"/>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down)">
                                      <p:cBhvr>
                                        <p:cTn id="55" dur="500"/>
                                        <p:tgtEl>
                                          <p:spTgt spid="22"/>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wipe(down)">
                                      <p:cBhvr>
                                        <p:cTn id="58" dur="500"/>
                                        <p:tgtEl>
                                          <p:spTgt spid="23"/>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wipe(down)">
                                      <p:cBhvr>
                                        <p:cTn id="61" dur="500"/>
                                        <p:tgtEl>
                                          <p:spTgt spid="24"/>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wipe(down)">
                                      <p:cBhvr>
                                        <p:cTn id="64" dur="500"/>
                                        <p:tgtEl>
                                          <p:spTgt spid="25"/>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wipe(down)">
                                      <p:cBhvr>
                                        <p:cTn id="67" dur="500"/>
                                        <p:tgtEl>
                                          <p:spTgt spid="26"/>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wipe(down)">
                                      <p:cBhvr>
                                        <p:cTn id="70" dur="500"/>
                                        <p:tgtEl>
                                          <p:spTgt spid="27"/>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wipe(down)">
                                      <p:cBhvr>
                                        <p:cTn id="73" dur="500"/>
                                        <p:tgtEl>
                                          <p:spTgt spid="28"/>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29"/>
                                        </p:tgtEl>
                                        <p:attrNameLst>
                                          <p:attrName>style.visibility</p:attrName>
                                        </p:attrNameLst>
                                      </p:cBhvr>
                                      <p:to>
                                        <p:strVal val="visible"/>
                                      </p:to>
                                    </p:set>
                                    <p:animEffect transition="in" filter="wipe(down)">
                                      <p:cBhvr>
                                        <p:cTn id="76" dur="500"/>
                                        <p:tgtEl>
                                          <p:spTgt spid="29"/>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30"/>
                                        </p:tgtEl>
                                        <p:attrNameLst>
                                          <p:attrName>style.visibility</p:attrName>
                                        </p:attrNameLst>
                                      </p:cBhvr>
                                      <p:to>
                                        <p:strVal val="visible"/>
                                      </p:to>
                                    </p:set>
                                    <p:animEffect transition="in" filter="wipe(down)">
                                      <p:cBhvr>
                                        <p:cTn id="79" dur="500"/>
                                        <p:tgtEl>
                                          <p:spTgt spid="30"/>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wipe(down)">
                                      <p:cBhvr>
                                        <p:cTn id="82" dur="500"/>
                                        <p:tgtEl>
                                          <p:spTgt spid="31"/>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32"/>
                                        </p:tgtEl>
                                        <p:attrNameLst>
                                          <p:attrName>style.visibility</p:attrName>
                                        </p:attrNameLst>
                                      </p:cBhvr>
                                      <p:to>
                                        <p:strVal val="visible"/>
                                      </p:to>
                                    </p:set>
                                    <p:animEffect transition="in" filter="wipe(down)">
                                      <p:cBhvr>
                                        <p:cTn id="85" dur="500"/>
                                        <p:tgtEl>
                                          <p:spTgt spid="32"/>
                                        </p:tgtEl>
                                      </p:cBhvr>
                                    </p:animEffect>
                                  </p:childTnLst>
                                </p:cTn>
                              </p:par>
                              <p:par>
                                <p:cTn id="86" presetID="22" presetClass="entr" presetSubtype="4" fill="hold" grpId="0" nodeType="with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wipe(down)">
                                      <p:cBhvr>
                                        <p:cTn id="88" dur="500"/>
                                        <p:tgtEl>
                                          <p:spTgt spid="33"/>
                                        </p:tgtEl>
                                      </p:cBhvr>
                                    </p:animEffect>
                                  </p:childTnLst>
                                </p:cTn>
                              </p:par>
                              <p:par>
                                <p:cTn id="89" presetID="22" presetClass="entr" presetSubtype="4"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wipe(down)">
                                      <p:cBhvr>
                                        <p:cTn id="91" dur="500"/>
                                        <p:tgtEl>
                                          <p:spTgt spid="34"/>
                                        </p:tgtEl>
                                      </p:cBhvr>
                                    </p:animEffect>
                                  </p:childTnLst>
                                </p:cTn>
                              </p:par>
                              <p:par>
                                <p:cTn id="92" presetID="22" presetClass="entr" presetSubtype="4"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wipe(down)">
                                      <p:cBhvr>
                                        <p:cTn id="94" dur="500"/>
                                        <p:tgtEl>
                                          <p:spTgt spid="35"/>
                                        </p:tgtEl>
                                      </p:cBhvr>
                                    </p:animEffect>
                                  </p:childTnLst>
                                </p:cTn>
                              </p:par>
                              <p:par>
                                <p:cTn id="95" presetID="22" presetClass="entr" presetSubtype="4"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wipe(down)">
                                      <p:cBhvr>
                                        <p:cTn id="97" dur="500"/>
                                        <p:tgtEl>
                                          <p:spTgt spid="36"/>
                                        </p:tgtEl>
                                      </p:cBhvr>
                                    </p:animEffect>
                                  </p:childTnLst>
                                </p:cTn>
                              </p:par>
                              <p:par>
                                <p:cTn id="98" presetID="22" presetClass="entr" presetSubtype="4"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wipe(down)">
                                      <p:cBhvr>
                                        <p:cTn id="100" dur="500"/>
                                        <p:tgtEl>
                                          <p:spTgt spid="37"/>
                                        </p:tgtEl>
                                      </p:cBhvr>
                                    </p:animEffect>
                                  </p:childTnLst>
                                </p:cTn>
                              </p:par>
                              <p:par>
                                <p:cTn id="101" presetID="22" presetClass="entr" presetSubtype="4"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wipe(down)">
                                      <p:cBhvr>
                                        <p:cTn id="103" dur="500"/>
                                        <p:tgtEl>
                                          <p:spTgt spid="38"/>
                                        </p:tgtEl>
                                      </p:cBhvr>
                                    </p:animEffect>
                                  </p:childTnLst>
                                </p:cTn>
                              </p:par>
                              <p:par>
                                <p:cTn id="104" presetID="22" presetClass="entr" presetSubtype="4"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wipe(down)">
                                      <p:cBhvr>
                                        <p:cTn id="106" dur="500"/>
                                        <p:tgtEl>
                                          <p:spTgt spid="39"/>
                                        </p:tgtEl>
                                      </p:cBhvr>
                                    </p:animEffect>
                                  </p:childTnLst>
                                </p:cTn>
                              </p:par>
                              <p:par>
                                <p:cTn id="107" presetID="22" presetClass="entr" presetSubtype="4"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wipe(down)">
                                      <p:cBhvr>
                                        <p:cTn id="109" dur="500"/>
                                        <p:tgtEl>
                                          <p:spTgt spid="40"/>
                                        </p:tgtEl>
                                      </p:cBhvr>
                                    </p:animEffect>
                                  </p:childTnLst>
                                </p:cTn>
                              </p:par>
                              <p:par>
                                <p:cTn id="110" presetID="22" presetClass="entr" presetSubtype="4"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wipe(down)">
                                      <p:cBhvr>
                                        <p:cTn id="112" dur="500"/>
                                        <p:tgtEl>
                                          <p:spTgt spid="41"/>
                                        </p:tgtEl>
                                      </p:cBhvr>
                                    </p:animEffect>
                                  </p:childTnLst>
                                </p:cTn>
                              </p:par>
                              <p:par>
                                <p:cTn id="113" presetID="22" presetClass="entr" presetSubtype="4"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wipe(down)">
                                      <p:cBhvr>
                                        <p:cTn id="115" dur="500"/>
                                        <p:tgtEl>
                                          <p:spTgt spid="42"/>
                                        </p:tgtEl>
                                      </p:cBhvr>
                                    </p:animEffect>
                                  </p:childTnLst>
                                </p:cTn>
                              </p:par>
                              <p:par>
                                <p:cTn id="116" presetID="22" presetClass="entr" presetSubtype="4"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wipe(down)">
                                      <p:cBhvr>
                                        <p:cTn id="118" dur="500"/>
                                        <p:tgtEl>
                                          <p:spTgt spid="43"/>
                                        </p:tgtEl>
                                      </p:cBhvr>
                                    </p:animEffect>
                                  </p:childTnLst>
                                </p:cTn>
                              </p:par>
                              <p:par>
                                <p:cTn id="119" presetID="22" presetClass="entr" presetSubtype="4" fill="hold" grpId="0"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wipe(down)">
                                      <p:cBhvr>
                                        <p:cTn id="121" dur="500"/>
                                        <p:tgtEl>
                                          <p:spTgt spid="44"/>
                                        </p:tgtEl>
                                      </p:cBhvr>
                                    </p:animEffect>
                                  </p:childTnLst>
                                </p:cTn>
                              </p:par>
                              <p:par>
                                <p:cTn id="122" presetID="22" presetClass="entr" presetSubtype="4"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wipe(down)">
                                      <p:cBhvr>
                                        <p:cTn id="124" dur="500"/>
                                        <p:tgtEl>
                                          <p:spTgt spid="45"/>
                                        </p:tgtEl>
                                      </p:cBhvr>
                                    </p:animEffect>
                                  </p:childTnLst>
                                </p:cTn>
                              </p:par>
                              <p:par>
                                <p:cTn id="125" presetID="22" presetClass="entr" presetSubtype="4" fill="hold" grpId="0" nodeType="withEffect">
                                  <p:stCondLst>
                                    <p:cond delay="0"/>
                                  </p:stCondLst>
                                  <p:childTnLst>
                                    <p:set>
                                      <p:cBhvr>
                                        <p:cTn id="126" dur="1" fill="hold">
                                          <p:stCondLst>
                                            <p:cond delay="0"/>
                                          </p:stCondLst>
                                        </p:cTn>
                                        <p:tgtEl>
                                          <p:spTgt spid="46"/>
                                        </p:tgtEl>
                                        <p:attrNameLst>
                                          <p:attrName>style.visibility</p:attrName>
                                        </p:attrNameLst>
                                      </p:cBhvr>
                                      <p:to>
                                        <p:strVal val="visible"/>
                                      </p:to>
                                    </p:set>
                                    <p:animEffect transition="in" filter="wipe(down)">
                                      <p:cBhvr>
                                        <p:cTn id="127" dur="500"/>
                                        <p:tgtEl>
                                          <p:spTgt spid="46"/>
                                        </p:tgtEl>
                                      </p:cBhvr>
                                    </p:animEffect>
                                  </p:childTnLst>
                                </p:cTn>
                              </p:par>
                              <p:par>
                                <p:cTn id="128" presetID="22" presetClass="entr" presetSubtype="4"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wipe(down)">
                                      <p:cBhvr>
                                        <p:cTn id="130" dur="500"/>
                                        <p:tgtEl>
                                          <p:spTgt spid="47"/>
                                        </p:tgtEl>
                                      </p:cBhvr>
                                    </p:animEffect>
                                  </p:childTnLst>
                                </p:cTn>
                              </p:par>
                              <p:par>
                                <p:cTn id="131" presetID="22" presetClass="entr" presetSubtype="4" fill="hold" grpId="0" nodeType="withEffect">
                                  <p:stCondLst>
                                    <p:cond delay="0"/>
                                  </p:stCondLst>
                                  <p:childTnLst>
                                    <p:set>
                                      <p:cBhvr>
                                        <p:cTn id="132" dur="1" fill="hold">
                                          <p:stCondLst>
                                            <p:cond delay="0"/>
                                          </p:stCondLst>
                                        </p:cTn>
                                        <p:tgtEl>
                                          <p:spTgt spid="48"/>
                                        </p:tgtEl>
                                        <p:attrNameLst>
                                          <p:attrName>style.visibility</p:attrName>
                                        </p:attrNameLst>
                                      </p:cBhvr>
                                      <p:to>
                                        <p:strVal val="visible"/>
                                      </p:to>
                                    </p:set>
                                    <p:animEffect transition="in" filter="wipe(down)">
                                      <p:cBhvr>
                                        <p:cTn id="133" dur="500"/>
                                        <p:tgtEl>
                                          <p:spTgt spid="48"/>
                                        </p:tgtEl>
                                      </p:cBhvr>
                                    </p:animEffect>
                                  </p:childTnLst>
                                </p:cTn>
                              </p:par>
                              <p:par>
                                <p:cTn id="134" presetID="22" presetClass="entr" presetSubtype="4" fill="hold" grpId="0" nodeType="withEffect">
                                  <p:stCondLst>
                                    <p:cond delay="0"/>
                                  </p:stCondLst>
                                  <p:childTnLst>
                                    <p:set>
                                      <p:cBhvr>
                                        <p:cTn id="135" dur="1" fill="hold">
                                          <p:stCondLst>
                                            <p:cond delay="0"/>
                                          </p:stCondLst>
                                        </p:cTn>
                                        <p:tgtEl>
                                          <p:spTgt spid="49"/>
                                        </p:tgtEl>
                                        <p:attrNameLst>
                                          <p:attrName>style.visibility</p:attrName>
                                        </p:attrNameLst>
                                      </p:cBhvr>
                                      <p:to>
                                        <p:strVal val="visible"/>
                                      </p:to>
                                    </p:set>
                                    <p:animEffect transition="in" filter="wipe(down)">
                                      <p:cBhvr>
                                        <p:cTn id="136" dur="500"/>
                                        <p:tgtEl>
                                          <p:spTgt spid="49"/>
                                        </p:tgtEl>
                                      </p:cBhvr>
                                    </p:animEffect>
                                  </p:childTnLst>
                                </p:cTn>
                              </p:par>
                              <p:par>
                                <p:cTn id="137" presetID="22" presetClass="entr" presetSubtype="4" fill="hold" grpId="0" nodeType="withEffect">
                                  <p:stCondLst>
                                    <p:cond delay="0"/>
                                  </p:stCondLst>
                                  <p:childTnLst>
                                    <p:set>
                                      <p:cBhvr>
                                        <p:cTn id="138" dur="1" fill="hold">
                                          <p:stCondLst>
                                            <p:cond delay="0"/>
                                          </p:stCondLst>
                                        </p:cTn>
                                        <p:tgtEl>
                                          <p:spTgt spid="50"/>
                                        </p:tgtEl>
                                        <p:attrNameLst>
                                          <p:attrName>style.visibility</p:attrName>
                                        </p:attrNameLst>
                                      </p:cBhvr>
                                      <p:to>
                                        <p:strVal val="visible"/>
                                      </p:to>
                                    </p:set>
                                    <p:animEffect transition="in" filter="wipe(down)">
                                      <p:cBhvr>
                                        <p:cTn id="139" dur="500"/>
                                        <p:tgtEl>
                                          <p:spTgt spid="50"/>
                                        </p:tgtEl>
                                      </p:cBhvr>
                                    </p:animEffect>
                                  </p:childTnLst>
                                </p:cTn>
                              </p:par>
                              <p:par>
                                <p:cTn id="140" presetID="22" presetClass="entr" presetSubtype="4"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Effect transition="in" filter="wipe(down)">
                                      <p:cBhvr>
                                        <p:cTn id="142" dur="500"/>
                                        <p:tgtEl>
                                          <p:spTgt spid="51"/>
                                        </p:tgtEl>
                                      </p:cBhvr>
                                    </p:animEffect>
                                  </p:childTnLst>
                                </p:cTn>
                              </p:par>
                              <p:par>
                                <p:cTn id="143" presetID="22" presetClass="entr" presetSubtype="4" fill="hold" grpId="0" nodeType="withEffect">
                                  <p:stCondLst>
                                    <p:cond delay="0"/>
                                  </p:stCondLst>
                                  <p:childTnLst>
                                    <p:set>
                                      <p:cBhvr>
                                        <p:cTn id="144" dur="1" fill="hold">
                                          <p:stCondLst>
                                            <p:cond delay="0"/>
                                          </p:stCondLst>
                                        </p:cTn>
                                        <p:tgtEl>
                                          <p:spTgt spid="52"/>
                                        </p:tgtEl>
                                        <p:attrNameLst>
                                          <p:attrName>style.visibility</p:attrName>
                                        </p:attrNameLst>
                                      </p:cBhvr>
                                      <p:to>
                                        <p:strVal val="visible"/>
                                      </p:to>
                                    </p:set>
                                    <p:animEffect transition="in" filter="wipe(down)">
                                      <p:cBhvr>
                                        <p:cTn id="145" dur="500"/>
                                        <p:tgtEl>
                                          <p:spTgt spid="52"/>
                                        </p:tgtEl>
                                      </p:cBhvr>
                                    </p:animEffect>
                                  </p:childTnLst>
                                </p:cTn>
                              </p:par>
                              <p:par>
                                <p:cTn id="146" presetID="22" presetClass="entr" presetSubtype="4" fill="hold" grpId="0" nodeType="withEffect">
                                  <p:stCondLst>
                                    <p:cond delay="0"/>
                                  </p:stCondLst>
                                  <p:childTnLst>
                                    <p:set>
                                      <p:cBhvr>
                                        <p:cTn id="147" dur="1" fill="hold">
                                          <p:stCondLst>
                                            <p:cond delay="0"/>
                                          </p:stCondLst>
                                        </p:cTn>
                                        <p:tgtEl>
                                          <p:spTgt spid="53"/>
                                        </p:tgtEl>
                                        <p:attrNameLst>
                                          <p:attrName>style.visibility</p:attrName>
                                        </p:attrNameLst>
                                      </p:cBhvr>
                                      <p:to>
                                        <p:strVal val="visible"/>
                                      </p:to>
                                    </p:set>
                                    <p:animEffect transition="in" filter="wipe(down)">
                                      <p:cBhvr>
                                        <p:cTn id="148" dur="500"/>
                                        <p:tgtEl>
                                          <p:spTgt spid="53"/>
                                        </p:tgtEl>
                                      </p:cBhvr>
                                    </p:animEffect>
                                  </p:childTnLst>
                                </p:cTn>
                              </p:par>
                              <p:par>
                                <p:cTn id="149" presetID="22" presetClass="entr" presetSubtype="4" fill="hold" grpId="0" nodeType="withEffect">
                                  <p:stCondLst>
                                    <p:cond delay="0"/>
                                  </p:stCondLst>
                                  <p:childTnLst>
                                    <p:set>
                                      <p:cBhvr>
                                        <p:cTn id="150" dur="1" fill="hold">
                                          <p:stCondLst>
                                            <p:cond delay="0"/>
                                          </p:stCondLst>
                                        </p:cTn>
                                        <p:tgtEl>
                                          <p:spTgt spid="54"/>
                                        </p:tgtEl>
                                        <p:attrNameLst>
                                          <p:attrName>style.visibility</p:attrName>
                                        </p:attrNameLst>
                                      </p:cBhvr>
                                      <p:to>
                                        <p:strVal val="visible"/>
                                      </p:to>
                                    </p:set>
                                    <p:animEffect transition="in" filter="wipe(down)">
                                      <p:cBhvr>
                                        <p:cTn id="151" dur="500"/>
                                        <p:tgtEl>
                                          <p:spTgt spid="54"/>
                                        </p:tgtEl>
                                      </p:cBhvr>
                                    </p:animEffect>
                                  </p:childTnLst>
                                </p:cTn>
                              </p:par>
                              <p:par>
                                <p:cTn id="152" presetID="22" presetClass="entr" presetSubtype="4" fill="hold" grpId="0" nodeType="withEffect">
                                  <p:stCondLst>
                                    <p:cond delay="0"/>
                                  </p:stCondLst>
                                  <p:childTnLst>
                                    <p:set>
                                      <p:cBhvr>
                                        <p:cTn id="153" dur="1" fill="hold">
                                          <p:stCondLst>
                                            <p:cond delay="0"/>
                                          </p:stCondLst>
                                        </p:cTn>
                                        <p:tgtEl>
                                          <p:spTgt spid="55"/>
                                        </p:tgtEl>
                                        <p:attrNameLst>
                                          <p:attrName>style.visibility</p:attrName>
                                        </p:attrNameLst>
                                      </p:cBhvr>
                                      <p:to>
                                        <p:strVal val="visible"/>
                                      </p:to>
                                    </p:set>
                                    <p:animEffect transition="in" filter="wipe(down)">
                                      <p:cBhvr>
                                        <p:cTn id="154" dur="500"/>
                                        <p:tgtEl>
                                          <p:spTgt spid="55"/>
                                        </p:tgtEl>
                                      </p:cBhvr>
                                    </p:animEffect>
                                  </p:childTnLst>
                                </p:cTn>
                              </p:par>
                              <p:par>
                                <p:cTn id="155" presetID="22" presetClass="entr" presetSubtype="4" fill="hold" grpId="0" nodeType="withEffect">
                                  <p:stCondLst>
                                    <p:cond delay="0"/>
                                  </p:stCondLst>
                                  <p:childTnLst>
                                    <p:set>
                                      <p:cBhvr>
                                        <p:cTn id="156" dur="1" fill="hold">
                                          <p:stCondLst>
                                            <p:cond delay="0"/>
                                          </p:stCondLst>
                                        </p:cTn>
                                        <p:tgtEl>
                                          <p:spTgt spid="56"/>
                                        </p:tgtEl>
                                        <p:attrNameLst>
                                          <p:attrName>style.visibility</p:attrName>
                                        </p:attrNameLst>
                                      </p:cBhvr>
                                      <p:to>
                                        <p:strVal val="visible"/>
                                      </p:to>
                                    </p:set>
                                    <p:animEffect transition="in" filter="wipe(down)">
                                      <p:cBhvr>
                                        <p:cTn id="157" dur="500"/>
                                        <p:tgtEl>
                                          <p:spTgt spid="56"/>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4" fill="hold" nodeType="clickEffect">
                                  <p:stCondLst>
                                    <p:cond delay="0"/>
                                  </p:stCondLst>
                                  <p:childTnLst>
                                    <p:set>
                                      <p:cBhvr>
                                        <p:cTn id="161" dur="1" fill="hold">
                                          <p:stCondLst>
                                            <p:cond delay="0"/>
                                          </p:stCondLst>
                                        </p:cTn>
                                        <p:tgtEl>
                                          <p:spTgt spid="64"/>
                                        </p:tgtEl>
                                        <p:attrNameLst>
                                          <p:attrName>style.visibility</p:attrName>
                                        </p:attrNameLst>
                                      </p:cBhvr>
                                      <p:to>
                                        <p:strVal val="visible"/>
                                      </p:to>
                                    </p:set>
                                    <p:animEffect transition="in" filter="wipe(down)">
                                      <p:cBhvr>
                                        <p:cTn id="162" dur="500"/>
                                        <p:tgtEl>
                                          <p:spTgt spid="64"/>
                                        </p:tgtEl>
                                      </p:cBhvr>
                                    </p:animEffect>
                                  </p:childTnLst>
                                </p:cTn>
                              </p:par>
                              <p:par>
                                <p:cTn id="163" presetID="22" presetClass="entr" presetSubtype="4" fill="hold" nodeType="withEffect">
                                  <p:stCondLst>
                                    <p:cond delay="0"/>
                                  </p:stCondLst>
                                  <p:childTnLst>
                                    <p:set>
                                      <p:cBhvr>
                                        <p:cTn id="164" dur="1" fill="hold">
                                          <p:stCondLst>
                                            <p:cond delay="0"/>
                                          </p:stCondLst>
                                        </p:cTn>
                                        <p:tgtEl>
                                          <p:spTgt spid="59"/>
                                        </p:tgtEl>
                                        <p:attrNameLst>
                                          <p:attrName>style.visibility</p:attrName>
                                        </p:attrNameLst>
                                      </p:cBhvr>
                                      <p:to>
                                        <p:strVal val="visible"/>
                                      </p:to>
                                    </p:set>
                                    <p:animEffect transition="in" filter="wipe(down)">
                                      <p:cBhvr>
                                        <p:cTn id="165" dur="500"/>
                                        <p:tgtEl>
                                          <p:spTgt spid="59"/>
                                        </p:tgtEl>
                                      </p:cBhvr>
                                    </p:animEffect>
                                  </p:childTnLst>
                                </p:cTn>
                              </p:par>
                              <p:par>
                                <p:cTn id="166" presetID="22" presetClass="entr" presetSubtype="4" fill="hold" nodeType="withEffect">
                                  <p:stCondLst>
                                    <p:cond delay="0"/>
                                  </p:stCondLst>
                                  <p:childTnLst>
                                    <p:set>
                                      <p:cBhvr>
                                        <p:cTn id="167" dur="1" fill="hold">
                                          <p:stCondLst>
                                            <p:cond delay="0"/>
                                          </p:stCondLst>
                                        </p:cTn>
                                        <p:tgtEl>
                                          <p:spTgt spid="80"/>
                                        </p:tgtEl>
                                        <p:attrNameLst>
                                          <p:attrName>style.visibility</p:attrName>
                                        </p:attrNameLst>
                                      </p:cBhvr>
                                      <p:to>
                                        <p:strVal val="visible"/>
                                      </p:to>
                                    </p:set>
                                    <p:animEffect transition="in" filter="wipe(down)">
                                      <p:cBhvr>
                                        <p:cTn id="168" dur="500"/>
                                        <p:tgtEl>
                                          <p:spTgt spid="80"/>
                                        </p:tgtEl>
                                      </p:cBhvr>
                                    </p:animEffect>
                                  </p:childTnLst>
                                </p:cTn>
                              </p:par>
                              <p:par>
                                <p:cTn id="169" presetID="22" presetClass="entr" presetSubtype="4" fill="hold" nodeType="withEffect">
                                  <p:stCondLst>
                                    <p:cond delay="0"/>
                                  </p:stCondLst>
                                  <p:childTnLst>
                                    <p:set>
                                      <p:cBhvr>
                                        <p:cTn id="170" dur="1" fill="hold">
                                          <p:stCondLst>
                                            <p:cond delay="0"/>
                                          </p:stCondLst>
                                        </p:cTn>
                                        <p:tgtEl>
                                          <p:spTgt spid="79"/>
                                        </p:tgtEl>
                                        <p:attrNameLst>
                                          <p:attrName>style.visibility</p:attrName>
                                        </p:attrNameLst>
                                      </p:cBhvr>
                                      <p:to>
                                        <p:strVal val="visible"/>
                                      </p:to>
                                    </p:set>
                                    <p:animEffect transition="in" filter="wipe(down)">
                                      <p:cBhvr>
                                        <p:cTn id="171" dur="500"/>
                                        <p:tgtEl>
                                          <p:spTgt spid="79"/>
                                        </p:tgtEl>
                                      </p:cBhvr>
                                    </p:animEffect>
                                  </p:childTnLst>
                                </p:cTn>
                              </p:par>
                              <p:par>
                                <p:cTn id="172" presetID="22" presetClass="entr" presetSubtype="4" fill="hold" nodeType="withEffect">
                                  <p:stCondLst>
                                    <p:cond delay="0"/>
                                  </p:stCondLst>
                                  <p:childTnLst>
                                    <p:set>
                                      <p:cBhvr>
                                        <p:cTn id="173" dur="1" fill="hold">
                                          <p:stCondLst>
                                            <p:cond delay="0"/>
                                          </p:stCondLst>
                                        </p:cTn>
                                        <p:tgtEl>
                                          <p:spTgt spid="82"/>
                                        </p:tgtEl>
                                        <p:attrNameLst>
                                          <p:attrName>style.visibility</p:attrName>
                                        </p:attrNameLst>
                                      </p:cBhvr>
                                      <p:to>
                                        <p:strVal val="visible"/>
                                      </p:to>
                                    </p:set>
                                    <p:animEffect transition="in" filter="wipe(down)">
                                      <p:cBhvr>
                                        <p:cTn id="174" dur="500"/>
                                        <p:tgtEl>
                                          <p:spTgt spid="82"/>
                                        </p:tgtEl>
                                      </p:cBhvr>
                                    </p:animEffect>
                                  </p:childTnLst>
                                </p:cTn>
                              </p:par>
                              <p:par>
                                <p:cTn id="175" presetID="22" presetClass="entr" presetSubtype="4" fill="hold" nodeType="withEffect">
                                  <p:stCondLst>
                                    <p:cond delay="0"/>
                                  </p:stCondLst>
                                  <p:childTnLst>
                                    <p:set>
                                      <p:cBhvr>
                                        <p:cTn id="176" dur="1" fill="hold">
                                          <p:stCondLst>
                                            <p:cond delay="0"/>
                                          </p:stCondLst>
                                        </p:cTn>
                                        <p:tgtEl>
                                          <p:spTgt spid="81"/>
                                        </p:tgtEl>
                                        <p:attrNameLst>
                                          <p:attrName>style.visibility</p:attrName>
                                        </p:attrNameLst>
                                      </p:cBhvr>
                                      <p:to>
                                        <p:strVal val="visible"/>
                                      </p:to>
                                    </p:set>
                                    <p:animEffect transition="in" filter="wipe(down)">
                                      <p:cBhvr>
                                        <p:cTn id="177" dur="500"/>
                                        <p:tgtEl>
                                          <p:spTgt spid="81"/>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4" fill="hold" nodeType="clickEffect">
                                  <p:stCondLst>
                                    <p:cond delay="0"/>
                                  </p:stCondLst>
                                  <p:childTnLst>
                                    <p:set>
                                      <p:cBhvr>
                                        <p:cTn id="181" dur="1" fill="hold">
                                          <p:stCondLst>
                                            <p:cond delay="0"/>
                                          </p:stCondLst>
                                        </p:cTn>
                                        <p:tgtEl>
                                          <p:spTgt spid="83"/>
                                        </p:tgtEl>
                                        <p:attrNameLst>
                                          <p:attrName>style.visibility</p:attrName>
                                        </p:attrNameLst>
                                      </p:cBhvr>
                                      <p:to>
                                        <p:strVal val="visible"/>
                                      </p:to>
                                    </p:set>
                                    <p:animEffect transition="in" filter="wipe(down)">
                                      <p:cBhvr>
                                        <p:cTn id="182" dur="500"/>
                                        <p:tgtEl>
                                          <p:spTgt spid="83"/>
                                        </p:tgtEl>
                                      </p:cBhvr>
                                    </p:animEffect>
                                  </p:childTnLst>
                                </p:cTn>
                              </p:par>
                              <p:par>
                                <p:cTn id="183" presetID="22" presetClass="entr" presetSubtype="4" fill="hold" nodeType="withEffect">
                                  <p:stCondLst>
                                    <p:cond delay="0"/>
                                  </p:stCondLst>
                                  <p:childTnLst>
                                    <p:set>
                                      <p:cBhvr>
                                        <p:cTn id="184" dur="1" fill="hold">
                                          <p:stCondLst>
                                            <p:cond delay="0"/>
                                          </p:stCondLst>
                                        </p:cTn>
                                        <p:tgtEl>
                                          <p:spTgt spid="84"/>
                                        </p:tgtEl>
                                        <p:attrNameLst>
                                          <p:attrName>style.visibility</p:attrName>
                                        </p:attrNameLst>
                                      </p:cBhvr>
                                      <p:to>
                                        <p:strVal val="visible"/>
                                      </p:to>
                                    </p:set>
                                    <p:animEffect transition="in" filter="wipe(down)">
                                      <p:cBhvr>
                                        <p:cTn id="185" dur="500"/>
                                        <p:tgtEl>
                                          <p:spTgt spid="84"/>
                                        </p:tgtEl>
                                      </p:cBhvr>
                                    </p:animEffect>
                                  </p:childTnLst>
                                </p:cTn>
                              </p:par>
                              <p:par>
                                <p:cTn id="186" presetID="22" presetClass="entr" presetSubtype="4" fill="hold" nodeType="withEffect">
                                  <p:stCondLst>
                                    <p:cond delay="0"/>
                                  </p:stCondLst>
                                  <p:childTnLst>
                                    <p:set>
                                      <p:cBhvr>
                                        <p:cTn id="187" dur="1" fill="hold">
                                          <p:stCondLst>
                                            <p:cond delay="0"/>
                                          </p:stCondLst>
                                        </p:cTn>
                                        <p:tgtEl>
                                          <p:spTgt spid="85"/>
                                        </p:tgtEl>
                                        <p:attrNameLst>
                                          <p:attrName>style.visibility</p:attrName>
                                        </p:attrNameLst>
                                      </p:cBhvr>
                                      <p:to>
                                        <p:strVal val="visible"/>
                                      </p:to>
                                    </p:set>
                                    <p:animEffect transition="in" filter="wipe(down)">
                                      <p:cBhvr>
                                        <p:cTn id="188" dur="500"/>
                                        <p:tgtEl>
                                          <p:spTgt spid="85"/>
                                        </p:tgtEl>
                                      </p:cBhvr>
                                    </p:animEffect>
                                  </p:childTnLst>
                                </p:cTn>
                              </p:par>
                              <p:par>
                                <p:cTn id="189" presetID="22" presetClass="entr" presetSubtype="4" fill="hold" nodeType="withEffect">
                                  <p:stCondLst>
                                    <p:cond delay="0"/>
                                  </p:stCondLst>
                                  <p:childTnLst>
                                    <p:set>
                                      <p:cBhvr>
                                        <p:cTn id="190" dur="1" fill="hold">
                                          <p:stCondLst>
                                            <p:cond delay="0"/>
                                          </p:stCondLst>
                                        </p:cTn>
                                        <p:tgtEl>
                                          <p:spTgt spid="86"/>
                                        </p:tgtEl>
                                        <p:attrNameLst>
                                          <p:attrName>style.visibility</p:attrName>
                                        </p:attrNameLst>
                                      </p:cBhvr>
                                      <p:to>
                                        <p:strVal val="visible"/>
                                      </p:to>
                                    </p:set>
                                    <p:animEffect transition="in" filter="wipe(down)">
                                      <p:cBhvr>
                                        <p:cTn id="191" dur="500"/>
                                        <p:tgtEl>
                                          <p:spTgt spid="86"/>
                                        </p:tgtEl>
                                      </p:cBhvr>
                                    </p:animEffect>
                                  </p:childTnLst>
                                </p:cTn>
                              </p:par>
                              <p:par>
                                <p:cTn id="192" presetID="22" presetClass="entr" presetSubtype="4" fill="hold" nodeType="withEffect">
                                  <p:stCondLst>
                                    <p:cond delay="0"/>
                                  </p:stCondLst>
                                  <p:childTnLst>
                                    <p:set>
                                      <p:cBhvr>
                                        <p:cTn id="193" dur="1" fill="hold">
                                          <p:stCondLst>
                                            <p:cond delay="0"/>
                                          </p:stCondLst>
                                        </p:cTn>
                                        <p:tgtEl>
                                          <p:spTgt spid="87"/>
                                        </p:tgtEl>
                                        <p:attrNameLst>
                                          <p:attrName>style.visibility</p:attrName>
                                        </p:attrNameLst>
                                      </p:cBhvr>
                                      <p:to>
                                        <p:strVal val="visible"/>
                                      </p:to>
                                    </p:set>
                                    <p:animEffect transition="in" filter="wipe(down)">
                                      <p:cBhvr>
                                        <p:cTn id="194" dur="500"/>
                                        <p:tgtEl>
                                          <p:spTgt spid="87"/>
                                        </p:tgtEl>
                                      </p:cBhvr>
                                    </p:animEffect>
                                  </p:childTnLst>
                                </p:cTn>
                              </p:par>
                              <p:par>
                                <p:cTn id="195" presetID="22" presetClass="entr" presetSubtype="4" fill="hold" nodeType="withEffect">
                                  <p:stCondLst>
                                    <p:cond delay="0"/>
                                  </p:stCondLst>
                                  <p:childTnLst>
                                    <p:set>
                                      <p:cBhvr>
                                        <p:cTn id="196" dur="1" fill="hold">
                                          <p:stCondLst>
                                            <p:cond delay="0"/>
                                          </p:stCondLst>
                                        </p:cTn>
                                        <p:tgtEl>
                                          <p:spTgt spid="88"/>
                                        </p:tgtEl>
                                        <p:attrNameLst>
                                          <p:attrName>style.visibility</p:attrName>
                                        </p:attrNameLst>
                                      </p:cBhvr>
                                      <p:to>
                                        <p:strVal val="visible"/>
                                      </p:to>
                                    </p:set>
                                    <p:animEffect transition="in" filter="wipe(down)">
                                      <p:cBhvr>
                                        <p:cTn id="197"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p:bldP spid="11" grpId="0" animBg="1"/>
      <p:bldP spid="12" grpId="0" animBg="1"/>
      <p:bldP spid="13" grpId="0" animBg="1"/>
      <p:bldP spid="14" grpId="0"/>
      <p:bldP spid="15" grpId="0" animBg="1"/>
      <p:bldP spid="16" grpId="0" animBg="1"/>
      <p:bldP spid="17" grpId="0" animBg="1"/>
      <p:bldP spid="18" grpId="0" animBg="1"/>
      <p:bldP spid="19" grpId="0" animBg="1"/>
      <p:bldP spid="20" grpId="0" animBg="1"/>
      <p:bldP spid="21" grpId="0" animBg="1"/>
      <p:bldP spid="22" grpId="0"/>
      <p:bldP spid="23" grpId="0" animBg="1"/>
      <p:bldP spid="24" grpId="0" animBg="1"/>
      <p:bldP spid="25" grpId="0" animBg="1"/>
      <p:bldP spid="26" grpId="0" animBg="1"/>
      <p:bldP spid="27" grpId="0" animBg="1"/>
      <p:bldP spid="28" grpId="0" animBg="1"/>
      <p:bldP spid="29" grpId="0" animBg="1"/>
      <p:bldP spid="30" grpId="0"/>
      <p:bldP spid="31" grpId="0" animBg="1"/>
      <p:bldP spid="32" grpId="0" animBg="1"/>
      <p:bldP spid="33" grpId="0" animBg="1"/>
      <p:bldP spid="34" grpId="0" animBg="1"/>
      <p:bldP spid="35" grpId="0" animBg="1"/>
      <p:bldP spid="36" grpId="0"/>
      <p:bldP spid="37" grpId="0" animBg="1"/>
      <p:bldP spid="38" grpId="0" animBg="1"/>
      <p:bldP spid="39" grpId="0" animBg="1"/>
      <p:bldP spid="40" grpId="0" animBg="1"/>
      <p:bldP spid="41" grpId="0" animBg="1"/>
      <p:bldP spid="42" grpId="0" animBg="1"/>
      <p:bldP spid="43" grpId="0" animBg="1"/>
      <p:bldP spid="44" grpId="0" animBg="1"/>
      <p:bldP spid="45" grpId="0" animBg="1"/>
      <p:bldP spid="46" grpId="0"/>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841" y="163773"/>
            <a:ext cx="6180859" cy="1015663"/>
          </a:xfrm>
          <a:prstGeom prst="rect">
            <a:avLst/>
          </a:prstGeom>
          <a:noFill/>
        </p:spPr>
        <p:txBody>
          <a:bodyPr wrap="none" rtlCol="0">
            <a:spAutoFit/>
          </a:bodyPr>
          <a:lstStyle/>
          <a:p>
            <a:r>
              <a:rPr lang="en-IN" sz="6000" dirty="0" smtClean="0">
                <a:solidFill>
                  <a:schemeClr val="bg1"/>
                </a:solidFill>
              </a:rPr>
              <a:t>Inheritance</a:t>
            </a:r>
            <a:r>
              <a:rPr lang="en-IN" sz="6000" dirty="0">
                <a:solidFill>
                  <a:schemeClr val="bg1"/>
                </a:solidFill>
              </a:rPr>
              <a:t> </a:t>
            </a:r>
            <a:r>
              <a:rPr lang="en-IN" sz="6000" dirty="0" smtClean="0">
                <a:solidFill>
                  <a:schemeClr val="bg1"/>
                </a:solidFill>
              </a:rPr>
              <a:t>In JAVA</a:t>
            </a:r>
            <a:endParaRPr lang="en-IN" sz="6000" dirty="0">
              <a:solidFill>
                <a:schemeClr val="bg1"/>
              </a:solidFill>
            </a:endParaRPr>
          </a:p>
        </p:txBody>
      </p:sp>
      <p:cxnSp>
        <p:nvCxnSpPr>
          <p:cNvPr id="3" name="Straight Connector 2"/>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259307" y="1129937"/>
            <a:ext cx="8884693" cy="6001643"/>
          </a:xfrm>
          <a:prstGeom prst="rect">
            <a:avLst/>
          </a:prstGeom>
        </p:spPr>
        <p:txBody>
          <a:bodyPr wrap="square">
            <a:spAutoFit/>
          </a:bodyPr>
          <a:lstStyle/>
          <a:p>
            <a:pPr>
              <a:lnSpc>
                <a:spcPct val="150000"/>
              </a:lnSpc>
            </a:pPr>
            <a:r>
              <a:rPr lang="en-IN" sz="3200" dirty="0">
                <a:solidFill>
                  <a:schemeClr val="bg1"/>
                </a:solidFill>
                <a:latin typeface="CourierStd"/>
              </a:rPr>
              <a:t>// A simple example of inheritance.</a:t>
            </a:r>
          </a:p>
          <a:p>
            <a:pPr lvl="2">
              <a:lnSpc>
                <a:spcPct val="150000"/>
              </a:lnSpc>
            </a:pPr>
            <a:r>
              <a:rPr lang="en-IN" sz="3200" dirty="0" smtClean="0">
                <a:solidFill>
                  <a:schemeClr val="bg1"/>
                </a:solidFill>
                <a:latin typeface="CourierStd"/>
              </a:rPr>
              <a:t>class </a:t>
            </a:r>
            <a:r>
              <a:rPr lang="en-IN" sz="3200" dirty="0" err="1" smtClean="0">
                <a:solidFill>
                  <a:schemeClr val="bg1"/>
                </a:solidFill>
                <a:latin typeface="CourierStd"/>
              </a:rPr>
              <a:t>SuperClass</a:t>
            </a:r>
            <a:r>
              <a:rPr lang="en-IN" sz="3200" dirty="0" smtClean="0">
                <a:solidFill>
                  <a:schemeClr val="bg1"/>
                </a:solidFill>
                <a:latin typeface="CourierStd"/>
              </a:rPr>
              <a:t> </a:t>
            </a:r>
            <a:r>
              <a:rPr lang="en-IN" sz="3200" dirty="0">
                <a:solidFill>
                  <a:schemeClr val="bg1"/>
                </a:solidFill>
                <a:latin typeface="CourierStd"/>
              </a:rPr>
              <a:t>{</a:t>
            </a:r>
          </a:p>
          <a:p>
            <a:pPr lvl="2">
              <a:lnSpc>
                <a:spcPct val="150000"/>
              </a:lnSpc>
            </a:pPr>
            <a:r>
              <a:rPr lang="en-IN" sz="3200" dirty="0" smtClean="0">
                <a:solidFill>
                  <a:schemeClr val="bg1"/>
                </a:solidFill>
                <a:latin typeface="CourierStd"/>
              </a:rPr>
              <a:t>	……….</a:t>
            </a:r>
          </a:p>
          <a:p>
            <a:pPr lvl="2">
              <a:lnSpc>
                <a:spcPct val="150000"/>
              </a:lnSpc>
            </a:pPr>
            <a:r>
              <a:rPr lang="en-IN" sz="3200" dirty="0" smtClean="0">
                <a:solidFill>
                  <a:schemeClr val="bg1"/>
                </a:solidFill>
                <a:latin typeface="CourierStd"/>
              </a:rPr>
              <a:t>}</a:t>
            </a:r>
            <a:endParaRPr lang="en-IN" sz="3200" dirty="0">
              <a:solidFill>
                <a:schemeClr val="bg1"/>
              </a:solidFill>
              <a:latin typeface="CourierStd"/>
            </a:endParaRPr>
          </a:p>
          <a:p>
            <a:pPr>
              <a:lnSpc>
                <a:spcPct val="150000"/>
              </a:lnSpc>
            </a:pPr>
            <a:r>
              <a:rPr lang="en-IN" sz="3200" dirty="0" smtClean="0">
                <a:solidFill>
                  <a:schemeClr val="bg1"/>
                </a:solidFill>
                <a:latin typeface="CourierStd"/>
              </a:rPr>
              <a:t>// </a:t>
            </a:r>
            <a:r>
              <a:rPr lang="en-IN" sz="3200" dirty="0">
                <a:solidFill>
                  <a:schemeClr val="bg1"/>
                </a:solidFill>
                <a:latin typeface="CourierStd"/>
              </a:rPr>
              <a:t>Create a subclass by extending class A.</a:t>
            </a:r>
          </a:p>
          <a:p>
            <a:pPr>
              <a:lnSpc>
                <a:spcPct val="150000"/>
              </a:lnSpc>
            </a:pPr>
            <a:r>
              <a:rPr lang="en-IN" sz="3200" dirty="0">
                <a:solidFill>
                  <a:schemeClr val="bg1"/>
                </a:solidFill>
                <a:latin typeface="CourierStd"/>
              </a:rPr>
              <a:t>class </a:t>
            </a:r>
            <a:r>
              <a:rPr lang="en-IN" sz="3200" dirty="0" err="1" smtClean="0">
                <a:solidFill>
                  <a:schemeClr val="bg1"/>
                </a:solidFill>
                <a:latin typeface="CourierStd"/>
              </a:rPr>
              <a:t>SubClass</a:t>
            </a:r>
            <a:r>
              <a:rPr lang="en-IN" sz="3200" dirty="0" smtClean="0">
                <a:solidFill>
                  <a:schemeClr val="bg1"/>
                </a:solidFill>
                <a:latin typeface="CourierStd"/>
              </a:rPr>
              <a:t> </a:t>
            </a:r>
            <a:r>
              <a:rPr lang="en-IN" sz="3200" b="1" dirty="0">
                <a:solidFill>
                  <a:srgbClr val="FFC000"/>
                </a:solidFill>
                <a:latin typeface="CourierStd"/>
              </a:rPr>
              <a:t>extends</a:t>
            </a:r>
            <a:r>
              <a:rPr lang="en-IN" sz="3200" dirty="0">
                <a:solidFill>
                  <a:schemeClr val="bg1"/>
                </a:solidFill>
                <a:latin typeface="CourierStd"/>
              </a:rPr>
              <a:t> </a:t>
            </a:r>
            <a:r>
              <a:rPr lang="en-IN" sz="3200" dirty="0" err="1" smtClean="0">
                <a:solidFill>
                  <a:schemeClr val="bg1"/>
                </a:solidFill>
                <a:latin typeface="CourierStd"/>
              </a:rPr>
              <a:t>SuperClass</a:t>
            </a:r>
            <a:r>
              <a:rPr lang="en-IN" sz="3200" dirty="0" smtClean="0">
                <a:solidFill>
                  <a:schemeClr val="bg1"/>
                </a:solidFill>
                <a:latin typeface="CourierStd"/>
              </a:rPr>
              <a:t> </a:t>
            </a:r>
            <a:r>
              <a:rPr lang="en-IN" sz="3200" dirty="0">
                <a:solidFill>
                  <a:schemeClr val="bg1"/>
                </a:solidFill>
                <a:latin typeface="CourierStd"/>
              </a:rPr>
              <a:t>{</a:t>
            </a:r>
          </a:p>
          <a:p>
            <a:pPr>
              <a:lnSpc>
                <a:spcPct val="150000"/>
              </a:lnSpc>
            </a:pPr>
            <a:r>
              <a:rPr lang="en-IN" sz="3200" dirty="0" smtClean="0">
                <a:solidFill>
                  <a:schemeClr val="bg1"/>
                </a:solidFill>
                <a:latin typeface="CourierStd"/>
              </a:rPr>
              <a:t>	………….</a:t>
            </a:r>
          </a:p>
          <a:p>
            <a:pPr>
              <a:lnSpc>
                <a:spcPct val="150000"/>
              </a:lnSpc>
            </a:pPr>
            <a:r>
              <a:rPr lang="en-IN" sz="3200" dirty="0" smtClean="0">
                <a:solidFill>
                  <a:schemeClr val="bg1"/>
                </a:solidFill>
                <a:latin typeface="CourierStd"/>
              </a:rPr>
              <a:t>}</a:t>
            </a:r>
            <a:endParaRPr lang="en-IN" sz="3200" dirty="0">
              <a:solidFill>
                <a:schemeClr val="bg1"/>
              </a:solidFill>
            </a:endParaRPr>
          </a:p>
        </p:txBody>
      </p:sp>
    </p:spTree>
    <p:extLst>
      <p:ext uri="{BB962C8B-B14F-4D97-AF65-F5344CB8AC3E}">
        <p14:creationId xmlns:p14="http://schemas.microsoft.com/office/powerpoint/2010/main" val="2078136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wipe(down)">
                                      <p:cBhvr>
                                        <p:cTn id="11" dur="500"/>
                                        <p:tgtEl>
                                          <p:spTgt spid="4">
                                            <p:txEl>
                                              <p:pRg st="1" end="1"/>
                                            </p:txEl>
                                          </p:spTgt>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down)">
                                      <p:cBhvr>
                                        <p:cTn id="15" dur="500"/>
                                        <p:tgtEl>
                                          <p:spTgt spid="4">
                                            <p:txEl>
                                              <p:pRg st="2" end="2"/>
                                            </p:txEl>
                                          </p:spTgt>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wipe(down)">
                                      <p:cBhvr>
                                        <p:cTn id="19" dur="500"/>
                                        <p:tgtEl>
                                          <p:spTgt spid="4">
                                            <p:txEl>
                                              <p:pRg st="3" end="3"/>
                                            </p:txEl>
                                          </p:spTgt>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wipe(down)">
                                      <p:cBhvr>
                                        <p:cTn id="23" dur="500"/>
                                        <p:tgtEl>
                                          <p:spTgt spid="4">
                                            <p:txEl>
                                              <p:pRg st="4" end="4"/>
                                            </p:txEl>
                                          </p:spTgt>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wipe(down)">
                                      <p:cBhvr>
                                        <p:cTn id="27" dur="500"/>
                                        <p:tgtEl>
                                          <p:spTgt spid="4">
                                            <p:txEl>
                                              <p:pRg st="5" end="5"/>
                                            </p:txEl>
                                          </p:spTgt>
                                        </p:tgtEl>
                                      </p:cBhvr>
                                    </p:animEffect>
                                  </p:childTnLst>
                                </p:cTn>
                              </p:par>
                            </p:childTnLst>
                          </p:cTn>
                        </p:par>
                        <p:par>
                          <p:cTn id="28" fill="hold">
                            <p:stCondLst>
                              <p:cond delay="3000"/>
                            </p:stCondLst>
                            <p:childTnLst>
                              <p:par>
                                <p:cTn id="29" presetID="22" presetClass="entr" presetSubtype="4" fill="hold" nodeType="after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wipe(down)">
                                      <p:cBhvr>
                                        <p:cTn id="31" dur="500"/>
                                        <p:tgtEl>
                                          <p:spTgt spid="4">
                                            <p:txEl>
                                              <p:pRg st="6" end="6"/>
                                            </p:txEl>
                                          </p:spTgt>
                                        </p:tgtEl>
                                      </p:cBhvr>
                                    </p:animEffect>
                                  </p:childTnLst>
                                </p:cTn>
                              </p:par>
                            </p:childTnLst>
                          </p:cTn>
                        </p:par>
                        <p:par>
                          <p:cTn id="32" fill="hold">
                            <p:stCondLst>
                              <p:cond delay="3500"/>
                            </p:stCondLst>
                            <p:childTnLst>
                              <p:par>
                                <p:cTn id="33" presetID="22" presetClass="entr" presetSubtype="4" fill="hold" nodeType="after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animEffect transition="in" filter="wipe(down)">
                                      <p:cBhvr>
                                        <p:cTn id="35"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841" y="163773"/>
            <a:ext cx="10235751" cy="1015663"/>
          </a:xfrm>
          <a:prstGeom prst="rect">
            <a:avLst/>
          </a:prstGeom>
          <a:noFill/>
        </p:spPr>
        <p:txBody>
          <a:bodyPr wrap="none" rtlCol="0">
            <a:spAutoFit/>
          </a:bodyPr>
          <a:lstStyle/>
          <a:p>
            <a:r>
              <a:rPr lang="en-IN" sz="6000" dirty="0">
                <a:solidFill>
                  <a:schemeClr val="bg1"/>
                </a:solidFill>
              </a:rPr>
              <a:t>Member Access and Inheritance</a:t>
            </a:r>
          </a:p>
        </p:txBody>
      </p:sp>
      <p:cxnSp>
        <p:nvCxnSpPr>
          <p:cNvPr id="3" name="Straight Connector 2"/>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191069" y="1037230"/>
            <a:ext cx="4026089" cy="5262979"/>
          </a:xfrm>
          <a:prstGeom prst="rect">
            <a:avLst/>
          </a:prstGeom>
        </p:spPr>
        <p:txBody>
          <a:bodyPr wrap="square">
            <a:spAutoFit/>
          </a:bodyPr>
          <a:lstStyle/>
          <a:p>
            <a:pPr>
              <a:lnSpc>
                <a:spcPct val="200000"/>
              </a:lnSpc>
            </a:pPr>
            <a:r>
              <a:rPr lang="en-IN" sz="2800" dirty="0" smtClean="0">
                <a:solidFill>
                  <a:schemeClr val="bg1"/>
                </a:solidFill>
              </a:rPr>
              <a:t>public class </a:t>
            </a:r>
            <a:r>
              <a:rPr lang="en-IN" sz="2800" b="1" dirty="0">
                <a:solidFill>
                  <a:srgbClr val="FFC000"/>
                </a:solidFill>
              </a:rPr>
              <a:t>Light</a:t>
            </a:r>
            <a:r>
              <a:rPr lang="en-IN" sz="2800" dirty="0">
                <a:solidFill>
                  <a:schemeClr val="bg1"/>
                </a:solidFill>
              </a:rPr>
              <a:t> { </a:t>
            </a:r>
          </a:p>
          <a:p>
            <a:pPr>
              <a:lnSpc>
                <a:spcPct val="200000"/>
              </a:lnSpc>
            </a:pPr>
            <a:r>
              <a:rPr lang="en-IN" sz="2800" dirty="0" err="1" smtClean="0">
                <a:solidFill>
                  <a:schemeClr val="bg1"/>
                </a:solidFill>
              </a:rPr>
              <a:t>int</a:t>
            </a:r>
            <a:r>
              <a:rPr lang="en-IN" sz="2800" dirty="0" smtClean="0">
                <a:solidFill>
                  <a:schemeClr val="bg1"/>
                </a:solidFill>
              </a:rPr>
              <a:t> </a:t>
            </a:r>
            <a:r>
              <a:rPr lang="en-IN" sz="2800" dirty="0" err="1">
                <a:solidFill>
                  <a:schemeClr val="bg1"/>
                </a:solidFill>
              </a:rPr>
              <a:t>noOfWatts</a:t>
            </a:r>
            <a:r>
              <a:rPr lang="en-IN" sz="2800" dirty="0">
                <a:solidFill>
                  <a:schemeClr val="bg1"/>
                </a:solidFill>
              </a:rPr>
              <a:t>; </a:t>
            </a:r>
          </a:p>
          <a:p>
            <a:pPr>
              <a:lnSpc>
                <a:spcPct val="200000"/>
              </a:lnSpc>
            </a:pPr>
            <a:r>
              <a:rPr lang="en-IN" sz="2800" dirty="0" smtClean="0">
                <a:solidFill>
                  <a:srgbClr val="FFC000"/>
                </a:solidFill>
              </a:rPr>
              <a:t>private</a:t>
            </a:r>
            <a:r>
              <a:rPr lang="en-IN" sz="2800" dirty="0" smtClean="0">
                <a:solidFill>
                  <a:schemeClr val="bg1"/>
                </a:solidFill>
              </a:rPr>
              <a:t> </a:t>
            </a:r>
            <a:r>
              <a:rPr lang="en-IN" sz="2800" dirty="0" err="1">
                <a:solidFill>
                  <a:schemeClr val="bg1"/>
                </a:solidFill>
              </a:rPr>
              <a:t>boolean</a:t>
            </a:r>
            <a:r>
              <a:rPr lang="en-IN" sz="2800" dirty="0">
                <a:solidFill>
                  <a:schemeClr val="bg1"/>
                </a:solidFill>
              </a:rPr>
              <a:t> indicator; </a:t>
            </a:r>
            <a:endParaRPr lang="en-IN" sz="2800" dirty="0" smtClean="0">
              <a:solidFill>
                <a:schemeClr val="bg1"/>
              </a:solidFill>
            </a:endParaRPr>
          </a:p>
          <a:p>
            <a:pPr>
              <a:lnSpc>
                <a:spcPct val="200000"/>
              </a:lnSpc>
            </a:pPr>
            <a:r>
              <a:rPr lang="en-IN" sz="2800" dirty="0" smtClean="0">
                <a:solidFill>
                  <a:srgbClr val="FFC000"/>
                </a:solidFill>
              </a:rPr>
              <a:t>protected</a:t>
            </a:r>
            <a:r>
              <a:rPr lang="en-IN" sz="2800" dirty="0" smtClean="0">
                <a:solidFill>
                  <a:schemeClr val="bg1"/>
                </a:solidFill>
              </a:rPr>
              <a:t> </a:t>
            </a:r>
            <a:r>
              <a:rPr lang="en-IN" sz="2800" dirty="0">
                <a:solidFill>
                  <a:schemeClr val="bg1"/>
                </a:solidFill>
              </a:rPr>
              <a:t>String location; </a:t>
            </a:r>
            <a:endParaRPr lang="en-IN" sz="2800" dirty="0" smtClean="0">
              <a:solidFill>
                <a:schemeClr val="bg1"/>
              </a:solidFill>
            </a:endParaRPr>
          </a:p>
          <a:p>
            <a:pPr>
              <a:lnSpc>
                <a:spcPct val="200000"/>
              </a:lnSpc>
            </a:pPr>
            <a:r>
              <a:rPr lang="en-IN" sz="2800" dirty="0" smtClean="0">
                <a:solidFill>
                  <a:srgbClr val="FFC000"/>
                </a:solidFill>
              </a:rPr>
              <a:t>private</a:t>
            </a:r>
            <a:r>
              <a:rPr lang="en-IN" sz="2800" dirty="0" smtClean="0">
                <a:solidFill>
                  <a:schemeClr val="bg1"/>
                </a:solidFill>
              </a:rPr>
              <a:t> </a:t>
            </a:r>
            <a:r>
              <a:rPr lang="en-IN" sz="2800" dirty="0">
                <a:solidFill>
                  <a:schemeClr val="bg1"/>
                </a:solidFill>
              </a:rPr>
              <a:t>static </a:t>
            </a:r>
            <a:r>
              <a:rPr lang="en-IN" sz="2800" dirty="0" err="1">
                <a:solidFill>
                  <a:schemeClr val="bg1"/>
                </a:solidFill>
              </a:rPr>
              <a:t>int</a:t>
            </a:r>
            <a:r>
              <a:rPr lang="en-IN" sz="2800" dirty="0">
                <a:solidFill>
                  <a:schemeClr val="bg1"/>
                </a:solidFill>
              </a:rPr>
              <a:t> counter; </a:t>
            </a:r>
            <a:endParaRPr lang="en-IN" sz="2800" dirty="0" smtClean="0">
              <a:solidFill>
                <a:schemeClr val="bg1"/>
              </a:solidFill>
            </a:endParaRPr>
          </a:p>
          <a:p>
            <a:pPr>
              <a:lnSpc>
                <a:spcPct val="200000"/>
              </a:lnSpc>
            </a:pPr>
            <a:r>
              <a:rPr lang="en-IN" sz="2800" dirty="0">
                <a:solidFill>
                  <a:schemeClr val="bg1"/>
                </a:solidFill>
              </a:rPr>
              <a:t>}</a:t>
            </a:r>
          </a:p>
        </p:txBody>
      </p:sp>
      <p:sp>
        <p:nvSpPr>
          <p:cNvPr id="5" name="Rectangle 4"/>
          <p:cNvSpPr/>
          <p:nvPr/>
        </p:nvSpPr>
        <p:spPr>
          <a:xfrm>
            <a:off x="4776716" y="1062167"/>
            <a:ext cx="7274257" cy="6124754"/>
          </a:xfrm>
          <a:prstGeom prst="rect">
            <a:avLst/>
          </a:prstGeom>
        </p:spPr>
        <p:txBody>
          <a:bodyPr wrap="square">
            <a:spAutoFit/>
          </a:bodyPr>
          <a:lstStyle/>
          <a:p>
            <a:pPr>
              <a:lnSpc>
                <a:spcPct val="200000"/>
              </a:lnSpc>
            </a:pPr>
            <a:r>
              <a:rPr lang="en-IN" sz="2800" dirty="0" smtClean="0">
                <a:solidFill>
                  <a:schemeClr val="bg1"/>
                </a:solidFill>
              </a:rPr>
              <a:t>public  class </a:t>
            </a:r>
            <a:r>
              <a:rPr lang="en-IN" sz="2800" b="1" dirty="0" err="1" smtClean="0">
                <a:solidFill>
                  <a:srgbClr val="FFC000"/>
                </a:solidFill>
              </a:rPr>
              <a:t>TubeLight</a:t>
            </a:r>
            <a:r>
              <a:rPr lang="en-IN" sz="2800" dirty="0" smtClean="0">
                <a:solidFill>
                  <a:schemeClr val="bg1"/>
                </a:solidFill>
              </a:rPr>
              <a:t>  extends </a:t>
            </a:r>
            <a:r>
              <a:rPr lang="en-IN" sz="2800" dirty="0" smtClean="0">
                <a:solidFill>
                  <a:srgbClr val="FFC000"/>
                </a:solidFill>
              </a:rPr>
              <a:t>Light</a:t>
            </a:r>
            <a:r>
              <a:rPr lang="en-IN" sz="2800" dirty="0" smtClean="0">
                <a:solidFill>
                  <a:schemeClr val="bg1"/>
                </a:solidFill>
              </a:rPr>
              <a:t>{</a:t>
            </a:r>
          </a:p>
          <a:p>
            <a:pPr>
              <a:lnSpc>
                <a:spcPct val="200000"/>
              </a:lnSpc>
            </a:pPr>
            <a:r>
              <a:rPr lang="en-IN" sz="2800" dirty="0" smtClean="0">
                <a:solidFill>
                  <a:schemeClr val="bg1"/>
                </a:solidFill>
              </a:rPr>
              <a:t>public </a:t>
            </a:r>
            <a:r>
              <a:rPr lang="en-IN" sz="2800" dirty="0">
                <a:solidFill>
                  <a:schemeClr val="bg1"/>
                </a:solidFill>
              </a:rPr>
              <a:t>void </a:t>
            </a:r>
            <a:r>
              <a:rPr lang="en-IN" sz="2800" dirty="0" err="1">
                <a:solidFill>
                  <a:srgbClr val="FFC000"/>
                </a:solidFill>
              </a:rPr>
              <a:t>printInfo</a:t>
            </a:r>
            <a:r>
              <a:rPr lang="en-IN" sz="2800" dirty="0">
                <a:solidFill>
                  <a:schemeClr val="bg1"/>
                </a:solidFill>
              </a:rPr>
              <a:t>() {</a:t>
            </a:r>
          </a:p>
          <a:p>
            <a:pPr>
              <a:lnSpc>
                <a:spcPct val="200000"/>
              </a:lnSpc>
            </a:pPr>
            <a:r>
              <a:rPr lang="en-IN" sz="2800" dirty="0" err="1" smtClean="0">
                <a:solidFill>
                  <a:schemeClr val="bg1"/>
                </a:solidFill>
              </a:rPr>
              <a:t>System.out.println</a:t>
            </a:r>
            <a:r>
              <a:rPr lang="en-IN" sz="2800" dirty="0">
                <a:solidFill>
                  <a:schemeClr val="bg1"/>
                </a:solidFill>
              </a:rPr>
              <a:t>("Wattage: " + </a:t>
            </a:r>
            <a:r>
              <a:rPr lang="en-IN" sz="2800" dirty="0" err="1">
                <a:solidFill>
                  <a:srgbClr val="FFC000"/>
                </a:solidFill>
              </a:rPr>
              <a:t>noOfWatts</a:t>
            </a:r>
            <a:r>
              <a:rPr lang="en-IN" sz="2800" dirty="0">
                <a:solidFill>
                  <a:schemeClr val="bg1"/>
                </a:solidFill>
              </a:rPr>
              <a:t>); </a:t>
            </a:r>
          </a:p>
          <a:p>
            <a:pPr>
              <a:lnSpc>
                <a:spcPct val="200000"/>
              </a:lnSpc>
            </a:pPr>
            <a:r>
              <a:rPr lang="en-IN" sz="2800" dirty="0" err="1" smtClean="0">
                <a:solidFill>
                  <a:schemeClr val="bg1"/>
                </a:solidFill>
              </a:rPr>
              <a:t>System.out.println</a:t>
            </a:r>
            <a:r>
              <a:rPr lang="en-IN" sz="2800" dirty="0">
                <a:solidFill>
                  <a:schemeClr val="bg1"/>
                </a:solidFill>
              </a:rPr>
              <a:t>("Indicator: " + </a:t>
            </a:r>
            <a:r>
              <a:rPr lang="en-IN" sz="2800" dirty="0">
                <a:solidFill>
                  <a:srgbClr val="FFC000"/>
                </a:solidFill>
              </a:rPr>
              <a:t>indicator</a:t>
            </a:r>
            <a:r>
              <a:rPr lang="en-IN" sz="2800" dirty="0" smtClean="0">
                <a:solidFill>
                  <a:schemeClr val="bg1"/>
                </a:solidFill>
              </a:rPr>
              <a:t>);</a:t>
            </a:r>
            <a:endParaRPr lang="en-IN" sz="2800" dirty="0">
              <a:solidFill>
                <a:schemeClr val="bg1"/>
              </a:solidFill>
            </a:endParaRPr>
          </a:p>
          <a:p>
            <a:pPr>
              <a:lnSpc>
                <a:spcPct val="200000"/>
              </a:lnSpc>
            </a:pPr>
            <a:r>
              <a:rPr lang="en-IN" sz="2800" dirty="0" err="1" smtClean="0">
                <a:solidFill>
                  <a:schemeClr val="bg1"/>
                </a:solidFill>
              </a:rPr>
              <a:t>System.out.println</a:t>
            </a:r>
            <a:r>
              <a:rPr lang="en-IN" sz="2800" dirty="0">
                <a:solidFill>
                  <a:schemeClr val="bg1"/>
                </a:solidFill>
              </a:rPr>
              <a:t>("Location: " + </a:t>
            </a:r>
            <a:r>
              <a:rPr lang="en-IN" sz="2800" dirty="0">
                <a:solidFill>
                  <a:srgbClr val="FFC000"/>
                </a:solidFill>
              </a:rPr>
              <a:t>location</a:t>
            </a:r>
            <a:r>
              <a:rPr lang="en-IN" sz="2800" dirty="0">
                <a:solidFill>
                  <a:schemeClr val="bg1"/>
                </a:solidFill>
              </a:rPr>
              <a:t>); </a:t>
            </a:r>
            <a:endParaRPr lang="en-IN" sz="2800" dirty="0" smtClean="0">
              <a:solidFill>
                <a:schemeClr val="bg1"/>
              </a:solidFill>
            </a:endParaRPr>
          </a:p>
          <a:p>
            <a:pPr>
              <a:lnSpc>
                <a:spcPct val="200000"/>
              </a:lnSpc>
            </a:pPr>
            <a:r>
              <a:rPr lang="en-IN" sz="2800" dirty="0" err="1" smtClean="0">
                <a:solidFill>
                  <a:schemeClr val="bg1"/>
                </a:solidFill>
              </a:rPr>
              <a:t>System.out.println</a:t>
            </a:r>
            <a:r>
              <a:rPr lang="en-IN" sz="2800" dirty="0">
                <a:solidFill>
                  <a:schemeClr val="bg1"/>
                </a:solidFill>
              </a:rPr>
              <a:t>("Counter: " + </a:t>
            </a:r>
            <a:r>
              <a:rPr lang="en-IN" sz="2800" dirty="0">
                <a:solidFill>
                  <a:srgbClr val="FFC000"/>
                </a:solidFill>
              </a:rPr>
              <a:t>counter</a:t>
            </a:r>
            <a:r>
              <a:rPr lang="en-IN" sz="2800" dirty="0">
                <a:solidFill>
                  <a:schemeClr val="bg1"/>
                </a:solidFill>
              </a:rPr>
              <a:t>); </a:t>
            </a:r>
            <a:endParaRPr lang="en-IN" sz="2800" dirty="0" smtClean="0">
              <a:solidFill>
                <a:schemeClr val="bg1"/>
              </a:solidFill>
            </a:endParaRPr>
          </a:p>
          <a:p>
            <a:pPr>
              <a:lnSpc>
                <a:spcPct val="200000"/>
              </a:lnSpc>
            </a:pPr>
            <a:r>
              <a:rPr lang="en-IN" sz="2800" dirty="0" smtClean="0">
                <a:solidFill>
                  <a:schemeClr val="bg1"/>
                </a:solidFill>
              </a:rPr>
              <a:t>}</a:t>
            </a:r>
            <a:endParaRPr lang="en-IN" sz="2800" dirty="0">
              <a:solidFill>
                <a:schemeClr val="bg1"/>
              </a:solidFill>
            </a:endParaRPr>
          </a:p>
        </p:txBody>
      </p:sp>
      <p:cxnSp>
        <p:nvCxnSpPr>
          <p:cNvPr id="6" name="Straight Connector 5"/>
          <p:cNvCxnSpPr/>
          <p:nvPr/>
        </p:nvCxnSpPr>
        <p:spPr>
          <a:xfrm flipH="1">
            <a:off x="11147596" y="3977861"/>
            <a:ext cx="688992" cy="5189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flipV="1">
            <a:off x="11148796" y="3963361"/>
            <a:ext cx="712987" cy="52498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11122401" y="5589641"/>
            <a:ext cx="688992" cy="5189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flipV="1">
            <a:off x="11123601" y="5575141"/>
            <a:ext cx="712987" cy="52498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769290" y="1869744"/>
            <a:ext cx="3234519" cy="0"/>
          </a:xfrm>
          <a:prstGeom prst="line">
            <a:avLst/>
          </a:prstGeom>
          <a:ln w="57150">
            <a:solidFill>
              <a:srgbClr val="FFFF00"/>
            </a:solidFill>
          </a:ln>
          <a:effectLst>
            <a:outerShdw blurRad="190500" dist="228600" dir="2700000" algn="ctr">
              <a:srgbClr val="000000">
                <a:alpha val="30000"/>
              </a:srgbClr>
            </a:outerShdw>
          </a:effectLst>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191069" y="1138579"/>
            <a:ext cx="11859904" cy="567856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571500" indent="-571500" algn="just">
              <a:buFont typeface="Arial" panose="020B0604020202020204" pitchFamily="34" charset="0"/>
              <a:buChar char="•"/>
            </a:pPr>
            <a:r>
              <a:rPr lang="en-IN" sz="3600" dirty="0"/>
              <a:t>Although a subclass includes all of the members of its superclass, it </a:t>
            </a:r>
            <a:r>
              <a:rPr lang="en-IN" sz="3600" dirty="0">
                <a:solidFill>
                  <a:srgbClr val="FFC000"/>
                </a:solidFill>
              </a:rPr>
              <a:t>cannot access</a:t>
            </a:r>
            <a:r>
              <a:rPr lang="en-IN" sz="3600" dirty="0"/>
              <a:t> </a:t>
            </a:r>
            <a:r>
              <a:rPr lang="en-IN" sz="3600" dirty="0" smtClean="0"/>
              <a:t>those members </a:t>
            </a:r>
            <a:r>
              <a:rPr lang="en-IN" sz="3600" dirty="0"/>
              <a:t>of the superclass that have been declared as </a:t>
            </a:r>
            <a:r>
              <a:rPr lang="en-IN" sz="3600" dirty="0">
                <a:solidFill>
                  <a:srgbClr val="FFC000"/>
                </a:solidFill>
              </a:rPr>
              <a:t>private</a:t>
            </a:r>
            <a:r>
              <a:rPr lang="en-IN" sz="3600" dirty="0" smtClean="0"/>
              <a:t>.</a:t>
            </a:r>
          </a:p>
          <a:p>
            <a:pPr marL="571500" indent="-571500" algn="just">
              <a:buFont typeface="Arial" panose="020B0604020202020204" pitchFamily="34" charset="0"/>
              <a:buChar char="•"/>
            </a:pPr>
            <a:endParaRPr lang="en-IN" sz="3600" dirty="0" smtClean="0"/>
          </a:p>
          <a:p>
            <a:pPr marL="571500" indent="-571500" algn="just">
              <a:buFont typeface="Arial" panose="020B0604020202020204" pitchFamily="34" charset="0"/>
              <a:buChar char="•"/>
            </a:pPr>
            <a:r>
              <a:rPr lang="en-IN" sz="3600" dirty="0">
                <a:solidFill>
                  <a:srgbClr val="FFC000"/>
                </a:solidFill>
              </a:rPr>
              <a:t>Private members</a:t>
            </a:r>
            <a:r>
              <a:rPr lang="en-IN" sz="3600" dirty="0"/>
              <a:t> of the superclass are not inherited by the subclass and can </a:t>
            </a:r>
            <a:r>
              <a:rPr lang="en-IN" sz="3600" dirty="0" smtClean="0"/>
              <a:t>only be </a:t>
            </a:r>
            <a:r>
              <a:rPr lang="en-IN" sz="3600" dirty="0">
                <a:solidFill>
                  <a:srgbClr val="FFC000"/>
                </a:solidFill>
              </a:rPr>
              <a:t>indirectly </a:t>
            </a:r>
            <a:r>
              <a:rPr lang="en-IN" sz="3600" dirty="0" smtClean="0">
                <a:solidFill>
                  <a:srgbClr val="FFC000"/>
                </a:solidFill>
              </a:rPr>
              <a:t>accessed </a:t>
            </a:r>
            <a:r>
              <a:rPr lang="en-IN" sz="3600" dirty="0" smtClean="0">
                <a:solidFill>
                  <a:schemeClr val="bg1"/>
                </a:solidFill>
              </a:rPr>
              <a:t>(Using getter setter methods)</a:t>
            </a:r>
            <a:r>
              <a:rPr lang="en-IN" sz="3600" dirty="0" smtClean="0"/>
              <a:t>.</a:t>
            </a:r>
          </a:p>
          <a:p>
            <a:pPr marL="571500" indent="-571500" algn="just">
              <a:buFont typeface="Arial" panose="020B0604020202020204" pitchFamily="34" charset="0"/>
              <a:buChar char="•"/>
            </a:pPr>
            <a:endParaRPr lang="en-IN" sz="3600" dirty="0" smtClean="0"/>
          </a:p>
          <a:p>
            <a:pPr marL="571500" indent="-571500" algn="just">
              <a:buFont typeface="Arial" panose="020B0604020202020204" pitchFamily="34" charset="0"/>
              <a:buChar char="•"/>
            </a:pPr>
            <a:r>
              <a:rPr lang="en-IN" sz="3600" dirty="0"/>
              <a:t>Since </a:t>
            </a:r>
            <a:r>
              <a:rPr lang="en-IN" sz="3600" dirty="0">
                <a:solidFill>
                  <a:srgbClr val="FFC000"/>
                </a:solidFill>
              </a:rPr>
              <a:t>constructors</a:t>
            </a:r>
            <a:r>
              <a:rPr lang="en-IN" sz="3600" dirty="0"/>
              <a:t> </a:t>
            </a:r>
            <a:r>
              <a:rPr lang="en-IN" sz="3600" dirty="0" smtClean="0"/>
              <a:t>and </a:t>
            </a:r>
            <a:r>
              <a:rPr lang="en-IN" sz="3600" dirty="0">
                <a:solidFill>
                  <a:srgbClr val="FFC000"/>
                </a:solidFill>
              </a:rPr>
              <a:t>initializer </a:t>
            </a:r>
            <a:r>
              <a:rPr lang="en-IN" sz="3600" dirty="0" smtClean="0">
                <a:solidFill>
                  <a:srgbClr val="FFC000"/>
                </a:solidFill>
              </a:rPr>
              <a:t>blocks ({….})</a:t>
            </a:r>
            <a:r>
              <a:rPr lang="en-IN" sz="3600" dirty="0" smtClean="0"/>
              <a:t> are </a:t>
            </a:r>
            <a:r>
              <a:rPr lang="en-IN" sz="3600" dirty="0"/>
              <a:t>not members of a class, they are not inherited by a subclass.</a:t>
            </a:r>
          </a:p>
        </p:txBody>
      </p:sp>
    </p:spTree>
    <p:extLst>
      <p:ext uri="{BB962C8B-B14F-4D97-AF65-F5344CB8AC3E}">
        <p14:creationId xmlns:p14="http://schemas.microsoft.com/office/powerpoint/2010/main" val="2815528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down)">
                                      <p:cBhvr>
                                        <p:cTn id="21" dur="500"/>
                                        <p:tgtEl>
                                          <p:spTgt spid="7"/>
                                        </p:tgtEl>
                                      </p:cBhvr>
                                    </p:animEffect>
                                  </p:childTnLst>
                                </p:cTn>
                              </p:par>
                            </p:childTnLst>
                          </p:cTn>
                        </p:par>
                        <p:par>
                          <p:cTn id="22" fill="hold">
                            <p:stCondLst>
                              <p:cond delay="500"/>
                            </p:stCondLst>
                            <p:childTnLst>
                              <p:par>
                                <p:cTn id="23" presetID="22" presetClass="entr" presetSubtype="4"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childTnLst>
                          </p:cTn>
                        </p:par>
                        <p:par>
                          <p:cTn id="26" fill="hold">
                            <p:stCondLst>
                              <p:cond delay="1000"/>
                            </p:stCondLst>
                            <p:childTnLst>
                              <p:par>
                                <p:cTn id="27" presetID="22" presetClass="entr" presetSubtype="4"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down)">
                                      <p:cBhvr>
                                        <p:cTn id="29" dur="500"/>
                                        <p:tgtEl>
                                          <p:spTgt spid="9"/>
                                        </p:tgtEl>
                                      </p:cBhvr>
                                    </p:animEffect>
                                  </p:childTnLst>
                                </p:cTn>
                              </p:par>
                            </p:childTnLst>
                          </p:cTn>
                        </p:par>
                        <p:par>
                          <p:cTn id="30" fill="hold">
                            <p:stCondLst>
                              <p:cond delay="1500"/>
                            </p:stCondLst>
                            <p:childTnLst>
                              <p:par>
                                <p:cTn id="31" presetID="22" presetClass="entr" presetSubtype="4" fill="hold"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down)">
                                      <p:cBhvr>
                                        <p:cTn id="33" dur="5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nodeType="withEffect">
                                  <p:stCondLst>
                                    <p:cond delay="0"/>
                                  </p:stCondLst>
                                  <p:childTnLst>
                                    <p:set>
                                      <p:cBhvr>
                                        <p:cTn id="40" dur="1" fill="hold">
                                          <p:stCondLst>
                                            <p:cond delay="0"/>
                                          </p:stCondLst>
                                        </p:cTn>
                                        <p:tgtEl>
                                          <p:spTgt spid="12">
                                            <p:txEl>
                                              <p:pRg st="0" end="0"/>
                                            </p:txEl>
                                          </p:spTgt>
                                        </p:tgtEl>
                                        <p:attrNameLst>
                                          <p:attrName>style.visibility</p:attrName>
                                        </p:attrNameLst>
                                      </p:cBhvr>
                                      <p:to>
                                        <p:strVal val="visible"/>
                                      </p:to>
                                    </p:set>
                                    <p:animEffect transition="in" filter="fade">
                                      <p:cBhvr>
                                        <p:cTn id="41" dur="500"/>
                                        <p:tgtEl>
                                          <p:spTgt spid="12">
                                            <p:txEl>
                                              <p:pRg st="0" end="0"/>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2">
                                            <p:txEl>
                                              <p:pRg st="2" end="2"/>
                                            </p:txEl>
                                          </p:spTgt>
                                        </p:tgtEl>
                                        <p:attrNameLst>
                                          <p:attrName>style.visibility</p:attrName>
                                        </p:attrNameLst>
                                      </p:cBhvr>
                                      <p:to>
                                        <p:strVal val="visible"/>
                                      </p:to>
                                    </p:set>
                                    <p:animEffect transition="in" filter="fade">
                                      <p:cBhvr>
                                        <p:cTn id="46" dur="500"/>
                                        <p:tgtEl>
                                          <p:spTgt spid="12">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2">
                                            <p:txEl>
                                              <p:pRg st="4" end="4"/>
                                            </p:txEl>
                                          </p:spTgt>
                                        </p:tgtEl>
                                        <p:attrNameLst>
                                          <p:attrName>style.visibility</p:attrName>
                                        </p:attrNameLst>
                                      </p:cBhvr>
                                      <p:to>
                                        <p:strVal val="visible"/>
                                      </p:to>
                                    </p:set>
                                    <p:animEffect transition="in" filter="fade">
                                      <p:cBhvr>
                                        <p:cTn id="51" dur="500"/>
                                        <p:tgtEl>
                                          <p:spTgt spid="1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841" y="163773"/>
            <a:ext cx="4468146" cy="1015663"/>
          </a:xfrm>
          <a:prstGeom prst="rect">
            <a:avLst/>
          </a:prstGeom>
          <a:noFill/>
        </p:spPr>
        <p:txBody>
          <a:bodyPr wrap="none" rtlCol="0">
            <a:spAutoFit/>
          </a:bodyPr>
          <a:lstStyle/>
          <a:p>
            <a:r>
              <a:rPr lang="en-IN" sz="6000" dirty="0" smtClean="0">
                <a:solidFill>
                  <a:schemeClr val="bg1"/>
                </a:solidFill>
              </a:rPr>
              <a:t>Inheritance….</a:t>
            </a:r>
            <a:endParaRPr lang="en-IN" sz="6000" dirty="0">
              <a:solidFill>
                <a:schemeClr val="bg1"/>
              </a:solidFill>
            </a:endParaRPr>
          </a:p>
        </p:txBody>
      </p:sp>
      <p:cxnSp>
        <p:nvCxnSpPr>
          <p:cNvPr id="3" name="Straight Connector 2"/>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245660" y="1303825"/>
            <a:ext cx="11805313" cy="5262979"/>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IN" sz="3200" dirty="0">
                <a:solidFill>
                  <a:schemeClr val="bg1"/>
                </a:solidFill>
              </a:rPr>
              <a:t>The </a:t>
            </a:r>
            <a:r>
              <a:rPr lang="en-IN" sz="3200" b="1" dirty="0">
                <a:solidFill>
                  <a:srgbClr val="FFC000"/>
                </a:solidFill>
              </a:rPr>
              <a:t>superclass</a:t>
            </a:r>
            <a:r>
              <a:rPr lang="en-IN" sz="3200" dirty="0">
                <a:solidFill>
                  <a:schemeClr val="bg1"/>
                </a:solidFill>
              </a:rPr>
              <a:t> is specified using the </a:t>
            </a:r>
            <a:r>
              <a:rPr lang="en-IN" sz="3200" b="1" dirty="0">
                <a:solidFill>
                  <a:srgbClr val="FFC000"/>
                </a:solidFill>
              </a:rPr>
              <a:t>extends</a:t>
            </a:r>
            <a:r>
              <a:rPr lang="en-IN" sz="3200" dirty="0">
                <a:solidFill>
                  <a:schemeClr val="bg1"/>
                </a:solidFill>
              </a:rPr>
              <a:t> clause in the header of the </a:t>
            </a:r>
            <a:r>
              <a:rPr lang="en-IN" sz="3200" b="1" dirty="0" smtClean="0">
                <a:solidFill>
                  <a:srgbClr val="FFC000"/>
                </a:solidFill>
              </a:rPr>
              <a:t>subclass</a:t>
            </a:r>
            <a:r>
              <a:rPr lang="en-IN" sz="3200" dirty="0" smtClean="0">
                <a:solidFill>
                  <a:schemeClr val="bg1"/>
                </a:solidFill>
              </a:rPr>
              <a:t> declaration</a:t>
            </a:r>
            <a:r>
              <a:rPr lang="en-IN" sz="3200" dirty="0">
                <a:solidFill>
                  <a:schemeClr val="bg1"/>
                </a:solidFill>
              </a:rPr>
              <a:t>. </a:t>
            </a:r>
            <a:endParaRPr lang="en-IN" sz="3200" dirty="0" smtClean="0">
              <a:solidFill>
                <a:schemeClr val="bg1"/>
              </a:solidFill>
            </a:endParaRPr>
          </a:p>
          <a:p>
            <a:pPr marL="457200" indent="-457200" algn="just">
              <a:lnSpc>
                <a:spcPct val="150000"/>
              </a:lnSpc>
              <a:buFont typeface="Arial" panose="020B0604020202020204" pitchFamily="34" charset="0"/>
              <a:buChar char="•"/>
            </a:pPr>
            <a:r>
              <a:rPr lang="en-IN" sz="3200" dirty="0" smtClean="0">
                <a:solidFill>
                  <a:schemeClr val="bg1"/>
                </a:solidFill>
              </a:rPr>
              <a:t>The </a:t>
            </a:r>
            <a:r>
              <a:rPr lang="en-IN" sz="3200" dirty="0">
                <a:solidFill>
                  <a:schemeClr val="bg1"/>
                </a:solidFill>
              </a:rPr>
              <a:t>subclass only specifies the </a:t>
            </a:r>
            <a:r>
              <a:rPr lang="en-IN" sz="3200" b="1" dirty="0">
                <a:solidFill>
                  <a:srgbClr val="FFC000"/>
                </a:solidFill>
              </a:rPr>
              <a:t>additional new</a:t>
            </a:r>
            <a:r>
              <a:rPr lang="en-IN" sz="3200" dirty="0">
                <a:solidFill>
                  <a:schemeClr val="bg1"/>
                </a:solidFill>
              </a:rPr>
              <a:t> and </a:t>
            </a:r>
            <a:r>
              <a:rPr lang="en-IN" sz="3200" b="1" dirty="0">
                <a:solidFill>
                  <a:srgbClr val="FFC000"/>
                </a:solidFill>
              </a:rPr>
              <a:t>modified</a:t>
            </a:r>
            <a:r>
              <a:rPr lang="en-IN" sz="3200" dirty="0">
                <a:solidFill>
                  <a:schemeClr val="bg1"/>
                </a:solidFill>
              </a:rPr>
              <a:t> </a:t>
            </a:r>
            <a:r>
              <a:rPr lang="en-IN" sz="3200" b="1" dirty="0" smtClean="0">
                <a:solidFill>
                  <a:srgbClr val="FFC000"/>
                </a:solidFill>
              </a:rPr>
              <a:t>members</a:t>
            </a:r>
            <a:r>
              <a:rPr lang="en-IN" sz="3200" dirty="0" smtClean="0">
                <a:solidFill>
                  <a:schemeClr val="bg1"/>
                </a:solidFill>
              </a:rPr>
              <a:t> in </a:t>
            </a:r>
            <a:r>
              <a:rPr lang="en-IN" sz="3200" dirty="0">
                <a:solidFill>
                  <a:schemeClr val="bg1"/>
                </a:solidFill>
              </a:rPr>
              <a:t>its class body. The rest of its declaration is made up of its inherited members. </a:t>
            </a:r>
            <a:endParaRPr lang="en-IN" sz="3200" dirty="0" smtClean="0">
              <a:solidFill>
                <a:schemeClr val="bg1"/>
              </a:solidFill>
            </a:endParaRPr>
          </a:p>
          <a:p>
            <a:pPr marL="457200" indent="-457200" algn="just">
              <a:lnSpc>
                <a:spcPct val="150000"/>
              </a:lnSpc>
              <a:buFont typeface="Arial" panose="020B0604020202020204" pitchFamily="34" charset="0"/>
              <a:buChar char="•"/>
            </a:pPr>
            <a:r>
              <a:rPr lang="en-IN" sz="3200" dirty="0" smtClean="0">
                <a:solidFill>
                  <a:schemeClr val="bg1"/>
                </a:solidFill>
              </a:rPr>
              <a:t>If </a:t>
            </a:r>
            <a:r>
              <a:rPr lang="en-IN" sz="3200" dirty="0" smtClean="0">
                <a:solidFill>
                  <a:srgbClr val="FFC000"/>
                </a:solidFill>
              </a:rPr>
              <a:t>no </a:t>
            </a:r>
            <a:r>
              <a:rPr lang="en-IN" sz="3200" dirty="0">
                <a:solidFill>
                  <a:srgbClr val="FFC000"/>
                </a:solidFill>
              </a:rPr>
              <a:t>extends clause</a:t>
            </a:r>
            <a:r>
              <a:rPr lang="en-IN" sz="3200" dirty="0">
                <a:solidFill>
                  <a:schemeClr val="bg1"/>
                </a:solidFill>
              </a:rPr>
              <a:t> is specified in the header of a class declaration, the </a:t>
            </a:r>
            <a:r>
              <a:rPr lang="en-IN" sz="3200" dirty="0">
                <a:solidFill>
                  <a:srgbClr val="FFC000"/>
                </a:solidFill>
              </a:rPr>
              <a:t>class </a:t>
            </a:r>
            <a:r>
              <a:rPr lang="en-IN" sz="3200" dirty="0" smtClean="0">
                <a:solidFill>
                  <a:srgbClr val="FFC000"/>
                </a:solidFill>
              </a:rPr>
              <a:t>implicitly inherits </a:t>
            </a:r>
            <a:r>
              <a:rPr lang="en-IN" sz="3200" dirty="0">
                <a:solidFill>
                  <a:srgbClr val="FFC000"/>
                </a:solidFill>
              </a:rPr>
              <a:t>from the </a:t>
            </a:r>
            <a:r>
              <a:rPr lang="en-IN" sz="3200" b="1" dirty="0" err="1">
                <a:solidFill>
                  <a:srgbClr val="92D050"/>
                </a:solidFill>
              </a:rPr>
              <a:t>java.lang.Object</a:t>
            </a:r>
            <a:r>
              <a:rPr lang="en-IN" sz="3200" dirty="0">
                <a:solidFill>
                  <a:srgbClr val="FFC000"/>
                </a:solidFill>
              </a:rPr>
              <a:t> </a:t>
            </a:r>
            <a:r>
              <a:rPr lang="en-IN" sz="3200" dirty="0" smtClean="0">
                <a:solidFill>
                  <a:srgbClr val="FFC000"/>
                </a:solidFill>
              </a:rPr>
              <a:t>class.</a:t>
            </a:r>
            <a:endParaRPr lang="en-IN" sz="3200" dirty="0">
              <a:solidFill>
                <a:srgbClr val="FFC000"/>
              </a:solidFill>
            </a:endParaRPr>
          </a:p>
        </p:txBody>
      </p:sp>
      <p:cxnSp>
        <p:nvCxnSpPr>
          <p:cNvPr id="8" name="Straight Connector 7"/>
          <p:cNvCxnSpPr/>
          <p:nvPr/>
        </p:nvCxnSpPr>
        <p:spPr>
          <a:xfrm>
            <a:off x="6728345" y="6414448"/>
            <a:ext cx="2879678" cy="0"/>
          </a:xfrm>
          <a:prstGeom prst="line">
            <a:avLst/>
          </a:prstGeom>
          <a:ln w="57150">
            <a:solidFill>
              <a:srgbClr val="FFFF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16175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841" y="163773"/>
            <a:ext cx="8323369" cy="1015663"/>
          </a:xfrm>
          <a:prstGeom prst="rect">
            <a:avLst/>
          </a:prstGeom>
          <a:noFill/>
        </p:spPr>
        <p:txBody>
          <a:bodyPr wrap="none" rtlCol="0">
            <a:spAutoFit/>
          </a:bodyPr>
          <a:lstStyle/>
          <a:p>
            <a:r>
              <a:rPr lang="en-IN" sz="6000" dirty="0" smtClean="0">
                <a:solidFill>
                  <a:schemeClr val="bg1"/>
                </a:solidFill>
              </a:rPr>
              <a:t>Inheritance…. (Final Class)</a:t>
            </a:r>
            <a:endParaRPr lang="en-IN" sz="6000" dirty="0">
              <a:solidFill>
                <a:schemeClr val="bg1"/>
              </a:solidFill>
            </a:endParaRPr>
          </a:p>
        </p:txBody>
      </p:sp>
      <p:cxnSp>
        <p:nvCxnSpPr>
          <p:cNvPr id="3" name="Straight Connector 2"/>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354841" y="1365619"/>
            <a:ext cx="11096930" cy="1493358"/>
          </a:xfrm>
          <a:prstGeom prst="rect">
            <a:avLst/>
          </a:prstGeom>
        </p:spPr>
        <p:txBody>
          <a:bodyPr wrap="square">
            <a:spAutoFit/>
          </a:bodyPr>
          <a:lstStyle/>
          <a:p>
            <a:pPr>
              <a:lnSpc>
                <a:spcPct val="150000"/>
              </a:lnSpc>
            </a:pPr>
            <a:r>
              <a:rPr lang="en-IN" sz="3200" dirty="0">
                <a:solidFill>
                  <a:schemeClr val="bg1"/>
                </a:solidFill>
              </a:rPr>
              <a:t>Declaring class with </a:t>
            </a:r>
            <a:r>
              <a:rPr lang="en-IN" sz="3200" b="1" dirty="0">
                <a:solidFill>
                  <a:srgbClr val="FFC000"/>
                </a:solidFill>
              </a:rPr>
              <a:t>final modifier prevents it being extended or </a:t>
            </a:r>
            <a:r>
              <a:rPr lang="en-IN" sz="3200" b="1" dirty="0" err="1">
                <a:solidFill>
                  <a:srgbClr val="FFC000"/>
                </a:solidFill>
              </a:rPr>
              <a:t>subclassed</a:t>
            </a:r>
            <a:r>
              <a:rPr lang="en-IN" sz="3200" b="1" dirty="0" smtClean="0">
                <a:solidFill>
                  <a:srgbClr val="FFC000"/>
                </a:solidFill>
              </a:rPr>
              <a:t>.</a:t>
            </a:r>
          </a:p>
        </p:txBody>
      </p:sp>
      <p:sp>
        <p:nvSpPr>
          <p:cNvPr id="7" name="Rectangle 6"/>
          <p:cNvSpPr/>
          <p:nvPr/>
        </p:nvSpPr>
        <p:spPr>
          <a:xfrm>
            <a:off x="366214" y="3187366"/>
            <a:ext cx="4583157" cy="2308324"/>
          </a:xfrm>
          <a:prstGeom prst="rect">
            <a:avLst/>
          </a:prstGeom>
        </p:spPr>
        <p:txBody>
          <a:bodyPr wrap="square">
            <a:spAutoFit/>
          </a:bodyPr>
          <a:lstStyle/>
          <a:p>
            <a:pPr>
              <a:lnSpc>
                <a:spcPct val="150000"/>
              </a:lnSpc>
            </a:pPr>
            <a:r>
              <a:rPr lang="en-IN" sz="3200" dirty="0">
                <a:solidFill>
                  <a:schemeClr val="bg1"/>
                </a:solidFill>
              </a:rPr>
              <a:t>public </a:t>
            </a:r>
            <a:r>
              <a:rPr lang="en-IN" sz="3200" dirty="0">
                <a:solidFill>
                  <a:srgbClr val="FF0000"/>
                </a:solidFill>
              </a:rPr>
              <a:t>final</a:t>
            </a:r>
            <a:r>
              <a:rPr lang="en-IN" sz="3200" dirty="0">
                <a:solidFill>
                  <a:schemeClr val="bg1"/>
                </a:solidFill>
              </a:rPr>
              <a:t> class Light{</a:t>
            </a:r>
          </a:p>
          <a:p>
            <a:pPr>
              <a:lnSpc>
                <a:spcPct val="150000"/>
              </a:lnSpc>
            </a:pPr>
            <a:endParaRPr lang="en-IN" sz="3200" dirty="0">
              <a:solidFill>
                <a:schemeClr val="bg1"/>
              </a:solidFill>
            </a:endParaRPr>
          </a:p>
          <a:p>
            <a:pPr>
              <a:lnSpc>
                <a:spcPct val="150000"/>
              </a:lnSpc>
            </a:pPr>
            <a:r>
              <a:rPr lang="en-IN" sz="3200" dirty="0">
                <a:solidFill>
                  <a:schemeClr val="bg1"/>
                </a:solidFill>
              </a:rPr>
              <a:t>}</a:t>
            </a:r>
          </a:p>
        </p:txBody>
      </p:sp>
      <p:sp>
        <p:nvSpPr>
          <p:cNvPr id="9" name="Rectangle 8"/>
          <p:cNvSpPr/>
          <p:nvPr/>
        </p:nvSpPr>
        <p:spPr>
          <a:xfrm>
            <a:off x="5729246" y="3223653"/>
            <a:ext cx="6027325" cy="3046988"/>
          </a:xfrm>
          <a:prstGeom prst="rect">
            <a:avLst/>
          </a:prstGeom>
        </p:spPr>
        <p:txBody>
          <a:bodyPr wrap="square">
            <a:spAutoFit/>
          </a:bodyPr>
          <a:lstStyle/>
          <a:p>
            <a:pPr>
              <a:lnSpc>
                <a:spcPct val="150000"/>
              </a:lnSpc>
            </a:pPr>
            <a:r>
              <a:rPr lang="en-IN" sz="3200" dirty="0">
                <a:solidFill>
                  <a:schemeClr val="bg1"/>
                </a:solidFill>
              </a:rPr>
              <a:t>public </a:t>
            </a:r>
            <a:r>
              <a:rPr lang="en-IN" sz="3200" dirty="0" smtClean="0">
                <a:solidFill>
                  <a:schemeClr val="bg1"/>
                </a:solidFill>
              </a:rPr>
              <a:t>class </a:t>
            </a:r>
            <a:r>
              <a:rPr lang="en-IN" sz="3200" dirty="0" err="1" smtClean="0">
                <a:solidFill>
                  <a:schemeClr val="bg1"/>
                </a:solidFill>
              </a:rPr>
              <a:t>TubeLight</a:t>
            </a:r>
            <a:r>
              <a:rPr lang="en-IN" sz="3200" dirty="0" smtClean="0">
                <a:solidFill>
                  <a:schemeClr val="bg1"/>
                </a:solidFill>
              </a:rPr>
              <a:t> extends Light{</a:t>
            </a:r>
            <a:endParaRPr lang="en-IN" sz="3200" dirty="0">
              <a:solidFill>
                <a:schemeClr val="bg1"/>
              </a:solidFill>
            </a:endParaRPr>
          </a:p>
          <a:p>
            <a:pPr>
              <a:lnSpc>
                <a:spcPct val="150000"/>
              </a:lnSpc>
            </a:pPr>
            <a:endParaRPr lang="en-IN" sz="3200" dirty="0">
              <a:solidFill>
                <a:schemeClr val="bg1"/>
              </a:solidFill>
            </a:endParaRPr>
          </a:p>
          <a:p>
            <a:pPr>
              <a:lnSpc>
                <a:spcPct val="150000"/>
              </a:lnSpc>
            </a:pPr>
            <a:r>
              <a:rPr lang="en-IN" sz="3200" dirty="0">
                <a:solidFill>
                  <a:schemeClr val="bg1"/>
                </a:solidFill>
              </a:rPr>
              <a:t>}</a:t>
            </a:r>
          </a:p>
        </p:txBody>
      </p:sp>
      <p:cxnSp>
        <p:nvCxnSpPr>
          <p:cNvPr id="10" name="Straight Connector 9"/>
          <p:cNvCxnSpPr/>
          <p:nvPr/>
        </p:nvCxnSpPr>
        <p:spPr>
          <a:xfrm flipH="1">
            <a:off x="7837715" y="3193677"/>
            <a:ext cx="1379924" cy="114785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flipV="1">
            <a:off x="7739425" y="3187366"/>
            <a:ext cx="1492728" cy="121653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2613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par>
                                <p:cTn id="23" presetID="22" presetClass="entr" presetSubtype="4"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down)">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841" y="163773"/>
            <a:ext cx="9004003" cy="1015663"/>
          </a:xfrm>
          <a:prstGeom prst="rect">
            <a:avLst/>
          </a:prstGeom>
          <a:noFill/>
        </p:spPr>
        <p:txBody>
          <a:bodyPr wrap="none" rtlCol="0">
            <a:spAutoFit/>
          </a:bodyPr>
          <a:lstStyle/>
          <a:p>
            <a:r>
              <a:rPr lang="en-IN" sz="6000" dirty="0">
                <a:solidFill>
                  <a:schemeClr val="bg1"/>
                </a:solidFill>
              </a:rPr>
              <a:t>Relationships: is-a and has-a</a:t>
            </a:r>
          </a:p>
        </p:txBody>
      </p:sp>
      <p:cxnSp>
        <p:nvCxnSpPr>
          <p:cNvPr id="3" name="Straight Connector 2"/>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4" name="Rectangle 3"/>
          <p:cNvSpPr/>
          <p:nvPr/>
        </p:nvSpPr>
        <p:spPr>
          <a:xfrm>
            <a:off x="354841" y="1411785"/>
            <a:ext cx="11573302" cy="4524315"/>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IN" sz="3200" dirty="0">
                <a:solidFill>
                  <a:schemeClr val="bg1"/>
                </a:solidFill>
              </a:rPr>
              <a:t>Inheritance defines the relationship </a:t>
            </a:r>
            <a:r>
              <a:rPr lang="en-IN" sz="3200" b="1" i="1" dirty="0">
                <a:solidFill>
                  <a:srgbClr val="FFC000"/>
                </a:solidFill>
              </a:rPr>
              <a:t>is-a</a:t>
            </a:r>
            <a:r>
              <a:rPr lang="en-IN" sz="3200" i="1" dirty="0">
                <a:solidFill>
                  <a:schemeClr val="bg1"/>
                </a:solidFill>
              </a:rPr>
              <a:t> </a:t>
            </a:r>
            <a:r>
              <a:rPr lang="en-IN" sz="3200" dirty="0">
                <a:solidFill>
                  <a:schemeClr val="bg1"/>
                </a:solidFill>
              </a:rPr>
              <a:t>(also called the </a:t>
            </a:r>
            <a:r>
              <a:rPr lang="en-IN" sz="3200" b="1" i="1" dirty="0">
                <a:solidFill>
                  <a:srgbClr val="FFC000"/>
                </a:solidFill>
              </a:rPr>
              <a:t>superclass–subclass</a:t>
            </a:r>
            <a:r>
              <a:rPr lang="en-IN" sz="3200" i="1" dirty="0">
                <a:solidFill>
                  <a:schemeClr val="bg1"/>
                </a:solidFill>
              </a:rPr>
              <a:t> </a:t>
            </a:r>
            <a:r>
              <a:rPr lang="en-IN" sz="3200" dirty="0" smtClean="0">
                <a:solidFill>
                  <a:schemeClr val="bg1"/>
                </a:solidFill>
              </a:rPr>
              <a:t>relationship) between </a:t>
            </a:r>
            <a:r>
              <a:rPr lang="en-IN" sz="3200" dirty="0">
                <a:solidFill>
                  <a:schemeClr val="bg1"/>
                </a:solidFill>
              </a:rPr>
              <a:t>a superclass and its subclasses. </a:t>
            </a:r>
            <a:endParaRPr lang="en-IN" sz="3200" dirty="0" smtClean="0">
              <a:solidFill>
                <a:schemeClr val="bg1"/>
              </a:solidFill>
            </a:endParaRPr>
          </a:p>
          <a:p>
            <a:pPr marL="457200" indent="-457200" algn="just">
              <a:lnSpc>
                <a:spcPct val="150000"/>
              </a:lnSpc>
              <a:buFont typeface="Arial" panose="020B0604020202020204" pitchFamily="34" charset="0"/>
              <a:buChar char="•"/>
            </a:pPr>
            <a:r>
              <a:rPr lang="en-IN" sz="3200" dirty="0" smtClean="0">
                <a:solidFill>
                  <a:schemeClr val="bg1"/>
                </a:solidFill>
              </a:rPr>
              <a:t>This </a:t>
            </a:r>
            <a:r>
              <a:rPr lang="en-IN" sz="3200" dirty="0">
                <a:solidFill>
                  <a:schemeClr val="bg1"/>
                </a:solidFill>
              </a:rPr>
              <a:t>means that an </a:t>
            </a:r>
            <a:r>
              <a:rPr lang="en-IN" sz="3200" b="1" u="sng" dirty="0">
                <a:solidFill>
                  <a:srgbClr val="FFC000"/>
                </a:solidFill>
              </a:rPr>
              <a:t>object of </a:t>
            </a:r>
            <a:r>
              <a:rPr lang="en-IN" sz="3200" b="1" u="sng" dirty="0" smtClean="0">
                <a:solidFill>
                  <a:srgbClr val="FFC000"/>
                </a:solidFill>
              </a:rPr>
              <a:t>a subclass </a:t>
            </a:r>
            <a:r>
              <a:rPr lang="en-IN" sz="3200" b="1" i="1" u="sng" dirty="0">
                <a:solidFill>
                  <a:srgbClr val="FFC000"/>
                </a:solidFill>
              </a:rPr>
              <a:t>is-a </a:t>
            </a:r>
            <a:r>
              <a:rPr lang="en-IN" sz="3200" b="1" u="sng" dirty="0">
                <a:solidFill>
                  <a:srgbClr val="FFC000"/>
                </a:solidFill>
              </a:rPr>
              <a:t>superclass object</a:t>
            </a:r>
            <a:r>
              <a:rPr lang="en-IN" sz="3200" dirty="0">
                <a:solidFill>
                  <a:schemeClr val="bg1"/>
                </a:solidFill>
              </a:rPr>
              <a:t>, and can be </a:t>
            </a:r>
            <a:r>
              <a:rPr lang="en-IN" sz="3200" b="1" u="sng" dirty="0">
                <a:solidFill>
                  <a:srgbClr val="FFC000"/>
                </a:solidFill>
              </a:rPr>
              <a:t>used wherever an object of the </a:t>
            </a:r>
            <a:r>
              <a:rPr lang="en-IN" sz="3200" b="1" u="sng" dirty="0" smtClean="0">
                <a:solidFill>
                  <a:srgbClr val="FFC000"/>
                </a:solidFill>
              </a:rPr>
              <a:t>superclass can </a:t>
            </a:r>
            <a:r>
              <a:rPr lang="en-IN" sz="3200" b="1" u="sng" dirty="0">
                <a:solidFill>
                  <a:srgbClr val="FFC000"/>
                </a:solidFill>
              </a:rPr>
              <a:t>be used</a:t>
            </a:r>
            <a:r>
              <a:rPr lang="en-IN" sz="3200" dirty="0">
                <a:solidFill>
                  <a:schemeClr val="bg1"/>
                </a:solidFill>
              </a:rPr>
              <a:t>.</a:t>
            </a:r>
          </a:p>
        </p:txBody>
      </p:sp>
    </p:spTree>
    <p:extLst>
      <p:ext uri="{BB962C8B-B14F-4D97-AF65-F5344CB8AC3E}">
        <p14:creationId xmlns:p14="http://schemas.microsoft.com/office/powerpoint/2010/main" val="2806206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841" y="163773"/>
            <a:ext cx="9004003" cy="1015663"/>
          </a:xfrm>
          <a:prstGeom prst="rect">
            <a:avLst/>
          </a:prstGeom>
          <a:noFill/>
        </p:spPr>
        <p:txBody>
          <a:bodyPr wrap="none" rtlCol="0">
            <a:spAutoFit/>
          </a:bodyPr>
          <a:lstStyle/>
          <a:p>
            <a:r>
              <a:rPr lang="en-IN" sz="6000" dirty="0">
                <a:solidFill>
                  <a:schemeClr val="bg1"/>
                </a:solidFill>
              </a:rPr>
              <a:t>Relationships: is-a and has-a</a:t>
            </a:r>
          </a:p>
        </p:txBody>
      </p:sp>
      <p:cxnSp>
        <p:nvCxnSpPr>
          <p:cNvPr id="3" name="Straight Connector 2"/>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191069" y="1037230"/>
            <a:ext cx="5049671" cy="2677656"/>
          </a:xfrm>
          <a:prstGeom prst="rect">
            <a:avLst/>
          </a:prstGeom>
        </p:spPr>
        <p:txBody>
          <a:bodyPr wrap="square">
            <a:spAutoFit/>
          </a:bodyPr>
          <a:lstStyle/>
          <a:p>
            <a:pPr>
              <a:lnSpc>
                <a:spcPct val="200000"/>
              </a:lnSpc>
            </a:pPr>
            <a:r>
              <a:rPr lang="en-IN" sz="2800" dirty="0" smtClean="0">
                <a:solidFill>
                  <a:schemeClr val="bg1"/>
                </a:solidFill>
              </a:rPr>
              <a:t>public class </a:t>
            </a:r>
            <a:r>
              <a:rPr lang="en-IN" sz="2800" b="1" dirty="0">
                <a:solidFill>
                  <a:srgbClr val="FFC000"/>
                </a:solidFill>
              </a:rPr>
              <a:t>Light</a:t>
            </a:r>
            <a:r>
              <a:rPr lang="en-IN" sz="2800" dirty="0">
                <a:solidFill>
                  <a:schemeClr val="bg1"/>
                </a:solidFill>
              </a:rPr>
              <a:t> { </a:t>
            </a:r>
          </a:p>
          <a:p>
            <a:pPr>
              <a:lnSpc>
                <a:spcPct val="200000"/>
              </a:lnSpc>
            </a:pPr>
            <a:r>
              <a:rPr lang="en-IN" sz="2800" dirty="0" smtClean="0">
                <a:solidFill>
                  <a:schemeClr val="bg1"/>
                </a:solidFill>
              </a:rPr>
              <a:t>public void </a:t>
            </a:r>
            <a:r>
              <a:rPr lang="en-IN" sz="2800" dirty="0" err="1">
                <a:solidFill>
                  <a:srgbClr val="FFC000"/>
                </a:solidFill>
              </a:rPr>
              <a:t>s</a:t>
            </a:r>
            <a:r>
              <a:rPr lang="en-IN" sz="2800" dirty="0" err="1" smtClean="0">
                <a:solidFill>
                  <a:srgbClr val="FFC000"/>
                </a:solidFill>
              </a:rPr>
              <a:t>witchOn</a:t>
            </a:r>
            <a:r>
              <a:rPr lang="en-IN" sz="2800" dirty="0" smtClean="0">
                <a:solidFill>
                  <a:schemeClr val="bg1"/>
                </a:solidFill>
              </a:rPr>
              <a:t>() { …. }</a:t>
            </a:r>
          </a:p>
          <a:p>
            <a:pPr>
              <a:lnSpc>
                <a:spcPct val="200000"/>
              </a:lnSpc>
            </a:pPr>
            <a:r>
              <a:rPr lang="en-IN" sz="2800" dirty="0" smtClean="0">
                <a:solidFill>
                  <a:schemeClr val="bg1"/>
                </a:solidFill>
              </a:rPr>
              <a:t>}</a:t>
            </a:r>
            <a:endParaRPr lang="en-IN" sz="2800" dirty="0">
              <a:solidFill>
                <a:schemeClr val="bg1"/>
              </a:solidFill>
            </a:endParaRPr>
          </a:p>
        </p:txBody>
      </p:sp>
      <p:sp>
        <p:nvSpPr>
          <p:cNvPr id="7" name="Rectangle 6"/>
          <p:cNvSpPr/>
          <p:nvPr/>
        </p:nvSpPr>
        <p:spPr>
          <a:xfrm>
            <a:off x="5759359" y="1062167"/>
            <a:ext cx="6264320" cy="3539430"/>
          </a:xfrm>
          <a:prstGeom prst="rect">
            <a:avLst/>
          </a:prstGeom>
        </p:spPr>
        <p:txBody>
          <a:bodyPr wrap="square">
            <a:spAutoFit/>
          </a:bodyPr>
          <a:lstStyle/>
          <a:p>
            <a:pPr>
              <a:lnSpc>
                <a:spcPct val="200000"/>
              </a:lnSpc>
            </a:pPr>
            <a:r>
              <a:rPr lang="en-IN" sz="2800" dirty="0" smtClean="0">
                <a:solidFill>
                  <a:schemeClr val="bg1"/>
                </a:solidFill>
              </a:rPr>
              <a:t>public  class </a:t>
            </a:r>
            <a:r>
              <a:rPr lang="en-IN" sz="2800" b="1" dirty="0" err="1" smtClean="0">
                <a:solidFill>
                  <a:srgbClr val="FFC000"/>
                </a:solidFill>
              </a:rPr>
              <a:t>TubeLight</a:t>
            </a:r>
            <a:r>
              <a:rPr lang="en-IN" sz="2800" dirty="0" smtClean="0">
                <a:solidFill>
                  <a:schemeClr val="bg1"/>
                </a:solidFill>
              </a:rPr>
              <a:t>  extends </a:t>
            </a:r>
            <a:r>
              <a:rPr lang="en-IN" sz="2800" dirty="0" smtClean="0">
                <a:solidFill>
                  <a:srgbClr val="FFC000"/>
                </a:solidFill>
              </a:rPr>
              <a:t>Light</a:t>
            </a:r>
            <a:r>
              <a:rPr lang="en-IN" sz="2800" dirty="0" smtClean="0">
                <a:solidFill>
                  <a:schemeClr val="bg1"/>
                </a:solidFill>
              </a:rPr>
              <a:t>{</a:t>
            </a:r>
          </a:p>
          <a:p>
            <a:pPr>
              <a:lnSpc>
                <a:spcPct val="200000"/>
              </a:lnSpc>
            </a:pPr>
            <a:r>
              <a:rPr lang="en-IN" sz="2800" dirty="0" smtClean="0">
                <a:solidFill>
                  <a:schemeClr val="bg1"/>
                </a:solidFill>
              </a:rPr>
              <a:t>public </a:t>
            </a:r>
            <a:r>
              <a:rPr lang="en-IN" sz="2800" dirty="0">
                <a:solidFill>
                  <a:schemeClr val="bg1"/>
                </a:solidFill>
              </a:rPr>
              <a:t>void </a:t>
            </a:r>
            <a:r>
              <a:rPr lang="en-IN" sz="2800" dirty="0" err="1">
                <a:solidFill>
                  <a:srgbClr val="FFC000"/>
                </a:solidFill>
              </a:rPr>
              <a:t>printInfo</a:t>
            </a:r>
            <a:r>
              <a:rPr lang="en-IN" sz="2800" dirty="0">
                <a:solidFill>
                  <a:schemeClr val="bg1"/>
                </a:solidFill>
              </a:rPr>
              <a:t>() </a:t>
            </a:r>
            <a:r>
              <a:rPr lang="en-IN" sz="2800" dirty="0" smtClean="0">
                <a:solidFill>
                  <a:schemeClr val="bg1"/>
                </a:solidFill>
              </a:rPr>
              <a:t>{ … }</a:t>
            </a:r>
          </a:p>
          <a:p>
            <a:pPr>
              <a:lnSpc>
                <a:spcPct val="200000"/>
              </a:lnSpc>
            </a:pPr>
            <a:r>
              <a:rPr lang="en-IN" sz="2800" dirty="0">
                <a:solidFill>
                  <a:schemeClr val="bg1"/>
                </a:solidFill>
              </a:rPr>
              <a:t>public void </a:t>
            </a:r>
            <a:r>
              <a:rPr lang="en-IN" sz="2800" dirty="0" err="1" smtClean="0">
                <a:solidFill>
                  <a:srgbClr val="FFC000"/>
                </a:solidFill>
              </a:rPr>
              <a:t>switchOn</a:t>
            </a:r>
            <a:r>
              <a:rPr lang="en-IN" sz="2800" dirty="0">
                <a:solidFill>
                  <a:schemeClr val="bg1"/>
                </a:solidFill>
              </a:rPr>
              <a:t>() { …. }</a:t>
            </a:r>
          </a:p>
          <a:p>
            <a:pPr>
              <a:lnSpc>
                <a:spcPct val="200000"/>
              </a:lnSpc>
            </a:pPr>
            <a:r>
              <a:rPr lang="en-IN" sz="2800" dirty="0" smtClean="0">
                <a:solidFill>
                  <a:schemeClr val="bg1"/>
                </a:solidFill>
              </a:rPr>
              <a:t>}</a:t>
            </a:r>
            <a:endParaRPr lang="en-IN" sz="2800" dirty="0">
              <a:solidFill>
                <a:schemeClr val="bg1"/>
              </a:solidFill>
            </a:endParaRPr>
          </a:p>
        </p:txBody>
      </p:sp>
    </p:spTree>
    <p:extLst>
      <p:ext uri="{BB962C8B-B14F-4D97-AF65-F5344CB8AC3E}">
        <p14:creationId xmlns:p14="http://schemas.microsoft.com/office/powerpoint/2010/main" val="3927265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841" y="163773"/>
            <a:ext cx="9004003" cy="1015663"/>
          </a:xfrm>
          <a:prstGeom prst="rect">
            <a:avLst/>
          </a:prstGeom>
          <a:noFill/>
        </p:spPr>
        <p:txBody>
          <a:bodyPr wrap="none" rtlCol="0">
            <a:spAutoFit/>
          </a:bodyPr>
          <a:lstStyle/>
          <a:p>
            <a:r>
              <a:rPr lang="en-IN" sz="6000" dirty="0">
                <a:solidFill>
                  <a:schemeClr val="bg1"/>
                </a:solidFill>
              </a:rPr>
              <a:t>Relationships: is-a and has-a</a:t>
            </a:r>
          </a:p>
        </p:txBody>
      </p:sp>
      <p:cxnSp>
        <p:nvCxnSpPr>
          <p:cNvPr id="3" name="Straight Connector 2"/>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354842" y="1285584"/>
            <a:ext cx="6223380" cy="5262979"/>
          </a:xfrm>
          <a:prstGeom prst="rect">
            <a:avLst/>
          </a:prstGeom>
        </p:spPr>
        <p:txBody>
          <a:bodyPr wrap="square">
            <a:spAutoFit/>
          </a:bodyPr>
          <a:lstStyle/>
          <a:p>
            <a:pPr>
              <a:lnSpc>
                <a:spcPct val="200000"/>
              </a:lnSpc>
            </a:pPr>
            <a:r>
              <a:rPr lang="en-IN" sz="2800" dirty="0" smtClean="0">
                <a:solidFill>
                  <a:schemeClr val="bg1"/>
                </a:solidFill>
              </a:rPr>
              <a:t>public class </a:t>
            </a:r>
            <a:r>
              <a:rPr lang="en-IN" sz="2800" b="1" dirty="0" smtClean="0">
                <a:solidFill>
                  <a:srgbClr val="FFC000"/>
                </a:solidFill>
              </a:rPr>
              <a:t>Utility</a:t>
            </a:r>
            <a:r>
              <a:rPr lang="en-IN" sz="2800" dirty="0" smtClean="0">
                <a:solidFill>
                  <a:schemeClr val="bg1"/>
                </a:solidFill>
              </a:rPr>
              <a:t> </a:t>
            </a:r>
            <a:r>
              <a:rPr lang="en-IN" sz="2800" dirty="0">
                <a:solidFill>
                  <a:schemeClr val="bg1"/>
                </a:solidFill>
              </a:rPr>
              <a:t>{ </a:t>
            </a:r>
          </a:p>
          <a:p>
            <a:pPr lvl="1">
              <a:lnSpc>
                <a:spcPct val="200000"/>
              </a:lnSpc>
            </a:pPr>
            <a:r>
              <a:rPr lang="en-IN" sz="2800" dirty="0" smtClean="0">
                <a:solidFill>
                  <a:schemeClr val="bg1"/>
                </a:solidFill>
              </a:rPr>
              <a:t>Light </a:t>
            </a:r>
            <a:r>
              <a:rPr lang="en-IN" sz="2800" dirty="0" smtClean="0">
                <a:solidFill>
                  <a:srgbClr val="FFC000"/>
                </a:solidFill>
              </a:rPr>
              <a:t>light1</a:t>
            </a:r>
            <a:r>
              <a:rPr lang="en-IN" sz="2800" dirty="0" smtClean="0">
                <a:solidFill>
                  <a:schemeClr val="bg1"/>
                </a:solidFill>
              </a:rPr>
              <a:t> =new Light();</a:t>
            </a:r>
          </a:p>
          <a:p>
            <a:pPr lvl="1">
              <a:lnSpc>
                <a:spcPct val="200000"/>
              </a:lnSpc>
            </a:pPr>
            <a:r>
              <a:rPr lang="en-IN" sz="2800" dirty="0" err="1" smtClean="0">
                <a:solidFill>
                  <a:schemeClr val="bg1"/>
                </a:solidFill>
              </a:rPr>
              <a:t>TubeLight</a:t>
            </a:r>
            <a:r>
              <a:rPr lang="en-IN" sz="2800" dirty="0" smtClean="0">
                <a:solidFill>
                  <a:schemeClr val="bg1"/>
                </a:solidFill>
              </a:rPr>
              <a:t> </a:t>
            </a:r>
            <a:r>
              <a:rPr lang="en-IN" sz="2800" dirty="0" smtClean="0">
                <a:solidFill>
                  <a:srgbClr val="FFC000"/>
                </a:solidFill>
              </a:rPr>
              <a:t>t_light1</a:t>
            </a:r>
            <a:r>
              <a:rPr lang="en-IN" sz="2800" dirty="0" smtClean="0">
                <a:solidFill>
                  <a:schemeClr val="bg1"/>
                </a:solidFill>
              </a:rPr>
              <a:t> </a:t>
            </a:r>
            <a:r>
              <a:rPr lang="en-IN" sz="2800" dirty="0">
                <a:solidFill>
                  <a:schemeClr val="bg1"/>
                </a:solidFill>
              </a:rPr>
              <a:t>=new </a:t>
            </a:r>
            <a:r>
              <a:rPr lang="en-IN" sz="2800" dirty="0" err="1">
                <a:solidFill>
                  <a:schemeClr val="bg1"/>
                </a:solidFill>
              </a:rPr>
              <a:t>TubeLight</a:t>
            </a:r>
            <a:r>
              <a:rPr lang="en-IN" sz="2800" dirty="0">
                <a:solidFill>
                  <a:schemeClr val="bg1"/>
                </a:solidFill>
              </a:rPr>
              <a:t>();</a:t>
            </a:r>
          </a:p>
          <a:p>
            <a:pPr lvl="1">
              <a:lnSpc>
                <a:spcPct val="200000"/>
              </a:lnSpc>
            </a:pPr>
            <a:r>
              <a:rPr lang="en-IN" sz="2800" dirty="0" smtClean="0">
                <a:solidFill>
                  <a:schemeClr val="bg1"/>
                </a:solidFill>
              </a:rPr>
              <a:t>Light </a:t>
            </a:r>
            <a:r>
              <a:rPr lang="en-IN" sz="2800" dirty="0" smtClean="0">
                <a:solidFill>
                  <a:srgbClr val="FFC000"/>
                </a:solidFill>
              </a:rPr>
              <a:t>light2</a:t>
            </a:r>
            <a:r>
              <a:rPr lang="en-IN" sz="2800" dirty="0" smtClean="0">
                <a:solidFill>
                  <a:schemeClr val="bg1"/>
                </a:solidFill>
              </a:rPr>
              <a:t> </a:t>
            </a:r>
            <a:r>
              <a:rPr lang="en-IN" sz="2800" dirty="0">
                <a:solidFill>
                  <a:schemeClr val="bg1"/>
                </a:solidFill>
              </a:rPr>
              <a:t>=new </a:t>
            </a:r>
            <a:r>
              <a:rPr lang="en-IN" sz="2800" dirty="0" err="1" smtClean="0">
                <a:solidFill>
                  <a:schemeClr val="bg1"/>
                </a:solidFill>
              </a:rPr>
              <a:t>TubeLight</a:t>
            </a:r>
            <a:r>
              <a:rPr lang="en-IN" sz="2800" dirty="0" smtClean="0">
                <a:solidFill>
                  <a:schemeClr val="bg1"/>
                </a:solidFill>
              </a:rPr>
              <a:t>();</a:t>
            </a:r>
          </a:p>
          <a:p>
            <a:pPr lvl="1">
              <a:lnSpc>
                <a:spcPct val="200000"/>
              </a:lnSpc>
            </a:pPr>
            <a:r>
              <a:rPr lang="en-IN" sz="2800" dirty="0" err="1" smtClean="0">
                <a:solidFill>
                  <a:schemeClr val="bg1"/>
                </a:solidFill>
              </a:rPr>
              <a:t>TubeLight</a:t>
            </a:r>
            <a:r>
              <a:rPr lang="en-IN" sz="2800" dirty="0" smtClean="0">
                <a:solidFill>
                  <a:schemeClr val="bg1"/>
                </a:solidFill>
              </a:rPr>
              <a:t> </a:t>
            </a:r>
            <a:r>
              <a:rPr lang="en-IN" sz="2800" dirty="0" smtClean="0">
                <a:solidFill>
                  <a:srgbClr val="FFC000"/>
                </a:solidFill>
              </a:rPr>
              <a:t>t_light2</a:t>
            </a:r>
            <a:r>
              <a:rPr lang="en-IN" sz="2800" dirty="0" smtClean="0">
                <a:solidFill>
                  <a:schemeClr val="bg1"/>
                </a:solidFill>
              </a:rPr>
              <a:t>=new Light();</a:t>
            </a:r>
          </a:p>
          <a:p>
            <a:pPr>
              <a:lnSpc>
                <a:spcPct val="200000"/>
              </a:lnSpc>
            </a:pPr>
            <a:r>
              <a:rPr lang="en-IN" sz="2800" dirty="0" smtClean="0">
                <a:solidFill>
                  <a:schemeClr val="bg1"/>
                </a:solidFill>
              </a:rPr>
              <a:t>}</a:t>
            </a:r>
            <a:endParaRPr lang="en-IN" sz="2800" dirty="0">
              <a:solidFill>
                <a:schemeClr val="bg1"/>
              </a:solidFill>
            </a:endParaRPr>
          </a:p>
        </p:txBody>
      </p:sp>
      <p:cxnSp>
        <p:nvCxnSpPr>
          <p:cNvPr id="9" name="Straight Connector 8"/>
          <p:cNvCxnSpPr/>
          <p:nvPr/>
        </p:nvCxnSpPr>
        <p:spPr>
          <a:xfrm flipH="1">
            <a:off x="143860" y="5129230"/>
            <a:ext cx="688992" cy="5189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flipV="1">
            <a:off x="145060" y="5114730"/>
            <a:ext cx="712987" cy="52498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8239" y="2619803"/>
            <a:ext cx="226301" cy="355369"/>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280892" y="2617071"/>
            <a:ext cx="578916" cy="358101"/>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72081" y="3547130"/>
            <a:ext cx="226301" cy="355369"/>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286601" y="3519834"/>
            <a:ext cx="578916" cy="358101"/>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2830" y="4474457"/>
            <a:ext cx="226301" cy="355369"/>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279131" y="4471725"/>
            <a:ext cx="578916" cy="358101"/>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5968620" y="996287"/>
            <a:ext cx="6223380" cy="6124754"/>
          </a:xfrm>
          <a:prstGeom prst="rect">
            <a:avLst/>
          </a:prstGeom>
        </p:spPr>
        <p:txBody>
          <a:bodyPr wrap="square">
            <a:spAutoFit/>
          </a:bodyPr>
          <a:lstStyle/>
          <a:p>
            <a:pPr>
              <a:lnSpc>
                <a:spcPct val="200000"/>
              </a:lnSpc>
            </a:pPr>
            <a:r>
              <a:rPr lang="en-IN" sz="2800" dirty="0" smtClean="0">
                <a:solidFill>
                  <a:schemeClr val="bg1"/>
                </a:solidFill>
              </a:rPr>
              <a:t>public class </a:t>
            </a:r>
            <a:r>
              <a:rPr lang="en-IN" sz="2800" b="1" dirty="0" smtClean="0">
                <a:solidFill>
                  <a:srgbClr val="FFC000"/>
                </a:solidFill>
              </a:rPr>
              <a:t>Utility</a:t>
            </a:r>
            <a:r>
              <a:rPr lang="en-IN" sz="2800" dirty="0" smtClean="0">
                <a:solidFill>
                  <a:schemeClr val="bg1"/>
                </a:solidFill>
              </a:rPr>
              <a:t> </a:t>
            </a:r>
            <a:r>
              <a:rPr lang="en-IN" sz="2800" dirty="0">
                <a:solidFill>
                  <a:schemeClr val="bg1"/>
                </a:solidFill>
              </a:rPr>
              <a:t>{ </a:t>
            </a:r>
            <a:endParaRPr lang="en-IN" sz="2800" dirty="0" smtClean="0">
              <a:solidFill>
                <a:schemeClr val="bg1"/>
              </a:solidFill>
            </a:endParaRPr>
          </a:p>
          <a:p>
            <a:pPr>
              <a:lnSpc>
                <a:spcPct val="200000"/>
              </a:lnSpc>
            </a:pPr>
            <a:r>
              <a:rPr lang="en-IN" sz="2800" dirty="0" smtClean="0">
                <a:solidFill>
                  <a:srgbClr val="FFC000"/>
                </a:solidFill>
              </a:rPr>
              <a:t>	light1</a:t>
            </a:r>
            <a:r>
              <a:rPr lang="en-IN" sz="2800" dirty="0" smtClean="0">
                <a:solidFill>
                  <a:schemeClr val="bg1"/>
                </a:solidFill>
              </a:rPr>
              <a:t>.switchOn();</a:t>
            </a:r>
          </a:p>
          <a:p>
            <a:pPr>
              <a:lnSpc>
                <a:spcPct val="200000"/>
              </a:lnSpc>
            </a:pPr>
            <a:r>
              <a:rPr lang="en-IN" sz="2800" dirty="0">
                <a:solidFill>
                  <a:schemeClr val="bg1"/>
                </a:solidFill>
              </a:rPr>
              <a:t>	</a:t>
            </a:r>
            <a:r>
              <a:rPr lang="en-IN" sz="2800" dirty="0" smtClean="0">
                <a:solidFill>
                  <a:srgbClr val="FFC000"/>
                </a:solidFill>
              </a:rPr>
              <a:t>t_light1</a:t>
            </a:r>
            <a:r>
              <a:rPr lang="en-IN" sz="2800" dirty="0" smtClean="0">
                <a:solidFill>
                  <a:schemeClr val="bg1"/>
                </a:solidFill>
              </a:rPr>
              <a:t>.switchOn();</a:t>
            </a:r>
          </a:p>
          <a:p>
            <a:pPr>
              <a:lnSpc>
                <a:spcPct val="200000"/>
              </a:lnSpc>
            </a:pPr>
            <a:r>
              <a:rPr lang="en-IN" sz="2800" dirty="0" smtClean="0">
                <a:solidFill>
                  <a:schemeClr val="bg1"/>
                </a:solidFill>
              </a:rPr>
              <a:t>	</a:t>
            </a:r>
            <a:r>
              <a:rPr lang="en-IN" sz="2800" dirty="0" smtClean="0">
                <a:solidFill>
                  <a:srgbClr val="FFC000"/>
                </a:solidFill>
              </a:rPr>
              <a:t>t_light1</a:t>
            </a:r>
            <a:r>
              <a:rPr lang="en-IN" sz="2800" dirty="0" smtClean="0">
                <a:solidFill>
                  <a:schemeClr val="bg1"/>
                </a:solidFill>
              </a:rPr>
              <a:t>.printInfo();</a:t>
            </a:r>
          </a:p>
          <a:p>
            <a:pPr>
              <a:lnSpc>
                <a:spcPct val="200000"/>
              </a:lnSpc>
            </a:pPr>
            <a:r>
              <a:rPr lang="en-IN" sz="2800" dirty="0">
                <a:solidFill>
                  <a:schemeClr val="bg1"/>
                </a:solidFill>
              </a:rPr>
              <a:t>	</a:t>
            </a:r>
            <a:r>
              <a:rPr lang="en-IN" sz="2800" dirty="0" smtClean="0">
                <a:solidFill>
                  <a:srgbClr val="FFC000"/>
                </a:solidFill>
              </a:rPr>
              <a:t>light2</a:t>
            </a:r>
            <a:r>
              <a:rPr lang="en-IN" sz="2800" dirty="0" smtClean="0">
                <a:solidFill>
                  <a:schemeClr val="bg1"/>
                </a:solidFill>
              </a:rPr>
              <a:t>.switchOn();</a:t>
            </a:r>
          </a:p>
          <a:p>
            <a:pPr>
              <a:lnSpc>
                <a:spcPct val="200000"/>
              </a:lnSpc>
            </a:pPr>
            <a:r>
              <a:rPr lang="en-IN" sz="2800" dirty="0">
                <a:solidFill>
                  <a:schemeClr val="bg1"/>
                </a:solidFill>
              </a:rPr>
              <a:t>	</a:t>
            </a:r>
            <a:r>
              <a:rPr lang="en-IN" sz="2800" dirty="0" smtClean="0">
                <a:solidFill>
                  <a:srgbClr val="FFC000"/>
                </a:solidFill>
              </a:rPr>
              <a:t>light2</a:t>
            </a:r>
            <a:r>
              <a:rPr lang="en-IN" sz="2800" dirty="0" smtClean="0">
                <a:solidFill>
                  <a:schemeClr val="bg1"/>
                </a:solidFill>
              </a:rPr>
              <a:t>.printInfo();</a:t>
            </a:r>
          </a:p>
          <a:p>
            <a:pPr>
              <a:lnSpc>
                <a:spcPct val="200000"/>
              </a:lnSpc>
            </a:pPr>
            <a:r>
              <a:rPr lang="en-IN" sz="2800" dirty="0" smtClean="0">
                <a:solidFill>
                  <a:schemeClr val="bg1"/>
                </a:solidFill>
              </a:rPr>
              <a:t>}</a:t>
            </a:r>
            <a:endParaRPr lang="en-IN" sz="2800" dirty="0">
              <a:solidFill>
                <a:schemeClr val="bg1"/>
              </a:solidFill>
            </a:endParaRPr>
          </a:p>
        </p:txBody>
      </p:sp>
      <p:cxnSp>
        <p:nvCxnSpPr>
          <p:cNvPr id="18" name="Straight Connector 17"/>
          <p:cNvCxnSpPr/>
          <p:nvPr/>
        </p:nvCxnSpPr>
        <p:spPr>
          <a:xfrm flipH="1">
            <a:off x="9852997" y="5622812"/>
            <a:ext cx="688992" cy="51890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flipV="1">
            <a:off x="9854197" y="5608312"/>
            <a:ext cx="712987" cy="52498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9869606" y="2261702"/>
            <a:ext cx="226301" cy="355369"/>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10082259" y="2258970"/>
            <a:ext cx="578916" cy="358101"/>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9873448" y="3189029"/>
            <a:ext cx="226301" cy="355369"/>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10087968" y="3161733"/>
            <a:ext cx="578916" cy="358101"/>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9854197" y="4116356"/>
            <a:ext cx="226301" cy="355369"/>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10080498" y="4113624"/>
            <a:ext cx="578916" cy="358101"/>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9854197" y="4832558"/>
            <a:ext cx="226301" cy="355369"/>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10080498" y="4829826"/>
            <a:ext cx="578916" cy="358101"/>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5796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par>
                                <p:cTn id="13" presetID="10"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par>
                                <p:cTn id="22" presetID="10"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500"/>
                                        <p:tgtEl>
                                          <p:spTgt spid="13"/>
                                        </p:tgtEl>
                                      </p:cBhvr>
                                    </p:animEffect>
                                  </p:childTnLst>
                                </p:cTn>
                              </p:par>
                              <p:par>
                                <p:cTn id="25" presetID="10"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par>
                                <p:cTn id="28" presetID="10" presetClass="entr" presetSubtype="0"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wipe(down)">
                                      <p:cBhvr>
                                        <p:cTn id="38" dur="500"/>
                                        <p:tgtEl>
                                          <p:spTgt spid="17"/>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par>
                                <p:cTn id="62" presetID="10" presetClass="entr" presetSubtype="0" fill="hold"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5" presetID="10" presetClass="entr" presetSubtype="0" fill="hold"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par>
                                <p:cTn id="68" presetID="10" presetClass="entr" presetSubtype="0" fill="hold" nodeType="with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841" y="163773"/>
            <a:ext cx="11646586" cy="923330"/>
          </a:xfrm>
          <a:prstGeom prst="rect">
            <a:avLst/>
          </a:prstGeom>
          <a:noFill/>
        </p:spPr>
        <p:txBody>
          <a:bodyPr wrap="none" rtlCol="0">
            <a:spAutoFit/>
          </a:bodyPr>
          <a:lstStyle/>
          <a:p>
            <a:r>
              <a:rPr lang="en-IN" sz="5400" dirty="0">
                <a:solidFill>
                  <a:schemeClr val="bg1"/>
                </a:solidFill>
              </a:rPr>
              <a:t>Inheritance…(Subclasses &amp; Constructors)</a:t>
            </a:r>
          </a:p>
        </p:txBody>
      </p:sp>
      <p:cxnSp>
        <p:nvCxnSpPr>
          <p:cNvPr id="3" name="Straight Connector 2"/>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522515" y="1273286"/>
            <a:ext cx="11528458" cy="584775"/>
          </a:xfrm>
          <a:prstGeom prst="rect">
            <a:avLst/>
          </a:prstGeom>
        </p:spPr>
        <p:txBody>
          <a:bodyPr wrap="square">
            <a:spAutoFit/>
          </a:bodyPr>
          <a:lstStyle/>
          <a:p>
            <a:r>
              <a:rPr lang="en-IN" sz="3200" dirty="0">
                <a:solidFill>
                  <a:schemeClr val="bg1"/>
                </a:solidFill>
              </a:rPr>
              <a:t>Default constructor </a:t>
            </a:r>
            <a:r>
              <a:rPr lang="en-IN" sz="3200" dirty="0">
                <a:solidFill>
                  <a:srgbClr val="FFC000"/>
                </a:solidFill>
              </a:rPr>
              <a:t>automatically calls constructor</a:t>
            </a:r>
            <a:r>
              <a:rPr lang="en-IN" sz="3200" dirty="0">
                <a:solidFill>
                  <a:schemeClr val="bg1"/>
                </a:solidFill>
              </a:rPr>
              <a:t> of the base class:</a:t>
            </a:r>
          </a:p>
        </p:txBody>
      </p:sp>
      <p:sp>
        <p:nvSpPr>
          <p:cNvPr id="6" name="Rectangle 5"/>
          <p:cNvSpPr/>
          <p:nvPr/>
        </p:nvSpPr>
        <p:spPr>
          <a:xfrm>
            <a:off x="191069" y="1893572"/>
            <a:ext cx="5049671" cy="2677656"/>
          </a:xfrm>
          <a:prstGeom prst="rect">
            <a:avLst/>
          </a:prstGeom>
        </p:spPr>
        <p:txBody>
          <a:bodyPr wrap="square">
            <a:spAutoFit/>
          </a:bodyPr>
          <a:lstStyle/>
          <a:p>
            <a:pPr>
              <a:lnSpc>
                <a:spcPct val="200000"/>
              </a:lnSpc>
            </a:pPr>
            <a:r>
              <a:rPr lang="en-IN" sz="2800" dirty="0" smtClean="0">
                <a:solidFill>
                  <a:schemeClr val="bg1"/>
                </a:solidFill>
              </a:rPr>
              <a:t>public class </a:t>
            </a:r>
            <a:r>
              <a:rPr lang="en-IN" sz="2800" b="1" dirty="0">
                <a:solidFill>
                  <a:srgbClr val="FFC000"/>
                </a:solidFill>
              </a:rPr>
              <a:t>Light</a:t>
            </a:r>
            <a:r>
              <a:rPr lang="en-IN" sz="2800" dirty="0">
                <a:solidFill>
                  <a:schemeClr val="bg1"/>
                </a:solidFill>
              </a:rPr>
              <a:t> { </a:t>
            </a:r>
          </a:p>
          <a:p>
            <a:pPr>
              <a:lnSpc>
                <a:spcPct val="200000"/>
              </a:lnSpc>
            </a:pPr>
            <a:r>
              <a:rPr lang="en-IN" sz="2800" dirty="0" smtClean="0">
                <a:solidFill>
                  <a:schemeClr val="bg1"/>
                </a:solidFill>
              </a:rPr>
              <a:t>public Light() { …. }  //First</a:t>
            </a:r>
          </a:p>
          <a:p>
            <a:pPr>
              <a:lnSpc>
                <a:spcPct val="200000"/>
              </a:lnSpc>
            </a:pPr>
            <a:r>
              <a:rPr lang="en-IN" sz="2800" dirty="0" smtClean="0">
                <a:solidFill>
                  <a:schemeClr val="bg1"/>
                </a:solidFill>
              </a:rPr>
              <a:t>}</a:t>
            </a:r>
            <a:endParaRPr lang="en-IN" sz="2800" dirty="0">
              <a:solidFill>
                <a:schemeClr val="bg1"/>
              </a:solidFill>
            </a:endParaRPr>
          </a:p>
        </p:txBody>
      </p:sp>
      <p:sp>
        <p:nvSpPr>
          <p:cNvPr id="7" name="Rectangle 6"/>
          <p:cNvSpPr/>
          <p:nvPr/>
        </p:nvSpPr>
        <p:spPr>
          <a:xfrm>
            <a:off x="197894" y="4055658"/>
            <a:ext cx="6264320" cy="2677656"/>
          </a:xfrm>
          <a:prstGeom prst="rect">
            <a:avLst/>
          </a:prstGeom>
        </p:spPr>
        <p:txBody>
          <a:bodyPr wrap="square">
            <a:spAutoFit/>
          </a:bodyPr>
          <a:lstStyle/>
          <a:p>
            <a:pPr>
              <a:lnSpc>
                <a:spcPct val="200000"/>
              </a:lnSpc>
            </a:pPr>
            <a:r>
              <a:rPr lang="en-IN" sz="2800" dirty="0" smtClean="0">
                <a:solidFill>
                  <a:schemeClr val="bg1"/>
                </a:solidFill>
              </a:rPr>
              <a:t>public  class </a:t>
            </a:r>
            <a:r>
              <a:rPr lang="en-IN" sz="2800" b="1" dirty="0" err="1" smtClean="0">
                <a:solidFill>
                  <a:srgbClr val="FFC000"/>
                </a:solidFill>
              </a:rPr>
              <a:t>TubeLight</a:t>
            </a:r>
            <a:r>
              <a:rPr lang="en-IN" sz="2800" dirty="0" smtClean="0">
                <a:solidFill>
                  <a:schemeClr val="bg1"/>
                </a:solidFill>
              </a:rPr>
              <a:t>  extends </a:t>
            </a:r>
            <a:r>
              <a:rPr lang="en-IN" sz="2800" dirty="0" smtClean="0">
                <a:solidFill>
                  <a:srgbClr val="FFC000"/>
                </a:solidFill>
              </a:rPr>
              <a:t>Light</a:t>
            </a:r>
            <a:r>
              <a:rPr lang="en-IN" sz="2800" dirty="0" smtClean="0">
                <a:solidFill>
                  <a:schemeClr val="bg1"/>
                </a:solidFill>
              </a:rPr>
              <a:t>{</a:t>
            </a:r>
          </a:p>
          <a:p>
            <a:pPr>
              <a:lnSpc>
                <a:spcPct val="200000"/>
              </a:lnSpc>
            </a:pPr>
            <a:r>
              <a:rPr lang="en-IN" sz="2800" dirty="0" smtClean="0">
                <a:solidFill>
                  <a:schemeClr val="bg1"/>
                </a:solidFill>
              </a:rPr>
              <a:t>public </a:t>
            </a:r>
            <a:r>
              <a:rPr lang="en-IN" sz="2800" dirty="0" err="1" smtClean="0">
                <a:solidFill>
                  <a:schemeClr val="bg1"/>
                </a:solidFill>
              </a:rPr>
              <a:t>TubeLight</a:t>
            </a:r>
            <a:r>
              <a:rPr lang="en-IN" sz="2800" dirty="0" smtClean="0">
                <a:solidFill>
                  <a:schemeClr val="bg1"/>
                </a:solidFill>
              </a:rPr>
              <a:t> () { … } //Second</a:t>
            </a:r>
          </a:p>
          <a:p>
            <a:pPr>
              <a:lnSpc>
                <a:spcPct val="200000"/>
              </a:lnSpc>
            </a:pPr>
            <a:r>
              <a:rPr lang="en-IN" sz="2800" dirty="0" smtClean="0">
                <a:solidFill>
                  <a:schemeClr val="bg1"/>
                </a:solidFill>
              </a:rPr>
              <a:t>}</a:t>
            </a:r>
            <a:endParaRPr lang="en-IN" sz="2800" dirty="0">
              <a:solidFill>
                <a:schemeClr val="bg1"/>
              </a:solidFill>
            </a:endParaRPr>
          </a:p>
        </p:txBody>
      </p:sp>
      <p:sp>
        <p:nvSpPr>
          <p:cNvPr id="8" name="Rectangle 7"/>
          <p:cNvSpPr/>
          <p:nvPr/>
        </p:nvSpPr>
        <p:spPr>
          <a:xfrm>
            <a:off x="6628160" y="1653233"/>
            <a:ext cx="5422813" cy="2677656"/>
          </a:xfrm>
          <a:prstGeom prst="rect">
            <a:avLst/>
          </a:prstGeom>
        </p:spPr>
        <p:txBody>
          <a:bodyPr wrap="square">
            <a:spAutoFit/>
          </a:bodyPr>
          <a:lstStyle/>
          <a:p>
            <a:pPr>
              <a:lnSpc>
                <a:spcPct val="200000"/>
              </a:lnSpc>
            </a:pPr>
            <a:r>
              <a:rPr lang="en-IN" sz="2800" dirty="0" smtClean="0">
                <a:solidFill>
                  <a:schemeClr val="bg1"/>
                </a:solidFill>
              </a:rPr>
              <a:t>public class </a:t>
            </a:r>
            <a:r>
              <a:rPr lang="en-IN" sz="2800" b="1" dirty="0" smtClean="0">
                <a:solidFill>
                  <a:srgbClr val="FFC000"/>
                </a:solidFill>
              </a:rPr>
              <a:t>Utility</a:t>
            </a:r>
            <a:r>
              <a:rPr lang="en-IN" sz="2800" dirty="0" smtClean="0">
                <a:solidFill>
                  <a:schemeClr val="bg1"/>
                </a:solidFill>
              </a:rPr>
              <a:t> </a:t>
            </a:r>
            <a:r>
              <a:rPr lang="en-IN" sz="2800" dirty="0">
                <a:solidFill>
                  <a:schemeClr val="bg1"/>
                </a:solidFill>
              </a:rPr>
              <a:t>{ </a:t>
            </a:r>
          </a:p>
          <a:p>
            <a:pPr>
              <a:lnSpc>
                <a:spcPct val="200000"/>
              </a:lnSpc>
            </a:pPr>
            <a:r>
              <a:rPr lang="en-IN" sz="2800" dirty="0" err="1" smtClean="0">
                <a:solidFill>
                  <a:schemeClr val="bg1"/>
                </a:solidFill>
              </a:rPr>
              <a:t>TubeLight</a:t>
            </a:r>
            <a:r>
              <a:rPr lang="en-IN" sz="2800" dirty="0" smtClean="0">
                <a:solidFill>
                  <a:schemeClr val="bg1"/>
                </a:solidFill>
              </a:rPr>
              <a:t> </a:t>
            </a:r>
            <a:r>
              <a:rPr lang="en-IN" sz="2800" dirty="0" err="1" smtClean="0">
                <a:solidFill>
                  <a:schemeClr val="bg1"/>
                </a:solidFill>
              </a:rPr>
              <a:t>t_light</a:t>
            </a:r>
            <a:r>
              <a:rPr lang="en-IN" sz="2800" dirty="0" smtClean="0">
                <a:solidFill>
                  <a:schemeClr val="bg1"/>
                </a:solidFill>
              </a:rPr>
              <a:t> =new </a:t>
            </a:r>
            <a:r>
              <a:rPr lang="en-IN" sz="2800" dirty="0" err="1" smtClean="0">
                <a:solidFill>
                  <a:schemeClr val="bg1"/>
                </a:solidFill>
              </a:rPr>
              <a:t>TubeLight</a:t>
            </a:r>
            <a:r>
              <a:rPr lang="en-IN" sz="2800" dirty="0" smtClean="0">
                <a:solidFill>
                  <a:schemeClr val="bg1"/>
                </a:solidFill>
              </a:rPr>
              <a:t>();</a:t>
            </a:r>
          </a:p>
          <a:p>
            <a:pPr>
              <a:lnSpc>
                <a:spcPct val="200000"/>
              </a:lnSpc>
            </a:pPr>
            <a:r>
              <a:rPr lang="en-IN" sz="2800" dirty="0" smtClean="0">
                <a:solidFill>
                  <a:schemeClr val="bg1"/>
                </a:solidFill>
              </a:rPr>
              <a:t>}</a:t>
            </a:r>
            <a:endParaRPr lang="en-IN" sz="2800" dirty="0">
              <a:solidFill>
                <a:schemeClr val="bg1"/>
              </a:solidFill>
            </a:endParaRPr>
          </a:p>
        </p:txBody>
      </p:sp>
    </p:spTree>
    <p:extLst>
      <p:ext uri="{BB962C8B-B14F-4D97-AF65-F5344CB8AC3E}">
        <p14:creationId xmlns:p14="http://schemas.microsoft.com/office/powerpoint/2010/main" val="4293786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4841" y="163773"/>
            <a:ext cx="11064376" cy="1015663"/>
          </a:xfrm>
          <a:prstGeom prst="rect">
            <a:avLst/>
          </a:prstGeom>
          <a:noFill/>
        </p:spPr>
        <p:txBody>
          <a:bodyPr wrap="none" rtlCol="0">
            <a:spAutoFit/>
          </a:bodyPr>
          <a:lstStyle/>
          <a:p>
            <a:r>
              <a:rPr lang="en-IN" sz="6000" dirty="0" smtClean="0">
                <a:solidFill>
                  <a:schemeClr val="bg1"/>
                </a:solidFill>
              </a:rPr>
              <a:t>Inheritance… (Super() Constructor)</a:t>
            </a:r>
            <a:endParaRPr lang="en-IN" sz="6000" dirty="0">
              <a:solidFill>
                <a:schemeClr val="bg1"/>
              </a:solidFill>
            </a:endParaRPr>
          </a:p>
        </p:txBody>
      </p:sp>
      <p:cxnSp>
        <p:nvCxnSpPr>
          <p:cNvPr id="3" name="Straight Connector 2"/>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566056" y="1273286"/>
            <a:ext cx="11484917" cy="4524315"/>
          </a:xfrm>
          <a:prstGeom prst="rect">
            <a:avLst/>
          </a:prstGeom>
        </p:spPr>
        <p:txBody>
          <a:bodyPr wrap="square">
            <a:spAutoFit/>
          </a:bodyPr>
          <a:lstStyle/>
          <a:p>
            <a:pPr marL="457200" indent="-457200" algn="just">
              <a:lnSpc>
                <a:spcPct val="150000"/>
              </a:lnSpc>
              <a:buFont typeface="Arial" panose="020B0604020202020204" pitchFamily="34" charset="0"/>
              <a:buChar char="•"/>
            </a:pPr>
            <a:r>
              <a:rPr lang="en-IN" sz="3200" dirty="0">
                <a:solidFill>
                  <a:schemeClr val="bg1"/>
                </a:solidFill>
              </a:rPr>
              <a:t>The </a:t>
            </a:r>
            <a:r>
              <a:rPr lang="en-IN" sz="3200" b="1" dirty="0">
                <a:solidFill>
                  <a:srgbClr val="FFC000"/>
                </a:solidFill>
              </a:rPr>
              <a:t>super()</a:t>
            </a:r>
            <a:r>
              <a:rPr lang="en-IN" sz="3200" dirty="0">
                <a:solidFill>
                  <a:schemeClr val="bg1"/>
                </a:solidFill>
              </a:rPr>
              <a:t> </a:t>
            </a:r>
            <a:r>
              <a:rPr lang="en-IN" sz="3200" dirty="0" smtClean="0">
                <a:solidFill>
                  <a:schemeClr val="bg1"/>
                </a:solidFill>
              </a:rPr>
              <a:t>constructor </a:t>
            </a:r>
            <a:r>
              <a:rPr lang="en-IN" sz="3200" dirty="0">
                <a:solidFill>
                  <a:schemeClr val="bg1"/>
                </a:solidFill>
              </a:rPr>
              <a:t>is used in a </a:t>
            </a:r>
            <a:r>
              <a:rPr lang="en-IN" sz="3200" b="1" dirty="0">
                <a:solidFill>
                  <a:srgbClr val="FFC000"/>
                </a:solidFill>
              </a:rPr>
              <a:t>subclass</a:t>
            </a:r>
            <a:r>
              <a:rPr lang="en-IN" sz="3200" dirty="0">
                <a:solidFill>
                  <a:schemeClr val="bg1"/>
                </a:solidFill>
              </a:rPr>
              <a:t> constructor to invoke a constructor </a:t>
            </a:r>
            <a:r>
              <a:rPr lang="en-IN" sz="3200" dirty="0" smtClean="0">
                <a:solidFill>
                  <a:schemeClr val="bg1"/>
                </a:solidFill>
              </a:rPr>
              <a:t>in the </a:t>
            </a:r>
            <a:r>
              <a:rPr lang="en-IN" sz="3200" b="1" dirty="0">
                <a:solidFill>
                  <a:srgbClr val="FFC000"/>
                </a:solidFill>
              </a:rPr>
              <a:t>immediate superclass</a:t>
            </a:r>
            <a:r>
              <a:rPr lang="en-IN" sz="3200" dirty="0">
                <a:solidFill>
                  <a:schemeClr val="bg1"/>
                </a:solidFill>
              </a:rPr>
              <a:t>. </a:t>
            </a:r>
            <a:endParaRPr lang="en-IN" sz="3200" dirty="0" smtClean="0">
              <a:solidFill>
                <a:schemeClr val="bg1"/>
              </a:solidFill>
            </a:endParaRPr>
          </a:p>
          <a:p>
            <a:pPr marL="457200" indent="-457200" algn="just">
              <a:lnSpc>
                <a:spcPct val="150000"/>
              </a:lnSpc>
              <a:buFont typeface="Arial" panose="020B0604020202020204" pitchFamily="34" charset="0"/>
              <a:buChar char="•"/>
            </a:pPr>
            <a:r>
              <a:rPr lang="en-IN" sz="3200" dirty="0" smtClean="0">
                <a:solidFill>
                  <a:schemeClr val="bg1"/>
                </a:solidFill>
              </a:rPr>
              <a:t>This </a:t>
            </a:r>
            <a:r>
              <a:rPr lang="en-IN" sz="3200" dirty="0">
                <a:solidFill>
                  <a:schemeClr val="bg1"/>
                </a:solidFill>
              </a:rPr>
              <a:t>allows the </a:t>
            </a:r>
            <a:r>
              <a:rPr lang="en-IN" sz="3200" b="1" dirty="0">
                <a:solidFill>
                  <a:srgbClr val="FFC000"/>
                </a:solidFill>
              </a:rPr>
              <a:t>subclass to influence the initialization </a:t>
            </a:r>
            <a:r>
              <a:rPr lang="en-IN" sz="3200" b="1" dirty="0" smtClean="0">
                <a:solidFill>
                  <a:srgbClr val="FFC000"/>
                </a:solidFill>
              </a:rPr>
              <a:t>of its </a:t>
            </a:r>
            <a:r>
              <a:rPr lang="en-IN" sz="3200" b="1" dirty="0">
                <a:solidFill>
                  <a:srgbClr val="FFC000"/>
                </a:solidFill>
              </a:rPr>
              <a:t>inherited state</a:t>
            </a:r>
            <a:r>
              <a:rPr lang="en-IN" sz="3200" dirty="0">
                <a:solidFill>
                  <a:schemeClr val="bg1"/>
                </a:solidFill>
              </a:rPr>
              <a:t> when an object of the subclass is created</a:t>
            </a:r>
            <a:r>
              <a:rPr lang="en-IN" sz="3200" dirty="0" smtClean="0">
                <a:solidFill>
                  <a:schemeClr val="bg1"/>
                </a:solidFill>
              </a:rPr>
              <a:t>.</a:t>
            </a:r>
          </a:p>
          <a:p>
            <a:pPr marL="457200" indent="-457200" algn="just">
              <a:lnSpc>
                <a:spcPct val="150000"/>
              </a:lnSpc>
              <a:buFont typeface="Arial" panose="020B0604020202020204" pitchFamily="34" charset="0"/>
              <a:buChar char="•"/>
            </a:pPr>
            <a:r>
              <a:rPr lang="en-IN" sz="3200" dirty="0">
                <a:solidFill>
                  <a:schemeClr val="bg1"/>
                </a:solidFill>
              </a:rPr>
              <a:t>The </a:t>
            </a:r>
            <a:r>
              <a:rPr lang="en-IN" sz="3200" dirty="0">
                <a:solidFill>
                  <a:srgbClr val="FFC000"/>
                </a:solidFill>
              </a:rPr>
              <a:t>keyword super</a:t>
            </a:r>
            <a:r>
              <a:rPr lang="en-IN" sz="3200" dirty="0">
                <a:solidFill>
                  <a:schemeClr val="bg1"/>
                </a:solidFill>
              </a:rPr>
              <a:t> can also be used in a subclass constructor to </a:t>
            </a:r>
            <a:r>
              <a:rPr lang="en-IN" sz="3200" dirty="0" smtClean="0">
                <a:solidFill>
                  <a:srgbClr val="FFC000"/>
                </a:solidFill>
              </a:rPr>
              <a:t>access inherited </a:t>
            </a:r>
            <a:r>
              <a:rPr lang="en-IN" sz="3200" dirty="0">
                <a:solidFill>
                  <a:srgbClr val="FFC000"/>
                </a:solidFill>
              </a:rPr>
              <a:t>members</a:t>
            </a:r>
            <a:r>
              <a:rPr lang="en-IN" sz="3200" dirty="0">
                <a:solidFill>
                  <a:schemeClr val="bg1"/>
                </a:solidFill>
              </a:rPr>
              <a:t> via its </a:t>
            </a:r>
            <a:r>
              <a:rPr lang="en-IN" sz="3200" dirty="0" smtClean="0">
                <a:solidFill>
                  <a:schemeClr val="bg1"/>
                </a:solidFill>
              </a:rPr>
              <a:t>superclass.</a:t>
            </a:r>
            <a:endParaRPr lang="en-IN" sz="3200" dirty="0">
              <a:solidFill>
                <a:schemeClr val="bg1"/>
              </a:solidFill>
            </a:endParaRPr>
          </a:p>
        </p:txBody>
      </p:sp>
    </p:spTree>
    <p:extLst>
      <p:ext uri="{BB962C8B-B14F-4D97-AF65-F5344CB8AC3E}">
        <p14:creationId xmlns:p14="http://schemas.microsoft.com/office/powerpoint/2010/main" val="1756071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4841" y="163773"/>
            <a:ext cx="11064376" cy="1015663"/>
          </a:xfrm>
          <a:prstGeom prst="rect">
            <a:avLst/>
          </a:prstGeom>
          <a:noFill/>
        </p:spPr>
        <p:txBody>
          <a:bodyPr wrap="none" rtlCol="0">
            <a:spAutoFit/>
          </a:bodyPr>
          <a:lstStyle/>
          <a:p>
            <a:r>
              <a:rPr lang="en-IN" sz="6000" dirty="0" smtClean="0">
                <a:solidFill>
                  <a:schemeClr val="bg1"/>
                </a:solidFill>
              </a:rPr>
              <a:t>Inheritance… (Super() Constructor)</a:t>
            </a:r>
            <a:endParaRPr lang="en-IN" sz="6000" dirty="0">
              <a:solidFill>
                <a:schemeClr val="bg1"/>
              </a:solidFill>
            </a:endParaRPr>
          </a:p>
        </p:txBody>
      </p:sp>
      <p:cxnSp>
        <p:nvCxnSpPr>
          <p:cNvPr id="5" name="Straight Connector 4"/>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150125" y="1179436"/>
            <a:ext cx="4230805" cy="4524315"/>
          </a:xfrm>
          <a:prstGeom prst="rect">
            <a:avLst/>
          </a:prstGeom>
        </p:spPr>
        <p:txBody>
          <a:bodyPr wrap="square">
            <a:spAutoFit/>
          </a:bodyPr>
          <a:lstStyle/>
          <a:p>
            <a:pPr>
              <a:lnSpc>
                <a:spcPct val="150000"/>
              </a:lnSpc>
            </a:pPr>
            <a:r>
              <a:rPr lang="en-IN" sz="2400" dirty="0">
                <a:solidFill>
                  <a:schemeClr val="bg1"/>
                </a:solidFill>
              </a:rPr>
              <a:t>class </a:t>
            </a:r>
            <a:r>
              <a:rPr lang="en-IN" sz="2400" dirty="0" err="1">
                <a:solidFill>
                  <a:schemeClr val="bg1"/>
                </a:solidFill>
              </a:rPr>
              <a:t>TwoDShape</a:t>
            </a:r>
            <a:r>
              <a:rPr lang="en-IN" sz="2400" dirty="0">
                <a:solidFill>
                  <a:schemeClr val="bg1"/>
                </a:solidFill>
              </a:rPr>
              <a:t> {</a:t>
            </a:r>
          </a:p>
          <a:p>
            <a:pPr>
              <a:lnSpc>
                <a:spcPct val="150000"/>
              </a:lnSpc>
            </a:pPr>
            <a:r>
              <a:rPr lang="en-IN" sz="2400" dirty="0" smtClean="0">
                <a:solidFill>
                  <a:schemeClr val="bg1"/>
                </a:solidFill>
              </a:rPr>
              <a:t>double </a:t>
            </a:r>
            <a:r>
              <a:rPr lang="en-IN" sz="2400" dirty="0">
                <a:solidFill>
                  <a:schemeClr val="bg1"/>
                </a:solidFill>
              </a:rPr>
              <a:t>width;</a:t>
            </a:r>
          </a:p>
          <a:p>
            <a:pPr>
              <a:lnSpc>
                <a:spcPct val="150000"/>
              </a:lnSpc>
            </a:pPr>
            <a:r>
              <a:rPr lang="en-IN" sz="2400" dirty="0" smtClean="0">
                <a:solidFill>
                  <a:schemeClr val="bg1"/>
                </a:solidFill>
              </a:rPr>
              <a:t>double </a:t>
            </a:r>
            <a:r>
              <a:rPr lang="en-IN" sz="2400" dirty="0">
                <a:solidFill>
                  <a:schemeClr val="bg1"/>
                </a:solidFill>
              </a:rPr>
              <a:t>height;</a:t>
            </a:r>
          </a:p>
          <a:p>
            <a:pPr>
              <a:lnSpc>
                <a:spcPct val="150000"/>
              </a:lnSpc>
            </a:pPr>
            <a:r>
              <a:rPr lang="en-IN" sz="2400" dirty="0" err="1" smtClean="0">
                <a:solidFill>
                  <a:schemeClr val="bg1"/>
                </a:solidFill>
              </a:rPr>
              <a:t>TwoDShape</a:t>
            </a:r>
            <a:r>
              <a:rPr lang="en-IN" sz="2400" dirty="0" smtClean="0">
                <a:solidFill>
                  <a:schemeClr val="bg1"/>
                </a:solidFill>
              </a:rPr>
              <a:t>(double </a:t>
            </a:r>
            <a:r>
              <a:rPr lang="en-IN" sz="2400" dirty="0">
                <a:solidFill>
                  <a:schemeClr val="bg1"/>
                </a:solidFill>
              </a:rPr>
              <a:t>w, double h) {</a:t>
            </a:r>
          </a:p>
          <a:p>
            <a:pPr lvl="1">
              <a:lnSpc>
                <a:spcPct val="150000"/>
              </a:lnSpc>
            </a:pPr>
            <a:r>
              <a:rPr lang="en-IN" sz="2400" dirty="0">
                <a:solidFill>
                  <a:schemeClr val="bg1"/>
                </a:solidFill>
              </a:rPr>
              <a:t>width = w;</a:t>
            </a:r>
          </a:p>
          <a:p>
            <a:pPr lvl="1">
              <a:lnSpc>
                <a:spcPct val="150000"/>
              </a:lnSpc>
            </a:pPr>
            <a:r>
              <a:rPr lang="en-IN" sz="2400" dirty="0">
                <a:solidFill>
                  <a:schemeClr val="bg1"/>
                </a:solidFill>
              </a:rPr>
              <a:t>height = h;</a:t>
            </a:r>
          </a:p>
          <a:p>
            <a:pPr>
              <a:lnSpc>
                <a:spcPct val="150000"/>
              </a:lnSpc>
            </a:pPr>
            <a:r>
              <a:rPr lang="en-IN" sz="2400" dirty="0">
                <a:solidFill>
                  <a:schemeClr val="bg1"/>
                </a:solidFill>
              </a:rPr>
              <a:t>}</a:t>
            </a:r>
          </a:p>
        </p:txBody>
      </p:sp>
      <p:sp>
        <p:nvSpPr>
          <p:cNvPr id="9" name="Rectangle 8"/>
          <p:cNvSpPr/>
          <p:nvPr/>
        </p:nvSpPr>
        <p:spPr>
          <a:xfrm>
            <a:off x="4553806" y="1179436"/>
            <a:ext cx="5067870" cy="3416320"/>
          </a:xfrm>
          <a:prstGeom prst="rect">
            <a:avLst/>
          </a:prstGeom>
        </p:spPr>
        <p:txBody>
          <a:bodyPr wrap="square">
            <a:spAutoFit/>
          </a:bodyPr>
          <a:lstStyle/>
          <a:p>
            <a:pPr>
              <a:lnSpc>
                <a:spcPct val="150000"/>
              </a:lnSpc>
            </a:pPr>
            <a:r>
              <a:rPr lang="en-IN" sz="2400" dirty="0">
                <a:solidFill>
                  <a:schemeClr val="bg1"/>
                </a:solidFill>
              </a:rPr>
              <a:t>class Triangle </a:t>
            </a:r>
            <a:r>
              <a:rPr lang="en-IN" sz="2400" b="1" dirty="0">
                <a:solidFill>
                  <a:srgbClr val="FFC000"/>
                </a:solidFill>
              </a:rPr>
              <a:t>extends</a:t>
            </a:r>
            <a:r>
              <a:rPr lang="en-IN" sz="2400" dirty="0">
                <a:solidFill>
                  <a:schemeClr val="bg1"/>
                </a:solidFill>
              </a:rPr>
              <a:t> </a:t>
            </a:r>
            <a:r>
              <a:rPr lang="en-IN" sz="2400" dirty="0" err="1">
                <a:solidFill>
                  <a:schemeClr val="bg1"/>
                </a:solidFill>
              </a:rPr>
              <a:t>TwoDShape</a:t>
            </a:r>
            <a:r>
              <a:rPr lang="en-IN" sz="2400" dirty="0">
                <a:solidFill>
                  <a:schemeClr val="bg1"/>
                </a:solidFill>
              </a:rPr>
              <a:t> {</a:t>
            </a:r>
          </a:p>
          <a:p>
            <a:pPr>
              <a:lnSpc>
                <a:spcPct val="150000"/>
              </a:lnSpc>
            </a:pPr>
            <a:r>
              <a:rPr lang="en-IN" sz="2400" dirty="0" smtClean="0">
                <a:solidFill>
                  <a:schemeClr val="bg1"/>
                </a:solidFill>
              </a:rPr>
              <a:t>String </a:t>
            </a:r>
            <a:r>
              <a:rPr lang="en-IN" sz="2400" dirty="0">
                <a:solidFill>
                  <a:schemeClr val="bg1"/>
                </a:solidFill>
              </a:rPr>
              <a:t>style;</a:t>
            </a:r>
          </a:p>
          <a:p>
            <a:pPr>
              <a:lnSpc>
                <a:spcPct val="150000"/>
              </a:lnSpc>
            </a:pPr>
            <a:r>
              <a:rPr lang="en-IN" sz="2400" dirty="0">
                <a:solidFill>
                  <a:schemeClr val="bg1"/>
                </a:solidFill>
              </a:rPr>
              <a:t>Triangle(String s, double w, double h) {</a:t>
            </a:r>
          </a:p>
          <a:p>
            <a:pPr lvl="1">
              <a:lnSpc>
                <a:spcPct val="150000"/>
              </a:lnSpc>
            </a:pPr>
            <a:r>
              <a:rPr lang="en-IN" sz="2400" dirty="0">
                <a:solidFill>
                  <a:schemeClr val="bg1"/>
                </a:solidFill>
              </a:rPr>
              <a:t>super(w, h); // </a:t>
            </a:r>
            <a:r>
              <a:rPr lang="en-IN" sz="2400" dirty="0">
                <a:solidFill>
                  <a:srgbClr val="FFC000"/>
                </a:solidFill>
              </a:rPr>
              <a:t>call superclass</a:t>
            </a:r>
            <a:r>
              <a:rPr lang="en-IN" sz="2400" dirty="0">
                <a:solidFill>
                  <a:schemeClr val="bg1"/>
                </a:solidFill>
              </a:rPr>
              <a:t> </a:t>
            </a:r>
            <a:endParaRPr lang="en-IN" sz="2400" dirty="0" smtClean="0">
              <a:solidFill>
                <a:schemeClr val="bg1"/>
              </a:solidFill>
            </a:endParaRPr>
          </a:p>
          <a:p>
            <a:pPr lvl="1">
              <a:lnSpc>
                <a:spcPct val="150000"/>
              </a:lnSpc>
            </a:pPr>
            <a:r>
              <a:rPr lang="en-IN" sz="2400" dirty="0" smtClean="0">
                <a:solidFill>
                  <a:schemeClr val="bg1"/>
                </a:solidFill>
              </a:rPr>
              <a:t>style </a:t>
            </a:r>
            <a:r>
              <a:rPr lang="en-IN" sz="2400" dirty="0">
                <a:solidFill>
                  <a:schemeClr val="bg1"/>
                </a:solidFill>
              </a:rPr>
              <a:t>= s;</a:t>
            </a:r>
          </a:p>
          <a:p>
            <a:pPr>
              <a:lnSpc>
                <a:spcPct val="150000"/>
              </a:lnSpc>
            </a:pPr>
            <a:r>
              <a:rPr lang="en-IN" sz="2400" dirty="0">
                <a:solidFill>
                  <a:schemeClr val="bg1"/>
                </a:solidFill>
              </a:rPr>
              <a:t>}</a:t>
            </a:r>
          </a:p>
        </p:txBody>
      </p:sp>
      <p:sp>
        <p:nvSpPr>
          <p:cNvPr id="10" name="Rectangle 9"/>
          <p:cNvSpPr/>
          <p:nvPr/>
        </p:nvSpPr>
        <p:spPr>
          <a:xfrm>
            <a:off x="4380930" y="4841977"/>
            <a:ext cx="6096000" cy="861774"/>
          </a:xfrm>
          <a:prstGeom prst="rect">
            <a:avLst/>
          </a:prstGeom>
        </p:spPr>
        <p:txBody>
          <a:bodyPr>
            <a:spAutoFit/>
          </a:bodyPr>
          <a:lstStyle/>
          <a:p>
            <a:endParaRPr lang="en-IN" sz="2400" dirty="0">
              <a:solidFill>
                <a:schemeClr val="bg1"/>
              </a:solidFill>
            </a:endParaRPr>
          </a:p>
          <a:p>
            <a:r>
              <a:rPr lang="en-IN" sz="2400" dirty="0">
                <a:solidFill>
                  <a:schemeClr val="bg1"/>
                </a:solidFill>
              </a:rPr>
              <a:t>Triangle t1 = new Triangle("filled", 4.0, 4.0); </a:t>
            </a:r>
          </a:p>
        </p:txBody>
      </p:sp>
    </p:spTree>
    <p:extLst>
      <p:ext uri="{BB962C8B-B14F-4D97-AF65-F5344CB8AC3E}">
        <p14:creationId xmlns:p14="http://schemas.microsoft.com/office/powerpoint/2010/main" val="2291710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4841" y="163773"/>
            <a:ext cx="11192359" cy="1015663"/>
          </a:xfrm>
          <a:prstGeom prst="rect">
            <a:avLst/>
          </a:prstGeom>
          <a:noFill/>
        </p:spPr>
        <p:txBody>
          <a:bodyPr wrap="none" rtlCol="0">
            <a:spAutoFit/>
          </a:bodyPr>
          <a:lstStyle/>
          <a:p>
            <a:r>
              <a:rPr lang="en-IN" sz="6000" dirty="0" smtClean="0">
                <a:solidFill>
                  <a:schemeClr val="bg1"/>
                </a:solidFill>
              </a:rPr>
              <a:t>Inheritance… </a:t>
            </a:r>
            <a:r>
              <a:rPr lang="en-IN" sz="6000" dirty="0">
                <a:solidFill>
                  <a:schemeClr val="bg1"/>
                </a:solidFill>
              </a:rPr>
              <a:t>(Overriding Methods)</a:t>
            </a:r>
          </a:p>
        </p:txBody>
      </p:sp>
      <p:cxnSp>
        <p:nvCxnSpPr>
          <p:cNvPr id="5" name="Straight Connector 4"/>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354841" y="1273286"/>
            <a:ext cx="11696132" cy="3416320"/>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IN" sz="2400" dirty="0">
                <a:solidFill>
                  <a:schemeClr val="bg1"/>
                </a:solidFill>
              </a:rPr>
              <a:t>In a class hierarchy, when a </a:t>
            </a:r>
            <a:r>
              <a:rPr lang="en-IN" sz="2400" b="1" dirty="0" smtClean="0">
                <a:solidFill>
                  <a:srgbClr val="FFC000"/>
                </a:solidFill>
              </a:rPr>
              <a:t>instance</a:t>
            </a:r>
            <a:r>
              <a:rPr lang="en-IN" sz="2400" dirty="0" smtClean="0">
                <a:solidFill>
                  <a:schemeClr val="bg1"/>
                </a:solidFill>
              </a:rPr>
              <a:t> </a:t>
            </a:r>
            <a:r>
              <a:rPr lang="en-IN" sz="2400" b="1" dirty="0" smtClean="0">
                <a:solidFill>
                  <a:srgbClr val="FFC000"/>
                </a:solidFill>
              </a:rPr>
              <a:t>method </a:t>
            </a:r>
            <a:r>
              <a:rPr lang="en-IN" sz="2400" b="1" dirty="0">
                <a:solidFill>
                  <a:srgbClr val="FFC000"/>
                </a:solidFill>
              </a:rPr>
              <a:t>in a subclass</a:t>
            </a:r>
            <a:r>
              <a:rPr lang="en-IN" sz="2400" dirty="0">
                <a:solidFill>
                  <a:schemeClr val="bg1"/>
                </a:solidFill>
              </a:rPr>
              <a:t> has the </a:t>
            </a:r>
            <a:r>
              <a:rPr lang="en-IN" sz="2400" b="1" dirty="0">
                <a:solidFill>
                  <a:srgbClr val="FFC000"/>
                </a:solidFill>
              </a:rPr>
              <a:t>same return type and signature</a:t>
            </a:r>
            <a:r>
              <a:rPr lang="en-IN" sz="2400" dirty="0">
                <a:solidFill>
                  <a:schemeClr val="bg1"/>
                </a:solidFill>
              </a:rPr>
              <a:t> as </a:t>
            </a:r>
            <a:r>
              <a:rPr lang="en-IN" sz="2400" dirty="0" smtClean="0">
                <a:solidFill>
                  <a:schemeClr val="bg1"/>
                </a:solidFill>
              </a:rPr>
              <a:t>a method </a:t>
            </a:r>
            <a:r>
              <a:rPr lang="en-IN" sz="2400" dirty="0">
                <a:solidFill>
                  <a:schemeClr val="bg1"/>
                </a:solidFill>
              </a:rPr>
              <a:t>in its </a:t>
            </a:r>
            <a:r>
              <a:rPr lang="en-IN" sz="2400" b="1" dirty="0">
                <a:solidFill>
                  <a:srgbClr val="FFC000"/>
                </a:solidFill>
              </a:rPr>
              <a:t>superclass</a:t>
            </a:r>
            <a:r>
              <a:rPr lang="en-IN" sz="2400" dirty="0">
                <a:solidFill>
                  <a:schemeClr val="bg1"/>
                </a:solidFill>
              </a:rPr>
              <a:t>, then the method in the subclass is said to </a:t>
            </a:r>
            <a:r>
              <a:rPr lang="en-IN" sz="2400" b="1" dirty="0">
                <a:solidFill>
                  <a:srgbClr val="FFC000"/>
                </a:solidFill>
              </a:rPr>
              <a:t>override</a:t>
            </a:r>
            <a:r>
              <a:rPr lang="en-IN" sz="2400" dirty="0">
                <a:solidFill>
                  <a:schemeClr val="bg1"/>
                </a:solidFill>
              </a:rPr>
              <a:t> the method in </a:t>
            </a:r>
            <a:r>
              <a:rPr lang="en-IN" sz="2400" dirty="0" smtClean="0">
                <a:solidFill>
                  <a:schemeClr val="bg1"/>
                </a:solidFill>
              </a:rPr>
              <a:t>the superclass.</a:t>
            </a:r>
          </a:p>
          <a:p>
            <a:pPr marL="342900" indent="-342900" algn="just">
              <a:lnSpc>
                <a:spcPct val="150000"/>
              </a:lnSpc>
              <a:buFont typeface="Arial" panose="020B0604020202020204" pitchFamily="34" charset="0"/>
              <a:buChar char="•"/>
            </a:pPr>
            <a:r>
              <a:rPr lang="en-IN" sz="2400" dirty="0" smtClean="0">
                <a:solidFill>
                  <a:schemeClr val="bg1"/>
                </a:solidFill>
              </a:rPr>
              <a:t>The </a:t>
            </a:r>
            <a:r>
              <a:rPr lang="en-IN" sz="2400" dirty="0">
                <a:solidFill>
                  <a:schemeClr val="bg1"/>
                </a:solidFill>
              </a:rPr>
              <a:t>new method definition must have the same method signature, i.e., </a:t>
            </a:r>
            <a:r>
              <a:rPr lang="en-IN" sz="2400" dirty="0" smtClean="0">
                <a:solidFill>
                  <a:schemeClr val="bg1"/>
                </a:solidFill>
              </a:rPr>
              <a:t>the method </a:t>
            </a:r>
            <a:r>
              <a:rPr lang="en-IN" sz="2400" dirty="0">
                <a:solidFill>
                  <a:schemeClr val="bg1"/>
                </a:solidFill>
              </a:rPr>
              <a:t>name, and the types and the number of parameters, including </a:t>
            </a:r>
            <a:r>
              <a:rPr lang="en-IN" sz="2400" dirty="0" smtClean="0">
                <a:solidFill>
                  <a:schemeClr val="bg1"/>
                </a:solidFill>
              </a:rPr>
              <a:t>their order</a:t>
            </a:r>
            <a:r>
              <a:rPr lang="en-IN" sz="2400" dirty="0">
                <a:solidFill>
                  <a:schemeClr val="bg1"/>
                </a:solidFill>
              </a:rPr>
              <a:t>, are the same as in the overridden method.</a:t>
            </a:r>
          </a:p>
        </p:txBody>
      </p:sp>
    </p:spTree>
    <p:extLst>
      <p:ext uri="{BB962C8B-B14F-4D97-AF65-F5344CB8AC3E}">
        <p14:creationId xmlns:p14="http://schemas.microsoft.com/office/powerpoint/2010/main" val="1486181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4841" y="163773"/>
            <a:ext cx="11192359" cy="1015663"/>
          </a:xfrm>
          <a:prstGeom prst="rect">
            <a:avLst/>
          </a:prstGeom>
          <a:noFill/>
        </p:spPr>
        <p:txBody>
          <a:bodyPr wrap="none" rtlCol="0">
            <a:spAutoFit/>
          </a:bodyPr>
          <a:lstStyle/>
          <a:p>
            <a:r>
              <a:rPr lang="en-IN" sz="6000" dirty="0" smtClean="0">
                <a:solidFill>
                  <a:schemeClr val="bg1"/>
                </a:solidFill>
              </a:rPr>
              <a:t>Inheritance… </a:t>
            </a:r>
            <a:r>
              <a:rPr lang="en-IN" sz="6000" dirty="0">
                <a:solidFill>
                  <a:schemeClr val="bg1"/>
                </a:solidFill>
              </a:rPr>
              <a:t>(Overriding Methods)</a:t>
            </a:r>
          </a:p>
        </p:txBody>
      </p:sp>
      <p:cxnSp>
        <p:nvCxnSpPr>
          <p:cNvPr id="5" name="Straight Connector 4"/>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63773" y="1395316"/>
            <a:ext cx="5663821" cy="3170099"/>
          </a:xfrm>
          <a:prstGeom prst="rect">
            <a:avLst/>
          </a:prstGeom>
        </p:spPr>
        <p:txBody>
          <a:bodyPr wrap="square">
            <a:spAutoFit/>
          </a:bodyPr>
          <a:lstStyle/>
          <a:p>
            <a:r>
              <a:rPr lang="en-IN" sz="2000" dirty="0">
                <a:solidFill>
                  <a:schemeClr val="bg1"/>
                </a:solidFill>
              </a:rPr>
              <a:t>class Foo {</a:t>
            </a:r>
          </a:p>
          <a:p>
            <a:endParaRPr lang="en-IN" sz="2000" dirty="0">
              <a:solidFill>
                <a:schemeClr val="bg1"/>
              </a:solidFill>
            </a:endParaRPr>
          </a:p>
          <a:p>
            <a:r>
              <a:rPr lang="en-IN" sz="2000" dirty="0">
                <a:solidFill>
                  <a:schemeClr val="bg1"/>
                </a:solidFill>
              </a:rPr>
              <a:t>    public static void </a:t>
            </a:r>
            <a:r>
              <a:rPr lang="en-IN" sz="2000" dirty="0" err="1">
                <a:solidFill>
                  <a:schemeClr val="bg1"/>
                </a:solidFill>
              </a:rPr>
              <a:t>classMethod</a:t>
            </a:r>
            <a:r>
              <a:rPr lang="en-IN" sz="2000" dirty="0">
                <a:solidFill>
                  <a:schemeClr val="bg1"/>
                </a:solidFill>
              </a:rPr>
              <a:t>() {</a:t>
            </a:r>
          </a:p>
          <a:p>
            <a:r>
              <a:rPr lang="en-IN" sz="2000" dirty="0">
                <a:solidFill>
                  <a:schemeClr val="bg1"/>
                </a:solidFill>
              </a:rPr>
              <a:t>        </a:t>
            </a:r>
            <a:r>
              <a:rPr lang="en-IN" sz="2000" dirty="0" err="1">
                <a:solidFill>
                  <a:schemeClr val="bg1"/>
                </a:solidFill>
              </a:rPr>
              <a:t>System.out.println</a:t>
            </a:r>
            <a:r>
              <a:rPr lang="en-IN" sz="2000" dirty="0">
                <a:solidFill>
                  <a:schemeClr val="bg1"/>
                </a:solidFill>
              </a:rPr>
              <a:t>("</a:t>
            </a:r>
            <a:r>
              <a:rPr lang="en-IN" sz="2000" dirty="0" err="1">
                <a:solidFill>
                  <a:schemeClr val="bg1"/>
                </a:solidFill>
              </a:rPr>
              <a:t>classMethod</a:t>
            </a:r>
            <a:r>
              <a:rPr lang="en-IN" sz="2000" dirty="0">
                <a:solidFill>
                  <a:schemeClr val="bg1"/>
                </a:solidFill>
              </a:rPr>
              <a:t>() in Foo");</a:t>
            </a:r>
          </a:p>
          <a:p>
            <a:r>
              <a:rPr lang="en-IN" sz="2000" dirty="0">
                <a:solidFill>
                  <a:schemeClr val="bg1"/>
                </a:solidFill>
              </a:rPr>
              <a:t>    }</a:t>
            </a:r>
          </a:p>
          <a:p>
            <a:endParaRPr lang="en-IN" sz="2000" dirty="0">
              <a:solidFill>
                <a:schemeClr val="bg1"/>
              </a:solidFill>
            </a:endParaRPr>
          </a:p>
          <a:p>
            <a:r>
              <a:rPr lang="en-IN" sz="2000" dirty="0">
                <a:solidFill>
                  <a:schemeClr val="bg1"/>
                </a:solidFill>
              </a:rPr>
              <a:t>    public void </a:t>
            </a:r>
            <a:r>
              <a:rPr lang="en-IN" sz="2000" dirty="0" err="1">
                <a:solidFill>
                  <a:schemeClr val="bg1"/>
                </a:solidFill>
              </a:rPr>
              <a:t>instanceMethod</a:t>
            </a:r>
            <a:r>
              <a:rPr lang="en-IN" sz="2000" dirty="0">
                <a:solidFill>
                  <a:schemeClr val="bg1"/>
                </a:solidFill>
              </a:rPr>
              <a:t>() {</a:t>
            </a:r>
          </a:p>
          <a:p>
            <a:r>
              <a:rPr lang="en-IN" sz="2000" dirty="0">
                <a:solidFill>
                  <a:schemeClr val="bg1"/>
                </a:solidFill>
              </a:rPr>
              <a:t>        </a:t>
            </a:r>
            <a:r>
              <a:rPr lang="en-IN" sz="2000" dirty="0" err="1">
                <a:solidFill>
                  <a:schemeClr val="bg1"/>
                </a:solidFill>
              </a:rPr>
              <a:t>System.out.println</a:t>
            </a:r>
            <a:r>
              <a:rPr lang="en-IN" sz="2000" dirty="0">
                <a:solidFill>
                  <a:schemeClr val="bg1"/>
                </a:solidFill>
              </a:rPr>
              <a:t>("</a:t>
            </a:r>
            <a:r>
              <a:rPr lang="en-IN" sz="2000" dirty="0" err="1">
                <a:solidFill>
                  <a:schemeClr val="bg1"/>
                </a:solidFill>
              </a:rPr>
              <a:t>instanceMethod</a:t>
            </a:r>
            <a:r>
              <a:rPr lang="en-IN" sz="2000" dirty="0">
                <a:solidFill>
                  <a:schemeClr val="bg1"/>
                </a:solidFill>
              </a:rPr>
              <a:t>() in Foo");</a:t>
            </a:r>
          </a:p>
          <a:p>
            <a:r>
              <a:rPr lang="en-IN" sz="2000" dirty="0" smtClean="0">
                <a:solidFill>
                  <a:schemeClr val="bg1"/>
                </a:solidFill>
              </a:rPr>
              <a:t>   }</a:t>
            </a:r>
            <a:endParaRPr lang="en-IN" sz="2000" dirty="0">
              <a:solidFill>
                <a:schemeClr val="bg1"/>
              </a:solidFill>
            </a:endParaRPr>
          </a:p>
          <a:p>
            <a:r>
              <a:rPr lang="en-IN" sz="2000" dirty="0">
                <a:solidFill>
                  <a:schemeClr val="bg1"/>
                </a:solidFill>
              </a:rPr>
              <a:t>}</a:t>
            </a:r>
          </a:p>
        </p:txBody>
      </p:sp>
      <p:sp>
        <p:nvSpPr>
          <p:cNvPr id="6" name="Rectangle 5"/>
          <p:cNvSpPr/>
          <p:nvPr/>
        </p:nvSpPr>
        <p:spPr>
          <a:xfrm>
            <a:off x="6350759" y="1427247"/>
            <a:ext cx="6096000" cy="3477875"/>
          </a:xfrm>
          <a:prstGeom prst="rect">
            <a:avLst/>
          </a:prstGeom>
        </p:spPr>
        <p:txBody>
          <a:bodyPr>
            <a:spAutoFit/>
          </a:bodyPr>
          <a:lstStyle/>
          <a:p>
            <a:r>
              <a:rPr lang="en-IN" sz="2000" dirty="0">
                <a:solidFill>
                  <a:schemeClr val="bg1"/>
                </a:solidFill>
              </a:rPr>
              <a:t>class Bar extends Foo {</a:t>
            </a:r>
          </a:p>
          <a:p>
            <a:endParaRPr lang="en-IN" sz="2000" dirty="0">
              <a:solidFill>
                <a:schemeClr val="bg1"/>
              </a:solidFill>
            </a:endParaRPr>
          </a:p>
          <a:p>
            <a:r>
              <a:rPr lang="en-IN" sz="2000" dirty="0">
                <a:solidFill>
                  <a:schemeClr val="bg1"/>
                </a:solidFill>
              </a:rPr>
              <a:t>    public static void </a:t>
            </a:r>
            <a:r>
              <a:rPr lang="en-IN" sz="2000" dirty="0" err="1">
                <a:solidFill>
                  <a:schemeClr val="bg1"/>
                </a:solidFill>
              </a:rPr>
              <a:t>classMethod</a:t>
            </a:r>
            <a:r>
              <a:rPr lang="en-IN" sz="2000" dirty="0">
                <a:solidFill>
                  <a:schemeClr val="bg1"/>
                </a:solidFill>
              </a:rPr>
              <a:t>() {</a:t>
            </a:r>
          </a:p>
          <a:p>
            <a:r>
              <a:rPr lang="en-IN" sz="2000" dirty="0">
                <a:solidFill>
                  <a:schemeClr val="bg1"/>
                </a:solidFill>
              </a:rPr>
              <a:t>        </a:t>
            </a:r>
            <a:r>
              <a:rPr lang="en-IN" sz="2000" dirty="0" err="1">
                <a:solidFill>
                  <a:schemeClr val="bg1"/>
                </a:solidFill>
              </a:rPr>
              <a:t>System.out.println</a:t>
            </a:r>
            <a:r>
              <a:rPr lang="en-IN" sz="2000" dirty="0">
                <a:solidFill>
                  <a:schemeClr val="bg1"/>
                </a:solidFill>
              </a:rPr>
              <a:t>("</a:t>
            </a:r>
            <a:r>
              <a:rPr lang="en-IN" sz="2000" dirty="0" err="1">
                <a:solidFill>
                  <a:schemeClr val="bg1"/>
                </a:solidFill>
              </a:rPr>
              <a:t>classMethod</a:t>
            </a:r>
            <a:r>
              <a:rPr lang="en-IN" sz="2000" dirty="0">
                <a:solidFill>
                  <a:schemeClr val="bg1"/>
                </a:solidFill>
              </a:rPr>
              <a:t>() in Bar");</a:t>
            </a:r>
          </a:p>
          <a:p>
            <a:r>
              <a:rPr lang="en-IN" sz="2000" dirty="0">
                <a:solidFill>
                  <a:schemeClr val="bg1"/>
                </a:solidFill>
              </a:rPr>
              <a:t>    }</a:t>
            </a:r>
          </a:p>
          <a:p>
            <a:endParaRPr lang="en-IN" sz="2000" dirty="0">
              <a:solidFill>
                <a:schemeClr val="bg1"/>
              </a:solidFill>
            </a:endParaRPr>
          </a:p>
          <a:p>
            <a:r>
              <a:rPr lang="en-IN" sz="2000" dirty="0">
                <a:solidFill>
                  <a:schemeClr val="bg1"/>
                </a:solidFill>
              </a:rPr>
              <a:t>    public void </a:t>
            </a:r>
            <a:r>
              <a:rPr lang="en-IN" sz="2000" dirty="0" err="1">
                <a:solidFill>
                  <a:schemeClr val="bg1"/>
                </a:solidFill>
              </a:rPr>
              <a:t>instanceMethod</a:t>
            </a:r>
            <a:r>
              <a:rPr lang="en-IN" sz="2000" dirty="0">
                <a:solidFill>
                  <a:schemeClr val="bg1"/>
                </a:solidFill>
              </a:rPr>
              <a:t>() {</a:t>
            </a:r>
          </a:p>
          <a:p>
            <a:r>
              <a:rPr lang="en-IN" sz="2000" dirty="0">
                <a:solidFill>
                  <a:schemeClr val="bg1"/>
                </a:solidFill>
              </a:rPr>
              <a:t>        </a:t>
            </a:r>
            <a:r>
              <a:rPr lang="en-IN" sz="2000" dirty="0" err="1">
                <a:solidFill>
                  <a:schemeClr val="bg1"/>
                </a:solidFill>
              </a:rPr>
              <a:t>System.out.println</a:t>
            </a:r>
            <a:r>
              <a:rPr lang="en-IN" sz="2000" dirty="0">
                <a:solidFill>
                  <a:schemeClr val="bg1"/>
                </a:solidFill>
              </a:rPr>
              <a:t>("</a:t>
            </a:r>
            <a:r>
              <a:rPr lang="en-IN" sz="2000" dirty="0" err="1">
                <a:solidFill>
                  <a:schemeClr val="bg1"/>
                </a:solidFill>
              </a:rPr>
              <a:t>instanceMethod</a:t>
            </a:r>
            <a:r>
              <a:rPr lang="en-IN" sz="2000" dirty="0">
                <a:solidFill>
                  <a:schemeClr val="bg1"/>
                </a:solidFill>
              </a:rPr>
              <a:t>() in Bar");</a:t>
            </a:r>
          </a:p>
          <a:p>
            <a:r>
              <a:rPr lang="en-IN" sz="2000" dirty="0">
                <a:solidFill>
                  <a:schemeClr val="bg1"/>
                </a:solidFill>
              </a:rPr>
              <a:t>        //return b;</a:t>
            </a:r>
          </a:p>
          <a:p>
            <a:r>
              <a:rPr lang="en-IN" sz="2000" dirty="0">
                <a:solidFill>
                  <a:schemeClr val="bg1"/>
                </a:solidFill>
              </a:rPr>
              <a:t>    }</a:t>
            </a:r>
          </a:p>
          <a:p>
            <a:r>
              <a:rPr lang="en-IN" sz="2000" dirty="0">
                <a:solidFill>
                  <a:schemeClr val="bg1"/>
                </a:solidFill>
              </a:rPr>
              <a:t>}</a:t>
            </a:r>
          </a:p>
        </p:txBody>
      </p:sp>
      <p:sp>
        <p:nvSpPr>
          <p:cNvPr id="8" name="Rectangle 7"/>
          <p:cNvSpPr/>
          <p:nvPr/>
        </p:nvSpPr>
        <p:spPr>
          <a:xfrm>
            <a:off x="2556681" y="4549676"/>
            <a:ext cx="5591032" cy="2554545"/>
          </a:xfrm>
          <a:prstGeom prst="rect">
            <a:avLst/>
          </a:prstGeom>
        </p:spPr>
        <p:txBody>
          <a:bodyPr wrap="square">
            <a:spAutoFit/>
          </a:bodyPr>
          <a:lstStyle/>
          <a:p>
            <a:r>
              <a:rPr lang="en-IN" sz="2000" dirty="0">
                <a:solidFill>
                  <a:schemeClr val="bg1"/>
                </a:solidFill>
              </a:rPr>
              <a:t>class Test {</a:t>
            </a:r>
          </a:p>
          <a:p>
            <a:endParaRPr lang="en-IN" sz="2000" dirty="0">
              <a:solidFill>
                <a:schemeClr val="bg1"/>
              </a:solidFill>
            </a:endParaRPr>
          </a:p>
          <a:p>
            <a:r>
              <a:rPr lang="en-IN" sz="2000" dirty="0">
                <a:solidFill>
                  <a:schemeClr val="bg1"/>
                </a:solidFill>
              </a:rPr>
              <a:t>    public static void main(String[] </a:t>
            </a:r>
            <a:r>
              <a:rPr lang="en-IN" sz="2000" dirty="0" err="1">
                <a:solidFill>
                  <a:schemeClr val="bg1"/>
                </a:solidFill>
              </a:rPr>
              <a:t>args</a:t>
            </a:r>
            <a:r>
              <a:rPr lang="en-IN" sz="2000" dirty="0">
                <a:solidFill>
                  <a:schemeClr val="bg1"/>
                </a:solidFill>
              </a:rPr>
              <a:t>) {</a:t>
            </a:r>
          </a:p>
          <a:p>
            <a:r>
              <a:rPr lang="en-IN" sz="2000" dirty="0">
                <a:solidFill>
                  <a:schemeClr val="bg1"/>
                </a:solidFill>
              </a:rPr>
              <a:t>        </a:t>
            </a:r>
            <a:r>
              <a:rPr lang="en-IN" sz="2000" dirty="0" smtClean="0">
                <a:solidFill>
                  <a:schemeClr val="bg1"/>
                </a:solidFill>
              </a:rPr>
              <a:t>Foo f </a:t>
            </a:r>
            <a:r>
              <a:rPr lang="en-IN" sz="2000" dirty="0">
                <a:solidFill>
                  <a:schemeClr val="bg1"/>
                </a:solidFill>
              </a:rPr>
              <a:t>= new Bar();</a:t>
            </a:r>
          </a:p>
          <a:p>
            <a:r>
              <a:rPr lang="en-IN" sz="2000" dirty="0">
                <a:solidFill>
                  <a:schemeClr val="bg1"/>
                </a:solidFill>
              </a:rPr>
              <a:t>        </a:t>
            </a:r>
            <a:r>
              <a:rPr lang="en-IN" sz="2000" dirty="0" err="1" smtClean="0">
                <a:solidFill>
                  <a:schemeClr val="bg1"/>
                </a:solidFill>
              </a:rPr>
              <a:t>f.instanceMethod</a:t>
            </a:r>
            <a:r>
              <a:rPr lang="en-IN" sz="2000" dirty="0">
                <a:solidFill>
                  <a:schemeClr val="bg1"/>
                </a:solidFill>
              </a:rPr>
              <a:t>();</a:t>
            </a:r>
          </a:p>
          <a:p>
            <a:r>
              <a:rPr lang="en-IN" sz="2000" dirty="0">
                <a:solidFill>
                  <a:schemeClr val="bg1"/>
                </a:solidFill>
              </a:rPr>
              <a:t>        </a:t>
            </a:r>
            <a:r>
              <a:rPr lang="en-IN" sz="2000" dirty="0" err="1" smtClean="0">
                <a:solidFill>
                  <a:schemeClr val="bg1"/>
                </a:solidFill>
              </a:rPr>
              <a:t>f.classMethod</a:t>
            </a:r>
            <a:r>
              <a:rPr lang="en-IN" sz="2000" dirty="0">
                <a:solidFill>
                  <a:schemeClr val="bg1"/>
                </a:solidFill>
              </a:rPr>
              <a:t>();</a:t>
            </a:r>
          </a:p>
          <a:p>
            <a:r>
              <a:rPr lang="en-IN" sz="2000" dirty="0">
                <a:solidFill>
                  <a:schemeClr val="bg1"/>
                </a:solidFill>
              </a:rPr>
              <a:t>    }</a:t>
            </a:r>
          </a:p>
          <a:p>
            <a:r>
              <a:rPr lang="en-IN" sz="2000" dirty="0">
                <a:solidFill>
                  <a:schemeClr val="bg1"/>
                </a:solidFill>
              </a:rPr>
              <a:t>}</a:t>
            </a:r>
          </a:p>
        </p:txBody>
      </p:sp>
    </p:spTree>
    <p:extLst>
      <p:ext uri="{BB962C8B-B14F-4D97-AF65-F5344CB8AC3E}">
        <p14:creationId xmlns:p14="http://schemas.microsoft.com/office/powerpoint/2010/main" val="161291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4841" y="163773"/>
            <a:ext cx="11292322" cy="923330"/>
          </a:xfrm>
          <a:prstGeom prst="rect">
            <a:avLst/>
          </a:prstGeom>
          <a:noFill/>
        </p:spPr>
        <p:txBody>
          <a:bodyPr wrap="none" rtlCol="0">
            <a:spAutoFit/>
          </a:bodyPr>
          <a:lstStyle/>
          <a:p>
            <a:r>
              <a:rPr lang="en-IN" sz="5400" dirty="0" smtClean="0">
                <a:solidFill>
                  <a:schemeClr val="bg1"/>
                </a:solidFill>
              </a:rPr>
              <a:t>Covariant return in Overriding Methods</a:t>
            </a:r>
            <a:endParaRPr lang="en-IN" sz="5400" dirty="0">
              <a:solidFill>
                <a:schemeClr val="bg1"/>
              </a:solidFill>
            </a:endParaRPr>
          </a:p>
        </p:txBody>
      </p:sp>
      <p:cxnSp>
        <p:nvCxnSpPr>
          <p:cNvPr id="5" name="Straight Connector 4"/>
          <p:cNvCxnSpPr/>
          <p:nvPr/>
        </p:nvCxnSpPr>
        <p:spPr>
          <a:xfrm flipV="1">
            <a:off x="873456" y="996287"/>
            <a:ext cx="11177517" cy="40943"/>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163773" y="1395316"/>
            <a:ext cx="5181973" cy="1938992"/>
          </a:xfrm>
          <a:prstGeom prst="rect">
            <a:avLst/>
          </a:prstGeom>
        </p:spPr>
        <p:txBody>
          <a:bodyPr wrap="square">
            <a:spAutoFit/>
          </a:bodyPr>
          <a:lstStyle/>
          <a:p>
            <a:r>
              <a:rPr lang="en-IN" sz="2400" dirty="0">
                <a:solidFill>
                  <a:schemeClr val="bg1"/>
                </a:solidFill>
              </a:rPr>
              <a:t>class Light </a:t>
            </a:r>
            <a:r>
              <a:rPr lang="en-IN" sz="2400" dirty="0" smtClean="0">
                <a:solidFill>
                  <a:schemeClr val="bg1"/>
                </a:solidFill>
              </a:rPr>
              <a:t>{</a:t>
            </a:r>
          </a:p>
          <a:p>
            <a:endParaRPr lang="en-IN" sz="2400" dirty="0">
              <a:solidFill>
                <a:schemeClr val="bg1"/>
              </a:solidFill>
            </a:endParaRPr>
          </a:p>
          <a:p>
            <a:r>
              <a:rPr lang="en-IN" sz="2400" dirty="0">
                <a:solidFill>
                  <a:schemeClr val="bg1"/>
                </a:solidFill>
              </a:rPr>
              <a:t>public </a:t>
            </a:r>
            <a:r>
              <a:rPr lang="en-IN" sz="2400" dirty="0">
                <a:solidFill>
                  <a:srgbClr val="FFC000"/>
                </a:solidFill>
              </a:rPr>
              <a:t>Light</a:t>
            </a:r>
            <a:r>
              <a:rPr lang="en-IN" sz="2400" dirty="0">
                <a:solidFill>
                  <a:schemeClr val="bg1"/>
                </a:solidFill>
              </a:rPr>
              <a:t> </a:t>
            </a:r>
            <a:r>
              <a:rPr lang="en-IN" sz="2400" dirty="0" err="1">
                <a:solidFill>
                  <a:schemeClr val="bg1"/>
                </a:solidFill>
              </a:rPr>
              <a:t>makeInstance</a:t>
            </a:r>
            <a:r>
              <a:rPr lang="en-IN" sz="2400" dirty="0">
                <a:solidFill>
                  <a:schemeClr val="bg1"/>
                </a:solidFill>
              </a:rPr>
              <a:t>() { </a:t>
            </a:r>
            <a:endParaRPr lang="en-IN" sz="2400" dirty="0" smtClean="0">
              <a:solidFill>
                <a:schemeClr val="bg1"/>
              </a:solidFill>
            </a:endParaRPr>
          </a:p>
          <a:p>
            <a:r>
              <a:rPr lang="en-IN" sz="2400" dirty="0" smtClean="0">
                <a:solidFill>
                  <a:schemeClr val="bg1"/>
                </a:solidFill>
              </a:rPr>
              <a:t>	return </a:t>
            </a:r>
            <a:r>
              <a:rPr lang="en-IN" sz="2400" dirty="0">
                <a:solidFill>
                  <a:schemeClr val="bg1"/>
                </a:solidFill>
              </a:rPr>
              <a:t>new Light();</a:t>
            </a:r>
          </a:p>
          <a:p>
            <a:r>
              <a:rPr lang="en-IN" sz="2400" dirty="0">
                <a:solidFill>
                  <a:schemeClr val="bg1"/>
                </a:solidFill>
              </a:rPr>
              <a:t>}</a:t>
            </a:r>
          </a:p>
        </p:txBody>
      </p:sp>
      <p:sp>
        <p:nvSpPr>
          <p:cNvPr id="6" name="Rectangle 5"/>
          <p:cNvSpPr/>
          <p:nvPr/>
        </p:nvSpPr>
        <p:spPr>
          <a:xfrm>
            <a:off x="6350759" y="1427247"/>
            <a:ext cx="5577384" cy="2308324"/>
          </a:xfrm>
          <a:prstGeom prst="rect">
            <a:avLst/>
          </a:prstGeom>
        </p:spPr>
        <p:txBody>
          <a:bodyPr wrap="square">
            <a:spAutoFit/>
          </a:bodyPr>
          <a:lstStyle/>
          <a:p>
            <a:pPr>
              <a:lnSpc>
                <a:spcPct val="150000"/>
              </a:lnSpc>
            </a:pPr>
            <a:r>
              <a:rPr lang="en-IN" sz="2400" dirty="0">
                <a:solidFill>
                  <a:schemeClr val="bg1"/>
                </a:solidFill>
              </a:rPr>
              <a:t>class </a:t>
            </a:r>
            <a:r>
              <a:rPr lang="en-IN" sz="2400" dirty="0" err="1">
                <a:solidFill>
                  <a:schemeClr val="bg1"/>
                </a:solidFill>
              </a:rPr>
              <a:t>TubeLight</a:t>
            </a:r>
            <a:r>
              <a:rPr lang="en-IN" sz="2400" dirty="0">
                <a:solidFill>
                  <a:schemeClr val="bg1"/>
                </a:solidFill>
              </a:rPr>
              <a:t> extends Light </a:t>
            </a:r>
            <a:r>
              <a:rPr lang="en-IN" sz="2400" dirty="0" smtClean="0">
                <a:solidFill>
                  <a:schemeClr val="bg1"/>
                </a:solidFill>
              </a:rPr>
              <a:t>{</a:t>
            </a:r>
          </a:p>
          <a:p>
            <a:pPr>
              <a:lnSpc>
                <a:spcPct val="150000"/>
              </a:lnSpc>
            </a:pPr>
            <a:r>
              <a:rPr lang="en-IN" sz="2400" dirty="0" smtClean="0">
                <a:solidFill>
                  <a:schemeClr val="bg1"/>
                </a:solidFill>
              </a:rPr>
              <a:t>public </a:t>
            </a:r>
            <a:r>
              <a:rPr lang="en-IN" sz="2400" dirty="0" err="1">
                <a:solidFill>
                  <a:srgbClr val="FFC000"/>
                </a:solidFill>
              </a:rPr>
              <a:t>TubeLight</a:t>
            </a:r>
            <a:r>
              <a:rPr lang="en-IN" sz="2400" dirty="0">
                <a:solidFill>
                  <a:schemeClr val="bg1"/>
                </a:solidFill>
              </a:rPr>
              <a:t> </a:t>
            </a:r>
            <a:r>
              <a:rPr lang="en-IN" sz="2400" dirty="0" err="1">
                <a:solidFill>
                  <a:schemeClr val="bg1"/>
                </a:solidFill>
              </a:rPr>
              <a:t>makeInstance</a:t>
            </a:r>
            <a:r>
              <a:rPr lang="en-IN" sz="2400" dirty="0">
                <a:solidFill>
                  <a:schemeClr val="bg1"/>
                </a:solidFill>
              </a:rPr>
              <a:t>() </a:t>
            </a:r>
            <a:r>
              <a:rPr lang="en-IN" sz="2400" dirty="0" smtClean="0">
                <a:solidFill>
                  <a:schemeClr val="bg1"/>
                </a:solidFill>
              </a:rPr>
              <a:t>{</a:t>
            </a:r>
          </a:p>
          <a:p>
            <a:pPr>
              <a:lnSpc>
                <a:spcPct val="150000"/>
              </a:lnSpc>
            </a:pPr>
            <a:r>
              <a:rPr lang="en-IN" sz="2400" dirty="0" smtClean="0">
                <a:solidFill>
                  <a:schemeClr val="bg1"/>
                </a:solidFill>
              </a:rPr>
              <a:t>	return </a:t>
            </a:r>
            <a:r>
              <a:rPr lang="en-IN" sz="2400" dirty="0">
                <a:solidFill>
                  <a:schemeClr val="bg1"/>
                </a:solidFill>
              </a:rPr>
              <a:t>new </a:t>
            </a:r>
            <a:r>
              <a:rPr lang="en-IN" sz="2400" dirty="0" err="1">
                <a:solidFill>
                  <a:schemeClr val="bg1"/>
                </a:solidFill>
              </a:rPr>
              <a:t>TubeLight</a:t>
            </a:r>
            <a:r>
              <a:rPr lang="en-IN" sz="2400" dirty="0">
                <a:solidFill>
                  <a:schemeClr val="bg1"/>
                </a:solidFill>
              </a:rPr>
              <a:t>();</a:t>
            </a:r>
          </a:p>
          <a:p>
            <a:pPr>
              <a:lnSpc>
                <a:spcPct val="150000"/>
              </a:lnSpc>
            </a:pPr>
            <a:r>
              <a:rPr lang="en-IN" sz="2400" dirty="0">
                <a:solidFill>
                  <a:schemeClr val="bg1"/>
                </a:solidFill>
              </a:rPr>
              <a:t>}</a:t>
            </a:r>
          </a:p>
        </p:txBody>
      </p:sp>
      <p:sp>
        <p:nvSpPr>
          <p:cNvPr id="8" name="Rectangle 7"/>
          <p:cNvSpPr/>
          <p:nvPr/>
        </p:nvSpPr>
        <p:spPr>
          <a:xfrm>
            <a:off x="1287435" y="3515311"/>
            <a:ext cx="5591032" cy="3416320"/>
          </a:xfrm>
          <a:prstGeom prst="rect">
            <a:avLst/>
          </a:prstGeom>
        </p:spPr>
        <p:txBody>
          <a:bodyPr wrap="square">
            <a:spAutoFit/>
          </a:bodyPr>
          <a:lstStyle/>
          <a:p>
            <a:r>
              <a:rPr lang="en-IN" sz="2400" dirty="0">
                <a:solidFill>
                  <a:schemeClr val="bg1"/>
                </a:solidFill>
              </a:rPr>
              <a:t>class </a:t>
            </a:r>
            <a:r>
              <a:rPr lang="en-IN" sz="2400" dirty="0" smtClean="0">
                <a:solidFill>
                  <a:schemeClr val="bg1"/>
                </a:solidFill>
              </a:rPr>
              <a:t>Utility </a:t>
            </a:r>
            <a:r>
              <a:rPr lang="en-IN" sz="2400" dirty="0">
                <a:solidFill>
                  <a:schemeClr val="bg1"/>
                </a:solidFill>
              </a:rPr>
              <a:t>{</a:t>
            </a:r>
          </a:p>
          <a:p>
            <a:endParaRPr lang="en-IN" sz="2400" dirty="0">
              <a:solidFill>
                <a:schemeClr val="bg1"/>
              </a:solidFill>
            </a:endParaRPr>
          </a:p>
          <a:p>
            <a:r>
              <a:rPr lang="en-IN" sz="2400" dirty="0">
                <a:solidFill>
                  <a:schemeClr val="bg1"/>
                </a:solidFill>
              </a:rPr>
              <a:t>    public static void main(String[] </a:t>
            </a:r>
            <a:r>
              <a:rPr lang="en-IN" sz="2400" dirty="0" err="1">
                <a:solidFill>
                  <a:schemeClr val="bg1"/>
                </a:solidFill>
              </a:rPr>
              <a:t>args</a:t>
            </a:r>
            <a:r>
              <a:rPr lang="en-IN" sz="2400" dirty="0">
                <a:solidFill>
                  <a:schemeClr val="bg1"/>
                </a:solidFill>
              </a:rPr>
              <a:t>) </a:t>
            </a:r>
            <a:r>
              <a:rPr lang="en-IN" sz="2400" dirty="0" smtClean="0">
                <a:solidFill>
                  <a:schemeClr val="bg1"/>
                </a:solidFill>
              </a:rPr>
              <a:t>{</a:t>
            </a:r>
          </a:p>
          <a:p>
            <a:r>
              <a:rPr lang="en-IN" sz="2400" dirty="0">
                <a:solidFill>
                  <a:schemeClr val="bg1"/>
                </a:solidFill>
              </a:rPr>
              <a:t>	</a:t>
            </a:r>
            <a:r>
              <a:rPr lang="en-IN" sz="2400" dirty="0" smtClean="0">
                <a:solidFill>
                  <a:schemeClr val="bg1"/>
                </a:solidFill>
              </a:rPr>
              <a:t>Light light=new Light();</a:t>
            </a:r>
          </a:p>
          <a:p>
            <a:r>
              <a:rPr lang="en-IN" sz="2400" dirty="0">
                <a:solidFill>
                  <a:schemeClr val="bg1"/>
                </a:solidFill>
              </a:rPr>
              <a:t>	</a:t>
            </a:r>
            <a:r>
              <a:rPr lang="en-IN" sz="2400" dirty="0" err="1" smtClean="0">
                <a:solidFill>
                  <a:schemeClr val="bg1"/>
                </a:solidFill>
              </a:rPr>
              <a:t>light.makeInstance</a:t>
            </a:r>
            <a:r>
              <a:rPr lang="en-IN" sz="2400" dirty="0" smtClean="0">
                <a:solidFill>
                  <a:schemeClr val="bg1"/>
                </a:solidFill>
              </a:rPr>
              <a:t>();</a:t>
            </a:r>
          </a:p>
          <a:p>
            <a:r>
              <a:rPr lang="en-IN" sz="2400" dirty="0" smtClean="0">
                <a:solidFill>
                  <a:schemeClr val="bg1"/>
                </a:solidFill>
              </a:rPr>
              <a:t>	</a:t>
            </a:r>
          </a:p>
          <a:p>
            <a:r>
              <a:rPr lang="en-IN" sz="2400" dirty="0">
                <a:solidFill>
                  <a:schemeClr val="bg1"/>
                </a:solidFill>
              </a:rPr>
              <a:t>	</a:t>
            </a:r>
            <a:r>
              <a:rPr lang="en-IN" sz="2400" dirty="0" err="1" smtClean="0">
                <a:solidFill>
                  <a:schemeClr val="bg1"/>
                </a:solidFill>
              </a:rPr>
              <a:t>TubeLight</a:t>
            </a:r>
            <a:r>
              <a:rPr lang="en-IN" sz="2400" dirty="0" smtClean="0">
                <a:solidFill>
                  <a:schemeClr val="bg1"/>
                </a:solidFill>
              </a:rPr>
              <a:t> </a:t>
            </a:r>
            <a:r>
              <a:rPr lang="en-IN" sz="2400" dirty="0" err="1" smtClean="0">
                <a:solidFill>
                  <a:schemeClr val="bg1"/>
                </a:solidFill>
              </a:rPr>
              <a:t>t_light</a:t>
            </a:r>
            <a:r>
              <a:rPr lang="en-IN" sz="2400" dirty="0" smtClean="0">
                <a:solidFill>
                  <a:schemeClr val="bg1"/>
                </a:solidFill>
              </a:rPr>
              <a:t>=new </a:t>
            </a:r>
            <a:r>
              <a:rPr lang="en-IN" sz="2400" dirty="0" err="1" smtClean="0">
                <a:solidFill>
                  <a:schemeClr val="bg1"/>
                </a:solidFill>
              </a:rPr>
              <a:t>TubeLight</a:t>
            </a:r>
            <a:r>
              <a:rPr lang="en-IN" sz="2400" dirty="0" smtClean="0">
                <a:solidFill>
                  <a:schemeClr val="bg1"/>
                </a:solidFill>
              </a:rPr>
              <a:t>();</a:t>
            </a:r>
          </a:p>
          <a:p>
            <a:r>
              <a:rPr lang="en-IN" sz="2400" dirty="0">
                <a:solidFill>
                  <a:schemeClr val="bg1"/>
                </a:solidFill>
              </a:rPr>
              <a:t>	</a:t>
            </a:r>
            <a:r>
              <a:rPr lang="en-IN" sz="2400" dirty="0" err="1" smtClean="0">
                <a:solidFill>
                  <a:schemeClr val="bg1"/>
                </a:solidFill>
              </a:rPr>
              <a:t>t_light.makeInstance</a:t>
            </a:r>
            <a:r>
              <a:rPr lang="en-IN" sz="2400" dirty="0" smtClean="0">
                <a:solidFill>
                  <a:schemeClr val="bg1"/>
                </a:solidFill>
              </a:rPr>
              <a:t>();</a:t>
            </a:r>
            <a:endParaRPr lang="en-IN" sz="2400" dirty="0">
              <a:solidFill>
                <a:schemeClr val="bg1"/>
              </a:solidFill>
            </a:endParaRPr>
          </a:p>
          <a:p>
            <a:r>
              <a:rPr lang="en-IN" sz="2400" dirty="0" smtClean="0">
                <a:solidFill>
                  <a:schemeClr val="bg1"/>
                </a:solidFill>
              </a:rPr>
              <a:t>} }</a:t>
            </a:r>
            <a:endParaRPr lang="en-IN" sz="2400" dirty="0">
              <a:solidFill>
                <a:schemeClr val="bg1"/>
              </a:solidFill>
            </a:endParaRPr>
          </a:p>
        </p:txBody>
      </p:sp>
    </p:spTree>
    <p:extLst>
      <p:ext uri="{BB962C8B-B14F-4D97-AF65-F5344CB8AC3E}">
        <p14:creationId xmlns:p14="http://schemas.microsoft.com/office/powerpoint/2010/main" val="379850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66027" y="2511185"/>
            <a:ext cx="6851235" cy="1200329"/>
          </a:xfrm>
          <a:prstGeom prst="rect">
            <a:avLst/>
          </a:prstGeom>
          <a:noFill/>
        </p:spPr>
        <p:txBody>
          <a:bodyPr wrap="none" rtlCol="0">
            <a:spAutoFit/>
          </a:bodyPr>
          <a:lstStyle/>
          <a:p>
            <a:r>
              <a:rPr lang="en-IN" sz="7200" dirty="0" smtClean="0">
                <a:solidFill>
                  <a:schemeClr val="bg1"/>
                </a:solidFill>
              </a:rPr>
              <a:t>Review Questions</a:t>
            </a:r>
            <a:endParaRPr lang="en-IN" sz="7200" dirty="0">
              <a:solidFill>
                <a:schemeClr val="bg1"/>
              </a:solidFill>
            </a:endParaRPr>
          </a:p>
        </p:txBody>
      </p:sp>
    </p:spTree>
    <p:extLst>
      <p:ext uri="{BB962C8B-B14F-4D97-AF65-F5344CB8AC3E}">
        <p14:creationId xmlns:p14="http://schemas.microsoft.com/office/powerpoint/2010/main" val="14033425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4717" y="205939"/>
            <a:ext cx="11764370" cy="3970318"/>
          </a:xfrm>
          <a:prstGeom prst="rect">
            <a:avLst/>
          </a:prstGeom>
        </p:spPr>
        <p:txBody>
          <a:bodyPr wrap="square">
            <a:spAutoFit/>
          </a:bodyPr>
          <a:lstStyle/>
          <a:p>
            <a:pPr>
              <a:lnSpc>
                <a:spcPct val="150000"/>
              </a:lnSpc>
            </a:pPr>
            <a:r>
              <a:rPr lang="en-IN" sz="2400" dirty="0">
                <a:solidFill>
                  <a:schemeClr val="bg1"/>
                </a:solidFill>
              </a:rPr>
              <a:t>Which statements are true?</a:t>
            </a:r>
          </a:p>
          <a:p>
            <a:pPr>
              <a:lnSpc>
                <a:spcPct val="150000"/>
              </a:lnSpc>
            </a:pPr>
            <a:r>
              <a:rPr lang="en-IN" sz="2400" dirty="0">
                <a:solidFill>
                  <a:schemeClr val="bg1"/>
                </a:solidFill>
              </a:rPr>
              <a:t>Select the two correct answers.</a:t>
            </a:r>
          </a:p>
          <a:p>
            <a:pPr>
              <a:lnSpc>
                <a:spcPct val="150000"/>
              </a:lnSpc>
            </a:pPr>
            <a:r>
              <a:rPr lang="en-IN" sz="2400" dirty="0">
                <a:solidFill>
                  <a:schemeClr val="bg1"/>
                </a:solidFill>
              </a:rPr>
              <a:t>(a) In Java, the extends clause is used to specify the inheritance relationship.</a:t>
            </a:r>
          </a:p>
          <a:p>
            <a:pPr>
              <a:lnSpc>
                <a:spcPct val="150000"/>
              </a:lnSpc>
            </a:pPr>
            <a:r>
              <a:rPr lang="en-IN" sz="2400" dirty="0">
                <a:solidFill>
                  <a:schemeClr val="bg1"/>
                </a:solidFill>
              </a:rPr>
              <a:t>(b) The subclass of a non-abstract class can be declared abstract.</a:t>
            </a:r>
          </a:p>
          <a:p>
            <a:pPr>
              <a:lnSpc>
                <a:spcPct val="150000"/>
              </a:lnSpc>
            </a:pPr>
            <a:r>
              <a:rPr lang="en-IN" sz="2400" dirty="0">
                <a:solidFill>
                  <a:schemeClr val="bg1"/>
                </a:solidFill>
              </a:rPr>
              <a:t>(c) All members of the superclass are inherited by the subclass.</a:t>
            </a:r>
          </a:p>
          <a:p>
            <a:pPr>
              <a:lnSpc>
                <a:spcPct val="150000"/>
              </a:lnSpc>
            </a:pPr>
            <a:r>
              <a:rPr lang="en-IN" sz="2400" dirty="0">
                <a:solidFill>
                  <a:schemeClr val="bg1"/>
                </a:solidFill>
              </a:rPr>
              <a:t>(d) A final class can be abstract.</a:t>
            </a:r>
          </a:p>
          <a:p>
            <a:pPr>
              <a:lnSpc>
                <a:spcPct val="150000"/>
              </a:lnSpc>
            </a:pPr>
            <a:r>
              <a:rPr lang="en-IN" sz="2400" dirty="0">
                <a:solidFill>
                  <a:schemeClr val="bg1"/>
                </a:solidFill>
              </a:rPr>
              <a:t>(e) A class in which all the members are declared private, cannot be </a:t>
            </a:r>
            <a:r>
              <a:rPr lang="en-IN" sz="2400" dirty="0" smtClean="0">
                <a:solidFill>
                  <a:schemeClr val="bg1"/>
                </a:solidFill>
              </a:rPr>
              <a:t>declared public</a:t>
            </a:r>
            <a:r>
              <a:rPr lang="en-IN" sz="2400" dirty="0">
                <a:solidFill>
                  <a:schemeClr val="bg1"/>
                </a:solidFill>
              </a:rPr>
              <a:t>.</a:t>
            </a:r>
          </a:p>
        </p:txBody>
      </p:sp>
    </p:spTree>
    <p:extLst>
      <p:ext uri="{BB962C8B-B14F-4D97-AF65-F5344CB8AC3E}">
        <p14:creationId xmlns:p14="http://schemas.microsoft.com/office/powerpoint/2010/main" val="18227588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0251" y="227674"/>
            <a:ext cx="11655188" cy="3913059"/>
          </a:xfrm>
          <a:prstGeom prst="rect">
            <a:avLst/>
          </a:prstGeom>
        </p:spPr>
        <p:txBody>
          <a:bodyPr wrap="square">
            <a:spAutoFit/>
          </a:bodyPr>
          <a:lstStyle/>
          <a:p>
            <a:pPr>
              <a:lnSpc>
                <a:spcPct val="150000"/>
              </a:lnSpc>
            </a:pPr>
            <a:r>
              <a:rPr lang="en-IN" sz="2400" dirty="0">
                <a:solidFill>
                  <a:schemeClr val="bg1"/>
                </a:solidFill>
              </a:rPr>
              <a:t>Which statements are true?</a:t>
            </a:r>
          </a:p>
          <a:p>
            <a:pPr>
              <a:lnSpc>
                <a:spcPct val="150000"/>
              </a:lnSpc>
            </a:pPr>
            <a:r>
              <a:rPr lang="en-IN" sz="2400" dirty="0">
                <a:solidFill>
                  <a:schemeClr val="bg1"/>
                </a:solidFill>
              </a:rPr>
              <a:t>Select the two correct answers.</a:t>
            </a:r>
          </a:p>
          <a:p>
            <a:pPr>
              <a:lnSpc>
                <a:spcPct val="150000"/>
              </a:lnSpc>
            </a:pPr>
            <a:r>
              <a:rPr lang="en-IN" sz="2400" dirty="0">
                <a:solidFill>
                  <a:schemeClr val="bg1"/>
                </a:solidFill>
              </a:rPr>
              <a:t>(a) A class can only be extended by one class.</a:t>
            </a:r>
          </a:p>
          <a:p>
            <a:pPr>
              <a:lnSpc>
                <a:spcPct val="150000"/>
              </a:lnSpc>
            </a:pPr>
            <a:r>
              <a:rPr lang="en-IN" sz="2400" dirty="0">
                <a:solidFill>
                  <a:schemeClr val="bg1"/>
                </a:solidFill>
              </a:rPr>
              <a:t>(b) Every Java object has a public method named equals.</a:t>
            </a:r>
          </a:p>
          <a:p>
            <a:pPr>
              <a:lnSpc>
                <a:spcPct val="150000"/>
              </a:lnSpc>
            </a:pPr>
            <a:r>
              <a:rPr lang="en-IN" sz="2400" dirty="0">
                <a:solidFill>
                  <a:schemeClr val="bg1"/>
                </a:solidFill>
              </a:rPr>
              <a:t>(c) Every Java object has a public method named length.</a:t>
            </a:r>
          </a:p>
          <a:p>
            <a:pPr>
              <a:lnSpc>
                <a:spcPct val="150000"/>
              </a:lnSpc>
            </a:pPr>
            <a:r>
              <a:rPr lang="en-IN" sz="2400" dirty="0">
                <a:solidFill>
                  <a:schemeClr val="bg1"/>
                </a:solidFill>
              </a:rPr>
              <a:t>(d) A class can extend any number of classes.</a:t>
            </a:r>
          </a:p>
          <a:p>
            <a:pPr>
              <a:lnSpc>
                <a:spcPct val="150000"/>
              </a:lnSpc>
            </a:pPr>
            <a:r>
              <a:rPr lang="en-IN" sz="2400" dirty="0">
                <a:solidFill>
                  <a:schemeClr val="bg1"/>
                </a:solidFill>
              </a:rPr>
              <a:t>(e) A non-final class can be extended by any number of classes.</a:t>
            </a:r>
          </a:p>
        </p:txBody>
      </p:sp>
    </p:spTree>
    <p:extLst>
      <p:ext uri="{BB962C8B-B14F-4D97-AF65-F5344CB8AC3E}">
        <p14:creationId xmlns:p14="http://schemas.microsoft.com/office/powerpoint/2010/main" val="233789727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7545" y="369712"/>
            <a:ext cx="11505064" cy="4524315"/>
          </a:xfrm>
          <a:prstGeom prst="rect">
            <a:avLst/>
          </a:prstGeom>
        </p:spPr>
        <p:txBody>
          <a:bodyPr wrap="square">
            <a:spAutoFit/>
          </a:bodyPr>
          <a:lstStyle/>
          <a:p>
            <a:pPr algn="just">
              <a:lnSpc>
                <a:spcPct val="150000"/>
              </a:lnSpc>
            </a:pPr>
            <a:r>
              <a:rPr lang="en-IN" sz="2400" dirty="0">
                <a:solidFill>
                  <a:schemeClr val="bg1"/>
                </a:solidFill>
              </a:rPr>
              <a:t>Which statements are true?</a:t>
            </a:r>
          </a:p>
          <a:p>
            <a:pPr algn="just">
              <a:lnSpc>
                <a:spcPct val="150000"/>
              </a:lnSpc>
            </a:pPr>
            <a:r>
              <a:rPr lang="en-IN" sz="2400" dirty="0">
                <a:solidFill>
                  <a:schemeClr val="bg1"/>
                </a:solidFill>
              </a:rPr>
              <a:t>Select the two correct answers.</a:t>
            </a:r>
          </a:p>
          <a:p>
            <a:pPr algn="just">
              <a:lnSpc>
                <a:spcPct val="150000"/>
              </a:lnSpc>
            </a:pPr>
            <a:r>
              <a:rPr lang="en-IN" sz="2400" dirty="0">
                <a:solidFill>
                  <a:schemeClr val="bg1"/>
                </a:solidFill>
              </a:rPr>
              <a:t>(a) A subclass must define all the methods from the superclass.</a:t>
            </a:r>
          </a:p>
          <a:p>
            <a:pPr algn="just">
              <a:lnSpc>
                <a:spcPct val="150000"/>
              </a:lnSpc>
            </a:pPr>
            <a:r>
              <a:rPr lang="en-IN" sz="2400" dirty="0">
                <a:solidFill>
                  <a:schemeClr val="bg1"/>
                </a:solidFill>
              </a:rPr>
              <a:t>(b) It is possible for a subclass to define a method with the same name </a:t>
            </a:r>
            <a:r>
              <a:rPr lang="en-IN" sz="2400" dirty="0" smtClean="0">
                <a:solidFill>
                  <a:schemeClr val="bg1"/>
                </a:solidFill>
              </a:rPr>
              <a:t>and parameters </a:t>
            </a:r>
            <a:r>
              <a:rPr lang="en-IN" sz="2400" dirty="0">
                <a:solidFill>
                  <a:schemeClr val="bg1"/>
                </a:solidFill>
              </a:rPr>
              <a:t>as a method defined by the superclass.</a:t>
            </a:r>
          </a:p>
          <a:p>
            <a:pPr algn="just">
              <a:lnSpc>
                <a:spcPct val="150000"/>
              </a:lnSpc>
            </a:pPr>
            <a:r>
              <a:rPr lang="en-IN" sz="2400" dirty="0">
                <a:solidFill>
                  <a:schemeClr val="bg1"/>
                </a:solidFill>
              </a:rPr>
              <a:t>(c) It is possible for a subclass to define a field with the same name as a </a:t>
            </a:r>
            <a:r>
              <a:rPr lang="en-IN" sz="2400" dirty="0" smtClean="0">
                <a:solidFill>
                  <a:schemeClr val="bg1"/>
                </a:solidFill>
              </a:rPr>
              <a:t>field defined </a:t>
            </a:r>
            <a:r>
              <a:rPr lang="en-IN" sz="2400" dirty="0">
                <a:solidFill>
                  <a:schemeClr val="bg1"/>
                </a:solidFill>
              </a:rPr>
              <a:t>by the superclass.</a:t>
            </a:r>
          </a:p>
          <a:p>
            <a:pPr algn="just">
              <a:lnSpc>
                <a:spcPct val="150000"/>
              </a:lnSpc>
            </a:pPr>
            <a:r>
              <a:rPr lang="en-IN" sz="2400" dirty="0">
                <a:solidFill>
                  <a:schemeClr val="bg1"/>
                </a:solidFill>
              </a:rPr>
              <a:t>(d) It is possible for two classes to be the superclass of each other.</a:t>
            </a:r>
          </a:p>
        </p:txBody>
      </p:sp>
    </p:spTree>
    <p:extLst>
      <p:ext uri="{BB962C8B-B14F-4D97-AF65-F5344CB8AC3E}">
        <p14:creationId xmlns:p14="http://schemas.microsoft.com/office/powerpoint/2010/main" val="221394559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45660" y="105013"/>
            <a:ext cx="8898340" cy="5632311"/>
          </a:xfrm>
          <a:prstGeom prst="rect">
            <a:avLst/>
          </a:prstGeom>
        </p:spPr>
        <p:txBody>
          <a:bodyPr wrap="square">
            <a:spAutoFit/>
          </a:bodyPr>
          <a:lstStyle/>
          <a:p>
            <a:r>
              <a:rPr lang="en-IN" sz="2400" dirty="0">
                <a:solidFill>
                  <a:schemeClr val="bg1"/>
                </a:solidFill>
              </a:rPr>
              <a:t>Given the following classes and declarations, which statements are true?</a:t>
            </a:r>
          </a:p>
          <a:p>
            <a:r>
              <a:rPr lang="en-IN" sz="2400" dirty="0">
                <a:solidFill>
                  <a:schemeClr val="bg1"/>
                </a:solidFill>
              </a:rPr>
              <a:t>// Classes</a:t>
            </a:r>
          </a:p>
          <a:p>
            <a:r>
              <a:rPr lang="en-IN" sz="2400" dirty="0">
                <a:solidFill>
                  <a:schemeClr val="bg1"/>
                </a:solidFill>
              </a:rPr>
              <a:t>class Foo {</a:t>
            </a:r>
          </a:p>
          <a:p>
            <a:pPr lvl="1"/>
            <a:r>
              <a:rPr lang="en-IN" sz="2400" dirty="0">
                <a:solidFill>
                  <a:schemeClr val="bg1"/>
                </a:solidFill>
              </a:rPr>
              <a:t>private </a:t>
            </a:r>
            <a:r>
              <a:rPr lang="en-IN" sz="2400" dirty="0" err="1">
                <a:solidFill>
                  <a:schemeClr val="bg1"/>
                </a:solidFill>
              </a:rPr>
              <a:t>int</a:t>
            </a:r>
            <a:r>
              <a:rPr lang="en-IN" sz="2400" dirty="0">
                <a:solidFill>
                  <a:schemeClr val="bg1"/>
                </a:solidFill>
              </a:rPr>
              <a:t> </a:t>
            </a:r>
            <a:r>
              <a:rPr lang="en-IN" sz="2400" dirty="0" err="1">
                <a:solidFill>
                  <a:schemeClr val="bg1"/>
                </a:solidFill>
              </a:rPr>
              <a:t>i</a:t>
            </a:r>
            <a:r>
              <a:rPr lang="en-IN" sz="2400" dirty="0">
                <a:solidFill>
                  <a:schemeClr val="bg1"/>
                </a:solidFill>
              </a:rPr>
              <a:t>;</a:t>
            </a:r>
          </a:p>
          <a:p>
            <a:pPr lvl="1"/>
            <a:r>
              <a:rPr lang="en-IN" sz="2400" dirty="0">
                <a:solidFill>
                  <a:schemeClr val="bg1"/>
                </a:solidFill>
              </a:rPr>
              <a:t>public void f() { /* ... */ }</a:t>
            </a:r>
          </a:p>
          <a:p>
            <a:pPr lvl="1"/>
            <a:r>
              <a:rPr lang="en-IN" sz="2400" dirty="0">
                <a:solidFill>
                  <a:schemeClr val="bg1"/>
                </a:solidFill>
              </a:rPr>
              <a:t>public void g() { /* ... */ }</a:t>
            </a:r>
          </a:p>
          <a:p>
            <a:r>
              <a:rPr lang="en-IN" sz="2400" dirty="0">
                <a:solidFill>
                  <a:schemeClr val="bg1"/>
                </a:solidFill>
              </a:rPr>
              <a:t>}</a:t>
            </a:r>
          </a:p>
          <a:p>
            <a:r>
              <a:rPr lang="en-IN" sz="2400" dirty="0">
                <a:solidFill>
                  <a:schemeClr val="bg1"/>
                </a:solidFill>
              </a:rPr>
              <a:t>class Bar extends Foo {</a:t>
            </a:r>
          </a:p>
          <a:p>
            <a:pPr lvl="1"/>
            <a:r>
              <a:rPr lang="en-IN" sz="2400" dirty="0">
                <a:solidFill>
                  <a:schemeClr val="bg1"/>
                </a:solidFill>
              </a:rPr>
              <a:t>public </a:t>
            </a:r>
            <a:r>
              <a:rPr lang="en-IN" sz="2400" dirty="0" err="1">
                <a:solidFill>
                  <a:schemeClr val="bg1"/>
                </a:solidFill>
              </a:rPr>
              <a:t>int</a:t>
            </a:r>
            <a:r>
              <a:rPr lang="en-IN" sz="2400" dirty="0">
                <a:solidFill>
                  <a:schemeClr val="bg1"/>
                </a:solidFill>
              </a:rPr>
              <a:t> j;</a:t>
            </a:r>
          </a:p>
          <a:p>
            <a:pPr lvl="1"/>
            <a:r>
              <a:rPr lang="en-IN" sz="2400" dirty="0">
                <a:solidFill>
                  <a:schemeClr val="bg1"/>
                </a:solidFill>
              </a:rPr>
              <a:t>public void g() { /* ... */ }</a:t>
            </a:r>
          </a:p>
          <a:p>
            <a:r>
              <a:rPr lang="en-IN" sz="2400" dirty="0">
                <a:solidFill>
                  <a:schemeClr val="bg1"/>
                </a:solidFill>
              </a:rPr>
              <a:t>}</a:t>
            </a:r>
          </a:p>
          <a:p>
            <a:r>
              <a:rPr lang="en-IN" sz="2400" dirty="0">
                <a:solidFill>
                  <a:schemeClr val="bg1"/>
                </a:solidFill>
              </a:rPr>
              <a:t>// Declarations:</a:t>
            </a:r>
          </a:p>
          <a:p>
            <a:r>
              <a:rPr lang="en-IN" sz="2400" dirty="0">
                <a:solidFill>
                  <a:schemeClr val="bg1"/>
                </a:solidFill>
              </a:rPr>
              <a:t>Foo a = new Foo();</a:t>
            </a:r>
          </a:p>
          <a:p>
            <a:r>
              <a:rPr lang="en-IN" sz="2400" dirty="0">
                <a:solidFill>
                  <a:schemeClr val="bg1"/>
                </a:solidFill>
              </a:rPr>
              <a:t>Bar b = new Bar</a:t>
            </a:r>
            <a:r>
              <a:rPr lang="en-IN" sz="2400" dirty="0" smtClean="0">
                <a:solidFill>
                  <a:schemeClr val="bg1"/>
                </a:solidFill>
              </a:rPr>
              <a:t>();</a:t>
            </a:r>
            <a:endParaRPr lang="en-IN" sz="2400" dirty="0">
              <a:solidFill>
                <a:schemeClr val="bg1"/>
              </a:solidFill>
            </a:endParaRPr>
          </a:p>
        </p:txBody>
      </p:sp>
      <p:sp>
        <p:nvSpPr>
          <p:cNvPr id="5" name="Rectangle 4"/>
          <p:cNvSpPr/>
          <p:nvPr/>
        </p:nvSpPr>
        <p:spPr>
          <a:xfrm>
            <a:off x="5982268" y="1166842"/>
            <a:ext cx="6096000" cy="3416320"/>
          </a:xfrm>
          <a:prstGeom prst="rect">
            <a:avLst/>
          </a:prstGeom>
        </p:spPr>
        <p:txBody>
          <a:bodyPr>
            <a:spAutoFit/>
          </a:bodyPr>
          <a:lstStyle/>
          <a:p>
            <a:pPr>
              <a:lnSpc>
                <a:spcPct val="150000"/>
              </a:lnSpc>
            </a:pPr>
            <a:r>
              <a:rPr lang="en-IN" sz="2400" dirty="0">
                <a:solidFill>
                  <a:schemeClr val="bg1"/>
                </a:solidFill>
              </a:rPr>
              <a:t>Select the three correct answers.</a:t>
            </a:r>
          </a:p>
          <a:p>
            <a:pPr>
              <a:lnSpc>
                <a:spcPct val="150000"/>
              </a:lnSpc>
            </a:pPr>
            <a:r>
              <a:rPr lang="en-IN" sz="2400" dirty="0">
                <a:solidFill>
                  <a:schemeClr val="bg1"/>
                </a:solidFill>
              </a:rPr>
              <a:t>(a) The Bar class is a subclass of Foo.</a:t>
            </a:r>
          </a:p>
          <a:p>
            <a:pPr>
              <a:lnSpc>
                <a:spcPct val="150000"/>
              </a:lnSpc>
            </a:pPr>
            <a:r>
              <a:rPr lang="en-IN" sz="2400" dirty="0">
                <a:solidFill>
                  <a:schemeClr val="bg1"/>
                </a:solidFill>
              </a:rPr>
              <a:t>(b) The statement </a:t>
            </a:r>
            <a:r>
              <a:rPr lang="en-IN" sz="2400" dirty="0" err="1">
                <a:solidFill>
                  <a:schemeClr val="bg1"/>
                </a:solidFill>
              </a:rPr>
              <a:t>b.f</a:t>
            </a:r>
            <a:r>
              <a:rPr lang="en-IN" sz="2400" dirty="0">
                <a:solidFill>
                  <a:schemeClr val="bg1"/>
                </a:solidFill>
              </a:rPr>
              <a:t>(); is legal.</a:t>
            </a:r>
          </a:p>
          <a:p>
            <a:pPr>
              <a:lnSpc>
                <a:spcPct val="150000"/>
              </a:lnSpc>
            </a:pPr>
            <a:r>
              <a:rPr lang="en-IN" sz="2400" dirty="0">
                <a:solidFill>
                  <a:schemeClr val="bg1"/>
                </a:solidFill>
              </a:rPr>
              <a:t>(c) The statement </a:t>
            </a:r>
            <a:r>
              <a:rPr lang="en-IN" sz="2400" dirty="0" err="1">
                <a:solidFill>
                  <a:schemeClr val="bg1"/>
                </a:solidFill>
              </a:rPr>
              <a:t>a.j</a:t>
            </a:r>
            <a:r>
              <a:rPr lang="en-IN" sz="2400" dirty="0">
                <a:solidFill>
                  <a:schemeClr val="bg1"/>
                </a:solidFill>
              </a:rPr>
              <a:t> = 5; is legal.</a:t>
            </a:r>
          </a:p>
          <a:p>
            <a:pPr>
              <a:lnSpc>
                <a:spcPct val="150000"/>
              </a:lnSpc>
            </a:pPr>
            <a:r>
              <a:rPr lang="en-IN" sz="2400" dirty="0">
                <a:solidFill>
                  <a:schemeClr val="bg1"/>
                </a:solidFill>
              </a:rPr>
              <a:t>(d) The statement </a:t>
            </a:r>
            <a:r>
              <a:rPr lang="en-IN" sz="2400" dirty="0" err="1">
                <a:solidFill>
                  <a:schemeClr val="bg1"/>
                </a:solidFill>
              </a:rPr>
              <a:t>a.g</a:t>
            </a:r>
            <a:r>
              <a:rPr lang="en-IN" sz="2400" dirty="0">
                <a:solidFill>
                  <a:schemeClr val="bg1"/>
                </a:solidFill>
              </a:rPr>
              <a:t>(); is legal.</a:t>
            </a:r>
          </a:p>
          <a:p>
            <a:pPr>
              <a:lnSpc>
                <a:spcPct val="150000"/>
              </a:lnSpc>
            </a:pPr>
            <a:r>
              <a:rPr lang="en-IN" sz="2400" dirty="0">
                <a:solidFill>
                  <a:schemeClr val="bg1"/>
                </a:solidFill>
              </a:rPr>
              <a:t>(e) The statement </a:t>
            </a:r>
            <a:r>
              <a:rPr lang="en-IN" sz="2400" dirty="0" err="1">
                <a:solidFill>
                  <a:schemeClr val="bg1"/>
                </a:solidFill>
              </a:rPr>
              <a:t>b.i</a:t>
            </a:r>
            <a:r>
              <a:rPr lang="en-IN" sz="2400" dirty="0">
                <a:solidFill>
                  <a:schemeClr val="bg1"/>
                </a:solidFill>
              </a:rPr>
              <a:t> = 3; is legal.</a:t>
            </a:r>
          </a:p>
        </p:txBody>
      </p:sp>
    </p:spTree>
    <p:extLst>
      <p:ext uri="{BB962C8B-B14F-4D97-AF65-F5344CB8AC3E}">
        <p14:creationId xmlns:p14="http://schemas.microsoft.com/office/powerpoint/2010/main" val="31227125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04717" y="202400"/>
            <a:ext cx="11737074" cy="5078313"/>
          </a:xfrm>
          <a:prstGeom prst="rect">
            <a:avLst/>
          </a:prstGeom>
        </p:spPr>
        <p:txBody>
          <a:bodyPr wrap="square">
            <a:spAutoFit/>
          </a:bodyPr>
          <a:lstStyle/>
          <a:p>
            <a:pPr>
              <a:lnSpc>
                <a:spcPct val="150000"/>
              </a:lnSpc>
            </a:pPr>
            <a:r>
              <a:rPr lang="en-IN" sz="2400" dirty="0">
                <a:solidFill>
                  <a:schemeClr val="bg1"/>
                </a:solidFill>
              </a:rPr>
              <a:t>Which statement is true?</a:t>
            </a:r>
          </a:p>
          <a:p>
            <a:pPr>
              <a:lnSpc>
                <a:spcPct val="150000"/>
              </a:lnSpc>
            </a:pPr>
            <a:r>
              <a:rPr lang="en-IN" sz="2400" dirty="0">
                <a:solidFill>
                  <a:schemeClr val="bg1"/>
                </a:solidFill>
              </a:rPr>
              <a:t>Select the one correct answer.</a:t>
            </a:r>
          </a:p>
          <a:p>
            <a:pPr>
              <a:lnSpc>
                <a:spcPct val="150000"/>
              </a:lnSpc>
            </a:pPr>
            <a:r>
              <a:rPr lang="en-IN" sz="2400" dirty="0">
                <a:solidFill>
                  <a:schemeClr val="bg1"/>
                </a:solidFill>
              </a:rPr>
              <a:t>(a) Private methods cannot be overridden in subclasses.</a:t>
            </a:r>
          </a:p>
          <a:p>
            <a:pPr>
              <a:lnSpc>
                <a:spcPct val="150000"/>
              </a:lnSpc>
            </a:pPr>
            <a:r>
              <a:rPr lang="en-IN" sz="2400" dirty="0">
                <a:solidFill>
                  <a:schemeClr val="bg1"/>
                </a:solidFill>
              </a:rPr>
              <a:t>(b) A subclass can override any method in a superclass.</a:t>
            </a:r>
          </a:p>
          <a:p>
            <a:pPr>
              <a:lnSpc>
                <a:spcPct val="150000"/>
              </a:lnSpc>
            </a:pPr>
            <a:r>
              <a:rPr lang="en-IN" sz="2400" dirty="0">
                <a:solidFill>
                  <a:schemeClr val="bg1"/>
                </a:solidFill>
              </a:rPr>
              <a:t>(c) An overriding method can declare that it throws checked exceptions that </a:t>
            </a:r>
            <a:r>
              <a:rPr lang="en-IN" sz="2400" dirty="0" smtClean="0">
                <a:solidFill>
                  <a:schemeClr val="bg1"/>
                </a:solidFill>
              </a:rPr>
              <a:t>are not </a:t>
            </a:r>
            <a:r>
              <a:rPr lang="en-IN" sz="2400" dirty="0">
                <a:solidFill>
                  <a:schemeClr val="bg1"/>
                </a:solidFill>
              </a:rPr>
              <a:t>thrown by the method it is overriding</a:t>
            </a:r>
            <a:r>
              <a:rPr lang="en-IN" sz="2400" dirty="0" smtClean="0">
                <a:solidFill>
                  <a:schemeClr val="bg1"/>
                </a:solidFill>
              </a:rPr>
              <a:t>.</a:t>
            </a:r>
          </a:p>
          <a:p>
            <a:pPr>
              <a:lnSpc>
                <a:spcPct val="150000"/>
              </a:lnSpc>
            </a:pPr>
            <a:r>
              <a:rPr lang="en-IN" sz="2400" dirty="0">
                <a:solidFill>
                  <a:schemeClr val="bg1"/>
                </a:solidFill>
              </a:rPr>
              <a:t>(d) The parameter list of an overriding method can be a subset of the </a:t>
            </a:r>
            <a:r>
              <a:rPr lang="en-IN" sz="2400" dirty="0" smtClean="0">
                <a:solidFill>
                  <a:schemeClr val="bg1"/>
                </a:solidFill>
              </a:rPr>
              <a:t>parameter list </a:t>
            </a:r>
            <a:r>
              <a:rPr lang="en-IN" sz="2400" dirty="0">
                <a:solidFill>
                  <a:schemeClr val="bg1"/>
                </a:solidFill>
              </a:rPr>
              <a:t>of the method that it is overriding.</a:t>
            </a:r>
          </a:p>
          <a:p>
            <a:pPr>
              <a:lnSpc>
                <a:spcPct val="150000"/>
              </a:lnSpc>
            </a:pPr>
            <a:r>
              <a:rPr lang="en-IN" sz="2400" dirty="0">
                <a:solidFill>
                  <a:schemeClr val="bg1"/>
                </a:solidFill>
              </a:rPr>
              <a:t>(e) The overriding method must have the same return type as the </a:t>
            </a:r>
            <a:r>
              <a:rPr lang="en-IN" sz="2400" dirty="0" smtClean="0">
                <a:solidFill>
                  <a:schemeClr val="bg1"/>
                </a:solidFill>
              </a:rPr>
              <a:t>overridden method</a:t>
            </a:r>
            <a:r>
              <a:rPr lang="en-IN" sz="2400" dirty="0">
                <a:solidFill>
                  <a:schemeClr val="bg1"/>
                </a:solidFill>
              </a:rPr>
              <a:t>.</a:t>
            </a:r>
          </a:p>
        </p:txBody>
      </p:sp>
    </p:spTree>
    <p:extLst>
      <p:ext uri="{BB962C8B-B14F-4D97-AF65-F5344CB8AC3E}">
        <p14:creationId xmlns:p14="http://schemas.microsoft.com/office/powerpoint/2010/main" val="393389298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6727" y="149329"/>
            <a:ext cx="11600597" cy="6129050"/>
          </a:xfrm>
          <a:prstGeom prst="rect">
            <a:avLst/>
          </a:prstGeom>
        </p:spPr>
        <p:txBody>
          <a:bodyPr wrap="square">
            <a:spAutoFit/>
          </a:bodyPr>
          <a:lstStyle/>
          <a:p>
            <a:pPr algn="just">
              <a:lnSpc>
                <a:spcPct val="150000"/>
              </a:lnSpc>
            </a:pPr>
            <a:r>
              <a:rPr lang="en-IN" sz="2400" dirty="0">
                <a:solidFill>
                  <a:schemeClr val="bg1"/>
                </a:solidFill>
              </a:rPr>
              <a:t>Given classes A, B, and C, where B extends A, and C extends B, and where all </a:t>
            </a:r>
            <a:r>
              <a:rPr lang="en-IN" sz="2400" dirty="0" smtClean="0">
                <a:solidFill>
                  <a:schemeClr val="bg1"/>
                </a:solidFill>
              </a:rPr>
              <a:t>classes implement </a:t>
            </a:r>
            <a:r>
              <a:rPr lang="en-IN" sz="2400" dirty="0">
                <a:solidFill>
                  <a:schemeClr val="bg1"/>
                </a:solidFill>
              </a:rPr>
              <a:t>the instance method void </a:t>
            </a:r>
            <a:r>
              <a:rPr lang="en-IN" sz="2400" dirty="0" err="1">
                <a:solidFill>
                  <a:schemeClr val="bg1"/>
                </a:solidFill>
              </a:rPr>
              <a:t>doIt</a:t>
            </a:r>
            <a:r>
              <a:rPr lang="en-IN" sz="2400" dirty="0">
                <a:solidFill>
                  <a:schemeClr val="bg1"/>
                </a:solidFill>
              </a:rPr>
              <a:t>(). How can the </a:t>
            </a:r>
            <a:r>
              <a:rPr lang="en-IN" sz="2400" dirty="0" err="1">
                <a:solidFill>
                  <a:schemeClr val="bg1"/>
                </a:solidFill>
              </a:rPr>
              <a:t>doIt</a:t>
            </a:r>
            <a:r>
              <a:rPr lang="en-IN" sz="2400" dirty="0">
                <a:solidFill>
                  <a:schemeClr val="bg1"/>
                </a:solidFill>
              </a:rPr>
              <a:t>() method in A </a:t>
            </a:r>
            <a:r>
              <a:rPr lang="en-IN" sz="2400" dirty="0" smtClean="0">
                <a:solidFill>
                  <a:schemeClr val="bg1"/>
                </a:solidFill>
              </a:rPr>
              <a:t>be called </a:t>
            </a:r>
            <a:r>
              <a:rPr lang="en-IN" sz="2400" dirty="0">
                <a:solidFill>
                  <a:schemeClr val="bg1"/>
                </a:solidFill>
              </a:rPr>
              <a:t>from an instance method in C?</a:t>
            </a:r>
          </a:p>
          <a:p>
            <a:pPr algn="just">
              <a:lnSpc>
                <a:spcPct val="150000"/>
              </a:lnSpc>
            </a:pPr>
            <a:r>
              <a:rPr lang="en-IN" sz="2400" dirty="0">
                <a:solidFill>
                  <a:schemeClr val="bg1"/>
                </a:solidFill>
              </a:rPr>
              <a:t>Select the one correct answer.</a:t>
            </a:r>
          </a:p>
          <a:p>
            <a:pPr algn="just">
              <a:lnSpc>
                <a:spcPct val="150000"/>
              </a:lnSpc>
            </a:pPr>
            <a:r>
              <a:rPr lang="en-IN" sz="2400" dirty="0">
                <a:solidFill>
                  <a:schemeClr val="bg1"/>
                </a:solidFill>
              </a:rPr>
              <a:t>(a) </a:t>
            </a:r>
            <a:r>
              <a:rPr lang="en-IN" sz="2400" dirty="0" err="1">
                <a:solidFill>
                  <a:schemeClr val="bg1"/>
                </a:solidFill>
              </a:rPr>
              <a:t>doIt</a:t>
            </a:r>
            <a:r>
              <a:rPr lang="en-IN" sz="2400" dirty="0">
                <a:solidFill>
                  <a:schemeClr val="bg1"/>
                </a:solidFill>
              </a:rPr>
              <a:t>();</a:t>
            </a:r>
          </a:p>
          <a:p>
            <a:pPr algn="just">
              <a:lnSpc>
                <a:spcPct val="150000"/>
              </a:lnSpc>
            </a:pPr>
            <a:r>
              <a:rPr lang="en-IN" sz="2400" dirty="0">
                <a:solidFill>
                  <a:schemeClr val="bg1"/>
                </a:solidFill>
              </a:rPr>
              <a:t>(b) </a:t>
            </a:r>
            <a:r>
              <a:rPr lang="en-IN" sz="2400" dirty="0" err="1">
                <a:solidFill>
                  <a:schemeClr val="bg1"/>
                </a:solidFill>
              </a:rPr>
              <a:t>super.doIt</a:t>
            </a:r>
            <a:r>
              <a:rPr lang="en-IN" sz="2400" dirty="0">
                <a:solidFill>
                  <a:schemeClr val="bg1"/>
                </a:solidFill>
              </a:rPr>
              <a:t>();</a:t>
            </a:r>
          </a:p>
          <a:p>
            <a:pPr algn="just">
              <a:lnSpc>
                <a:spcPct val="150000"/>
              </a:lnSpc>
            </a:pPr>
            <a:r>
              <a:rPr lang="en-IN" sz="2400" dirty="0">
                <a:solidFill>
                  <a:schemeClr val="bg1"/>
                </a:solidFill>
              </a:rPr>
              <a:t>(c) </a:t>
            </a:r>
            <a:r>
              <a:rPr lang="en-IN" sz="2400" dirty="0" err="1">
                <a:solidFill>
                  <a:schemeClr val="bg1"/>
                </a:solidFill>
              </a:rPr>
              <a:t>super.super.doIt</a:t>
            </a:r>
            <a:r>
              <a:rPr lang="en-IN" sz="2400" dirty="0">
                <a:solidFill>
                  <a:schemeClr val="bg1"/>
                </a:solidFill>
              </a:rPr>
              <a:t>();</a:t>
            </a:r>
          </a:p>
          <a:p>
            <a:pPr algn="just">
              <a:lnSpc>
                <a:spcPct val="150000"/>
              </a:lnSpc>
            </a:pPr>
            <a:r>
              <a:rPr lang="en-IN" sz="2400" dirty="0">
                <a:solidFill>
                  <a:schemeClr val="bg1"/>
                </a:solidFill>
              </a:rPr>
              <a:t>(d) </a:t>
            </a:r>
            <a:r>
              <a:rPr lang="en-IN" sz="2400" dirty="0" err="1">
                <a:solidFill>
                  <a:schemeClr val="bg1"/>
                </a:solidFill>
              </a:rPr>
              <a:t>this.super.doIt</a:t>
            </a:r>
            <a:r>
              <a:rPr lang="en-IN" sz="2400" dirty="0">
                <a:solidFill>
                  <a:schemeClr val="bg1"/>
                </a:solidFill>
              </a:rPr>
              <a:t>();</a:t>
            </a:r>
          </a:p>
          <a:p>
            <a:pPr algn="just">
              <a:lnSpc>
                <a:spcPct val="150000"/>
              </a:lnSpc>
            </a:pPr>
            <a:r>
              <a:rPr lang="en-IN" sz="2400" dirty="0">
                <a:solidFill>
                  <a:schemeClr val="bg1"/>
                </a:solidFill>
              </a:rPr>
              <a:t>(e) </a:t>
            </a:r>
            <a:r>
              <a:rPr lang="en-IN" sz="2400" dirty="0" err="1">
                <a:solidFill>
                  <a:schemeClr val="bg1"/>
                </a:solidFill>
              </a:rPr>
              <a:t>A.this.doIt</a:t>
            </a:r>
            <a:r>
              <a:rPr lang="en-IN" sz="2400" dirty="0">
                <a:solidFill>
                  <a:schemeClr val="bg1"/>
                </a:solidFill>
              </a:rPr>
              <a:t>();</a:t>
            </a:r>
          </a:p>
          <a:p>
            <a:pPr algn="just">
              <a:lnSpc>
                <a:spcPct val="150000"/>
              </a:lnSpc>
            </a:pPr>
            <a:r>
              <a:rPr lang="en-IN" sz="2400" dirty="0">
                <a:solidFill>
                  <a:schemeClr val="bg1"/>
                </a:solidFill>
              </a:rPr>
              <a:t>(f) ((A) this).</a:t>
            </a:r>
            <a:r>
              <a:rPr lang="en-IN" sz="2400" dirty="0" err="1">
                <a:solidFill>
                  <a:schemeClr val="bg1"/>
                </a:solidFill>
              </a:rPr>
              <a:t>doIt</a:t>
            </a:r>
            <a:r>
              <a:rPr lang="en-IN" sz="2400" dirty="0">
                <a:solidFill>
                  <a:schemeClr val="bg1"/>
                </a:solidFill>
              </a:rPr>
              <a:t>();</a:t>
            </a:r>
          </a:p>
          <a:p>
            <a:pPr algn="just">
              <a:lnSpc>
                <a:spcPct val="150000"/>
              </a:lnSpc>
            </a:pPr>
            <a:r>
              <a:rPr lang="en-IN" sz="2400" dirty="0">
                <a:solidFill>
                  <a:schemeClr val="bg1"/>
                </a:solidFill>
              </a:rPr>
              <a:t>(g) It is not possible.</a:t>
            </a:r>
          </a:p>
        </p:txBody>
      </p:sp>
    </p:spTree>
    <p:extLst>
      <p:ext uri="{BB962C8B-B14F-4D97-AF65-F5344CB8AC3E}">
        <p14:creationId xmlns:p14="http://schemas.microsoft.com/office/powerpoint/2010/main" val="397178319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63774" y="210657"/>
            <a:ext cx="8843749" cy="5324535"/>
          </a:xfrm>
          <a:prstGeom prst="rect">
            <a:avLst/>
          </a:prstGeom>
        </p:spPr>
        <p:txBody>
          <a:bodyPr wrap="square">
            <a:spAutoFit/>
          </a:bodyPr>
          <a:lstStyle/>
          <a:p>
            <a:r>
              <a:rPr lang="en-IN" sz="2000" dirty="0">
                <a:solidFill>
                  <a:schemeClr val="bg1"/>
                </a:solidFill>
              </a:rPr>
              <a:t>What would be the result of compiling and running the following program?</a:t>
            </a:r>
          </a:p>
          <a:p>
            <a:r>
              <a:rPr lang="en-IN" sz="2000" dirty="0">
                <a:solidFill>
                  <a:schemeClr val="bg1"/>
                </a:solidFill>
              </a:rPr>
              <a:t>// Filename: MyClass.java</a:t>
            </a:r>
          </a:p>
          <a:p>
            <a:r>
              <a:rPr lang="en-IN" sz="2000" dirty="0">
                <a:solidFill>
                  <a:schemeClr val="bg1"/>
                </a:solidFill>
              </a:rPr>
              <a:t>public class </a:t>
            </a:r>
            <a:r>
              <a:rPr lang="en-IN" sz="2000" dirty="0" err="1">
                <a:solidFill>
                  <a:schemeClr val="bg1"/>
                </a:solidFill>
              </a:rPr>
              <a:t>MyClass</a:t>
            </a:r>
            <a:r>
              <a:rPr lang="en-IN" sz="2000" dirty="0">
                <a:solidFill>
                  <a:schemeClr val="bg1"/>
                </a:solidFill>
              </a:rPr>
              <a:t> </a:t>
            </a:r>
            <a:r>
              <a:rPr lang="en-IN" sz="2000" dirty="0" smtClean="0">
                <a:solidFill>
                  <a:schemeClr val="bg1"/>
                </a:solidFill>
              </a:rPr>
              <a:t>{</a:t>
            </a:r>
          </a:p>
          <a:p>
            <a:endParaRPr lang="en-IN" sz="2000" dirty="0">
              <a:solidFill>
                <a:schemeClr val="bg1"/>
              </a:solidFill>
            </a:endParaRPr>
          </a:p>
          <a:p>
            <a:r>
              <a:rPr lang="en-IN" sz="2000" dirty="0">
                <a:solidFill>
                  <a:schemeClr val="bg1"/>
                </a:solidFill>
              </a:rPr>
              <a:t>public static void main(String[] </a:t>
            </a:r>
            <a:r>
              <a:rPr lang="en-IN" sz="2000" dirty="0" err="1">
                <a:solidFill>
                  <a:schemeClr val="bg1"/>
                </a:solidFill>
              </a:rPr>
              <a:t>args</a:t>
            </a:r>
            <a:r>
              <a:rPr lang="en-IN" sz="2000" dirty="0">
                <a:solidFill>
                  <a:schemeClr val="bg1"/>
                </a:solidFill>
              </a:rPr>
              <a:t>) {</a:t>
            </a:r>
          </a:p>
          <a:p>
            <a:pPr lvl="1"/>
            <a:r>
              <a:rPr lang="en-IN" sz="2000" dirty="0">
                <a:solidFill>
                  <a:schemeClr val="bg1"/>
                </a:solidFill>
              </a:rPr>
              <a:t>C </a:t>
            </a:r>
            <a:r>
              <a:rPr lang="en-IN" sz="2000" dirty="0" err="1">
                <a:solidFill>
                  <a:schemeClr val="bg1"/>
                </a:solidFill>
              </a:rPr>
              <a:t>c</a:t>
            </a:r>
            <a:r>
              <a:rPr lang="en-IN" sz="2000" dirty="0">
                <a:solidFill>
                  <a:schemeClr val="bg1"/>
                </a:solidFill>
              </a:rPr>
              <a:t> = new C();</a:t>
            </a:r>
          </a:p>
          <a:p>
            <a:pPr lvl="1"/>
            <a:r>
              <a:rPr lang="en-IN" sz="2000" dirty="0" err="1">
                <a:solidFill>
                  <a:schemeClr val="bg1"/>
                </a:solidFill>
              </a:rPr>
              <a:t>System.out.println</a:t>
            </a:r>
            <a:r>
              <a:rPr lang="en-IN" sz="2000" dirty="0">
                <a:solidFill>
                  <a:schemeClr val="bg1"/>
                </a:solidFill>
              </a:rPr>
              <a:t>(</a:t>
            </a:r>
            <a:r>
              <a:rPr lang="en-IN" sz="2000" dirty="0" err="1">
                <a:solidFill>
                  <a:schemeClr val="bg1"/>
                </a:solidFill>
              </a:rPr>
              <a:t>c.max</a:t>
            </a:r>
            <a:r>
              <a:rPr lang="en-IN" sz="2000" dirty="0">
                <a:solidFill>
                  <a:schemeClr val="bg1"/>
                </a:solidFill>
              </a:rPr>
              <a:t>(13, 29));</a:t>
            </a:r>
          </a:p>
          <a:p>
            <a:r>
              <a:rPr lang="en-IN" sz="2000" dirty="0" smtClean="0">
                <a:solidFill>
                  <a:schemeClr val="bg1"/>
                </a:solidFill>
              </a:rPr>
              <a:t>} }</a:t>
            </a:r>
            <a:endParaRPr lang="en-IN" sz="2000" dirty="0">
              <a:solidFill>
                <a:schemeClr val="bg1"/>
              </a:solidFill>
            </a:endParaRPr>
          </a:p>
          <a:p>
            <a:r>
              <a:rPr lang="en-IN" sz="2000" dirty="0">
                <a:solidFill>
                  <a:schemeClr val="bg1"/>
                </a:solidFill>
              </a:rPr>
              <a:t>class A {</a:t>
            </a:r>
          </a:p>
          <a:p>
            <a:r>
              <a:rPr lang="en-IN" sz="2000" dirty="0" err="1" smtClean="0">
                <a:solidFill>
                  <a:schemeClr val="bg1"/>
                </a:solidFill>
              </a:rPr>
              <a:t>int</a:t>
            </a:r>
            <a:r>
              <a:rPr lang="en-IN" sz="2000" dirty="0" smtClean="0">
                <a:solidFill>
                  <a:schemeClr val="bg1"/>
                </a:solidFill>
              </a:rPr>
              <a:t> </a:t>
            </a:r>
            <a:r>
              <a:rPr lang="en-IN" sz="2000" dirty="0">
                <a:solidFill>
                  <a:schemeClr val="bg1"/>
                </a:solidFill>
              </a:rPr>
              <a:t>max(</a:t>
            </a:r>
            <a:r>
              <a:rPr lang="en-IN" sz="2000" dirty="0" err="1">
                <a:solidFill>
                  <a:schemeClr val="bg1"/>
                </a:solidFill>
              </a:rPr>
              <a:t>int</a:t>
            </a:r>
            <a:r>
              <a:rPr lang="en-IN" sz="2000" dirty="0">
                <a:solidFill>
                  <a:schemeClr val="bg1"/>
                </a:solidFill>
              </a:rPr>
              <a:t> x, </a:t>
            </a:r>
            <a:r>
              <a:rPr lang="en-IN" sz="2000" dirty="0" err="1">
                <a:solidFill>
                  <a:schemeClr val="bg1"/>
                </a:solidFill>
              </a:rPr>
              <a:t>int</a:t>
            </a:r>
            <a:r>
              <a:rPr lang="en-IN" sz="2000" dirty="0">
                <a:solidFill>
                  <a:schemeClr val="bg1"/>
                </a:solidFill>
              </a:rPr>
              <a:t> y) { if (x&gt;y) return x; else return y; }</a:t>
            </a:r>
          </a:p>
          <a:p>
            <a:r>
              <a:rPr lang="en-IN" sz="2000" dirty="0">
                <a:solidFill>
                  <a:schemeClr val="bg1"/>
                </a:solidFill>
              </a:rPr>
              <a:t>}</a:t>
            </a:r>
          </a:p>
          <a:p>
            <a:r>
              <a:rPr lang="en-IN" sz="2000" dirty="0">
                <a:solidFill>
                  <a:schemeClr val="bg1"/>
                </a:solidFill>
              </a:rPr>
              <a:t>class B extends A{</a:t>
            </a:r>
          </a:p>
          <a:p>
            <a:r>
              <a:rPr lang="en-IN" sz="2000" dirty="0" err="1" smtClean="0">
                <a:solidFill>
                  <a:schemeClr val="bg1"/>
                </a:solidFill>
              </a:rPr>
              <a:t>int</a:t>
            </a:r>
            <a:r>
              <a:rPr lang="en-IN" sz="2000" dirty="0" smtClean="0">
                <a:solidFill>
                  <a:schemeClr val="bg1"/>
                </a:solidFill>
              </a:rPr>
              <a:t> </a:t>
            </a:r>
            <a:r>
              <a:rPr lang="en-IN" sz="2000" dirty="0">
                <a:solidFill>
                  <a:schemeClr val="bg1"/>
                </a:solidFill>
              </a:rPr>
              <a:t>max(</a:t>
            </a:r>
            <a:r>
              <a:rPr lang="en-IN" sz="2000" dirty="0" err="1">
                <a:solidFill>
                  <a:schemeClr val="bg1"/>
                </a:solidFill>
              </a:rPr>
              <a:t>int</a:t>
            </a:r>
            <a:r>
              <a:rPr lang="en-IN" sz="2000" dirty="0">
                <a:solidFill>
                  <a:schemeClr val="bg1"/>
                </a:solidFill>
              </a:rPr>
              <a:t> x, </a:t>
            </a:r>
            <a:r>
              <a:rPr lang="en-IN" sz="2000" dirty="0" err="1">
                <a:solidFill>
                  <a:schemeClr val="bg1"/>
                </a:solidFill>
              </a:rPr>
              <a:t>int</a:t>
            </a:r>
            <a:r>
              <a:rPr lang="en-IN" sz="2000" dirty="0">
                <a:solidFill>
                  <a:schemeClr val="bg1"/>
                </a:solidFill>
              </a:rPr>
              <a:t> y) { return </a:t>
            </a:r>
            <a:r>
              <a:rPr lang="en-IN" sz="2000" dirty="0" err="1">
                <a:solidFill>
                  <a:schemeClr val="bg1"/>
                </a:solidFill>
              </a:rPr>
              <a:t>super.max</a:t>
            </a:r>
            <a:r>
              <a:rPr lang="en-IN" sz="2000" dirty="0">
                <a:solidFill>
                  <a:schemeClr val="bg1"/>
                </a:solidFill>
              </a:rPr>
              <a:t>(y, x) - 10; }</a:t>
            </a:r>
          </a:p>
          <a:p>
            <a:r>
              <a:rPr lang="en-IN" sz="2000" dirty="0">
                <a:solidFill>
                  <a:schemeClr val="bg1"/>
                </a:solidFill>
              </a:rPr>
              <a:t>}</a:t>
            </a:r>
          </a:p>
          <a:p>
            <a:r>
              <a:rPr lang="en-IN" sz="2000" dirty="0">
                <a:solidFill>
                  <a:schemeClr val="bg1"/>
                </a:solidFill>
              </a:rPr>
              <a:t>class C extends B {</a:t>
            </a:r>
          </a:p>
          <a:p>
            <a:r>
              <a:rPr lang="en-IN" sz="2000" dirty="0" err="1" smtClean="0">
                <a:solidFill>
                  <a:schemeClr val="bg1"/>
                </a:solidFill>
              </a:rPr>
              <a:t>int</a:t>
            </a:r>
            <a:r>
              <a:rPr lang="en-IN" sz="2000" dirty="0" smtClean="0">
                <a:solidFill>
                  <a:schemeClr val="bg1"/>
                </a:solidFill>
              </a:rPr>
              <a:t> </a:t>
            </a:r>
            <a:r>
              <a:rPr lang="en-IN" sz="2000" dirty="0">
                <a:solidFill>
                  <a:schemeClr val="bg1"/>
                </a:solidFill>
              </a:rPr>
              <a:t>max(</a:t>
            </a:r>
            <a:r>
              <a:rPr lang="en-IN" sz="2000" dirty="0" err="1">
                <a:solidFill>
                  <a:schemeClr val="bg1"/>
                </a:solidFill>
              </a:rPr>
              <a:t>int</a:t>
            </a:r>
            <a:r>
              <a:rPr lang="en-IN" sz="2000" dirty="0">
                <a:solidFill>
                  <a:schemeClr val="bg1"/>
                </a:solidFill>
              </a:rPr>
              <a:t> x, </a:t>
            </a:r>
            <a:r>
              <a:rPr lang="en-IN" sz="2000" dirty="0" err="1">
                <a:solidFill>
                  <a:schemeClr val="bg1"/>
                </a:solidFill>
              </a:rPr>
              <a:t>int</a:t>
            </a:r>
            <a:r>
              <a:rPr lang="en-IN" sz="2000" dirty="0">
                <a:solidFill>
                  <a:schemeClr val="bg1"/>
                </a:solidFill>
              </a:rPr>
              <a:t> y) { return </a:t>
            </a:r>
            <a:r>
              <a:rPr lang="en-IN" sz="2000" dirty="0" err="1">
                <a:solidFill>
                  <a:schemeClr val="bg1"/>
                </a:solidFill>
              </a:rPr>
              <a:t>super.max</a:t>
            </a:r>
            <a:r>
              <a:rPr lang="en-IN" sz="2000" dirty="0">
                <a:solidFill>
                  <a:schemeClr val="bg1"/>
                </a:solidFill>
              </a:rPr>
              <a:t>(x+10, y+10); }</a:t>
            </a:r>
          </a:p>
          <a:p>
            <a:r>
              <a:rPr lang="en-IN" sz="2000" dirty="0">
                <a:solidFill>
                  <a:schemeClr val="bg1"/>
                </a:solidFill>
              </a:rPr>
              <a:t>}</a:t>
            </a:r>
          </a:p>
        </p:txBody>
      </p:sp>
      <p:sp>
        <p:nvSpPr>
          <p:cNvPr id="5" name="Rectangle 4"/>
          <p:cNvSpPr/>
          <p:nvPr/>
        </p:nvSpPr>
        <p:spPr>
          <a:xfrm>
            <a:off x="6091443" y="851426"/>
            <a:ext cx="6096000" cy="4661276"/>
          </a:xfrm>
          <a:prstGeom prst="rect">
            <a:avLst/>
          </a:prstGeom>
        </p:spPr>
        <p:txBody>
          <a:bodyPr>
            <a:spAutoFit/>
          </a:bodyPr>
          <a:lstStyle/>
          <a:p>
            <a:pPr algn="just">
              <a:lnSpc>
                <a:spcPct val="150000"/>
              </a:lnSpc>
            </a:pPr>
            <a:r>
              <a:rPr lang="en-IN" sz="2000" dirty="0">
                <a:solidFill>
                  <a:schemeClr val="bg1"/>
                </a:solidFill>
              </a:rPr>
              <a:t>Select the one correct answer.</a:t>
            </a:r>
          </a:p>
          <a:p>
            <a:pPr algn="just">
              <a:lnSpc>
                <a:spcPct val="150000"/>
              </a:lnSpc>
            </a:pPr>
            <a:r>
              <a:rPr lang="en-IN" sz="2000" dirty="0" smtClean="0">
                <a:solidFill>
                  <a:schemeClr val="bg1"/>
                </a:solidFill>
              </a:rPr>
              <a:t>(a) The </a:t>
            </a:r>
            <a:r>
              <a:rPr lang="en-IN" sz="2000" dirty="0">
                <a:solidFill>
                  <a:schemeClr val="bg1"/>
                </a:solidFill>
              </a:rPr>
              <a:t>code will fail to compile because the max() </a:t>
            </a:r>
            <a:r>
              <a:rPr lang="en-IN" sz="2000" dirty="0" smtClean="0">
                <a:solidFill>
                  <a:schemeClr val="bg1"/>
                </a:solidFill>
              </a:rPr>
              <a:t>method </a:t>
            </a:r>
            <a:r>
              <a:rPr lang="en-IN" sz="2000" dirty="0">
                <a:solidFill>
                  <a:schemeClr val="bg1"/>
                </a:solidFill>
              </a:rPr>
              <a:t>in B passes the </a:t>
            </a:r>
            <a:r>
              <a:rPr lang="en-IN" sz="2000" dirty="0" smtClean="0">
                <a:solidFill>
                  <a:schemeClr val="bg1"/>
                </a:solidFill>
              </a:rPr>
              <a:t>arguments in the call </a:t>
            </a:r>
            <a:r>
              <a:rPr lang="en-IN" sz="2000" dirty="0" err="1" smtClean="0">
                <a:solidFill>
                  <a:schemeClr val="bg1"/>
                </a:solidFill>
              </a:rPr>
              <a:t>super.max</a:t>
            </a:r>
            <a:r>
              <a:rPr lang="en-IN" sz="2000" dirty="0" smtClean="0">
                <a:solidFill>
                  <a:schemeClr val="bg1"/>
                </a:solidFill>
              </a:rPr>
              <a:t>(y, x) in the wrong order.</a:t>
            </a:r>
          </a:p>
          <a:p>
            <a:pPr algn="just">
              <a:lnSpc>
                <a:spcPct val="150000"/>
              </a:lnSpc>
            </a:pPr>
            <a:r>
              <a:rPr lang="en-IN" sz="2000" dirty="0" smtClean="0">
                <a:solidFill>
                  <a:schemeClr val="bg1"/>
                </a:solidFill>
              </a:rPr>
              <a:t>(</a:t>
            </a:r>
            <a:r>
              <a:rPr lang="en-IN" sz="2000" dirty="0">
                <a:solidFill>
                  <a:schemeClr val="bg1"/>
                </a:solidFill>
              </a:rPr>
              <a:t>b) The code will fail to compile because a call to a max() method is ambiguous.</a:t>
            </a:r>
          </a:p>
          <a:p>
            <a:pPr algn="just">
              <a:lnSpc>
                <a:spcPct val="150000"/>
              </a:lnSpc>
            </a:pPr>
            <a:r>
              <a:rPr lang="en-IN" sz="2000" dirty="0">
                <a:solidFill>
                  <a:schemeClr val="bg1"/>
                </a:solidFill>
              </a:rPr>
              <a:t>(c) The code will compile and print 13, when run.</a:t>
            </a:r>
          </a:p>
          <a:p>
            <a:pPr algn="just">
              <a:lnSpc>
                <a:spcPct val="150000"/>
              </a:lnSpc>
            </a:pPr>
            <a:r>
              <a:rPr lang="en-IN" sz="2000" dirty="0">
                <a:solidFill>
                  <a:schemeClr val="bg1"/>
                </a:solidFill>
              </a:rPr>
              <a:t>(d) The code will compile and print 23, when run.</a:t>
            </a:r>
          </a:p>
          <a:p>
            <a:pPr algn="just">
              <a:lnSpc>
                <a:spcPct val="150000"/>
              </a:lnSpc>
            </a:pPr>
            <a:r>
              <a:rPr lang="en-IN" sz="2000" dirty="0">
                <a:solidFill>
                  <a:schemeClr val="bg1"/>
                </a:solidFill>
              </a:rPr>
              <a:t>(e) The code will compile and print 29, when run.</a:t>
            </a:r>
          </a:p>
          <a:p>
            <a:pPr algn="just">
              <a:lnSpc>
                <a:spcPct val="150000"/>
              </a:lnSpc>
            </a:pPr>
            <a:r>
              <a:rPr lang="en-IN" sz="2000" dirty="0">
                <a:solidFill>
                  <a:schemeClr val="bg1"/>
                </a:solidFill>
              </a:rPr>
              <a:t>(f) The code will compile and print 39, when run.</a:t>
            </a:r>
          </a:p>
        </p:txBody>
      </p:sp>
    </p:spTree>
    <p:extLst>
      <p:ext uri="{BB962C8B-B14F-4D97-AF65-F5344CB8AC3E}">
        <p14:creationId xmlns:p14="http://schemas.microsoft.com/office/powerpoint/2010/main" val="27192381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8364" y="151180"/>
            <a:ext cx="8925636" cy="5632311"/>
          </a:xfrm>
          <a:prstGeom prst="rect">
            <a:avLst/>
          </a:prstGeom>
        </p:spPr>
        <p:txBody>
          <a:bodyPr wrap="square">
            <a:spAutoFit/>
          </a:bodyPr>
          <a:lstStyle/>
          <a:p>
            <a:r>
              <a:rPr lang="en-IN" sz="2400" dirty="0">
                <a:solidFill>
                  <a:schemeClr val="bg1"/>
                </a:solidFill>
              </a:rPr>
              <a:t>Which is the simplest expression that can be inserted at (1), so that the </a:t>
            </a:r>
            <a:r>
              <a:rPr lang="en-IN" sz="2400" dirty="0" smtClean="0">
                <a:solidFill>
                  <a:schemeClr val="bg1"/>
                </a:solidFill>
              </a:rPr>
              <a:t>program prints </a:t>
            </a:r>
            <a:r>
              <a:rPr lang="en-IN" sz="2400" dirty="0">
                <a:solidFill>
                  <a:schemeClr val="bg1"/>
                </a:solidFill>
              </a:rPr>
              <a:t>the value of the text field from the Message class?</a:t>
            </a:r>
          </a:p>
          <a:p>
            <a:r>
              <a:rPr lang="en-IN" sz="2400" dirty="0" smtClean="0">
                <a:solidFill>
                  <a:schemeClr val="bg1"/>
                </a:solidFill>
              </a:rPr>
              <a:t>class </a:t>
            </a:r>
            <a:r>
              <a:rPr lang="en-IN" sz="2400" dirty="0">
                <a:solidFill>
                  <a:schemeClr val="bg1"/>
                </a:solidFill>
              </a:rPr>
              <a:t>Message {</a:t>
            </a:r>
          </a:p>
          <a:p>
            <a:r>
              <a:rPr lang="en-IN" sz="2400" dirty="0">
                <a:solidFill>
                  <a:schemeClr val="bg1"/>
                </a:solidFill>
              </a:rPr>
              <a:t>// The message that should be printed:</a:t>
            </a:r>
          </a:p>
          <a:p>
            <a:r>
              <a:rPr lang="en-IN" sz="2400" dirty="0">
                <a:solidFill>
                  <a:schemeClr val="bg1"/>
                </a:solidFill>
              </a:rPr>
              <a:t>String text = "Hello, world</a:t>
            </a:r>
            <a:r>
              <a:rPr lang="en-IN" sz="2400" dirty="0" smtClean="0">
                <a:solidFill>
                  <a:schemeClr val="bg1"/>
                </a:solidFill>
              </a:rPr>
              <a:t>!"; }</a:t>
            </a:r>
            <a:endParaRPr lang="en-IN" sz="2400" dirty="0">
              <a:solidFill>
                <a:schemeClr val="bg1"/>
              </a:solidFill>
            </a:endParaRPr>
          </a:p>
          <a:p>
            <a:r>
              <a:rPr lang="en-IN" sz="2400" dirty="0">
                <a:solidFill>
                  <a:schemeClr val="bg1"/>
                </a:solidFill>
              </a:rPr>
              <a:t>class </a:t>
            </a:r>
            <a:r>
              <a:rPr lang="en-IN" sz="2400" dirty="0" err="1">
                <a:solidFill>
                  <a:schemeClr val="bg1"/>
                </a:solidFill>
              </a:rPr>
              <a:t>MySuperclass</a:t>
            </a:r>
            <a:r>
              <a:rPr lang="en-IN" sz="2400" dirty="0">
                <a:solidFill>
                  <a:schemeClr val="bg1"/>
                </a:solidFill>
              </a:rPr>
              <a:t> {</a:t>
            </a:r>
          </a:p>
          <a:p>
            <a:r>
              <a:rPr lang="en-IN" sz="2400" dirty="0">
                <a:solidFill>
                  <a:schemeClr val="bg1"/>
                </a:solidFill>
              </a:rPr>
              <a:t>Message </a:t>
            </a:r>
            <a:r>
              <a:rPr lang="en-IN" sz="2400" dirty="0" err="1">
                <a:solidFill>
                  <a:schemeClr val="bg1"/>
                </a:solidFill>
              </a:rPr>
              <a:t>msg</a:t>
            </a:r>
            <a:r>
              <a:rPr lang="en-IN" sz="2400" dirty="0">
                <a:solidFill>
                  <a:schemeClr val="bg1"/>
                </a:solidFill>
              </a:rPr>
              <a:t> = new Message</a:t>
            </a:r>
            <a:r>
              <a:rPr lang="en-IN" sz="2400" dirty="0" smtClean="0">
                <a:solidFill>
                  <a:schemeClr val="bg1"/>
                </a:solidFill>
              </a:rPr>
              <a:t>(); }</a:t>
            </a:r>
            <a:endParaRPr lang="en-IN" sz="2400" dirty="0">
              <a:solidFill>
                <a:schemeClr val="bg1"/>
              </a:solidFill>
            </a:endParaRPr>
          </a:p>
          <a:p>
            <a:r>
              <a:rPr lang="en-IN" sz="2400" dirty="0">
                <a:solidFill>
                  <a:schemeClr val="bg1"/>
                </a:solidFill>
              </a:rPr>
              <a:t>public class </a:t>
            </a:r>
            <a:r>
              <a:rPr lang="en-IN" sz="2400" dirty="0" err="1">
                <a:solidFill>
                  <a:schemeClr val="bg1"/>
                </a:solidFill>
              </a:rPr>
              <a:t>MyClass</a:t>
            </a:r>
            <a:r>
              <a:rPr lang="en-IN" sz="2400" dirty="0">
                <a:solidFill>
                  <a:schemeClr val="bg1"/>
                </a:solidFill>
              </a:rPr>
              <a:t> extends </a:t>
            </a:r>
            <a:r>
              <a:rPr lang="en-IN" sz="2400" dirty="0" err="1">
                <a:solidFill>
                  <a:schemeClr val="bg1"/>
                </a:solidFill>
              </a:rPr>
              <a:t>MySuperclass</a:t>
            </a:r>
            <a:r>
              <a:rPr lang="en-IN" sz="2400" dirty="0">
                <a:solidFill>
                  <a:schemeClr val="bg1"/>
                </a:solidFill>
              </a:rPr>
              <a:t> {</a:t>
            </a:r>
          </a:p>
          <a:p>
            <a:r>
              <a:rPr lang="en-IN" sz="2400" dirty="0">
                <a:solidFill>
                  <a:schemeClr val="bg1"/>
                </a:solidFill>
              </a:rPr>
              <a:t>public static void main(String[] </a:t>
            </a:r>
            <a:r>
              <a:rPr lang="en-IN" sz="2400" dirty="0" err="1">
                <a:solidFill>
                  <a:schemeClr val="bg1"/>
                </a:solidFill>
              </a:rPr>
              <a:t>args</a:t>
            </a:r>
            <a:r>
              <a:rPr lang="en-IN" sz="2400" dirty="0">
                <a:solidFill>
                  <a:schemeClr val="bg1"/>
                </a:solidFill>
              </a:rPr>
              <a:t>) {</a:t>
            </a:r>
          </a:p>
          <a:p>
            <a:r>
              <a:rPr lang="en-IN" sz="2400" dirty="0" err="1">
                <a:solidFill>
                  <a:schemeClr val="bg1"/>
                </a:solidFill>
              </a:rPr>
              <a:t>MyClass</a:t>
            </a:r>
            <a:r>
              <a:rPr lang="en-IN" sz="2400" dirty="0">
                <a:solidFill>
                  <a:schemeClr val="bg1"/>
                </a:solidFill>
              </a:rPr>
              <a:t> object = new </a:t>
            </a:r>
            <a:r>
              <a:rPr lang="en-IN" sz="2400" dirty="0" err="1">
                <a:solidFill>
                  <a:schemeClr val="bg1"/>
                </a:solidFill>
              </a:rPr>
              <a:t>MyClass</a:t>
            </a:r>
            <a:r>
              <a:rPr lang="en-IN" sz="2400" dirty="0">
                <a:solidFill>
                  <a:schemeClr val="bg1"/>
                </a:solidFill>
              </a:rPr>
              <a:t>();</a:t>
            </a:r>
          </a:p>
          <a:p>
            <a:r>
              <a:rPr lang="en-IN" sz="2400" dirty="0" err="1">
                <a:solidFill>
                  <a:schemeClr val="bg1"/>
                </a:solidFill>
              </a:rPr>
              <a:t>object.print</a:t>
            </a:r>
            <a:r>
              <a:rPr lang="en-IN" sz="2400" dirty="0" smtClean="0">
                <a:solidFill>
                  <a:schemeClr val="bg1"/>
                </a:solidFill>
              </a:rPr>
              <a:t>(); }</a:t>
            </a:r>
            <a:endParaRPr lang="en-IN" sz="2400" dirty="0">
              <a:solidFill>
                <a:schemeClr val="bg1"/>
              </a:solidFill>
            </a:endParaRPr>
          </a:p>
          <a:p>
            <a:r>
              <a:rPr lang="en-IN" sz="2400" dirty="0">
                <a:solidFill>
                  <a:schemeClr val="bg1"/>
                </a:solidFill>
              </a:rPr>
              <a:t>public void print() {</a:t>
            </a:r>
          </a:p>
          <a:p>
            <a:r>
              <a:rPr lang="en-IN" sz="2400" dirty="0" err="1">
                <a:solidFill>
                  <a:schemeClr val="bg1"/>
                </a:solidFill>
              </a:rPr>
              <a:t>System.out.println</a:t>
            </a:r>
            <a:r>
              <a:rPr lang="en-IN" sz="2400" dirty="0">
                <a:solidFill>
                  <a:schemeClr val="bg1"/>
                </a:solidFill>
              </a:rPr>
              <a:t>( </a:t>
            </a:r>
            <a:endParaRPr lang="en-IN" sz="2400" dirty="0" smtClean="0">
              <a:solidFill>
                <a:schemeClr val="bg1"/>
              </a:solidFill>
            </a:endParaRPr>
          </a:p>
          <a:p>
            <a:r>
              <a:rPr lang="en-IN" sz="2400" dirty="0" smtClean="0">
                <a:solidFill>
                  <a:schemeClr val="bg1"/>
                </a:solidFill>
              </a:rPr>
              <a:t>/* </a:t>
            </a:r>
            <a:r>
              <a:rPr lang="en-IN" sz="2400" dirty="0">
                <a:solidFill>
                  <a:schemeClr val="bg1"/>
                </a:solidFill>
              </a:rPr>
              <a:t>(1) INSERT THE SIMPLEST EXPRESSION HERE */ </a:t>
            </a:r>
            <a:r>
              <a:rPr lang="en-IN" sz="2400" dirty="0" smtClean="0">
                <a:solidFill>
                  <a:schemeClr val="bg1"/>
                </a:solidFill>
              </a:rPr>
              <a:t>);</a:t>
            </a:r>
          </a:p>
          <a:p>
            <a:r>
              <a:rPr lang="en-IN" sz="2400" dirty="0" smtClean="0">
                <a:solidFill>
                  <a:schemeClr val="bg1"/>
                </a:solidFill>
              </a:rPr>
              <a:t>} }</a:t>
            </a:r>
            <a:endParaRPr lang="en-IN" sz="2400" dirty="0">
              <a:solidFill>
                <a:schemeClr val="bg1"/>
              </a:solidFill>
            </a:endParaRPr>
          </a:p>
        </p:txBody>
      </p:sp>
      <p:sp>
        <p:nvSpPr>
          <p:cNvPr id="5" name="Rectangle 4"/>
          <p:cNvSpPr/>
          <p:nvPr/>
        </p:nvSpPr>
        <p:spPr>
          <a:xfrm>
            <a:off x="7128680" y="1175772"/>
            <a:ext cx="4894998" cy="3970318"/>
          </a:xfrm>
          <a:prstGeom prst="rect">
            <a:avLst/>
          </a:prstGeom>
        </p:spPr>
        <p:txBody>
          <a:bodyPr wrap="square">
            <a:spAutoFit/>
          </a:bodyPr>
          <a:lstStyle/>
          <a:p>
            <a:pPr>
              <a:lnSpc>
                <a:spcPct val="150000"/>
              </a:lnSpc>
            </a:pPr>
            <a:r>
              <a:rPr lang="en-IN" sz="2400" dirty="0">
                <a:solidFill>
                  <a:schemeClr val="bg1"/>
                </a:solidFill>
              </a:rPr>
              <a:t>Select the one correct answer.</a:t>
            </a:r>
          </a:p>
          <a:p>
            <a:pPr>
              <a:lnSpc>
                <a:spcPct val="150000"/>
              </a:lnSpc>
            </a:pPr>
            <a:r>
              <a:rPr lang="en-IN" sz="2400" dirty="0">
                <a:solidFill>
                  <a:schemeClr val="bg1"/>
                </a:solidFill>
              </a:rPr>
              <a:t>(a) text</a:t>
            </a:r>
          </a:p>
          <a:p>
            <a:pPr>
              <a:lnSpc>
                <a:spcPct val="150000"/>
              </a:lnSpc>
            </a:pPr>
            <a:r>
              <a:rPr lang="en-IN" sz="2400" dirty="0">
                <a:solidFill>
                  <a:schemeClr val="bg1"/>
                </a:solidFill>
              </a:rPr>
              <a:t>(b) </a:t>
            </a:r>
            <a:r>
              <a:rPr lang="en-IN" sz="2400" dirty="0" err="1">
                <a:solidFill>
                  <a:schemeClr val="bg1"/>
                </a:solidFill>
              </a:rPr>
              <a:t>Message.text</a:t>
            </a:r>
            <a:endParaRPr lang="en-IN" sz="2400" dirty="0">
              <a:solidFill>
                <a:schemeClr val="bg1"/>
              </a:solidFill>
            </a:endParaRPr>
          </a:p>
          <a:p>
            <a:pPr>
              <a:lnSpc>
                <a:spcPct val="150000"/>
              </a:lnSpc>
            </a:pPr>
            <a:r>
              <a:rPr lang="en-IN" sz="2400" dirty="0">
                <a:solidFill>
                  <a:schemeClr val="bg1"/>
                </a:solidFill>
              </a:rPr>
              <a:t>(c) </a:t>
            </a:r>
            <a:r>
              <a:rPr lang="en-IN" sz="2400" dirty="0" err="1">
                <a:solidFill>
                  <a:schemeClr val="bg1"/>
                </a:solidFill>
              </a:rPr>
              <a:t>msg.text</a:t>
            </a:r>
            <a:endParaRPr lang="en-IN" sz="2400" dirty="0">
              <a:solidFill>
                <a:schemeClr val="bg1"/>
              </a:solidFill>
            </a:endParaRPr>
          </a:p>
          <a:p>
            <a:pPr>
              <a:lnSpc>
                <a:spcPct val="150000"/>
              </a:lnSpc>
            </a:pPr>
            <a:r>
              <a:rPr lang="en-IN" sz="2400" dirty="0">
                <a:solidFill>
                  <a:schemeClr val="bg1"/>
                </a:solidFill>
              </a:rPr>
              <a:t>(d) </a:t>
            </a:r>
            <a:r>
              <a:rPr lang="en-IN" sz="2400" dirty="0" err="1">
                <a:solidFill>
                  <a:schemeClr val="bg1"/>
                </a:solidFill>
              </a:rPr>
              <a:t>object.msg.text</a:t>
            </a:r>
            <a:endParaRPr lang="en-IN" sz="2400" dirty="0">
              <a:solidFill>
                <a:schemeClr val="bg1"/>
              </a:solidFill>
            </a:endParaRPr>
          </a:p>
          <a:p>
            <a:pPr>
              <a:lnSpc>
                <a:spcPct val="150000"/>
              </a:lnSpc>
            </a:pPr>
            <a:r>
              <a:rPr lang="en-IN" sz="2400" dirty="0">
                <a:solidFill>
                  <a:schemeClr val="bg1"/>
                </a:solidFill>
              </a:rPr>
              <a:t>(e) </a:t>
            </a:r>
            <a:r>
              <a:rPr lang="en-IN" sz="2400" dirty="0" err="1">
                <a:solidFill>
                  <a:schemeClr val="bg1"/>
                </a:solidFill>
              </a:rPr>
              <a:t>super.msg.text</a:t>
            </a:r>
            <a:endParaRPr lang="en-IN" sz="2400" dirty="0">
              <a:solidFill>
                <a:schemeClr val="bg1"/>
              </a:solidFill>
            </a:endParaRPr>
          </a:p>
          <a:p>
            <a:pPr>
              <a:lnSpc>
                <a:spcPct val="150000"/>
              </a:lnSpc>
            </a:pPr>
            <a:r>
              <a:rPr lang="en-IN" sz="2400" dirty="0">
                <a:solidFill>
                  <a:schemeClr val="bg1"/>
                </a:solidFill>
              </a:rPr>
              <a:t>(f) </a:t>
            </a:r>
            <a:r>
              <a:rPr lang="en-IN" sz="2400" dirty="0" err="1">
                <a:solidFill>
                  <a:schemeClr val="bg1"/>
                </a:solidFill>
              </a:rPr>
              <a:t>object.super.msg.text</a:t>
            </a:r>
            <a:endParaRPr lang="en-IN" sz="2400" dirty="0">
              <a:solidFill>
                <a:schemeClr val="bg1"/>
              </a:solidFill>
            </a:endParaRPr>
          </a:p>
        </p:txBody>
      </p:sp>
    </p:spTree>
    <p:extLst>
      <p:ext uri="{BB962C8B-B14F-4D97-AF65-F5344CB8AC3E}">
        <p14:creationId xmlns:p14="http://schemas.microsoft.com/office/powerpoint/2010/main" val="298828642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5533" y="-49834"/>
            <a:ext cx="7792872" cy="7478970"/>
          </a:xfrm>
          <a:prstGeom prst="rect">
            <a:avLst/>
          </a:prstGeom>
        </p:spPr>
        <p:txBody>
          <a:bodyPr wrap="square">
            <a:spAutoFit/>
          </a:bodyPr>
          <a:lstStyle/>
          <a:p>
            <a:pPr>
              <a:lnSpc>
                <a:spcPct val="150000"/>
              </a:lnSpc>
            </a:pPr>
            <a:r>
              <a:rPr lang="en-IN" sz="2000" dirty="0">
                <a:solidFill>
                  <a:schemeClr val="bg1"/>
                </a:solidFill>
              </a:rPr>
              <a:t>Which method declarations, when inserted at (7), will not result in a </a:t>
            </a:r>
            <a:r>
              <a:rPr lang="en-IN" sz="2000" dirty="0" smtClean="0">
                <a:solidFill>
                  <a:schemeClr val="bg1"/>
                </a:solidFill>
              </a:rPr>
              <a:t>compile-time error</a:t>
            </a:r>
            <a:r>
              <a:rPr lang="en-IN" sz="2000" dirty="0">
                <a:solidFill>
                  <a:schemeClr val="bg1"/>
                </a:solidFill>
              </a:rPr>
              <a:t>?</a:t>
            </a:r>
          </a:p>
          <a:p>
            <a:pPr>
              <a:lnSpc>
                <a:spcPct val="150000"/>
              </a:lnSpc>
            </a:pPr>
            <a:r>
              <a:rPr lang="en-IN" sz="2000" dirty="0">
                <a:solidFill>
                  <a:schemeClr val="bg1"/>
                </a:solidFill>
              </a:rPr>
              <a:t>class </a:t>
            </a:r>
            <a:r>
              <a:rPr lang="en-IN" sz="2000" dirty="0" err="1">
                <a:solidFill>
                  <a:schemeClr val="bg1"/>
                </a:solidFill>
              </a:rPr>
              <a:t>MySuperclass</a:t>
            </a:r>
            <a:r>
              <a:rPr lang="en-IN" sz="2000" dirty="0">
                <a:solidFill>
                  <a:schemeClr val="bg1"/>
                </a:solidFill>
              </a:rPr>
              <a:t> {</a:t>
            </a:r>
          </a:p>
          <a:p>
            <a:pPr>
              <a:lnSpc>
                <a:spcPct val="150000"/>
              </a:lnSpc>
            </a:pPr>
            <a:r>
              <a:rPr lang="en-IN" sz="2000" dirty="0">
                <a:solidFill>
                  <a:schemeClr val="bg1"/>
                </a:solidFill>
              </a:rPr>
              <a:t>public Integer step1(</a:t>
            </a:r>
            <a:r>
              <a:rPr lang="en-IN" sz="2000" dirty="0" err="1">
                <a:solidFill>
                  <a:schemeClr val="bg1"/>
                </a:solidFill>
              </a:rPr>
              <a:t>int</a:t>
            </a:r>
            <a:r>
              <a:rPr lang="en-IN" sz="2000" dirty="0">
                <a:solidFill>
                  <a:schemeClr val="bg1"/>
                </a:solidFill>
              </a:rPr>
              <a:t> </a:t>
            </a:r>
            <a:r>
              <a:rPr lang="en-IN" sz="2000" dirty="0" err="1">
                <a:solidFill>
                  <a:schemeClr val="bg1"/>
                </a:solidFill>
              </a:rPr>
              <a:t>i</a:t>
            </a:r>
            <a:r>
              <a:rPr lang="en-IN" sz="2000" dirty="0">
                <a:solidFill>
                  <a:schemeClr val="bg1"/>
                </a:solidFill>
              </a:rPr>
              <a:t>) </a:t>
            </a:r>
            <a:endParaRPr lang="en-IN" sz="2000" dirty="0" smtClean="0">
              <a:solidFill>
                <a:schemeClr val="bg1"/>
              </a:solidFill>
            </a:endParaRPr>
          </a:p>
          <a:p>
            <a:pPr>
              <a:lnSpc>
                <a:spcPct val="150000"/>
              </a:lnSpc>
            </a:pPr>
            <a:r>
              <a:rPr lang="en-IN" sz="2000" dirty="0" smtClean="0">
                <a:solidFill>
                  <a:schemeClr val="bg1"/>
                </a:solidFill>
              </a:rPr>
              <a:t>{ </a:t>
            </a:r>
            <a:r>
              <a:rPr lang="en-IN" sz="2000" dirty="0">
                <a:solidFill>
                  <a:schemeClr val="bg1"/>
                </a:solidFill>
              </a:rPr>
              <a:t>return 1; } // (1)</a:t>
            </a:r>
          </a:p>
          <a:p>
            <a:pPr>
              <a:lnSpc>
                <a:spcPct val="150000"/>
              </a:lnSpc>
            </a:pPr>
            <a:r>
              <a:rPr lang="en-IN" sz="2000" dirty="0">
                <a:solidFill>
                  <a:schemeClr val="bg1"/>
                </a:solidFill>
              </a:rPr>
              <a:t>protected String </a:t>
            </a:r>
            <a:r>
              <a:rPr lang="en-IN" sz="2000" dirty="0" smtClean="0">
                <a:solidFill>
                  <a:schemeClr val="bg1"/>
                </a:solidFill>
              </a:rPr>
              <a:t>step2</a:t>
            </a:r>
          </a:p>
          <a:p>
            <a:pPr>
              <a:lnSpc>
                <a:spcPct val="150000"/>
              </a:lnSpc>
            </a:pPr>
            <a:r>
              <a:rPr lang="en-IN" sz="2000" dirty="0" smtClean="0">
                <a:solidFill>
                  <a:schemeClr val="bg1"/>
                </a:solidFill>
              </a:rPr>
              <a:t>(</a:t>
            </a:r>
            <a:r>
              <a:rPr lang="en-IN" sz="2000" dirty="0">
                <a:solidFill>
                  <a:schemeClr val="bg1"/>
                </a:solidFill>
              </a:rPr>
              <a:t>String str1, String str2) { return str1; } // (2)</a:t>
            </a:r>
          </a:p>
          <a:p>
            <a:pPr>
              <a:lnSpc>
                <a:spcPct val="150000"/>
              </a:lnSpc>
            </a:pPr>
            <a:r>
              <a:rPr lang="en-IN" sz="2000" dirty="0">
                <a:solidFill>
                  <a:schemeClr val="bg1"/>
                </a:solidFill>
              </a:rPr>
              <a:t>public String step2(String str1) </a:t>
            </a:r>
            <a:endParaRPr lang="en-IN" sz="2000" dirty="0" smtClean="0">
              <a:solidFill>
                <a:schemeClr val="bg1"/>
              </a:solidFill>
            </a:endParaRPr>
          </a:p>
          <a:p>
            <a:pPr>
              <a:lnSpc>
                <a:spcPct val="150000"/>
              </a:lnSpc>
            </a:pPr>
            <a:r>
              <a:rPr lang="en-IN" sz="2000" dirty="0" smtClean="0">
                <a:solidFill>
                  <a:schemeClr val="bg1"/>
                </a:solidFill>
              </a:rPr>
              <a:t>{ </a:t>
            </a:r>
            <a:r>
              <a:rPr lang="en-IN" sz="2000" dirty="0">
                <a:solidFill>
                  <a:schemeClr val="bg1"/>
                </a:solidFill>
              </a:rPr>
              <a:t>return str1; } // (3)</a:t>
            </a:r>
          </a:p>
          <a:p>
            <a:pPr>
              <a:lnSpc>
                <a:spcPct val="150000"/>
              </a:lnSpc>
            </a:pPr>
            <a:r>
              <a:rPr lang="en-IN" sz="2000" dirty="0">
                <a:solidFill>
                  <a:schemeClr val="bg1"/>
                </a:solidFill>
              </a:rPr>
              <a:t>public static String step2() { return "Hi"; } // (4)</a:t>
            </a:r>
          </a:p>
          <a:p>
            <a:pPr>
              <a:lnSpc>
                <a:spcPct val="150000"/>
              </a:lnSpc>
            </a:pPr>
            <a:r>
              <a:rPr lang="en-IN" sz="2000" dirty="0">
                <a:solidFill>
                  <a:schemeClr val="bg1"/>
                </a:solidFill>
              </a:rPr>
              <a:t>public </a:t>
            </a:r>
            <a:r>
              <a:rPr lang="en-IN" sz="2000" dirty="0" err="1">
                <a:solidFill>
                  <a:schemeClr val="bg1"/>
                </a:solidFill>
              </a:rPr>
              <a:t>MyClass</a:t>
            </a:r>
            <a:r>
              <a:rPr lang="en-IN" sz="2000" dirty="0">
                <a:solidFill>
                  <a:schemeClr val="bg1"/>
                </a:solidFill>
              </a:rPr>
              <a:t> </a:t>
            </a:r>
            <a:r>
              <a:rPr lang="en-IN" sz="2000" dirty="0" err="1">
                <a:solidFill>
                  <a:schemeClr val="bg1"/>
                </a:solidFill>
              </a:rPr>
              <a:t>makeIt</a:t>
            </a:r>
            <a:r>
              <a:rPr lang="en-IN" sz="2000" dirty="0">
                <a:solidFill>
                  <a:schemeClr val="bg1"/>
                </a:solidFill>
              </a:rPr>
              <a:t>() { return new </a:t>
            </a:r>
            <a:r>
              <a:rPr lang="en-IN" sz="2000" dirty="0" err="1">
                <a:solidFill>
                  <a:schemeClr val="bg1"/>
                </a:solidFill>
              </a:rPr>
              <a:t>MyClass</a:t>
            </a:r>
            <a:r>
              <a:rPr lang="en-IN" sz="2000" dirty="0">
                <a:solidFill>
                  <a:schemeClr val="bg1"/>
                </a:solidFill>
              </a:rPr>
              <a:t>(); } // (5)</a:t>
            </a:r>
          </a:p>
          <a:p>
            <a:pPr>
              <a:lnSpc>
                <a:spcPct val="150000"/>
              </a:lnSpc>
            </a:pPr>
            <a:r>
              <a:rPr lang="en-IN" sz="2000" dirty="0">
                <a:solidFill>
                  <a:schemeClr val="bg1"/>
                </a:solidFill>
              </a:rPr>
              <a:t>public </a:t>
            </a:r>
            <a:r>
              <a:rPr lang="en-IN" sz="2000" dirty="0" err="1">
                <a:solidFill>
                  <a:schemeClr val="bg1"/>
                </a:solidFill>
              </a:rPr>
              <a:t>MySuperclass</a:t>
            </a:r>
            <a:r>
              <a:rPr lang="en-IN" sz="2000" dirty="0">
                <a:solidFill>
                  <a:schemeClr val="bg1"/>
                </a:solidFill>
              </a:rPr>
              <a:t> makeIt2() { return new </a:t>
            </a:r>
            <a:r>
              <a:rPr lang="en-IN" sz="2000" dirty="0" err="1">
                <a:solidFill>
                  <a:schemeClr val="bg1"/>
                </a:solidFill>
              </a:rPr>
              <a:t>MyClass</a:t>
            </a:r>
            <a:r>
              <a:rPr lang="en-IN" sz="2000" dirty="0">
                <a:solidFill>
                  <a:schemeClr val="bg1"/>
                </a:solidFill>
              </a:rPr>
              <a:t>(); } // (6)</a:t>
            </a:r>
          </a:p>
          <a:p>
            <a:pPr>
              <a:lnSpc>
                <a:spcPct val="150000"/>
              </a:lnSpc>
            </a:pPr>
            <a:r>
              <a:rPr lang="en-IN" sz="2000" dirty="0">
                <a:solidFill>
                  <a:schemeClr val="bg1"/>
                </a:solidFill>
              </a:rPr>
              <a:t>}</a:t>
            </a:r>
          </a:p>
          <a:p>
            <a:pPr>
              <a:lnSpc>
                <a:spcPct val="150000"/>
              </a:lnSpc>
            </a:pPr>
            <a:r>
              <a:rPr lang="en-IN" sz="2000" dirty="0">
                <a:solidFill>
                  <a:schemeClr val="bg1"/>
                </a:solidFill>
              </a:rPr>
              <a:t>public class </a:t>
            </a:r>
            <a:r>
              <a:rPr lang="en-IN" sz="2000" dirty="0" err="1">
                <a:solidFill>
                  <a:schemeClr val="bg1"/>
                </a:solidFill>
              </a:rPr>
              <a:t>MyClass</a:t>
            </a:r>
            <a:r>
              <a:rPr lang="en-IN" sz="2000" dirty="0">
                <a:solidFill>
                  <a:schemeClr val="bg1"/>
                </a:solidFill>
              </a:rPr>
              <a:t> extends </a:t>
            </a:r>
            <a:r>
              <a:rPr lang="en-IN" sz="2000" dirty="0" err="1">
                <a:solidFill>
                  <a:schemeClr val="bg1"/>
                </a:solidFill>
              </a:rPr>
              <a:t>MySuperclass</a:t>
            </a:r>
            <a:r>
              <a:rPr lang="en-IN" sz="2000" dirty="0">
                <a:solidFill>
                  <a:schemeClr val="bg1"/>
                </a:solidFill>
              </a:rPr>
              <a:t> {</a:t>
            </a:r>
          </a:p>
          <a:p>
            <a:pPr>
              <a:lnSpc>
                <a:spcPct val="150000"/>
              </a:lnSpc>
            </a:pPr>
            <a:r>
              <a:rPr lang="en-IN" sz="2000" dirty="0">
                <a:solidFill>
                  <a:schemeClr val="bg1"/>
                </a:solidFill>
              </a:rPr>
              <a:t>// (7) INSERT METHOD DECLARATION HERE</a:t>
            </a:r>
          </a:p>
          <a:p>
            <a:pPr>
              <a:lnSpc>
                <a:spcPct val="150000"/>
              </a:lnSpc>
            </a:pPr>
            <a:r>
              <a:rPr lang="en-IN" sz="2000" dirty="0">
                <a:solidFill>
                  <a:schemeClr val="bg1"/>
                </a:solidFill>
              </a:rPr>
              <a:t>}</a:t>
            </a:r>
          </a:p>
        </p:txBody>
      </p:sp>
      <p:sp>
        <p:nvSpPr>
          <p:cNvPr id="5" name="Rectangle 4"/>
          <p:cNvSpPr/>
          <p:nvPr/>
        </p:nvSpPr>
        <p:spPr>
          <a:xfrm>
            <a:off x="6414454" y="390270"/>
            <a:ext cx="6569122" cy="4708981"/>
          </a:xfrm>
          <a:prstGeom prst="rect">
            <a:avLst/>
          </a:prstGeom>
        </p:spPr>
        <p:txBody>
          <a:bodyPr wrap="square">
            <a:spAutoFit/>
          </a:bodyPr>
          <a:lstStyle/>
          <a:p>
            <a:pPr>
              <a:lnSpc>
                <a:spcPct val="150000"/>
              </a:lnSpc>
            </a:pPr>
            <a:r>
              <a:rPr lang="en-IN" sz="2000" dirty="0">
                <a:solidFill>
                  <a:schemeClr val="bg1"/>
                </a:solidFill>
              </a:rPr>
              <a:t>Select the two correct answers.</a:t>
            </a:r>
          </a:p>
          <a:p>
            <a:pPr>
              <a:lnSpc>
                <a:spcPct val="150000"/>
              </a:lnSpc>
            </a:pPr>
            <a:r>
              <a:rPr lang="en-IN" sz="2000" dirty="0">
                <a:solidFill>
                  <a:schemeClr val="bg1"/>
                </a:solidFill>
              </a:rPr>
              <a:t>(a) public </a:t>
            </a:r>
            <a:r>
              <a:rPr lang="en-IN" sz="2000" dirty="0" err="1">
                <a:solidFill>
                  <a:schemeClr val="bg1"/>
                </a:solidFill>
              </a:rPr>
              <a:t>int</a:t>
            </a:r>
            <a:r>
              <a:rPr lang="en-IN" sz="2000" dirty="0">
                <a:solidFill>
                  <a:schemeClr val="bg1"/>
                </a:solidFill>
              </a:rPr>
              <a:t> step1(</a:t>
            </a:r>
            <a:r>
              <a:rPr lang="en-IN" sz="2000" dirty="0" err="1">
                <a:solidFill>
                  <a:schemeClr val="bg1"/>
                </a:solidFill>
              </a:rPr>
              <a:t>int</a:t>
            </a:r>
            <a:r>
              <a:rPr lang="en-IN" sz="2000" dirty="0">
                <a:solidFill>
                  <a:schemeClr val="bg1"/>
                </a:solidFill>
              </a:rPr>
              <a:t> </a:t>
            </a:r>
            <a:r>
              <a:rPr lang="en-IN" sz="2000" dirty="0" err="1">
                <a:solidFill>
                  <a:schemeClr val="bg1"/>
                </a:solidFill>
              </a:rPr>
              <a:t>i</a:t>
            </a:r>
            <a:r>
              <a:rPr lang="en-IN" sz="2000" dirty="0">
                <a:solidFill>
                  <a:schemeClr val="bg1"/>
                </a:solidFill>
              </a:rPr>
              <a:t>) { return 1; }</a:t>
            </a:r>
          </a:p>
          <a:p>
            <a:pPr>
              <a:lnSpc>
                <a:spcPct val="150000"/>
              </a:lnSpc>
            </a:pPr>
            <a:r>
              <a:rPr lang="en-IN" sz="2000" dirty="0">
                <a:solidFill>
                  <a:schemeClr val="bg1"/>
                </a:solidFill>
              </a:rPr>
              <a:t>(b) public String step2(String str2, String str1) { </a:t>
            </a:r>
            <a:endParaRPr lang="en-IN" sz="2000" dirty="0" smtClean="0">
              <a:solidFill>
                <a:schemeClr val="bg1"/>
              </a:solidFill>
            </a:endParaRPr>
          </a:p>
          <a:p>
            <a:pPr>
              <a:lnSpc>
                <a:spcPct val="150000"/>
              </a:lnSpc>
            </a:pPr>
            <a:r>
              <a:rPr lang="en-IN" sz="2000" dirty="0" smtClean="0">
                <a:solidFill>
                  <a:schemeClr val="bg1"/>
                </a:solidFill>
              </a:rPr>
              <a:t>return </a:t>
            </a:r>
            <a:r>
              <a:rPr lang="en-IN" sz="2000" dirty="0">
                <a:solidFill>
                  <a:schemeClr val="bg1"/>
                </a:solidFill>
              </a:rPr>
              <a:t>str1; }</a:t>
            </a:r>
          </a:p>
          <a:p>
            <a:pPr>
              <a:lnSpc>
                <a:spcPct val="150000"/>
              </a:lnSpc>
            </a:pPr>
            <a:r>
              <a:rPr lang="en-IN" sz="2000" dirty="0">
                <a:solidFill>
                  <a:schemeClr val="bg1"/>
                </a:solidFill>
              </a:rPr>
              <a:t>(c) private void step2() { </a:t>
            </a:r>
            <a:r>
              <a:rPr lang="en-IN" sz="2000" dirty="0" smtClean="0">
                <a:solidFill>
                  <a:schemeClr val="bg1"/>
                </a:solidFill>
              </a:rPr>
              <a:t>}</a:t>
            </a:r>
          </a:p>
          <a:p>
            <a:pPr>
              <a:lnSpc>
                <a:spcPct val="150000"/>
              </a:lnSpc>
            </a:pPr>
            <a:r>
              <a:rPr lang="en-IN" sz="2000" dirty="0">
                <a:solidFill>
                  <a:schemeClr val="bg1"/>
                </a:solidFill>
              </a:rPr>
              <a:t>(d) private static void step2() { }</a:t>
            </a:r>
          </a:p>
          <a:p>
            <a:pPr>
              <a:lnSpc>
                <a:spcPct val="150000"/>
              </a:lnSpc>
            </a:pPr>
            <a:r>
              <a:rPr lang="en-IN" sz="2000" dirty="0">
                <a:solidFill>
                  <a:schemeClr val="bg1"/>
                </a:solidFill>
              </a:rPr>
              <a:t>(e) private static String step2(String </a:t>
            </a:r>
            <a:r>
              <a:rPr lang="en-IN" sz="2000" dirty="0" err="1">
                <a:solidFill>
                  <a:schemeClr val="bg1"/>
                </a:solidFill>
              </a:rPr>
              <a:t>str</a:t>
            </a:r>
            <a:r>
              <a:rPr lang="en-IN" sz="2000" dirty="0">
                <a:solidFill>
                  <a:schemeClr val="bg1"/>
                </a:solidFill>
              </a:rPr>
              <a:t>) { return </a:t>
            </a:r>
            <a:r>
              <a:rPr lang="en-IN" sz="2000" dirty="0" err="1">
                <a:solidFill>
                  <a:schemeClr val="bg1"/>
                </a:solidFill>
              </a:rPr>
              <a:t>str</a:t>
            </a:r>
            <a:r>
              <a:rPr lang="en-IN" sz="2000" dirty="0">
                <a:solidFill>
                  <a:schemeClr val="bg1"/>
                </a:solidFill>
              </a:rPr>
              <a:t>; }</a:t>
            </a:r>
          </a:p>
          <a:p>
            <a:pPr>
              <a:lnSpc>
                <a:spcPct val="150000"/>
              </a:lnSpc>
            </a:pPr>
            <a:r>
              <a:rPr lang="en-IN" sz="2000" dirty="0">
                <a:solidFill>
                  <a:schemeClr val="bg1"/>
                </a:solidFill>
              </a:rPr>
              <a:t>(f) public </a:t>
            </a:r>
            <a:r>
              <a:rPr lang="en-IN" sz="2000" dirty="0" err="1">
                <a:solidFill>
                  <a:schemeClr val="bg1"/>
                </a:solidFill>
              </a:rPr>
              <a:t>MySuperclass</a:t>
            </a:r>
            <a:r>
              <a:rPr lang="en-IN" sz="2000" dirty="0">
                <a:solidFill>
                  <a:schemeClr val="bg1"/>
                </a:solidFill>
              </a:rPr>
              <a:t> </a:t>
            </a:r>
            <a:r>
              <a:rPr lang="en-IN" sz="2000" dirty="0" err="1">
                <a:solidFill>
                  <a:schemeClr val="bg1"/>
                </a:solidFill>
              </a:rPr>
              <a:t>makeIt</a:t>
            </a:r>
            <a:r>
              <a:rPr lang="en-IN" sz="2000" dirty="0">
                <a:solidFill>
                  <a:schemeClr val="bg1"/>
                </a:solidFill>
              </a:rPr>
              <a:t>() { </a:t>
            </a:r>
            <a:endParaRPr lang="en-IN" sz="2000" dirty="0" smtClean="0">
              <a:solidFill>
                <a:schemeClr val="bg1"/>
              </a:solidFill>
            </a:endParaRPr>
          </a:p>
          <a:p>
            <a:pPr>
              <a:lnSpc>
                <a:spcPct val="150000"/>
              </a:lnSpc>
            </a:pPr>
            <a:r>
              <a:rPr lang="en-IN" sz="2000" dirty="0" smtClean="0">
                <a:solidFill>
                  <a:schemeClr val="bg1"/>
                </a:solidFill>
              </a:rPr>
              <a:t>return </a:t>
            </a:r>
            <a:r>
              <a:rPr lang="en-IN" sz="2000" dirty="0">
                <a:solidFill>
                  <a:schemeClr val="bg1"/>
                </a:solidFill>
              </a:rPr>
              <a:t>new </a:t>
            </a:r>
            <a:r>
              <a:rPr lang="en-IN" sz="2000" dirty="0" err="1">
                <a:solidFill>
                  <a:schemeClr val="bg1"/>
                </a:solidFill>
              </a:rPr>
              <a:t>MySuperclass</a:t>
            </a:r>
            <a:r>
              <a:rPr lang="en-IN" sz="2000" dirty="0">
                <a:solidFill>
                  <a:schemeClr val="bg1"/>
                </a:solidFill>
              </a:rPr>
              <a:t>(); }</a:t>
            </a:r>
          </a:p>
          <a:p>
            <a:pPr>
              <a:lnSpc>
                <a:spcPct val="150000"/>
              </a:lnSpc>
            </a:pPr>
            <a:r>
              <a:rPr lang="en-IN" sz="2000" dirty="0">
                <a:solidFill>
                  <a:schemeClr val="bg1"/>
                </a:solidFill>
              </a:rPr>
              <a:t>(g) public </a:t>
            </a:r>
            <a:r>
              <a:rPr lang="en-IN" sz="2000" dirty="0" err="1">
                <a:solidFill>
                  <a:schemeClr val="bg1"/>
                </a:solidFill>
              </a:rPr>
              <a:t>MyClass</a:t>
            </a:r>
            <a:r>
              <a:rPr lang="en-IN" sz="2000" dirty="0">
                <a:solidFill>
                  <a:schemeClr val="bg1"/>
                </a:solidFill>
              </a:rPr>
              <a:t> makeIt2() { return new </a:t>
            </a:r>
            <a:r>
              <a:rPr lang="en-IN" sz="2000" dirty="0" err="1">
                <a:solidFill>
                  <a:schemeClr val="bg1"/>
                </a:solidFill>
              </a:rPr>
              <a:t>MyClass</a:t>
            </a:r>
            <a:r>
              <a:rPr lang="en-IN" sz="2000" dirty="0">
                <a:solidFill>
                  <a:schemeClr val="bg1"/>
                </a:solidFill>
              </a:rPr>
              <a:t>(); }</a:t>
            </a:r>
          </a:p>
        </p:txBody>
      </p:sp>
    </p:spTree>
    <p:extLst>
      <p:ext uri="{BB962C8B-B14F-4D97-AF65-F5344CB8AC3E}">
        <p14:creationId xmlns:p14="http://schemas.microsoft.com/office/powerpoint/2010/main" val="183820239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9832" y="126341"/>
            <a:ext cx="10922759" cy="6924973"/>
          </a:xfrm>
          <a:prstGeom prst="rect">
            <a:avLst/>
          </a:prstGeom>
        </p:spPr>
        <p:txBody>
          <a:bodyPr wrap="square">
            <a:spAutoFit/>
          </a:bodyPr>
          <a:lstStyle/>
          <a:p>
            <a:r>
              <a:rPr lang="en-IN" sz="2400" dirty="0">
                <a:solidFill>
                  <a:schemeClr val="bg1"/>
                </a:solidFill>
              </a:rPr>
              <a:t>Which constructors can be inserted at (1) in </a:t>
            </a:r>
            <a:r>
              <a:rPr lang="en-IN" sz="2400" dirty="0" err="1">
                <a:solidFill>
                  <a:schemeClr val="bg1"/>
                </a:solidFill>
              </a:rPr>
              <a:t>MySub</a:t>
            </a:r>
            <a:r>
              <a:rPr lang="en-IN" sz="2400" dirty="0">
                <a:solidFill>
                  <a:schemeClr val="bg1"/>
                </a:solidFill>
              </a:rPr>
              <a:t> without causing a </a:t>
            </a:r>
            <a:r>
              <a:rPr lang="en-IN" sz="2400" dirty="0" smtClean="0">
                <a:solidFill>
                  <a:schemeClr val="bg1"/>
                </a:solidFill>
              </a:rPr>
              <a:t>compile-time error</a:t>
            </a:r>
            <a:r>
              <a:rPr lang="en-IN" sz="2400" dirty="0">
                <a:solidFill>
                  <a:schemeClr val="bg1"/>
                </a:solidFill>
              </a:rPr>
              <a:t>?</a:t>
            </a:r>
          </a:p>
          <a:p>
            <a:pPr>
              <a:lnSpc>
                <a:spcPct val="150000"/>
              </a:lnSpc>
            </a:pPr>
            <a:r>
              <a:rPr lang="en-IN" sz="2400" dirty="0">
                <a:solidFill>
                  <a:schemeClr val="bg1"/>
                </a:solidFill>
              </a:rPr>
              <a:t>class </a:t>
            </a:r>
            <a:r>
              <a:rPr lang="en-IN" sz="2400" dirty="0" err="1">
                <a:solidFill>
                  <a:schemeClr val="bg1"/>
                </a:solidFill>
              </a:rPr>
              <a:t>MySuper</a:t>
            </a:r>
            <a:r>
              <a:rPr lang="en-IN" sz="2400" dirty="0">
                <a:solidFill>
                  <a:schemeClr val="bg1"/>
                </a:solidFill>
              </a:rPr>
              <a:t> {</a:t>
            </a:r>
          </a:p>
          <a:p>
            <a:pPr lvl="1">
              <a:lnSpc>
                <a:spcPct val="150000"/>
              </a:lnSpc>
            </a:pPr>
            <a:r>
              <a:rPr lang="en-IN" sz="2400" dirty="0" err="1">
                <a:solidFill>
                  <a:schemeClr val="bg1"/>
                </a:solidFill>
              </a:rPr>
              <a:t>int</a:t>
            </a:r>
            <a:r>
              <a:rPr lang="en-IN" sz="2400" dirty="0">
                <a:solidFill>
                  <a:schemeClr val="bg1"/>
                </a:solidFill>
              </a:rPr>
              <a:t> number;</a:t>
            </a:r>
          </a:p>
          <a:p>
            <a:pPr lvl="1">
              <a:lnSpc>
                <a:spcPct val="150000"/>
              </a:lnSpc>
            </a:pPr>
            <a:r>
              <a:rPr lang="en-IN" sz="2400" dirty="0" err="1">
                <a:solidFill>
                  <a:schemeClr val="bg1"/>
                </a:solidFill>
              </a:rPr>
              <a:t>MySuper</a:t>
            </a:r>
            <a:r>
              <a:rPr lang="en-IN" sz="2400" dirty="0">
                <a:solidFill>
                  <a:schemeClr val="bg1"/>
                </a:solidFill>
              </a:rPr>
              <a:t>(</a:t>
            </a:r>
            <a:r>
              <a:rPr lang="en-IN" sz="2400" dirty="0" err="1">
                <a:solidFill>
                  <a:schemeClr val="bg1"/>
                </a:solidFill>
              </a:rPr>
              <a:t>int</a:t>
            </a:r>
            <a:r>
              <a:rPr lang="en-IN" sz="2400" dirty="0">
                <a:solidFill>
                  <a:schemeClr val="bg1"/>
                </a:solidFill>
              </a:rPr>
              <a:t> </a:t>
            </a:r>
            <a:r>
              <a:rPr lang="en-IN" sz="2400" dirty="0" err="1">
                <a:solidFill>
                  <a:schemeClr val="bg1"/>
                </a:solidFill>
              </a:rPr>
              <a:t>i</a:t>
            </a:r>
            <a:r>
              <a:rPr lang="en-IN" sz="2400" dirty="0">
                <a:solidFill>
                  <a:schemeClr val="bg1"/>
                </a:solidFill>
              </a:rPr>
              <a:t>) { number = </a:t>
            </a:r>
            <a:r>
              <a:rPr lang="en-IN" sz="2400" dirty="0" err="1">
                <a:solidFill>
                  <a:schemeClr val="bg1"/>
                </a:solidFill>
              </a:rPr>
              <a:t>i</a:t>
            </a:r>
            <a:r>
              <a:rPr lang="en-IN" sz="2400" dirty="0">
                <a:solidFill>
                  <a:schemeClr val="bg1"/>
                </a:solidFill>
              </a:rPr>
              <a:t>; }</a:t>
            </a:r>
          </a:p>
          <a:p>
            <a:pPr>
              <a:lnSpc>
                <a:spcPct val="150000"/>
              </a:lnSpc>
            </a:pPr>
            <a:r>
              <a:rPr lang="en-IN" sz="2400" dirty="0">
                <a:solidFill>
                  <a:schemeClr val="bg1"/>
                </a:solidFill>
              </a:rPr>
              <a:t>}</a:t>
            </a:r>
          </a:p>
          <a:p>
            <a:pPr>
              <a:lnSpc>
                <a:spcPct val="150000"/>
              </a:lnSpc>
            </a:pPr>
            <a:r>
              <a:rPr lang="en-IN" sz="2400" dirty="0">
                <a:solidFill>
                  <a:schemeClr val="bg1"/>
                </a:solidFill>
              </a:rPr>
              <a:t>class </a:t>
            </a:r>
            <a:r>
              <a:rPr lang="en-IN" sz="2400" dirty="0" err="1">
                <a:solidFill>
                  <a:schemeClr val="bg1"/>
                </a:solidFill>
              </a:rPr>
              <a:t>MySub</a:t>
            </a:r>
            <a:r>
              <a:rPr lang="en-IN" sz="2400" dirty="0">
                <a:solidFill>
                  <a:schemeClr val="bg1"/>
                </a:solidFill>
              </a:rPr>
              <a:t> extends </a:t>
            </a:r>
            <a:r>
              <a:rPr lang="en-IN" sz="2400" dirty="0" err="1">
                <a:solidFill>
                  <a:schemeClr val="bg1"/>
                </a:solidFill>
              </a:rPr>
              <a:t>MySuper</a:t>
            </a:r>
            <a:r>
              <a:rPr lang="en-IN" sz="2400" dirty="0">
                <a:solidFill>
                  <a:schemeClr val="bg1"/>
                </a:solidFill>
              </a:rPr>
              <a:t> {</a:t>
            </a:r>
          </a:p>
          <a:p>
            <a:pPr>
              <a:lnSpc>
                <a:spcPct val="150000"/>
              </a:lnSpc>
            </a:pPr>
            <a:r>
              <a:rPr lang="en-IN" sz="2400" dirty="0" err="1">
                <a:solidFill>
                  <a:schemeClr val="bg1"/>
                </a:solidFill>
              </a:rPr>
              <a:t>int</a:t>
            </a:r>
            <a:r>
              <a:rPr lang="en-IN" sz="2400" dirty="0">
                <a:solidFill>
                  <a:schemeClr val="bg1"/>
                </a:solidFill>
              </a:rPr>
              <a:t> count;</a:t>
            </a:r>
          </a:p>
          <a:p>
            <a:pPr>
              <a:lnSpc>
                <a:spcPct val="150000"/>
              </a:lnSpc>
            </a:pPr>
            <a:r>
              <a:rPr lang="en-IN" sz="2400" dirty="0" err="1">
                <a:solidFill>
                  <a:schemeClr val="bg1"/>
                </a:solidFill>
              </a:rPr>
              <a:t>MySub</a:t>
            </a:r>
            <a:r>
              <a:rPr lang="en-IN" sz="2400" dirty="0">
                <a:solidFill>
                  <a:schemeClr val="bg1"/>
                </a:solidFill>
              </a:rPr>
              <a:t>(</a:t>
            </a:r>
            <a:r>
              <a:rPr lang="en-IN" sz="2400" dirty="0" err="1">
                <a:solidFill>
                  <a:schemeClr val="bg1"/>
                </a:solidFill>
              </a:rPr>
              <a:t>int</a:t>
            </a:r>
            <a:r>
              <a:rPr lang="en-IN" sz="2400" dirty="0">
                <a:solidFill>
                  <a:schemeClr val="bg1"/>
                </a:solidFill>
              </a:rPr>
              <a:t> count, </a:t>
            </a:r>
            <a:r>
              <a:rPr lang="en-IN" sz="2400" dirty="0" err="1">
                <a:solidFill>
                  <a:schemeClr val="bg1"/>
                </a:solidFill>
              </a:rPr>
              <a:t>int</a:t>
            </a:r>
            <a:r>
              <a:rPr lang="en-IN" sz="2400" dirty="0">
                <a:solidFill>
                  <a:schemeClr val="bg1"/>
                </a:solidFill>
              </a:rPr>
              <a:t> </a:t>
            </a:r>
            <a:r>
              <a:rPr lang="en-IN" sz="2400" dirty="0" err="1">
                <a:solidFill>
                  <a:schemeClr val="bg1"/>
                </a:solidFill>
              </a:rPr>
              <a:t>num</a:t>
            </a:r>
            <a:r>
              <a:rPr lang="en-IN" sz="2400" dirty="0">
                <a:solidFill>
                  <a:schemeClr val="bg1"/>
                </a:solidFill>
              </a:rPr>
              <a:t>) {</a:t>
            </a:r>
          </a:p>
          <a:p>
            <a:pPr lvl="1">
              <a:lnSpc>
                <a:spcPct val="150000"/>
              </a:lnSpc>
            </a:pPr>
            <a:r>
              <a:rPr lang="en-IN" sz="2400" dirty="0">
                <a:solidFill>
                  <a:schemeClr val="bg1"/>
                </a:solidFill>
              </a:rPr>
              <a:t>super(</a:t>
            </a:r>
            <a:r>
              <a:rPr lang="en-IN" sz="2400" dirty="0" err="1">
                <a:solidFill>
                  <a:schemeClr val="bg1"/>
                </a:solidFill>
              </a:rPr>
              <a:t>num</a:t>
            </a:r>
            <a:r>
              <a:rPr lang="en-IN" sz="2400" dirty="0">
                <a:solidFill>
                  <a:schemeClr val="bg1"/>
                </a:solidFill>
              </a:rPr>
              <a:t>);</a:t>
            </a:r>
          </a:p>
          <a:p>
            <a:pPr lvl="1">
              <a:lnSpc>
                <a:spcPct val="150000"/>
              </a:lnSpc>
            </a:pPr>
            <a:r>
              <a:rPr lang="en-IN" sz="2400" dirty="0" err="1">
                <a:solidFill>
                  <a:schemeClr val="bg1"/>
                </a:solidFill>
              </a:rPr>
              <a:t>this.count</a:t>
            </a:r>
            <a:r>
              <a:rPr lang="en-IN" sz="2400" dirty="0">
                <a:solidFill>
                  <a:schemeClr val="bg1"/>
                </a:solidFill>
              </a:rPr>
              <a:t> = count;</a:t>
            </a:r>
          </a:p>
          <a:p>
            <a:pPr>
              <a:lnSpc>
                <a:spcPct val="150000"/>
              </a:lnSpc>
            </a:pPr>
            <a:r>
              <a:rPr lang="en-IN" sz="2400" dirty="0">
                <a:solidFill>
                  <a:schemeClr val="bg1"/>
                </a:solidFill>
              </a:rPr>
              <a:t>}</a:t>
            </a:r>
          </a:p>
          <a:p>
            <a:pPr>
              <a:lnSpc>
                <a:spcPct val="150000"/>
              </a:lnSpc>
            </a:pPr>
            <a:r>
              <a:rPr lang="en-IN" sz="2400" dirty="0">
                <a:solidFill>
                  <a:schemeClr val="bg1"/>
                </a:solidFill>
              </a:rPr>
              <a:t>// (1) INSERT CONSTRUCTOR </a:t>
            </a:r>
            <a:r>
              <a:rPr lang="en-IN" sz="2400" dirty="0" smtClean="0">
                <a:solidFill>
                  <a:schemeClr val="bg1"/>
                </a:solidFill>
              </a:rPr>
              <a:t>HERE    }</a:t>
            </a:r>
            <a:endParaRPr lang="en-IN" sz="2400" dirty="0">
              <a:solidFill>
                <a:schemeClr val="bg1"/>
              </a:solidFill>
            </a:endParaRPr>
          </a:p>
        </p:txBody>
      </p:sp>
      <p:sp>
        <p:nvSpPr>
          <p:cNvPr id="5" name="Rectangle 4"/>
          <p:cNvSpPr/>
          <p:nvPr/>
        </p:nvSpPr>
        <p:spPr>
          <a:xfrm>
            <a:off x="5377218" y="1069720"/>
            <a:ext cx="6930029" cy="4467057"/>
          </a:xfrm>
          <a:prstGeom prst="rect">
            <a:avLst/>
          </a:prstGeom>
        </p:spPr>
        <p:txBody>
          <a:bodyPr wrap="square">
            <a:spAutoFit/>
          </a:bodyPr>
          <a:lstStyle/>
          <a:p>
            <a:pPr>
              <a:lnSpc>
                <a:spcPct val="150000"/>
              </a:lnSpc>
            </a:pPr>
            <a:r>
              <a:rPr lang="en-IN" sz="2400" dirty="0">
                <a:solidFill>
                  <a:schemeClr val="bg1"/>
                </a:solidFill>
              </a:rPr>
              <a:t>Select the one correct answer.</a:t>
            </a:r>
          </a:p>
          <a:p>
            <a:pPr>
              <a:lnSpc>
                <a:spcPct val="150000"/>
              </a:lnSpc>
            </a:pPr>
            <a:r>
              <a:rPr lang="en-IN" sz="2400" dirty="0">
                <a:solidFill>
                  <a:schemeClr val="bg1"/>
                </a:solidFill>
              </a:rPr>
              <a:t>(a) </a:t>
            </a:r>
            <a:r>
              <a:rPr lang="en-IN" sz="2400" dirty="0" err="1">
                <a:solidFill>
                  <a:schemeClr val="bg1"/>
                </a:solidFill>
              </a:rPr>
              <a:t>MySub</a:t>
            </a:r>
            <a:r>
              <a:rPr lang="en-IN" sz="2400" dirty="0">
                <a:solidFill>
                  <a:schemeClr val="bg1"/>
                </a:solidFill>
              </a:rPr>
              <a:t>() {}</a:t>
            </a:r>
          </a:p>
          <a:p>
            <a:pPr>
              <a:lnSpc>
                <a:spcPct val="150000"/>
              </a:lnSpc>
            </a:pPr>
            <a:r>
              <a:rPr lang="en-IN" sz="2400" dirty="0">
                <a:solidFill>
                  <a:schemeClr val="bg1"/>
                </a:solidFill>
              </a:rPr>
              <a:t>(b) </a:t>
            </a:r>
            <a:r>
              <a:rPr lang="en-IN" sz="2400" dirty="0" err="1">
                <a:solidFill>
                  <a:schemeClr val="bg1"/>
                </a:solidFill>
              </a:rPr>
              <a:t>MySub</a:t>
            </a:r>
            <a:r>
              <a:rPr lang="en-IN" sz="2400" dirty="0">
                <a:solidFill>
                  <a:schemeClr val="bg1"/>
                </a:solidFill>
              </a:rPr>
              <a:t>(</a:t>
            </a:r>
            <a:r>
              <a:rPr lang="en-IN" sz="2400" dirty="0" err="1">
                <a:solidFill>
                  <a:schemeClr val="bg1"/>
                </a:solidFill>
              </a:rPr>
              <a:t>int</a:t>
            </a:r>
            <a:r>
              <a:rPr lang="en-IN" sz="2400" dirty="0">
                <a:solidFill>
                  <a:schemeClr val="bg1"/>
                </a:solidFill>
              </a:rPr>
              <a:t> count) { </a:t>
            </a:r>
            <a:r>
              <a:rPr lang="en-IN" sz="2400" dirty="0" err="1">
                <a:solidFill>
                  <a:schemeClr val="bg1"/>
                </a:solidFill>
              </a:rPr>
              <a:t>this.count</a:t>
            </a:r>
            <a:r>
              <a:rPr lang="en-IN" sz="2400" dirty="0">
                <a:solidFill>
                  <a:schemeClr val="bg1"/>
                </a:solidFill>
              </a:rPr>
              <a:t> = count; }</a:t>
            </a:r>
          </a:p>
          <a:p>
            <a:pPr>
              <a:lnSpc>
                <a:spcPct val="150000"/>
              </a:lnSpc>
            </a:pPr>
            <a:r>
              <a:rPr lang="en-IN" sz="2400" dirty="0">
                <a:solidFill>
                  <a:schemeClr val="bg1"/>
                </a:solidFill>
              </a:rPr>
              <a:t>(c) </a:t>
            </a:r>
            <a:r>
              <a:rPr lang="en-IN" sz="2400" dirty="0" err="1">
                <a:solidFill>
                  <a:schemeClr val="bg1"/>
                </a:solidFill>
              </a:rPr>
              <a:t>MySub</a:t>
            </a:r>
            <a:r>
              <a:rPr lang="en-IN" sz="2400" dirty="0">
                <a:solidFill>
                  <a:schemeClr val="bg1"/>
                </a:solidFill>
              </a:rPr>
              <a:t>(</a:t>
            </a:r>
            <a:r>
              <a:rPr lang="en-IN" sz="2400" dirty="0" err="1">
                <a:solidFill>
                  <a:schemeClr val="bg1"/>
                </a:solidFill>
              </a:rPr>
              <a:t>int</a:t>
            </a:r>
            <a:r>
              <a:rPr lang="en-IN" sz="2400" dirty="0">
                <a:solidFill>
                  <a:schemeClr val="bg1"/>
                </a:solidFill>
              </a:rPr>
              <a:t> count) { super(); </a:t>
            </a:r>
            <a:r>
              <a:rPr lang="en-IN" sz="2400" dirty="0" err="1">
                <a:solidFill>
                  <a:schemeClr val="bg1"/>
                </a:solidFill>
              </a:rPr>
              <a:t>this.count</a:t>
            </a:r>
            <a:r>
              <a:rPr lang="en-IN" sz="2400" dirty="0">
                <a:solidFill>
                  <a:schemeClr val="bg1"/>
                </a:solidFill>
              </a:rPr>
              <a:t> = count; }</a:t>
            </a:r>
          </a:p>
          <a:p>
            <a:pPr>
              <a:lnSpc>
                <a:spcPct val="150000"/>
              </a:lnSpc>
            </a:pPr>
            <a:r>
              <a:rPr lang="en-IN" sz="2400" dirty="0">
                <a:solidFill>
                  <a:schemeClr val="bg1"/>
                </a:solidFill>
              </a:rPr>
              <a:t>(d) </a:t>
            </a:r>
            <a:r>
              <a:rPr lang="en-IN" sz="2400" dirty="0" err="1">
                <a:solidFill>
                  <a:schemeClr val="bg1"/>
                </a:solidFill>
              </a:rPr>
              <a:t>MySub</a:t>
            </a:r>
            <a:r>
              <a:rPr lang="en-IN" sz="2400" dirty="0">
                <a:solidFill>
                  <a:schemeClr val="bg1"/>
                </a:solidFill>
              </a:rPr>
              <a:t>(</a:t>
            </a:r>
            <a:r>
              <a:rPr lang="en-IN" sz="2400" dirty="0" err="1">
                <a:solidFill>
                  <a:schemeClr val="bg1"/>
                </a:solidFill>
              </a:rPr>
              <a:t>int</a:t>
            </a:r>
            <a:r>
              <a:rPr lang="en-IN" sz="2400" dirty="0">
                <a:solidFill>
                  <a:schemeClr val="bg1"/>
                </a:solidFill>
              </a:rPr>
              <a:t> count) { </a:t>
            </a:r>
            <a:r>
              <a:rPr lang="en-IN" sz="2400" dirty="0" err="1">
                <a:solidFill>
                  <a:schemeClr val="bg1"/>
                </a:solidFill>
              </a:rPr>
              <a:t>this.count</a:t>
            </a:r>
            <a:r>
              <a:rPr lang="en-IN" sz="2400" dirty="0">
                <a:solidFill>
                  <a:schemeClr val="bg1"/>
                </a:solidFill>
              </a:rPr>
              <a:t> = count; super(count); }</a:t>
            </a:r>
          </a:p>
          <a:p>
            <a:pPr>
              <a:lnSpc>
                <a:spcPct val="150000"/>
              </a:lnSpc>
            </a:pPr>
            <a:r>
              <a:rPr lang="en-IN" sz="2400" dirty="0">
                <a:solidFill>
                  <a:schemeClr val="bg1"/>
                </a:solidFill>
              </a:rPr>
              <a:t>(e) </a:t>
            </a:r>
            <a:r>
              <a:rPr lang="en-IN" sz="2400" dirty="0" err="1">
                <a:solidFill>
                  <a:schemeClr val="bg1"/>
                </a:solidFill>
              </a:rPr>
              <a:t>MySub</a:t>
            </a:r>
            <a:r>
              <a:rPr lang="en-IN" sz="2400" dirty="0">
                <a:solidFill>
                  <a:schemeClr val="bg1"/>
                </a:solidFill>
              </a:rPr>
              <a:t>(</a:t>
            </a:r>
            <a:r>
              <a:rPr lang="en-IN" sz="2400" dirty="0" err="1">
                <a:solidFill>
                  <a:schemeClr val="bg1"/>
                </a:solidFill>
              </a:rPr>
              <a:t>int</a:t>
            </a:r>
            <a:r>
              <a:rPr lang="en-IN" sz="2400" dirty="0">
                <a:solidFill>
                  <a:schemeClr val="bg1"/>
                </a:solidFill>
              </a:rPr>
              <a:t> count) { this(count, count); }</a:t>
            </a:r>
          </a:p>
          <a:p>
            <a:pPr>
              <a:lnSpc>
                <a:spcPct val="150000"/>
              </a:lnSpc>
            </a:pPr>
            <a:r>
              <a:rPr lang="en-IN" sz="2400" dirty="0">
                <a:solidFill>
                  <a:schemeClr val="bg1"/>
                </a:solidFill>
              </a:rPr>
              <a:t>(f) </a:t>
            </a:r>
            <a:r>
              <a:rPr lang="en-IN" sz="2400" dirty="0" err="1">
                <a:solidFill>
                  <a:schemeClr val="bg1"/>
                </a:solidFill>
              </a:rPr>
              <a:t>MySub</a:t>
            </a:r>
            <a:r>
              <a:rPr lang="en-IN" sz="2400" dirty="0">
                <a:solidFill>
                  <a:schemeClr val="bg1"/>
                </a:solidFill>
              </a:rPr>
              <a:t>(</a:t>
            </a:r>
            <a:r>
              <a:rPr lang="en-IN" sz="2400" dirty="0" err="1">
                <a:solidFill>
                  <a:schemeClr val="bg1"/>
                </a:solidFill>
              </a:rPr>
              <a:t>int</a:t>
            </a:r>
            <a:r>
              <a:rPr lang="en-IN" sz="2400" dirty="0">
                <a:solidFill>
                  <a:schemeClr val="bg1"/>
                </a:solidFill>
              </a:rPr>
              <a:t> count) { super(count); this(count, 0); }</a:t>
            </a:r>
          </a:p>
        </p:txBody>
      </p:sp>
    </p:spTree>
    <p:extLst>
      <p:ext uri="{BB962C8B-B14F-4D97-AF65-F5344CB8AC3E}">
        <p14:creationId xmlns:p14="http://schemas.microsoft.com/office/powerpoint/2010/main" val="289621305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2828" y="12843"/>
            <a:ext cx="11805313" cy="6683048"/>
          </a:xfrm>
          <a:prstGeom prst="rect">
            <a:avLst/>
          </a:prstGeom>
        </p:spPr>
        <p:txBody>
          <a:bodyPr wrap="square">
            <a:spAutoFit/>
          </a:bodyPr>
          <a:lstStyle/>
          <a:p>
            <a:pPr algn="just">
              <a:lnSpc>
                <a:spcPct val="150000"/>
              </a:lnSpc>
            </a:pPr>
            <a:r>
              <a:rPr lang="en-IN" sz="2400" dirty="0">
                <a:solidFill>
                  <a:schemeClr val="bg1"/>
                </a:solidFill>
              </a:rPr>
              <a:t>Which statement is true?</a:t>
            </a:r>
          </a:p>
          <a:p>
            <a:pPr algn="just">
              <a:lnSpc>
                <a:spcPct val="150000"/>
              </a:lnSpc>
            </a:pPr>
            <a:r>
              <a:rPr lang="en-IN" sz="2400" dirty="0">
                <a:solidFill>
                  <a:schemeClr val="bg1"/>
                </a:solidFill>
              </a:rPr>
              <a:t>Select the one correct answer.</a:t>
            </a:r>
          </a:p>
          <a:p>
            <a:pPr algn="just">
              <a:lnSpc>
                <a:spcPct val="150000"/>
              </a:lnSpc>
            </a:pPr>
            <a:r>
              <a:rPr lang="en-IN" sz="2400" b="1" dirty="0">
                <a:solidFill>
                  <a:srgbClr val="FFC000"/>
                </a:solidFill>
              </a:rPr>
              <a:t>(a)</a:t>
            </a:r>
            <a:r>
              <a:rPr lang="en-IN" sz="2400" dirty="0">
                <a:solidFill>
                  <a:schemeClr val="bg1"/>
                </a:solidFill>
              </a:rPr>
              <a:t> A super() or this() call must always be provided explicitly as the first </a:t>
            </a:r>
            <a:r>
              <a:rPr lang="en-IN" sz="2400" dirty="0" smtClean="0">
                <a:solidFill>
                  <a:schemeClr val="bg1"/>
                </a:solidFill>
              </a:rPr>
              <a:t>statement in </a:t>
            </a:r>
            <a:r>
              <a:rPr lang="en-IN" sz="2400" dirty="0">
                <a:solidFill>
                  <a:schemeClr val="bg1"/>
                </a:solidFill>
              </a:rPr>
              <a:t>the body of a constructor.</a:t>
            </a:r>
          </a:p>
          <a:p>
            <a:pPr algn="just">
              <a:lnSpc>
                <a:spcPct val="150000"/>
              </a:lnSpc>
            </a:pPr>
            <a:r>
              <a:rPr lang="en-IN" sz="2400" b="1" dirty="0">
                <a:solidFill>
                  <a:srgbClr val="FFC000"/>
                </a:solidFill>
              </a:rPr>
              <a:t>(b)</a:t>
            </a:r>
            <a:r>
              <a:rPr lang="en-IN" sz="2400" dirty="0">
                <a:solidFill>
                  <a:schemeClr val="bg1"/>
                </a:solidFill>
              </a:rPr>
              <a:t> If both a subclass and its superclass do not have any declared </a:t>
            </a:r>
            <a:r>
              <a:rPr lang="en-IN" sz="2400" dirty="0" smtClean="0">
                <a:solidFill>
                  <a:schemeClr val="bg1"/>
                </a:solidFill>
              </a:rPr>
              <a:t>constructors, the </a:t>
            </a:r>
            <a:r>
              <a:rPr lang="en-IN" sz="2400" dirty="0">
                <a:solidFill>
                  <a:schemeClr val="bg1"/>
                </a:solidFill>
              </a:rPr>
              <a:t>implicit default constructor of the subclass will call super() when run.</a:t>
            </a:r>
          </a:p>
          <a:p>
            <a:pPr algn="just">
              <a:lnSpc>
                <a:spcPct val="150000"/>
              </a:lnSpc>
            </a:pPr>
            <a:r>
              <a:rPr lang="en-IN" sz="2400" b="1" dirty="0">
                <a:solidFill>
                  <a:srgbClr val="FFC000"/>
                </a:solidFill>
              </a:rPr>
              <a:t>(c)</a:t>
            </a:r>
            <a:r>
              <a:rPr lang="en-IN" sz="2400" dirty="0">
                <a:solidFill>
                  <a:schemeClr val="bg1"/>
                </a:solidFill>
              </a:rPr>
              <a:t> If neither super() nor this() is declared as the first statement in the body of </a:t>
            </a:r>
            <a:r>
              <a:rPr lang="en-IN" sz="2400" dirty="0" smtClean="0">
                <a:solidFill>
                  <a:schemeClr val="bg1"/>
                </a:solidFill>
              </a:rPr>
              <a:t>a constructor</a:t>
            </a:r>
            <a:r>
              <a:rPr lang="en-IN" sz="2400" dirty="0">
                <a:solidFill>
                  <a:schemeClr val="bg1"/>
                </a:solidFill>
              </a:rPr>
              <a:t>, this() will implicitly be inserted as the first statement</a:t>
            </a:r>
            <a:r>
              <a:rPr lang="en-IN" sz="2400" dirty="0" smtClean="0">
                <a:solidFill>
                  <a:schemeClr val="bg1"/>
                </a:solidFill>
              </a:rPr>
              <a:t>.</a:t>
            </a:r>
          </a:p>
          <a:p>
            <a:pPr algn="just">
              <a:lnSpc>
                <a:spcPct val="150000"/>
              </a:lnSpc>
            </a:pPr>
            <a:r>
              <a:rPr lang="en-IN" sz="2400" b="1" dirty="0">
                <a:solidFill>
                  <a:srgbClr val="FFC000"/>
                </a:solidFill>
              </a:rPr>
              <a:t>(d)</a:t>
            </a:r>
            <a:r>
              <a:rPr lang="en-IN" sz="2400" dirty="0">
                <a:solidFill>
                  <a:schemeClr val="bg1"/>
                </a:solidFill>
              </a:rPr>
              <a:t> If super() is the first statement in the body of a constructor, this() can </a:t>
            </a:r>
            <a:r>
              <a:rPr lang="en-IN" sz="2400" dirty="0" smtClean="0">
                <a:solidFill>
                  <a:schemeClr val="bg1"/>
                </a:solidFill>
              </a:rPr>
              <a:t>be declared </a:t>
            </a:r>
            <a:r>
              <a:rPr lang="en-IN" sz="2400" dirty="0">
                <a:solidFill>
                  <a:schemeClr val="bg1"/>
                </a:solidFill>
              </a:rPr>
              <a:t>as the second statement.</a:t>
            </a:r>
          </a:p>
          <a:p>
            <a:pPr algn="just">
              <a:lnSpc>
                <a:spcPct val="150000"/>
              </a:lnSpc>
            </a:pPr>
            <a:r>
              <a:rPr lang="en-IN" sz="2400" b="1" dirty="0">
                <a:solidFill>
                  <a:srgbClr val="FFC000"/>
                </a:solidFill>
              </a:rPr>
              <a:t>(e)</a:t>
            </a:r>
            <a:r>
              <a:rPr lang="en-IN" sz="2400" dirty="0">
                <a:solidFill>
                  <a:schemeClr val="bg1"/>
                </a:solidFill>
              </a:rPr>
              <a:t> Calling super() as the first statement in the body of a constructor of a </a:t>
            </a:r>
            <a:r>
              <a:rPr lang="en-IN" sz="2400" dirty="0" smtClean="0">
                <a:solidFill>
                  <a:schemeClr val="bg1"/>
                </a:solidFill>
              </a:rPr>
              <a:t>subclass will </a:t>
            </a:r>
            <a:r>
              <a:rPr lang="en-IN" sz="2400" dirty="0">
                <a:solidFill>
                  <a:schemeClr val="bg1"/>
                </a:solidFill>
              </a:rPr>
              <a:t>always work, since all </a:t>
            </a:r>
            <a:r>
              <a:rPr lang="en-IN" sz="2400" dirty="0" err="1">
                <a:solidFill>
                  <a:schemeClr val="bg1"/>
                </a:solidFill>
              </a:rPr>
              <a:t>superclasses</a:t>
            </a:r>
            <a:r>
              <a:rPr lang="en-IN" sz="2400" dirty="0">
                <a:solidFill>
                  <a:schemeClr val="bg1"/>
                </a:solidFill>
              </a:rPr>
              <a:t> have a default constructor.</a:t>
            </a:r>
          </a:p>
        </p:txBody>
      </p:sp>
    </p:spTree>
    <p:extLst>
      <p:ext uri="{BB962C8B-B14F-4D97-AF65-F5344CB8AC3E}">
        <p14:creationId xmlns:p14="http://schemas.microsoft.com/office/powerpoint/2010/main" val="155617392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91069" y="-22534"/>
            <a:ext cx="11655188" cy="6555641"/>
          </a:xfrm>
          <a:prstGeom prst="rect">
            <a:avLst/>
          </a:prstGeom>
        </p:spPr>
        <p:txBody>
          <a:bodyPr wrap="square">
            <a:spAutoFit/>
          </a:bodyPr>
          <a:lstStyle/>
          <a:p>
            <a:pPr algn="just">
              <a:lnSpc>
                <a:spcPct val="150000"/>
              </a:lnSpc>
            </a:pPr>
            <a:r>
              <a:rPr lang="en-IN" sz="2800" dirty="0">
                <a:solidFill>
                  <a:schemeClr val="bg1"/>
                </a:solidFill>
              </a:rPr>
              <a:t>(The Person, Student, Employee, Faculty, and Staff classes) </a:t>
            </a:r>
            <a:endParaRPr lang="en-IN" sz="2800" dirty="0" smtClean="0">
              <a:solidFill>
                <a:schemeClr val="bg1"/>
              </a:solidFill>
            </a:endParaRPr>
          </a:p>
          <a:p>
            <a:pPr marL="457200" indent="-457200" algn="just">
              <a:lnSpc>
                <a:spcPct val="150000"/>
              </a:lnSpc>
              <a:buFont typeface="Arial" panose="020B0604020202020204" pitchFamily="34" charset="0"/>
              <a:buChar char="•"/>
            </a:pPr>
            <a:r>
              <a:rPr lang="en-IN" sz="2800" dirty="0" smtClean="0">
                <a:solidFill>
                  <a:schemeClr val="bg1"/>
                </a:solidFill>
              </a:rPr>
              <a:t>Design a class </a:t>
            </a:r>
            <a:r>
              <a:rPr lang="en-IN" sz="2800" dirty="0">
                <a:solidFill>
                  <a:schemeClr val="bg1"/>
                </a:solidFill>
              </a:rPr>
              <a:t>named Person and its two subclasses named Student and </a:t>
            </a:r>
            <a:r>
              <a:rPr lang="en-IN" sz="2800" dirty="0" smtClean="0">
                <a:solidFill>
                  <a:schemeClr val="bg1"/>
                </a:solidFill>
              </a:rPr>
              <a:t>Employee. Make </a:t>
            </a:r>
            <a:r>
              <a:rPr lang="en-IN" sz="2800" dirty="0">
                <a:solidFill>
                  <a:schemeClr val="bg1"/>
                </a:solidFill>
              </a:rPr>
              <a:t>Faculty and Staff subclasses of Employee</a:t>
            </a:r>
            <a:r>
              <a:rPr lang="en-IN" sz="2800" dirty="0" smtClean="0">
                <a:solidFill>
                  <a:schemeClr val="bg1"/>
                </a:solidFill>
              </a:rPr>
              <a:t>.</a:t>
            </a:r>
          </a:p>
          <a:p>
            <a:pPr marL="457200" indent="-457200" algn="just">
              <a:lnSpc>
                <a:spcPct val="150000"/>
              </a:lnSpc>
              <a:buFont typeface="Arial" panose="020B0604020202020204" pitchFamily="34" charset="0"/>
              <a:buChar char="•"/>
            </a:pPr>
            <a:r>
              <a:rPr lang="en-IN" sz="2800" dirty="0" smtClean="0">
                <a:solidFill>
                  <a:schemeClr val="bg1"/>
                </a:solidFill>
              </a:rPr>
              <a:t>A </a:t>
            </a:r>
            <a:r>
              <a:rPr lang="en-IN" sz="2800" dirty="0">
                <a:solidFill>
                  <a:schemeClr val="bg1"/>
                </a:solidFill>
              </a:rPr>
              <a:t>person has a </a:t>
            </a:r>
            <a:r>
              <a:rPr lang="en-IN" sz="2800" dirty="0" smtClean="0">
                <a:solidFill>
                  <a:schemeClr val="bg1"/>
                </a:solidFill>
              </a:rPr>
              <a:t>name, address</a:t>
            </a:r>
            <a:r>
              <a:rPr lang="en-IN" sz="2800" dirty="0">
                <a:solidFill>
                  <a:schemeClr val="bg1"/>
                </a:solidFill>
              </a:rPr>
              <a:t>, phone number, and email address. </a:t>
            </a:r>
            <a:endParaRPr lang="en-IN" sz="2800" dirty="0" smtClean="0">
              <a:solidFill>
                <a:schemeClr val="bg1"/>
              </a:solidFill>
            </a:endParaRPr>
          </a:p>
          <a:p>
            <a:pPr marL="457200" indent="-457200" algn="just">
              <a:lnSpc>
                <a:spcPct val="150000"/>
              </a:lnSpc>
              <a:buFont typeface="Arial" panose="020B0604020202020204" pitchFamily="34" charset="0"/>
              <a:buChar char="•"/>
            </a:pPr>
            <a:r>
              <a:rPr lang="en-IN" sz="2800" dirty="0" smtClean="0">
                <a:solidFill>
                  <a:schemeClr val="bg1"/>
                </a:solidFill>
              </a:rPr>
              <a:t>A </a:t>
            </a:r>
            <a:r>
              <a:rPr lang="en-IN" sz="2800" dirty="0">
                <a:solidFill>
                  <a:schemeClr val="bg1"/>
                </a:solidFill>
              </a:rPr>
              <a:t>student has a class status (</a:t>
            </a:r>
            <a:r>
              <a:rPr lang="en-IN" sz="2800" dirty="0" smtClean="0">
                <a:solidFill>
                  <a:schemeClr val="bg1"/>
                </a:solidFill>
              </a:rPr>
              <a:t>freshman, junior</a:t>
            </a:r>
            <a:r>
              <a:rPr lang="en-IN" sz="2800" dirty="0">
                <a:solidFill>
                  <a:schemeClr val="bg1"/>
                </a:solidFill>
              </a:rPr>
              <a:t>, or senior). Define the status as a constant. </a:t>
            </a:r>
            <a:endParaRPr lang="en-IN" sz="2800" dirty="0" smtClean="0">
              <a:solidFill>
                <a:schemeClr val="bg1"/>
              </a:solidFill>
            </a:endParaRPr>
          </a:p>
          <a:p>
            <a:pPr marL="457200" indent="-457200" algn="just">
              <a:lnSpc>
                <a:spcPct val="150000"/>
              </a:lnSpc>
              <a:buFont typeface="Arial" panose="020B0604020202020204" pitchFamily="34" charset="0"/>
              <a:buChar char="•"/>
            </a:pPr>
            <a:r>
              <a:rPr lang="en-IN" sz="2800" dirty="0" smtClean="0">
                <a:solidFill>
                  <a:schemeClr val="bg1"/>
                </a:solidFill>
              </a:rPr>
              <a:t>An </a:t>
            </a:r>
            <a:r>
              <a:rPr lang="en-IN" sz="2800" dirty="0">
                <a:solidFill>
                  <a:schemeClr val="bg1"/>
                </a:solidFill>
              </a:rPr>
              <a:t>employee </a:t>
            </a:r>
            <a:r>
              <a:rPr lang="en-IN" sz="2800" dirty="0" smtClean="0">
                <a:solidFill>
                  <a:schemeClr val="bg1"/>
                </a:solidFill>
              </a:rPr>
              <a:t>has an </a:t>
            </a:r>
            <a:r>
              <a:rPr lang="en-IN" sz="2800" dirty="0">
                <a:solidFill>
                  <a:schemeClr val="bg1"/>
                </a:solidFill>
              </a:rPr>
              <a:t>office, salary, and date hired. </a:t>
            </a:r>
            <a:endParaRPr lang="en-IN" sz="2800" dirty="0" smtClean="0">
              <a:solidFill>
                <a:schemeClr val="bg1"/>
              </a:solidFill>
            </a:endParaRPr>
          </a:p>
          <a:p>
            <a:pPr marL="457200" indent="-457200" algn="just">
              <a:lnSpc>
                <a:spcPct val="150000"/>
              </a:lnSpc>
              <a:buFont typeface="Arial" panose="020B0604020202020204" pitchFamily="34" charset="0"/>
              <a:buChar char="•"/>
            </a:pPr>
            <a:r>
              <a:rPr lang="en-IN" sz="2800" dirty="0" smtClean="0">
                <a:solidFill>
                  <a:schemeClr val="bg1"/>
                </a:solidFill>
              </a:rPr>
              <a:t>A </a:t>
            </a:r>
            <a:r>
              <a:rPr lang="en-IN" sz="2800" dirty="0">
                <a:solidFill>
                  <a:schemeClr val="bg1"/>
                </a:solidFill>
              </a:rPr>
              <a:t>faculty member has </a:t>
            </a:r>
            <a:r>
              <a:rPr lang="en-IN" sz="2800" dirty="0" smtClean="0">
                <a:solidFill>
                  <a:schemeClr val="bg1"/>
                </a:solidFill>
              </a:rPr>
              <a:t>office hours </a:t>
            </a:r>
            <a:r>
              <a:rPr lang="en-IN" sz="2800" dirty="0">
                <a:solidFill>
                  <a:schemeClr val="bg1"/>
                </a:solidFill>
              </a:rPr>
              <a:t>and a rank. A staff member has a title. Override the </a:t>
            </a:r>
            <a:r>
              <a:rPr lang="en-IN" sz="2800" b="1" dirty="0" err="1">
                <a:solidFill>
                  <a:srgbClr val="FFC000"/>
                </a:solidFill>
              </a:rPr>
              <a:t>toString</a:t>
            </a:r>
            <a:r>
              <a:rPr lang="en-IN" sz="2800" dirty="0">
                <a:solidFill>
                  <a:schemeClr val="bg1"/>
                </a:solidFill>
              </a:rPr>
              <a:t> method </a:t>
            </a:r>
            <a:r>
              <a:rPr lang="en-IN" sz="2800" dirty="0" smtClean="0">
                <a:solidFill>
                  <a:schemeClr val="bg1"/>
                </a:solidFill>
              </a:rPr>
              <a:t>in each </a:t>
            </a:r>
            <a:r>
              <a:rPr lang="en-IN" sz="2800" dirty="0">
                <a:solidFill>
                  <a:schemeClr val="bg1"/>
                </a:solidFill>
              </a:rPr>
              <a:t>class to display the class name and the person’s name.</a:t>
            </a:r>
          </a:p>
        </p:txBody>
      </p:sp>
    </p:spTree>
    <p:extLst>
      <p:ext uri="{BB962C8B-B14F-4D97-AF65-F5344CB8AC3E}">
        <p14:creationId xmlns:p14="http://schemas.microsoft.com/office/powerpoint/2010/main" val="34728083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2828" y="12843"/>
            <a:ext cx="11805313" cy="2862322"/>
          </a:xfrm>
          <a:prstGeom prst="rect">
            <a:avLst/>
          </a:prstGeom>
        </p:spPr>
        <p:txBody>
          <a:bodyPr wrap="square">
            <a:spAutoFit/>
          </a:bodyPr>
          <a:lstStyle/>
          <a:p>
            <a:pPr algn="just">
              <a:lnSpc>
                <a:spcPct val="150000"/>
              </a:lnSpc>
            </a:pPr>
            <a:r>
              <a:rPr lang="en-IN" sz="2400" dirty="0" smtClean="0">
                <a:solidFill>
                  <a:schemeClr val="bg1"/>
                </a:solidFill>
              </a:rPr>
              <a:t>Consider an example of declaring the examination result. Design three classes: Student, Exam, and Result. The Student class has data members such as those representing </a:t>
            </a:r>
            <a:r>
              <a:rPr lang="en-IN" sz="2400" dirty="0" err="1" smtClean="0">
                <a:solidFill>
                  <a:schemeClr val="bg1"/>
                </a:solidFill>
              </a:rPr>
              <a:t>rollNumber</a:t>
            </a:r>
            <a:r>
              <a:rPr lang="en-IN" sz="2400" dirty="0" smtClean="0">
                <a:solidFill>
                  <a:schemeClr val="bg1"/>
                </a:solidFill>
              </a:rPr>
              <a:t>, Name, etc. Create the class Exam by inheriting Student class. The Exam class adds fields representing the marks scored in six subjects. Derive Result from the Exam class, and it has its own fields such as </a:t>
            </a:r>
            <a:r>
              <a:rPr lang="en-IN" sz="2400" dirty="0" err="1" smtClean="0">
                <a:solidFill>
                  <a:schemeClr val="bg1"/>
                </a:solidFill>
              </a:rPr>
              <a:t>total_marks</a:t>
            </a:r>
            <a:r>
              <a:rPr lang="en-IN" sz="2400" dirty="0" smtClean="0">
                <a:solidFill>
                  <a:schemeClr val="bg1"/>
                </a:solidFill>
              </a:rPr>
              <a:t>. Write an interactive program to model this relationship.</a:t>
            </a:r>
            <a:endParaRPr lang="en-IN" sz="2400" dirty="0">
              <a:solidFill>
                <a:schemeClr val="bg1"/>
              </a:solidFill>
            </a:endParaRPr>
          </a:p>
        </p:txBody>
      </p:sp>
    </p:spTree>
    <p:extLst>
      <p:ext uri="{BB962C8B-B14F-4D97-AF65-F5344CB8AC3E}">
        <p14:creationId xmlns:p14="http://schemas.microsoft.com/office/powerpoint/2010/main" val="393416772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947</TotalTime>
  <Words>2647</Words>
  <Application>Microsoft Office PowerPoint</Application>
  <PresentationFormat>Widescreen</PresentationFormat>
  <Paragraphs>348</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SimSun</vt:lpstr>
      <vt:lpstr>Arial</vt:lpstr>
      <vt:lpstr>Calibri</vt:lpstr>
      <vt:lpstr>Calibri Light</vt:lpstr>
      <vt:lpstr>CourierStd</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Mrugendra</dc:creator>
  <cp:lastModifiedBy>Mrugendra</cp:lastModifiedBy>
  <cp:revision>112</cp:revision>
  <dcterms:created xsi:type="dcterms:W3CDTF">2017-07-29T08:12:59Z</dcterms:created>
  <dcterms:modified xsi:type="dcterms:W3CDTF">2025-07-22T10:45:33Z</dcterms:modified>
</cp:coreProperties>
</file>