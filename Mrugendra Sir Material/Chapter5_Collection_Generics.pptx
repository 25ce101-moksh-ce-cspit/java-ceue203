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58" r:id="rId3"/>
    <p:sldId id="308" r:id="rId4"/>
    <p:sldId id="277" r:id="rId5"/>
    <p:sldId id="367" r:id="rId6"/>
    <p:sldId id="368" r:id="rId7"/>
    <p:sldId id="276" r:id="rId8"/>
    <p:sldId id="297"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31" r:id="rId28"/>
    <p:sldId id="327" r:id="rId29"/>
    <p:sldId id="328" r:id="rId30"/>
    <p:sldId id="330" r:id="rId31"/>
    <p:sldId id="329" r:id="rId32"/>
    <p:sldId id="332" r:id="rId33"/>
    <p:sldId id="333" r:id="rId34"/>
    <p:sldId id="334" r:id="rId35"/>
    <p:sldId id="335" r:id="rId36"/>
    <p:sldId id="336" r:id="rId37"/>
    <p:sldId id="337" r:id="rId38"/>
    <p:sldId id="339" r:id="rId39"/>
    <p:sldId id="338" r:id="rId40"/>
    <p:sldId id="346" r:id="rId41"/>
    <p:sldId id="340" r:id="rId42"/>
    <p:sldId id="344" r:id="rId43"/>
    <p:sldId id="343" r:id="rId44"/>
    <p:sldId id="341" r:id="rId45"/>
    <p:sldId id="342" r:id="rId46"/>
    <p:sldId id="345" r:id="rId47"/>
    <p:sldId id="347" r:id="rId48"/>
    <p:sldId id="348" r:id="rId49"/>
    <p:sldId id="349" r:id="rId50"/>
    <p:sldId id="350" r:id="rId51"/>
    <p:sldId id="351" r:id="rId52"/>
    <p:sldId id="352" r:id="rId53"/>
    <p:sldId id="354" r:id="rId54"/>
    <p:sldId id="353" r:id="rId55"/>
    <p:sldId id="355" r:id="rId56"/>
    <p:sldId id="356" r:id="rId57"/>
    <p:sldId id="357" r:id="rId58"/>
    <p:sldId id="358" r:id="rId59"/>
    <p:sldId id="359" r:id="rId60"/>
    <p:sldId id="360" r:id="rId61"/>
    <p:sldId id="361" r:id="rId62"/>
    <p:sldId id="362" r:id="rId63"/>
    <p:sldId id="363" r:id="rId64"/>
    <p:sldId id="364" r:id="rId65"/>
    <p:sldId id="365" r:id="rId66"/>
    <p:sldId id="366"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37329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12329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4BB7511-6A2C-4FC7-AD62-5EB35A7B85DC}"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129285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4BB7511-6A2C-4FC7-AD62-5EB35A7B85DC}"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32879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4BB7511-6A2C-4FC7-AD62-5EB35A7B85DC}"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5063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4BB7511-6A2C-4FC7-AD62-5EB35A7B85DC}"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2209172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B7511-6A2C-4FC7-AD62-5EB35A7B85DC}" type="datetimeFigureOut">
              <a:rPr lang="en-IN" smtClean="0"/>
              <a:t>22-09-2025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800176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BB7511-6A2C-4FC7-AD62-5EB35A7B85DC}"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268404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BB7511-6A2C-4FC7-AD62-5EB35A7B85DC}"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73132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4120038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043879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7511-6A2C-4FC7-AD62-5EB35A7B85DC}" type="datetimeFigureOut">
              <a:rPr lang="en-IN" smtClean="0"/>
              <a:t>22-09-2025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BC8CE-00A2-4570-A7C4-CF89774406DD}" type="slidenum">
              <a:rPr lang="en-IN" smtClean="0"/>
              <a:t>‹#›</a:t>
            </a:fld>
            <a:endParaRPr lang="en-IN"/>
          </a:p>
        </p:txBody>
      </p:sp>
    </p:spTree>
    <p:extLst>
      <p:ext uri="{BB962C8B-B14F-4D97-AF65-F5344CB8AC3E}">
        <p14:creationId xmlns:p14="http://schemas.microsoft.com/office/powerpoint/2010/main" val="4214646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547" y="177413"/>
            <a:ext cx="11395880" cy="5632311"/>
          </a:xfrm>
          <a:prstGeom prst="rect">
            <a:avLst/>
          </a:prstGeom>
          <a:noFill/>
        </p:spPr>
        <p:txBody>
          <a:bodyPr wrap="square" rtlCol="0">
            <a:spAutoFit/>
          </a:bodyPr>
          <a:lstStyle/>
          <a:p>
            <a:pPr algn="ctr"/>
            <a:r>
              <a:rPr lang="en-IN" sz="7200" cap="all" dirty="0">
                <a:solidFill>
                  <a:schemeClr val="bg1"/>
                </a:solidFill>
              </a:rPr>
              <a:t>CHAPTER </a:t>
            </a:r>
            <a:r>
              <a:rPr lang="en-IN" sz="7200" cap="all" dirty="0" smtClean="0">
                <a:solidFill>
                  <a:schemeClr val="bg1"/>
                </a:solidFill>
              </a:rPr>
              <a:t>5 </a:t>
            </a:r>
            <a:endParaRPr lang="en-IN" sz="7200" cap="all" dirty="0">
              <a:solidFill>
                <a:schemeClr val="bg1"/>
              </a:solidFill>
            </a:endParaRPr>
          </a:p>
          <a:p>
            <a:pPr algn="ctr"/>
            <a:endParaRPr lang="en-IN" sz="7200" cap="all" dirty="0" smtClean="0">
              <a:solidFill>
                <a:schemeClr val="bg1"/>
              </a:solidFill>
            </a:endParaRPr>
          </a:p>
          <a:p>
            <a:pPr algn="ctr"/>
            <a:r>
              <a:rPr lang="en-IN" sz="7200" cap="all" dirty="0" smtClean="0">
                <a:solidFill>
                  <a:schemeClr val="bg1"/>
                </a:solidFill>
              </a:rPr>
              <a:t>GENERICS</a:t>
            </a:r>
          </a:p>
          <a:p>
            <a:pPr algn="ctr"/>
            <a:r>
              <a:rPr lang="en-IN" sz="7200" cap="all" dirty="0">
                <a:solidFill>
                  <a:schemeClr val="bg1"/>
                </a:solidFill>
              </a:rPr>
              <a:t>&amp;</a:t>
            </a:r>
            <a:endParaRPr lang="en-IN" sz="7200" cap="all" dirty="0" smtClean="0">
              <a:solidFill>
                <a:schemeClr val="bg1"/>
              </a:solidFill>
            </a:endParaRPr>
          </a:p>
          <a:p>
            <a:pPr algn="ctr"/>
            <a:r>
              <a:rPr lang="en-IN" sz="7200" cap="all" dirty="0">
                <a:solidFill>
                  <a:schemeClr val="bg1"/>
                </a:solidFill>
              </a:rPr>
              <a:t>COLLECTION FRAMEWORK</a:t>
            </a:r>
          </a:p>
        </p:txBody>
      </p:sp>
    </p:spTree>
    <p:extLst>
      <p:ext uri="{BB962C8B-B14F-4D97-AF65-F5344CB8AC3E}">
        <p14:creationId xmlns:p14="http://schemas.microsoft.com/office/powerpoint/2010/main" val="16941300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0" y="1187441"/>
            <a:ext cx="6291621" cy="3970318"/>
          </a:xfrm>
          <a:prstGeom prst="rect">
            <a:avLst/>
          </a:prstGeom>
        </p:spPr>
        <p:txBody>
          <a:bodyPr wrap="square">
            <a:spAutoFit/>
          </a:bodyPr>
          <a:lstStyle/>
          <a:p>
            <a:pPr algn="just">
              <a:lnSpc>
                <a:spcPct val="150000"/>
              </a:lnSpc>
            </a:pPr>
            <a:r>
              <a:rPr lang="en-IN" sz="2800" dirty="0" err="1">
                <a:solidFill>
                  <a:schemeClr val="bg1"/>
                </a:solidFill>
                <a:latin typeface="Arial" panose="020B0604020202020204" pitchFamily="34" charset="0"/>
                <a:cs typeface="Arial" panose="020B0604020202020204" pitchFamily="34" charset="0"/>
              </a:rPr>
              <a:t>int</a:t>
            </a:r>
            <a:r>
              <a:rPr lang="en-IN" sz="2800" dirty="0">
                <a:solidFill>
                  <a:schemeClr val="bg1"/>
                </a:solidFill>
                <a:latin typeface="Arial" panose="020B0604020202020204" pitchFamily="34" charset="0"/>
                <a:cs typeface="Arial" panose="020B0604020202020204" pitchFamily="34" charset="0"/>
              </a:rPr>
              <a:t> main</a:t>
            </a:r>
            <a:r>
              <a:rPr lang="en-IN" sz="2800" dirty="0" smtClean="0">
                <a:solidFill>
                  <a:schemeClr val="bg1"/>
                </a:solidFill>
                <a:latin typeface="Arial" panose="020B0604020202020204" pitchFamily="34" charset="0"/>
                <a:cs typeface="Arial" panose="020B0604020202020204" pitchFamily="34" charset="0"/>
              </a:rPr>
              <a:t>(){</a:t>
            </a:r>
            <a:endParaRPr lang="en-IN" sz="2800" dirty="0">
              <a:solidFill>
                <a:schemeClr val="bg1"/>
              </a:solidFill>
              <a:latin typeface="Arial" panose="020B0604020202020204" pitchFamily="34" charset="0"/>
              <a:cs typeface="Arial" panose="020B0604020202020204" pitchFamily="34" charset="0"/>
            </a:endParaRP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err="1">
                <a:solidFill>
                  <a:schemeClr val="bg1"/>
                </a:solidFill>
                <a:latin typeface="Arial" panose="020B0604020202020204" pitchFamily="34" charset="0"/>
                <a:cs typeface="Arial" panose="020B0604020202020204" pitchFamily="34" charset="0"/>
              </a:rPr>
              <a:t>cout</a:t>
            </a:r>
            <a:r>
              <a:rPr lang="en-IN" sz="2800" dirty="0">
                <a:solidFill>
                  <a:schemeClr val="bg1"/>
                </a:solidFill>
                <a:latin typeface="Arial" panose="020B0604020202020204" pitchFamily="34" charset="0"/>
                <a:cs typeface="Arial" panose="020B0604020202020204" pitchFamily="34" charset="0"/>
              </a:rPr>
              <a:t> &lt;&lt;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3, 7) </a:t>
            </a: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err="1">
                <a:solidFill>
                  <a:schemeClr val="bg1"/>
                </a:solidFill>
                <a:latin typeface="Arial" panose="020B0604020202020204" pitchFamily="34" charset="0"/>
                <a:cs typeface="Arial" panose="020B0604020202020204" pitchFamily="34" charset="0"/>
              </a:rPr>
              <a:t>cout</a:t>
            </a:r>
            <a:r>
              <a:rPr lang="en-IN" sz="2800" dirty="0">
                <a:solidFill>
                  <a:schemeClr val="bg1"/>
                </a:solidFill>
                <a:latin typeface="Arial" panose="020B0604020202020204" pitchFamily="34" charset="0"/>
                <a:cs typeface="Arial" panose="020B0604020202020204" pitchFamily="34" charset="0"/>
              </a:rPr>
              <a:t> &lt;&lt;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3.0, 7.0</a:t>
            </a:r>
            <a:r>
              <a:rPr lang="en-IN" sz="2800" dirty="0" smtClean="0">
                <a:solidFill>
                  <a:schemeClr val="bg1"/>
                </a:solidFill>
                <a:latin typeface="Arial" panose="020B0604020202020204" pitchFamily="34" charset="0"/>
                <a:cs typeface="Arial" panose="020B0604020202020204" pitchFamily="34" charset="0"/>
              </a:rPr>
              <a:t>) </a:t>
            </a:r>
            <a:endParaRPr lang="en-IN" sz="2800" dirty="0">
              <a:solidFill>
                <a:schemeClr val="bg1"/>
              </a:solidFill>
              <a:latin typeface="Arial" panose="020B0604020202020204" pitchFamily="34" charset="0"/>
              <a:cs typeface="Arial" panose="020B0604020202020204" pitchFamily="34" charset="0"/>
            </a:endParaRP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err="1">
                <a:solidFill>
                  <a:schemeClr val="bg1"/>
                </a:solidFill>
                <a:latin typeface="Arial" panose="020B0604020202020204" pitchFamily="34" charset="0"/>
                <a:cs typeface="Arial" panose="020B0604020202020204" pitchFamily="34" charset="0"/>
              </a:rPr>
              <a:t>cout</a:t>
            </a:r>
            <a:r>
              <a:rPr lang="en-IN" sz="2800" dirty="0">
                <a:solidFill>
                  <a:schemeClr val="bg1"/>
                </a:solidFill>
                <a:latin typeface="Arial" panose="020B0604020202020204" pitchFamily="34" charset="0"/>
                <a:cs typeface="Arial" panose="020B0604020202020204" pitchFamily="34" charset="0"/>
              </a:rPr>
              <a:t> &lt;&lt;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'g', 'e</a:t>
            </a:r>
            <a:r>
              <a:rPr lang="en-IN" sz="2800" dirty="0" smtClean="0">
                <a:solidFill>
                  <a:schemeClr val="bg1"/>
                </a:solidFill>
                <a:latin typeface="Arial" panose="020B0604020202020204" pitchFamily="34" charset="0"/>
                <a:cs typeface="Arial" panose="020B0604020202020204" pitchFamily="34" charset="0"/>
              </a:rPr>
              <a:t>')</a:t>
            </a:r>
            <a:endParaRPr lang="en-IN" sz="2800" dirty="0">
              <a:solidFill>
                <a:schemeClr val="bg1"/>
              </a:solidFill>
              <a:latin typeface="Arial" panose="020B0604020202020204" pitchFamily="34" charset="0"/>
              <a:cs typeface="Arial" panose="020B0604020202020204" pitchFamily="34" charset="0"/>
            </a:endParaRP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return 0;</a:t>
            </a:r>
          </a:p>
          <a:p>
            <a:pPr algn="just">
              <a:lnSpc>
                <a:spcPct val="150000"/>
              </a:lnSpc>
            </a:pPr>
            <a:r>
              <a:rPr lang="en-IN" sz="2800" dirty="0">
                <a:solidFill>
                  <a:schemeClr val="bg1"/>
                </a:solidFill>
                <a:latin typeface="Arial" panose="020B0604020202020204" pitchFamily="34" charset="0"/>
                <a:cs typeface="Arial" panose="020B0604020202020204" pitchFamily="34" charset="0"/>
              </a:rPr>
              <a:t>}</a:t>
            </a:r>
          </a:p>
        </p:txBody>
      </p:sp>
      <p:sp>
        <p:nvSpPr>
          <p:cNvPr id="3" name="TextBox 2"/>
          <p:cNvSpPr txBox="1"/>
          <p:nvPr/>
        </p:nvSpPr>
        <p:spPr>
          <a:xfrm>
            <a:off x="354841" y="163773"/>
            <a:ext cx="2139560" cy="1015663"/>
          </a:xfrm>
          <a:prstGeom prst="rect">
            <a:avLst/>
          </a:prstGeom>
          <a:noFill/>
        </p:spPr>
        <p:txBody>
          <a:bodyPr wrap="none" rtlCol="0">
            <a:spAutoFit/>
          </a:bodyPr>
          <a:lstStyle/>
          <a:p>
            <a:r>
              <a:rPr lang="en-IN" sz="6000" dirty="0" smtClean="0">
                <a:solidFill>
                  <a:schemeClr val="bg1"/>
                </a:solidFill>
              </a:rPr>
              <a:t>In C++</a:t>
            </a:r>
            <a:endParaRPr lang="en-IN" sz="6000" dirty="0">
              <a:solidFill>
                <a:schemeClr val="bg1"/>
              </a:solidFill>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5418162" y="1037230"/>
            <a:ext cx="6803408" cy="5262979"/>
          </a:xfrm>
          <a:prstGeom prst="rect">
            <a:avLst/>
          </a:prstGeom>
        </p:spPr>
        <p:txBody>
          <a:bodyPr wrap="square">
            <a:spAutoFit/>
          </a:bodyPr>
          <a:lstStyle/>
          <a:p>
            <a:endParaRPr lang="en-IN" sz="2800" dirty="0">
              <a:solidFill>
                <a:schemeClr val="bg1"/>
              </a:solidFill>
              <a:latin typeface="Arial" panose="020B0604020202020204" pitchFamily="34" charset="0"/>
              <a:cs typeface="Arial" panose="020B0604020202020204" pitchFamily="34" charset="0"/>
            </a:endParaRPr>
          </a:p>
          <a:p>
            <a:r>
              <a:rPr lang="en-IN" sz="2800" dirty="0" err="1" smtClean="0">
                <a:solidFill>
                  <a:schemeClr val="bg1"/>
                </a:solidFill>
                <a:latin typeface="Arial" panose="020B0604020202020204" pitchFamily="34" charset="0"/>
                <a:cs typeface="Arial" panose="020B0604020202020204" pitchFamily="34" charset="0"/>
              </a:rPr>
              <a:t>int</a:t>
            </a:r>
            <a:r>
              <a:rPr lang="en-IN" sz="2800" dirty="0" smtClean="0">
                <a:solidFill>
                  <a:schemeClr val="bg1"/>
                </a:solidFill>
                <a:latin typeface="Arial" panose="020B0604020202020204" pitchFamily="34" charset="0"/>
                <a:cs typeface="Arial" panose="020B0604020202020204" pitchFamily="34" charset="0"/>
              </a:rPr>
              <a:t>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a:t>
            </a:r>
            <a:r>
              <a:rPr lang="en-IN" sz="2800" b="1" dirty="0" err="1" smtClean="0">
                <a:solidFill>
                  <a:schemeClr val="bg1"/>
                </a:solidFill>
                <a:latin typeface="Arial" panose="020B0604020202020204" pitchFamily="34" charset="0"/>
                <a:cs typeface="Arial" panose="020B0604020202020204" pitchFamily="34" charset="0"/>
              </a:rPr>
              <a:t>int</a:t>
            </a:r>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x, </a:t>
            </a:r>
            <a:r>
              <a:rPr lang="en-IN" sz="2800" dirty="0" err="1" smtClean="0">
                <a:solidFill>
                  <a:schemeClr val="bg1"/>
                </a:solidFill>
                <a:latin typeface="Arial" panose="020B0604020202020204" pitchFamily="34" charset="0"/>
                <a:cs typeface="Arial" panose="020B0604020202020204" pitchFamily="34" charset="0"/>
              </a:rPr>
              <a:t>int</a:t>
            </a:r>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y</a:t>
            </a:r>
            <a:r>
              <a:rPr lang="en-IN" sz="2800" dirty="0" smtClean="0">
                <a:solidFill>
                  <a:schemeClr val="bg1"/>
                </a:solidFill>
                <a:latin typeface="Arial" panose="020B0604020202020204" pitchFamily="34" charset="0"/>
                <a:cs typeface="Arial" panose="020B0604020202020204" pitchFamily="34" charset="0"/>
              </a:rPr>
              <a:t>) {</a:t>
            </a:r>
            <a:endParaRPr lang="en-IN" sz="2800" dirty="0">
              <a:solidFill>
                <a:schemeClr val="bg1"/>
              </a:solidFill>
              <a:latin typeface="Arial" panose="020B0604020202020204" pitchFamily="34" charset="0"/>
              <a:cs typeface="Arial" panose="020B0604020202020204" pitchFamily="34" charset="0"/>
            </a:endParaRPr>
          </a:p>
          <a:p>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return (x &gt; y)? x: y;</a:t>
            </a:r>
          </a:p>
          <a:p>
            <a:r>
              <a:rPr lang="en-IN" sz="2800" dirty="0" smtClean="0">
                <a:solidFill>
                  <a:schemeClr val="bg1"/>
                </a:solidFill>
                <a:latin typeface="Arial" panose="020B0604020202020204" pitchFamily="34" charset="0"/>
                <a:cs typeface="Arial" panose="020B0604020202020204" pitchFamily="34" charset="0"/>
              </a:rPr>
              <a:t>}</a:t>
            </a:r>
          </a:p>
          <a:p>
            <a:r>
              <a:rPr lang="en-IN" sz="2800" dirty="0" smtClean="0">
                <a:solidFill>
                  <a:schemeClr val="bg1"/>
                </a:solidFill>
                <a:latin typeface="Arial" panose="020B0604020202020204" pitchFamily="34" charset="0"/>
                <a:cs typeface="Arial" panose="020B0604020202020204" pitchFamily="34" charset="0"/>
              </a:rPr>
              <a:t>double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(double </a:t>
            </a:r>
            <a:r>
              <a:rPr lang="en-IN" sz="2800" dirty="0">
                <a:solidFill>
                  <a:schemeClr val="bg1"/>
                </a:solidFill>
                <a:latin typeface="Arial" panose="020B0604020202020204" pitchFamily="34" charset="0"/>
                <a:cs typeface="Arial" panose="020B0604020202020204" pitchFamily="34" charset="0"/>
              </a:rPr>
              <a:t>x, </a:t>
            </a:r>
            <a:r>
              <a:rPr lang="en-IN" sz="2800" dirty="0" smtClean="0">
                <a:solidFill>
                  <a:schemeClr val="bg1"/>
                </a:solidFill>
                <a:latin typeface="Arial" panose="020B0604020202020204" pitchFamily="34" charset="0"/>
                <a:cs typeface="Arial" panose="020B0604020202020204" pitchFamily="34" charset="0"/>
              </a:rPr>
              <a:t>double </a:t>
            </a:r>
            <a:r>
              <a:rPr lang="en-IN" sz="2800" dirty="0">
                <a:solidFill>
                  <a:schemeClr val="bg1"/>
                </a:solidFill>
                <a:latin typeface="Arial" panose="020B0604020202020204" pitchFamily="34" charset="0"/>
                <a:cs typeface="Arial" panose="020B0604020202020204" pitchFamily="34" charset="0"/>
              </a:rPr>
              <a:t>y) </a:t>
            </a:r>
            <a:r>
              <a:rPr lang="en-IN" sz="2800" dirty="0" smtClean="0">
                <a:solidFill>
                  <a:schemeClr val="bg1"/>
                </a:solidFill>
                <a:latin typeface="Arial" panose="020B0604020202020204" pitchFamily="34" charset="0"/>
                <a:cs typeface="Arial" panose="020B0604020202020204" pitchFamily="34" charset="0"/>
              </a:rPr>
              <a:t>{   </a:t>
            </a:r>
          </a:p>
          <a:p>
            <a:r>
              <a:rPr lang="en-IN" sz="2800" dirty="0">
                <a:solidFill>
                  <a:schemeClr val="bg1"/>
                </a:solidFill>
                <a:latin typeface="Arial" panose="020B0604020202020204" pitchFamily="34" charset="0"/>
                <a:cs typeface="Arial" panose="020B0604020202020204" pitchFamily="34" charset="0"/>
              </a:rPr>
              <a:t>	</a:t>
            </a:r>
            <a:r>
              <a:rPr lang="en-IN" sz="2800" dirty="0" smtClean="0">
                <a:solidFill>
                  <a:schemeClr val="bg1"/>
                </a:solidFill>
                <a:latin typeface="Arial" panose="020B0604020202020204" pitchFamily="34" charset="0"/>
                <a:cs typeface="Arial" panose="020B0604020202020204" pitchFamily="34" charset="0"/>
              </a:rPr>
              <a:t>return </a:t>
            </a:r>
            <a:r>
              <a:rPr lang="en-IN" sz="2800" dirty="0">
                <a:solidFill>
                  <a:schemeClr val="bg1"/>
                </a:solidFill>
                <a:latin typeface="Arial" panose="020B0604020202020204" pitchFamily="34" charset="0"/>
                <a:cs typeface="Arial" panose="020B0604020202020204" pitchFamily="34" charset="0"/>
              </a:rPr>
              <a:t>(x &gt; y)? x: y</a:t>
            </a:r>
            <a:r>
              <a:rPr lang="en-IN" sz="2800" dirty="0" smtClean="0">
                <a:solidFill>
                  <a:schemeClr val="bg1"/>
                </a:solidFill>
                <a:latin typeface="Arial" panose="020B0604020202020204" pitchFamily="34" charset="0"/>
                <a:cs typeface="Arial" panose="020B0604020202020204" pitchFamily="34" charset="0"/>
              </a:rPr>
              <a:t>;</a:t>
            </a:r>
          </a:p>
          <a:p>
            <a:r>
              <a:rPr lang="en-IN" sz="2800" dirty="0" smtClean="0">
                <a:solidFill>
                  <a:schemeClr val="bg1"/>
                </a:solidFill>
                <a:latin typeface="Arial" panose="020B0604020202020204" pitchFamily="34" charset="0"/>
                <a:cs typeface="Arial" panose="020B0604020202020204" pitchFamily="34" charset="0"/>
              </a:rPr>
              <a:t>}</a:t>
            </a:r>
            <a:endParaRPr lang="en-IN" sz="2800" dirty="0">
              <a:solidFill>
                <a:schemeClr val="bg1"/>
              </a:solidFill>
              <a:latin typeface="Arial" panose="020B0604020202020204" pitchFamily="34" charset="0"/>
              <a:cs typeface="Arial" panose="020B0604020202020204" pitchFamily="34" charset="0"/>
            </a:endParaRPr>
          </a:p>
          <a:p>
            <a:endParaRPr lang="en-IN" sz="2800" dirty="0" smtClean="0">
              <a:solidFill>
                <a:schemeClr val="bg1"/>
              </a:solidFill>
              <a:latin typeface="Arial" panose="020B0604020202020204" pitchFamily="34" charset="0"/>
              <a:cs typeface="Arial" panose="020B0604020202020204" pitchFamily="34" charset="0"/>
            </a:endParaRPr>
          </a:p>
          <a:p>
            <a:r>
              <a:rPr lang="en-IN" sz="2800" dirty="0" smtClean="0">
                <a:solidFill>
                  <a:schemeClr val="bg1"/>
                </a:solidFill>
                <a:latin typeface="Arial" panose="020B0604020202020204" pitchFamily="34" charset="0"/>
                <a:cs typeface="Arial" panose="020B0604020202020204" pitchFamily="34" charset="0"/>
              </a:rPr>
              <a:t>char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(char </a:t>
            </a:r>
            <a:r>
              <a:rPr lang="en-IN" sz="2800" dirty="0">
                <a:solidFill>
                  <a:schemeClr val="bg1"/>
                </a:solidFill>
                <a:latin typeface="Arial" panose="020B0604020202020204" pitchFamily="34" charset="0"/>
                <a:cs typeface="Arial" panose="020B0604020202020204" pitchFamily="34" charset="0"/>
              </a:rPr>
              <a:t>x, </a:t>
            </a:r>
            <a:r>
              <a:rPr lang="en-IN" sz="2800" dirty="0" smtClean="0">
                <a:solidFill>
                  <a:schemeClr val="bg1"/>
                </a:solidFill>
                <a:latin typeface="Arial" panose="020B0604020202020204" pitchFamily="34" charset="0"/>
                <a:cs typeface="Arial" panose="020B0604020202020204" pitchFamily="34" charset="0"/>
              </a:rPr>
              <a:t>char </a:t>
            </a:r>
            <a:r>
              <a:rPr lang="en-IN" sz="2800" dirty="0">
                <a:solidFill>
                  <a:schemeClr val="bg1"/>
                </a:solidFill>
                <a:latin typeface="Arial" panose="020B0604020202020204" pitchFamily="34" charset="0"/>
                <a:cs typeface="Arial" panose="020B0604020202020204" pitchFamily="34" charset="0"/>
              </a:rPr>
              <a:t>y) {   </a:t>
            </a:r>
            <a:endParaRPr lang="en-IN" sz="2800" dirty="0" smtClean="0">
              <a:solidFill>
                <a:schemeClr val="bg1"/>
              </a:solidFill>
              <a:latin typeface="Arial" panose="020B0604020202020204" pitchFamily="34" charset="0"/>
              <a:cs typeface="Arial" panose="020B0604020202020204" pitchFamily="34" charset="0"/>
            </a:endParaRPr>
          </a:p>
          <a:p>
            <a:r>
              <a:rPr lang="en-IN" sz="2800" dirty="0">
                <a:solidFill>
                  <a:schemeClr val="bg1"/>
                </a:solidFill>
                <a:latin typeface="Arial" panose="020B0604020202020204" pitchFamily="34" charset="0"/>
                <a:cs typeface="Arial" panose="020B0604020202020204" pitchFamily="34" charset="0"/>
              </a:rPr>
              <a:t>	</a:t>
            </a:r>
            <a:r>
              <a:rPr lang="en-IN" sz="2800" dirty="0" smtClean="0">
                <a:solidFill>
                  <a:schemeClr val="bg1"/>
                </a:solidFill>
                <a:latin typeface="Arial" panose="020B0604020202020204" pitchFamily="34" charset="0"/>
                <a:cs typeface="Arial" panose="020B0604020202020204" pitchFamily="34" charset="0"/>
              </a:rPr>
              <a:t>return </a:t>
            </a:r>
            <a:r>
              <a:rPr lang="en-IN" sz="2800" dirty="0">
                <a:solidFill>
                  <a:schemeClr val="bg1"/>
                </a:solidFill>
                <a:latin typeface="Arial" panose="020B0604020202020204" pitchFamily="34" charset="0"/>
                <a:cs typeface="Arial" panose="020B0604020202020204" pitchFamily="34" charset="0"/>
              </a:rPr>
              <a:t>(x &gt; y)? x: y</a:t>
            </a:r>
            <a:r>
              <a:rPr lang="en-IN" sz="2800" dirty="0" smtClean="0">
                <a:solidFill>
                  <a:schemeClr val="bg1"/>
                </a:solidFill>
                <a:latin typeface="Arial" panose="020B0604020202020204" pitchFamily="34" charset="0"/>
                <a:cs typeface="Arial" panose="020B0604020202020204" pitchFamily="34" charset="0"/>
              </a:rPr>
              <a:t>;</a:t>
            </a:r>
          </a:p>
          <a:p>
            <a:r>
              <a:rPr lang="en-IN" sz="2800" dirty="0" smtClean="0">
                <a:solidFill>
                  <a:schemeClr val="bg1"/>
                </a:solidFill>
                <a:latin typeface="Arial" panose="020B0604020202020204" pitchFamily="34" charset="0"/>
                <a:cs typeface="Arial" panose="020B0604020202020204" pitchFamily="34" charset="0"/>
              </a:rPr>
              <a:t>}</a:t>
            </a:r>
            <a:endParaRPr lang="en-IN" sz="2800" dirty="0">
              <a:solidFill>
                <a:schemeClr val="bg1"/>
              </a:solidFill>
              <a:latin typeface="Arial" panose="020B0604020202020204" pitchFamily="34" charset="0"/>
              <a:cs typeface="Arial" panose="020B0604020202020204" pitchFamily="34" charset="0"/>
            </a:endParaRPr>
          </a:p>
          <a:p>
            <a:endParaRPr lang="en-IN" sz="2800" dirty="0">
              <a:solidFill>
                <a:schemeClr val="bg1"/>
              </a:solidFill>
              <a:latin typeface="Arial" panose="020B0604020202020204" pitchFamily="34" charset="0"/>
              <a:cs typeface="Arial" panose="020B0604020202020204" pitchFamily="34" charset="0"/>
            </a:endParaRPr>
          </a:p>
        </p:txBody>
      </p:sp>
      <p:cxnSp>
        <p:nvCxnSpPr>
          <p:cNvPr id="14" name="Straight Connector 13"/>
          <p:cNvCxnSpPr/>
          <p:nvPr/>
        </p:nvCxnSpPr>
        <p:spPr>
          <a:xfrm>
            <a:off x="5841242" y="2333767"/>
            <a:ext cx="2866030"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389427" y="3659874"/>
            <a:ext cx="2866030"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389427" y="5393140"/>
            <a:ext cx="2866030"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83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0" y="1187441"/>
            <a:ext cx="7574509" cy="3970318"/>
          </a:xfrm>
          <a:prstGeom prst="rect">
            <a:avLst/>
          </a:prstGeom>
        </p:spPr>
        <p:txBody>
          <a:bodyPr wrap="square">
            <a:spAutoFit/>
          </a:bodyPr>
          <a:lstStyle/>
          <a:p>
            <a:pPr algn="just">
              <a:lnSpc>
                <a:spcPct val="150000"/>
              </a:lnSpc>
            </a:pPr>
            <a:r>
              <a:rPr lang="en-IN" sz="2800" dirty="0" err="1">
                <a:solidFill>
                  <a:schemeClr val="bg1"/>
                </a:solidFill>
                <a:latin typeface="Arial" panose="020B0604020202020204" pitchFamily="34" charset="0"/>
                <a:cs typeface="Arial" panose="020B0604020202020204" pitchFamily="34" charset="0"/>
              </a:rPr>
              <a:t>int</a:t>
            </a:r>
            <a:r>
              <a:rPr lang="en-IN" sz="2800" dirty="0">
                <a:solidFill>
                  <a:schemeClr val="bg1"/>
                </a:solidFill>
                <a:latin typeface="Arial" panose="020B0604020202020204" pitchFamily="34" charset="0"/>
                <a:cs typeface="Arial" panose="020B0604020202020204" pitchFamily="34" charset="0"/>
              </a:rPr>
              <a:t> main</a:t>
            </a:r>
            <a:r>
              <a:rPr lang="en-IN" sz="2800" dirty="0" smtClean="0">
                <a:solidFill>
                  <a:schemeClr val="bg1"/>
                </a:solidFill>
                <a:latin typeface="Arial" panose="020B0604020202020204" pitchFamily="34" charset="0"/>
                <a:cs typeface="Arial" panose="020B0604020202020204" pitchFamily="34" charset="0"/>
              </a:rPr>
              <a:t>(){</a:t>
            </a:r>
            <a:endParaRPr lang="en-IN" sz="2800" dirty="0">
              <a:solidFill>
                <a:schemeClr val="bg1"/>
              </a:solidFill>
              <a:latin typeface="Arial" panose="020B0604020202020204" pitchFamily="34" charset="0"/>
              <a:cs typeface="Arial" panose="020B0604020202020204" pitchFamily="34" charset="0"/>
            </a:endParaRP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err="1">
                <a:solidFill>
                  <a:schemeClr val="bg1"/>
                </a:solidFill>
                <a:latin typeface="Arial" panose="020B0604020202020204" pitchFamily="34" charset="0"/>
                <a:cs typeface="Arial" panose="020B0604020202020204" pitchFamily="34" charset="0"/>
              </a:rPr>
              <a:t>cout</a:t>
            </a:r>
            <a:r>
              <a:rPr lang="en-IN" sz="2800" dirty="0">
                <a:solidFill>
                  <a:schemeClr val="bg1"/>
                </a:solidFill>
                <a:latin typeface="Arial" panose="020B0604020202020204" pitchFamily="34" charset="0"/>
                <a:cs typeface="Arial" panose="020B0604020202020204" pitchFamily="34" charset="0"/>
              </a:rPr>
              <a:t> &lt;&lt;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 &lt;</a:t>
            </a:r>
            <a:r>
              <a:rPr lang="en-IN" sz="2800" dirty="0" err="1">
                <a:solidFill>
                  <a:schemeClr val="bg1"/>
                </a:solidFill>
                <a:latin typeface="Arial" panose="020B0604020202020204" pitchFamily="34" charset="0"/>
                <a:cs typeface="Arial" panose="020B0604020202020204" pitchFamily="34" charset="0"/>
              </a:rPr>
              <a:t>int</a:t>
            </a:r>
            <a:r>
              <a:rPr lang="en-IN" sz="2800" dirty="0" smtClean="0">
                <a:solidFill>
                  <a:schemeClr val="bg1"/>
                </a:solidFill>
                <a:latin typeface="Arial" panose="020B0604020202020204" pitchFamily="34" charset="0"/>
                <a:cs typeface="Arial" panose="020B0604020202020204" pitchFamily="34" charset="0"/>
              </a:rPr>
              <a:t>&gt; (</a:t>
            </a:r>
            <a:r>
              <a:rPr lang="en-IN" sz="2800" dirty="0">
                <a:solidFill>
                  <a:schemeClr val="bg1"/>
                </a:solidFill>
                <a:latin typeface="Arial" panose="020B0604020202020204" pitchFamily="34" charset="0"/>
                <a:cs typeface="Arial" panose="020B0604020202020204" pitchFamily="34" charset="0"/>
              </a:rPr>
              <a:t>3, 7) &lt;&lt; </a:t>
            </a:r>
            <a:r>
              <a:rPr lang="en-IN" sz="2800" dirty="0" err="1">
                <a:solidFill>
                  <a:schemeClr val="bg1"/>
                </a:solidFill>
                <a:latin typeface="Arial" panose="020B0604020202020204" pitchFamily="34" charset="0"/>
                <a:cs typeface="Arial" panose="020B0604020202020204" pitchFamily="34" charset="0"/>
              </a:rPr>
              <a:t>endl</a:t>
            </a:r>
            <a:r>
              <a:rPr lang="en-IN" sz="2800" dirty="0">
                <a:solidFill>
                  <a:schemeClr val="bg1"/>
                </a:solidFill>
                <a:latin typeface="Arial" panose="020B0604020202020204" pitchFamily="34" charset="0"/>
                <a:cs typeface="Arial" panose="020B0604020202020204" pitchFamily="34" charset="0"/>
              </a:rPr>
              <a:t>;  </a:t>
            </a: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err="1">
                <a:solidFill>
                  <a:schemeClr val="bg1"/>
                </a:solidFill>
                <a:latin typeface="Arial" panose="020B0604020202020204" pitchFamily="34" charset="0"/>
                <a:cs typeface="Arial" panose="020B0604020202020204" pitchFamily="34" charset="0"/>
              </a:rPr>
              <a:t>cout</a:t>
            </a:r>
            <a:r>
              <a:rPr lang="en-IN" sz="2800" dirty="0">
                <a:solidFill>
                  <a:schemeClr val="bg1"/>
                </a:solidFill>
                <a:latin typeface="Arial" panose="020B0604020202020204" pitchFamily="34" charset="0"/>
                <a:cs typeface="Arial" panose="020B0604020202020204" pitchFamily="34" charset="0"/>
              </a:rPr>
              <a:t> &lt;&lt;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 &lt;</a:t>
            </a:r>
            <a:r>
              <a:rPr lang="en-IN" sz="2800" dirty="0">
                <a:solidFill>
                  <a:schemeClr val="bg1"/>
                </a:solidFill>
                <a:latin typeface="Arial" panose="020B0604020202020204" pitchFamily="34" charset="0"/>
                <a:cs typeface="Arial" panose="020B0604020202020204" pitchFamily="34" charset="0"/>
              </a:rPr>
              <a:t>double</a:t>
            </a:r>
            <a:r>
              <a:rPr lang="en-IN" sz="2800" dirty="0" smtClean="0">
                <a:solidFill>
                  <a:schemeClr val="bg1"/>
                </a:solidFill>
                <a:latin typeface="Arial" panose="020B0604020202020204" pitchFamily="34" charset="0"/>
                <a:cs typeface="Arial" panose="020B0604020202020204" pitchFamily="34" charset="0"/>
              </a:rPr>
              <a:t>&gt; (</a:t>
            </a:r>
            <a:r>
              <a:rPr lang="en-IN" sz="2800" dirty="0">
                <a:solidFill>
                  <a:schemeClr val="bg1"/>
                </a:solidFill>
                <a:latin typeface="Arial" panose="020B0604020202020204" pitchFamily="34" charset="0"/>
                <a:cs typeface="Arial" panose="020B0604020202020204" pitchFamily="34" charset="0"/>
              </a:rPr>
              <a:t>3.0, 7.0) &lt;&lt; </a:t>
            </a:r>
            <a:r>
              <a:rPr lang="en-IN" sz="2800" dirty="0" err="1">
                <a:solidFill>
                  <a:schemeClr val="bg1"/>
                </a:solidFill>
                <a:latin typeface="Arial" panose="020B0604020202020204" pitchFamily="34" charset="0"/>
                <a:cs typeface="Arial" panose="020B0604020202020204" pitchFamily="34" charset="0"/>
              </a:rPr>
              <a:t>endl</a:t>
            </a:r>
            <a:r>
              <a:rPr lang="en-IN" sz="2800" dirty="0">
                <a:solidFill>
                  <a:schemeClr val="bg1"/>
                </a:solidFill>
                <a:latin typeface="Arial" panose="020B0604020202020204" pitchFamily="34" charset="0"/>
                <a:cs typeface="Arial" panose="020B0604020202020204" pitchFamily="34" charset="0"/>
              </a:rPr>
              <a:t>; </a:t>
            </a: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err="1">
                <a:solidFill>
                  <a:schemeClr val="bg1"/>
                </a:solidFill>
                <a:latin typeface="Arial" panose="020B0604020202020204" pitchFamily="34" charset="0"/>
                <a:cs typeface="Arial" panose="020B0604020202020204" pitchFamily="34" charset="0"/>
              </a:rPr>
              <a:t>cout</a:t>
            </a:r>
            <a:r>
              <a:rPr lang="en-IN" sz="2800" dirty="0">
                <a:solidFill>
                  <a:schemeClr val="bg1"/>
                </a:solidFill>
                <a:latin typeface="Arial" panose="020B0604020202020204" pitchFamily="34" charset="0"/>
                <a:cs typeface="Arial" panose="020B0604020202020204" pitchFamily="34" charset="0"/>
              </a:rPr>
              <a:t> &lt;&lt; </a:t>
            </a:r>
            <a:r>
              <a:rPr lang="en-IN" sz="2800" dirty="0" err="1" smtClean="0">
                <a:solidFill>
                  <a:schemeClr val="bg1"/>
                </a:solidFill>
                <a:latin typeface="Arial" panose="020B0604020202020204" pitchFamily="34" charset="0"/>
                <a:cs typeface="Arial" panose="020B0604020202020204" pitchFamily="34" charset="0"/>
              </a:rPr>
              <a:t>myMax</a:t>
            </a:r>
            <a:r>
              <a:rPr lang="en-IN" sz="2800" dirty="0" smtClean="0">
                <a:solidFill>
                  <a:schemeClr val="bg1"/>
                </a:solidFill>
                <a:latin typeface="Arial" panose="020B0604020202020204" pitchFamily="34" charset="0"/>
                <a:cs typeface="Arial" panose="020B0604020202020204" pitchFamily="34" charset="0"/>
              </a:rPr>
              <a:t> &lt;</a:t>
            </a:r>
            <a:r>
              <a:rPr lang="en-IN" sz="2800" dirty="0">
                <a:solidFill>
                  <a:schemeClr val="bg1"/>
                </a:solidFill>
                <a:latin typeface="Arial" panose="020B0604020202020204" pitchFamily="34" charset="0"/>
                <a:cs typeface="Arial" panose="020B0604020202020204" pitchFamily="34" charset="0"/>
              </a:rPr>
              <a:t>char</a:t>
            </a:r>
            <a:r>
              <a:rPr lang="en-IN" sz="2800" dirty="0" smtClean="0">
                <a:solidFill>
                  <a:schemeClr val="bg1"/>
                </a:solidFill>
                <a:latin typeface="Arial" panose="020B0604020202020204" pitchFamily="34" charset="0"/>
                <a:cs typeface="Arial" panose="020B0604020202020204" pitchFamily="34" charset="0"/>
              </a:rPr>
              <a:t>&gt; (</a:t>
            </a:r>
            <a:r>
              <a:rPr lang="en-IN" sz="2800" dirty="0">
                <a:solidFill>
                  <a:schemeClr val="bg1"/>
                </a:solidFill>
                <a:latin typeface="Arial" panose="020B0604020202020204" pitchFamily="34" charset="0"/>
                <a:cs typeface="Arial" panose="020B0604020202020204" pitchFamily="34" charset="0"/>
              </a:rPr>
              <a:t>'g', 'e') &lt;&lt; </a:t>
            </a:r>
            <a:r>
              <a:rPr lang="en-IN" sz="2800" dirty="0" err="1">
                <a:solidFill>
                  <a:schemeClr val="bg1"/>
                </a:solidFill>
                <a:latin typeface="Arial" panose="020B0604020202020204" pitchFamily="34" charset="0"/>
                <a:cs typeface="Arial" panose="020B0604020202020204" pitchFamily="34" charset="0"/>
              </a:rPr>
              <a:t>endl</a:t>
            </a:r>
            <a:r>
              <a:rPr lang="en-IN" sz="2800" dirty="0">
                <a:solidFill>
                  <a:schemeClr val="bg1"/>
                </a:solidFill>
                <a:latin typeface="Arial" panose="020B0604020202020204" pitchFamily="34" charset="0"/>
                <a:cs typeface="Arial" panose="020B0604020202020204" pitchFamily="34" charset="0"/>
              </a:rPr>
              <a:t>;   </a:t>
            </a:r>
          </a:p>
          <a:p>
            <a:pPr algn="just">
              <a:lnSpc>
                <a:spcPct val="150000"/>
              </a:lnSpc>
            </a:pPr>
            <a:r>
              <a:rPr lang="en-IN" sz="2800" dirty="0">
                <a:solidFill>
                  <a:schemeClr val="bg1"/>
                </a:solidFill>
                <a:latin typeface="Arial" panose="020B0604020202020204" pitchFamily="34" charset="0"/>
                <a:cs typeface="Arial" panose="020B0604020202020204" pitchFamily="34" charset="0"/>
              </a:rPr>
              <a:t> </a:t>
            </a:r>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return 0;</a:t>
            </a:r>
          </a:p>
          <a:p>
            <a:pPr algn="just">
              <a:lnSpc>
                <a:spcPct val="150000"/>
              </a:lnSpc>
            </a:pPr>
            <a:r>
              <a:rPr lang="en-IN" sz="2800" dirty="0">
                <a:solidFill>
                  <a:schemeClr val="bg1"/>
                </a:solidFill>
                <a:latin typeface="Arial" panose="020B0604020202020204" pitchFamily="34" charset="0"/>
                <a:cs typeface="Arial" panose="020B0604020202020204" pitchFamily="34" charset="0"/>
              </a:rPr>
              <a:t>}</a:t>
            </a:r>
          </a:p>
        </p:txBody>
      </p:sp>
      <p:sp>
        <p:nvSpPr>
          <p:cNvPr id="3" name="TextBox 2"/>
          <p:cNvSpPr txBox="1"/>
          <p:nvPr/>
        </p:nvSpPr>
        <p:spPr>
          <a:xfrm>
            <a:off x="354841" y="163773"/>
            <a:ext cx="8668207" cy="1015663"/>
          </a:xfrm>
          <a:prstGeom prst="rect">
            <a:avLst/>
          </a:prstGeom>
          <a:noFill/>
        </p:spPr>
        <p:txBody>
          <a:bodyPr wrap="none" rtlCol="0">
            <a:spAutoFit/>
          </a:bodyPr>
          <a:lstStyle/>
          <a:p>
            <a:r>
              <a:rPr lang="en-IN" sz="6000" dirty="0" smtClean="0">
                <a:solidFill>
                  <a:schemeClr val="bg1"/>
                </a:solidFill>
              </a:rPr>
              <a:t>Template&lt;Generics&gt; in C++</a:t>
            </a:r>
            <a:endParaRPr lang="en-IN" sz="6000" dirty="0">
              <a:solidFill>
                <a:schemeClr val="bg1"/>
              </a:solidFill>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7861109" y="1390387"/>
            <a:ext cx="4189864" cy="2677656"/>
          </a:xfrm>
          <a:prstGeom prst="rect">
            <a:avLst/>
          </a:prstGeom>
        </p:spPr>
        <p:txBody>
          <a:bodyPr wrap="square">
            <a:spAutoFit/>
          </a:bodyPr>
          <a:lstStyle/>
          <a:p>
            <a:r>
              <a:rPr lang="en-IN" sz="2800" dirty="0">
                <a:solidFill>
                  <a:schemeClr val="bg1"/>
                </a:solidFill>
                <a:latin typeface="Arial" panose="020B0604020202020204" pitchFamily="34" charset="0"/>
                <a:cs typeface="Arial" panose="020B0604020202020204" pitchFamily="34" charset="0"/>
              </a:rPr>
              <a:t>template &lt;</a:t>
            </a:r>
            <a:r>
              <a:rPr lang="en-IN" sz="2800" dirty="0" err="1">
                <a:solidFill>
                  <a:schemeClr val="bg1"/>
                </a:solidFill>
                <a:latin typeface="Arial" panose="020B0604020202020204" pitchFamily="34" charset="0"/>
                <a:cs typeface="Arial" panose="020B0604020202020204" pitchFamily="34" charset="0"/>
              </a:rPr>
              <a:t>typename</a:t>
            </a:r>
            <a:r>
              <a:rPr lang="en-IN" sz="2800" dirty="0">
                <a:solidFill>
                  <a:schemeClr val="bg1"/>
                </a:solidFill>
                <a:latin typeface="Arial" panose="020B0604020202020204" pitchFamily="34" charset="0"/>
                <a:cs typeface="Arial" panose="020B0604020202020204" pitchFamily="34" charset="0"/>
              </a:rPr>
              <a:t> </a:t>
            </a:r>
            <a:r>
              <a:rPr lang="en-IN" sz="2800" b="1" dirty="0">
                <a:solidFill>
                  <a:srgbClr val="FFC000"/>
                </a:solidFill>
                <a:latin typeface="Arial" panose="020B0604020202020204" pitchFamily="34" charset="0"/>
                <a:cs typeface="Arial" panose="020B0604020202020204" pitchFamily="34" charset="0"/>
              </a:rPr>
              <a:t>T</a:t>
            </a:r>
            <a:r>
              <a:rPr lang="en-IN" sz="2800" dirty="0">
                <a:solidFill>
                  <a:schemeClr val="bg1"/>
                </a:solidFill>
                <a:latin typeface="Arial" panose="020B0604020202020204" pitchFamily="34" charset="0"/>
                <a:cs typeface="Arial" panose="020B0604020202020204" pitchFamily="34" charset="0"/>
              </a:rPr>
              <a:t>&gt;</a:t>
            </a:r>
          </a:p>
          <a:p>
            <a:r>
              <a:rPr lang="en-IN" sz="2800" b="1" dirty="0">
                <a:solidFill>
                  <a:srgbClr val="FFC000"/>
                </a:solidFill>
                <a:latin typeface="Arial" panose="020B0604020202020204" pitchFamily="34" charset="0"/>
                <a:cs typeface="Arial" panose="020B0604020202020204" pitchFamily="34" charset="0"/>
              </a:rPr>
              <a:t>T</a:t>
            </a:r>
            <a:r>
              <a:rPr lang="en-IN" sz="2800" dirty="0">
                <a:solidFill>
                  <a:schemeClr val="bg1"/>
                </a:solidFill>
                <a:latin typeface="Arial" panose="020B0604020202020204" pitchFamily="34" charset="0"/>
                <a:cs typeface="Arial" panose="020B0604020202020204" pitchFamily="34" charset="0"/>
              </a:rPr>
              <a:t> </a:t>
            </a:r>
            <a:r>
              <a:rPr lang="en-IN" sz="2800" dirty="0" err="1">
                <a:solidFill>
                  <a:schemeClr val="bg1"/>
                </a:solidFill>
                <a:latin typeface="Arial" panose="020B0604020202020204" pitchFamily="34" charset="0"/>
                <a:cs typeface="Arial" panose="020B0604020202020204" pitchFamily="34" charset="0"/>
              </a:rPr>
              <a:t>myMax</a:t>
            </a:r>
            <a:r>
              <a:rPr lang="en-IN" sz="2800" dirty="0">
                <a:solidFill>
                  <a:schemeClr val="bg1"/>
                </a:solidFill>
                <a:latin typeface="Arial" panose="020B0604020202020204" pitchFamily="34" charset="0"/>
                <a:cs typeface="Arial" panose="020B0604020202020204" pitchFamily="34" charset="0"/>
              </a:rPr>
              <a:t>(</a:t>
            </a:r>
            <a:r>
              <a:rPr lang="en-IN" sz="2800" b="1" dirty="0">
                <a:solidFill>
                  <a:srgbClr val="FFC000"/>
                </a:solidFill>
                <a:latin typeface="Arial" panose="020B0604020202020204" pitchFamily="34" charset="0"/>
                <a:cs typeface="Arial" panose="020B0604020202020204" pitchFamily="34" charset="0"/>
              </a:rPr>
              <a:t>T</a:t>
            </a:r>
            <a:r>
              <a:rPr lang="en-IN" sz="2800" dirty="0">
                <a:solidFill>
                  <a:schemeClr val="bg1"/>
                </a:solidFill>
                <a:latin typeface="Arial" panose="020B0604020202020204" pitchFamily="34" charset="0"/>
                <a:cs typeface="Arial" panose="020B0604020202020204" pitchFamily="34" charset="0"/>
              </a:rPr>
              <a:t> x, </a:t>
            </a:r>
            <a:r>
              <a:rPr lang="en-IN" sz="2800" b="1" dirty="0">
                <a:solidFill>
                  <a:srgbClr val="FFC000"/>
                </a:solidFill>
                <a:latin typeface="Arial" panose="020B0604020202020204" pitchFamily="34" charset="0"/>
                <a:cs typeface="Arial" panose="020B0604020202020204" pitchFamily="34" charset="0"/>
              </a:rPr>
              <a:t>T</a:t>
            </a:r>
            <a:r>
              <a:rPr lang="en-IN" sz="2800" dirty="0">
                <a:solidFill>
                  <a:schemeClr val="bg1"/>
                </a:solidFill>
                <a:latin typeface="Arial" panose="020B0604020202020204" pitchFamily="34" charset="0"/>
                <a:cs typeface="Arial" panose="020B0604020202020204" pitchFamily="34" charset="0"/>
              </a:rPr>
              <a:t> y</a:t>
            </a:r>
            <a:r>
              <a:rPr lang="en-IN" sz="2800" dirty="0" smtClean="0">
                <a:solidFill>
                  <a:schemeClr val="bg1"/>
                </a:solidFill>
                <a:latin typeface="Arial" panose="020B0604020202020204" pitchFamily="34" charset="0"/>
                <a:cs typeface="Arial" panose="020B0604020202020204" pitchFamily="34" charset="0"/>
              </a:rPr>
              <a:t>) {</a:t>
            </a:r>
            <a:endParaRPr lang="en-IN" sz="2800" dirty="0">
              <a:solidFill>
                <a:schemeClr val="bg1"/>
              </a:solidFill>
              <a:latin typeface="Arial" panose="020B0604020202020204" pitchFamily="34" charset="0"/>
              <a:cs typeface="Arial" panose="020B0604020202020204" pitchFamily="34" charset="0"/>
            </a:endParaRPr>
          </a:p>
          <a:p>
            <a:endParaRPr lang="en-IN" sz="2800" dirty="0" smtClean="0">
              <a:solidFill>
                <a:schemeClr val="bg1"/>
              </a:solidFill>
              <a:latin typeface="Arial" panose="020B0604020202020204" pitchFamily="34" charset="0"/>
              <a:cs typeface="Arial" panose="020B0604020202020204" pitchFamily="34" charset="0"/>
            </a:endParaRPr>
          </a:p>
          <a:p>
            <a:r>
              <a:rPr lang="en-IN" sz="2800" dirty="0" smtClean="0">
                <a:solidFill>
                  <a:schemeClr val="bg1"/>
                </a:solidFill>
                <a:latin typeface="Arial" panose="020B0604020202020204" pitchFamily="34" charset="0"/>
                <a:cs typeface="Arial" panose="020B0604020202020204" pitchFamily="34" charset="0"/>
              </a:rPr>
              <a:t>   </a:t>
            </a:r>
            <a:r>
              <a:rPr lang="en-IN" sz="2800" dirty="0">
                <a:solidFill>
                  <a:schemeClr val="bg1"/>
                </a:solidFill>
                <a:latin typeface="Arial" panose="020B0604020202020204" pitchFamily="34" charset="0"/>
                <a:cs typeface="Arial" panose="020B0604020202020204" pitchFamily="34" charset="0"/>
              </a:rPr>
              <a:t>return (x &gt; y)? x: y;</a:t>
            </a:r>
          </a:p>
          <a:p>
            <a:endParaRPr lang="en-IN" sz="2800" dirty="0" smtClean="0">
              <a:solidFill>
                <a:schemeClr val="bg1"/>
              </a:solidFill>
              <a:latin typeface="Arial" panose="020B0604020202020204" pitchFamily="34" charset="0"/>
              <a:cs typeface="Arial" panose="020B0604020202020204" pitchFamily="34" charset="0"/>
            </a:endParaRPr>
          </a:p>
          <a:p>
            <a:r>
              <a:rPr lang="en-IN" sz="2800" dirty="0" smtClean="0">
                <a:solidFill>
                  <a:schemeClr val="bg1"/>
                </a:solidFill>
                <a:latin typeface="Arial" panose="020B0604020202020204" pitchFamily="34" charset="0"/>
                <a:cs typeface="Arial" panose="020B0604020202020204" pitchFamily="34" charset="0"/>
              </a:rPr>
              <a:t>}</a:t>
            </a:r>
            <a:endParaRPr lang="en-IN" sz="2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6455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773" y="1413066"/>
            <a:ext cx="11887200" cy="5078313"/>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Generics allow reference types (classes, interfaces, and array types) and </a:t>
            </a:r>
            <a:r>
              <a:rPr lang="en-IN" sz="2400" dirty="0" smtClean="0">
                <a:solidFill>
                  <a:schemeClr val="bg1"/>
                </a:solidFill>
                <a:latin typeface="Arial" panose="020B0604020202020204" pitchFamily="34" charset="0"/>
                <a:cs typeface="Arial" panose="020B0604020202020204" pitchFamily="34" charset="0"/>
              </a:rPr>
              <a:t>methods to </a:t>
            </a:r>
            <a:r>
              <a:rPr lang="en-IN" sz="2400" dirty="0">
                <a:solidFill>
                  <a:schemeClr val="bg1"/>
                </a:solidFill>
                <a:latin typeface="Arial" panose="020B0604020202020204" pitchFamily="34" charset="0"/>
                <a:cs typeface="Arial" panose="020B0604020202020204" pitchFamily="34" charset="0"/>
              </a:rPr>
              <a:t>be parameterized with type information</a:t>
            </a:r>
            <a:r>
              <a:rPr lang="en-IN" sz="2400" dirty="0" smtClean="0">
                <a:solidFill>
                  <a:schemeClr val="bg1"/>
                </a:solidFill>
                <a:latin typeface="Arial" panose="020B0604020202020204" pitchFamily="34" charset="0"/>
                <a:cs typeface="Arial" panose="020B0604020202020204" pitchFamily="34" charset="0"/>
              </a:rPr>
              <a:t>.</a:t>
            </a:r>
          </a:p>
          <a:p>
            <a:pPr>
              <a:lnSpc>
                <a:spcPct val="150000"/>
              </a:lnSpc>
            </a:pPr>
            <a:endParaRPr lang="en-IN" sz="2400" b="1" dirty="0" smtClean="0">
              <a:solidFill>
                <a:schemeClr val="bg1"/>
              </a:solidFill>
            </a:endParaRPr>
          </a:p>
          <a:p>
            <a:pPr algn="just">
              <a:lnSpc>
                <a:spcPct val="150000"/>
              </a:lnSpc>
            </a:pPr>
            <a:r>
              <a:rPr lang="en-IN" sz="2400" b="1" dirty="0" smtClean="0">
                <a:solidFill>
                  <a:schemeClr val="bg1"/>
                </a:solidFill>
                <a:latin typeface="Arial" panose="020B0604020202020204" pitchFamily="34" charset="0"/>
                <a:cs typeface="Arial" panose="020B0604020202020204" pitchFamily="34" charset="0"/>
              </a:rPr>
              <a:t>Advantages </a:t>
            </a:r>
            <a:r>
              <a:rPr lang="en-IN" sz="2400" b="1" dirty="0">
                <a:solidFill>
                  <a:schemeClr val="bg1"/>
                </a:solidFill>
                <a:latin typeface="Arial" panose="020B0604020202020204" pitchFamily="34" charset="0"/>
                <a:cs typeface="Arial" panose="020B0604020202020204" pitchFamily="34" charset="0"/>
              </a:rPr>
              <a:t>of Generics</a:t>
            </a:r>
            <a:r>
              <a:rPr lang="en-IN" sz="2400" b="1" dirty="0" smtClean="0">
                <a:solidFill>
                  <a:schemeClr val="bg1"/>
                </a:solidFill>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IN" sz="2400" dirty="0">
                <a:solidFill>
                  <a:schemeClr val="bg1"/>
                </a:solidFill>
                <a:latin typeface="Arial" panose="020B0604020202020204" pitchFamily="34" charset="0"/>
                <a:cs typeface="Arial" panose="020B0604020202020204" pitchFamily="34" charset="0"/>
              </a:rPr>
              <a:t>The primary benefits of generics are </a:t>
            </a:r>
            <a:r>
              <a:rPr lang="en-IN" sz="2400" dirty="0">
                <a:solidFill>
                  <a:srgbClr val="FFC000"/>
                </a:solidFill>
                <a:latin typeface="Arial" panose="020B0604020202020204" pitchFamily="34" charset="0"/>
                <a:cs typeface="Arial" panose="020B0604020202020204" pitchFamily="34" charset="0"/>
              </a:rPr>
              <a:t>increased language expressiveness</a:t>
            </a:r>
            <a:r>
              <a:rPr lang="en-IN" sz="2400" dirty="0">
                <a:solidFill>
                  <a:schemeClr val="bg1"/>
                </a:solidFill>
                <a:latin typeface="Arial" panose="020B0604020202020204" pitchFamily="34" charset="0"/>
                <a:cs typeface="Arial" panose="020B0604020202020204" pitchFamily="34" charset="0"/>
              </a:rPr>
              <a:t> </a:t>
            </a:r>
            <a:r>
              <a:rPr lang="en-IN" sz="2400" dirty="0" smtClean="0">
                <a:solidFill>
                  <a:schemeClr val="bg1"/>
                </a:solidFill>
                <a:latin typeface="Arial" panose="020B0604020202020204" pitchFamily="34" charset="0"/>
                <a:cs typeface="Arial" panose="020B0604020202020204" pitchFamily="34" charset="0"/>
              </a:rPr>
              <a:t>with </a:t>
            </a:r>
            <a:r>
              <a:rPr lang="en-IN" sz="2400" dirty="0" smtClean="0">
                <a:solidFill>
                  <a:srgbClr val="FFC000"/>
                </a:solidFill>
                <a:latin typeface="Arial" panose="020B0604020202020204" pitchFamily="34" charset="0"/>
                <a:cs typeface="Arial" panose="020B0604020202020204" pitchFamily="34" charset="0"/>
              </a:rPr>
              <a:t>improved </a:t>
            </a:r>
            <a:r>
              <a:rPr lang="en-IN" sz="2400" dirty="0">
                <a:solidFill>
                  <a:srgbClr val="FFC000"/>
                </a:solidFill>
                <a:latin typeface="Arial" panose="020B0604020202020204" pitchFamily="34" charset="0"/>
                <a:cs typeface="Arial" panose="020B0604020202020204" pitchFamily="34" charset="0"/>
              </a:rPr>
              <a:t>type safety</a:t>
            </a:r>
            <a:r>
              <a:rPr lang="en-IN" sz="2400" dirty="0">
                <a:solidFill>
                  <a:schemeClr val="bg1"/>
                </a:solidFill>
                <a:latin typeface="Arial" panose="020B0604020202020204" pitchFamily="34" charset="0"/>
                <a:cs typeface="Arial" panose="020B0604020202020204" pitchFamily="34" charset="0"/>
              </a:rPr>
              <a:t>, resulting in </a:t>
            </a:r>
            <a:r>
              <a:rPr lang="en-IN" sz="2400" dirty="0">
                <a:solidFill>
                  <a:srgbClr val="FFC000"/>
                </a:solidFill>
                <a:latin typeface="Arial" panose="020B0604020202020204" pitchFamily="34" charset="0"/>
                <a:cs typeface="Arial" panose="020B0604020202020204" pitchFamily="34" charset="0"/>
              </a:rPr>
              <a:t>improved robustness and reliability of code</a:t>
            </a:r>
            <a:r>
              <a:rPr lang="en-IN" sz="2400" dirty="0" smtClean="0">
                <a:solidFill>
                  <a:schemeClr val="bg1"/>
                </a:solidFill>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IN" sz="2400" dirty="0">
                <a:solidFill>
                  <a:schemeClr val="bg1"/>
                </a:solidFill>
                <a:latin typeface="Arial" panose="020B0604020202020204" pitchFamily="34" charset="0"/>
                <a:cs typeface="Arial" panose="020B0604020202020204" pitchFamily="34" charset="0"/>
              </a:rPr>
              <a:t>Generics </a:t>
            </a:r>
            <a:r>
              <a:rPr lang="en-IN" sz="2400" dirty="0">
                <a:solidFill>
                  <a:srgbClr val="FFC000"/>
                </a:solidFill>
                <a:latin typeface="Arial" panose="020B0604020202020204" pitchFamily="34" charset="0"/>
                <a:cs typeface="Arial" panose="020B0604020202020204" pitchFamily="34" charset="0"/>
              </a:rPr>
              <a:t>avoid verbosity of using casts</a:t>
            </a:r>
            <a:r>
              <a:rPr lang="en-IN" sz="2400" dirty="0">
                <a:solidFill>
                  <a:schemeClr val="bg1"/>
                </a:solidFill>
                <a:latin typeface="Arial" panose="020B0604020202020204" pitchFamily="34" charset="0"/>
                <a:cs typeface="Arial" panose="020B0604020202020204" pitchFamily="34" charset="0"/>
              </a:rPr>
              <a:t> in many contexts, thus improving </a:t>
            </a:r>
            <a:r>
              <a:rPr lang="en-IN" sz="2400" dirty="0" smtClean="0">
                <a:solidFill>
                  <a:schemeClr val="bg1"/>
                </a:solidFill>
                <a:latin typeface="Arial" panose="020B0604020202020204" pitchFamily="34" charset="0"/>
                <a:cs typeface="Arial" panose="020B0604020202020204" pitchFamily="34" charset="0"/>
              </a:rPr>
              <a:t>code clarity</a:t>
            </a:r>
            <a:r>
              <a:rPr lang="en-IN" sz="2400" dirty="0">
                <a:solidFill>
                  <a:schemeClr val="bg1"/>
                </a:solidFill>
                <a:latin typeface="Arial" panose="020B0604020202020204" pitchFamily="34" charset="0"/>
                <a:cs typeface="Arial" panose="020B0604020202020204" pitchFamily="34" charset="0"/>
              </a:rPr>
              <a:t>. Since the </a:t>
            </a:r>
            <a:r>
              <a:rPr lang="en-IN" sz="2400" u="sng" dirty="0">
                <a:solidFill>
                  <a:schemeClr val="bg1"/>
                </a:solidFill>
                <a:latin typeface="Arial" panose="020B0604020202020204" pitchFamily="34" charset="0"/>
                <a:cs typeface="Arial" panose="020B0604020202020204" pitchFamily="34" charset="0"/>
              </a:rPr>
              <a:t>compiler guarantees type-safety</a:t>
            </a:r>
            <a:r>
              <a:rPr lang="en-IN" sz="2400" dirty="0">
                <a:solidFill>
                  <a:schemeClr val="bg1"/>
                </a:solidFill>
                <a:latin typeface="Arial" panose="020B0604020202020204" pitchFamily="34" charset="0"/>
                <a:cs typeface="Arial" panose="020B0604020202020204" pitchFamily="34" charset="0"/>
              </a:rPr>
              <a:t>, this </a:t>
            </a:r>
            <a:r>
              <a:rPr lang="en-IN" sz="2400" u="sng" dirty="0">
                <a:solidFill>
                  <a:schemeClr val="bg1"/>
                </a:solidFill>
                <a:latin typeface="Arial" panose="020B0604020202020204" pitchFamily="34" charset="0"/>
                <a:cs typeface="Arial" panose="020B0604020202020204" pitchFamily="34" charset="0"/>
              </a:rPr>
              <a:t>eliminates the necessity </a:t>
            </a:r>
            <a:r>
              <a:rPr lang="en-IN" sz="2400" u="sng" dirty="0" smtClean="0">
                <a:solidFill>
                  <a:schemeClr val="bg1"/>
                </a:solidFill>
                <a:latin typeface="Arial" panose="020B0604020202020204" pitchFamily="34" charset="0"/>
                <a:cs typeface="Arial" panose="020B0604020202020204" pitchFamily="34" charset="0"/>
              </a:rPr>
              <a:t>of explicit </a:t>
            </a:r>
            <a:r>
              <a:rPr lang="en-IN" sz="2400" u="sng" dirty="0">
                <a:solidFill>
                  <a:schemeClr val="bg1"/>
                </a:solidFill>
                <a:latin typeface="Arial" panose="020B0604020202020204" pitchFamily="34" charset="0"/>
                <a:cs typeface="Arial" panose="020B0604020202020204" pitchFamily="34" charset="0"/>
              </a:rPr>
              <a:t>type checking and casting at runtime</a:t>
            </a:r>
            <a:r>
              <a:rPr lang="en-IN" sz="2400" dirty="0">
                <a:solidFill>
                  <a:schemeClr val="bg1"/>
                </a:solidFill>
                <a:latin typeface="Arial" panose="020B0604020202020204" pitchFamily="34" charset="0"/>
                <a:cs typeface="Arial" panose="020B0604020202020204" pitchFamily="34" charset="0"/>
              </a:rPr>
              <a:t>.</a:t>
            </a:r>
          </a:p>
        </p:txBody>
      </p:sp>
      <p:sp>
        <p:nvSpPr>
          <p:cNvPr id="3" name="TextBox 2"/>
          <p:cNvSpPr txBox="1"/>
          <p:nvPr/>
        </p:nvSpPr>
        <p:spPr>
          <a:xfrm>
            <a:off x="354841" y="163773"/>
            <a:ext cx="7284366" cy="1015663"/>
          </a:xfrm>
          <a:prstGeom prst="rect">
            <a:avLst/>
          </a:prstGeom>
          <a:noFill/>
        </p:spPr>
        <p:txBody>
          <a:bodyPr wrap="none" rtlCol="0">
            <a:spAutoFit/>
          </a:bodyPr>
          <a:lstStyle/>
          <a:p>
            <a:r>
              <a:rPr lang="en-IN" sz="6000" dirty="0" smtClean="0">
                <a:solidFill>
                  <a:schemeClr val="bg1"/>
                </a:solidFill>
                <a:latin typeface="Arial" panose="020B0604020202020204" pitchFamily="34" charset="0"/>
                <a:cs typeface="Arial" panose="020B0604020202020204" pitchFamily="34" charset="0"/>
              </a:rPr>
              <a:t>Introducing Generics</a:t>
            </a:r>
            <a:endParaRPr lang="en-IN" sz="6000" dirty="0">
              <a:solidFill>
                <a:schemeClr val="bg1"/>
              </a:solidFill>
              <a:latin typeface="Arial" panose="020B0604020202020204" pitchFamily="34" charset="0"/>
              <a:cs typeface="Arial" panose="020B0604020202020204" pitchFamily="34" charset="0"/>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702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773" y="1331181"/>
            <a:ext cx="11887200" cy="5078313"/>
          </a:xfrm>
          <a:prstGeom prst="rect">
            <a:avLst/>
          </a:prstGeom>
        </p:spPr>
        <p:txBody>
          <a:bodyPr wrap="square">
            <a:spAutoFit/>
          </a:bodyPr>
          <a:lstStyle/>
          <a:p>
            <a:pPr>
              <a:lnSpc>
                <a:spcPct val="150000"/>
              </a:lnSpc>
            </a:pPr>
            <a:r>
              <a:rPr lang="en-IN" sz="2400" u="sng" dirty="0" smtClean="0">
                <a:solidFill>
                  <a:schemeClr val="bg1"/>
                </a:solidFill>
                <a:latin typeface="Arial" panose="020B0604020202020204" pitchFamily="34" charset="0"/>
                <a:cs typeface="Arial" panose="020B0604020202020204" pitchFamily="34" charset="0"/>
              </a:rPr>
              <a:t>Generics has many benefits over non-generic code:</a:t>
            </a:r>
          </a:p>
          <a:p>
            <a:pPr marL="342900" indent="-342900">
              <a:lnSpc>
                <a:spcPct val="150000"/>
              </a:lnSpc>
              <a:buFont typeface="Arial" panose="020B0604020202020204" pitchFamily="34" charset="0"/>
              <a:buChar char="•"/>
            </a:pPr>
            <a:r>
              <a:rPr lang="en-IN" sz="2400" dirty="0" smtClean="0">
                <a:solidFill>
                  <a:schemeClr val="bg1"/>
                </a:solidFill>
                <a:latin typeface="Arial" panose="020B0604020202020204" pitchFamily="34" charset="0"/>
                <a:cs typeface="Arial" panose="020B0604020202020204" pitchFamily="34" charset="0"/>
              </a:rPr>
              <a:t>Stronger type checks at compile time.</a:t>
            </a:r>
          </a:p>
          <a:p>
            <a:pPr marL="342900" indent="-342900">
              <a:lnSpc>
                <a:spcPct val="150000"/>
              </a:lnSpc>
              <a:buFont typeface="Arial" panose="020B0604020202020204" pitchFamily="34" charset="0"/>
              <a:buChar char="•"/>
            </a:pPr>
            <a:r>
              <a:rPr lang="en-IN" sz="2400" dirty="0" smtClean="0">
                <a:solidFill>
                  <a:schemeClr val="bg1"/>
                </a:solidFill>
                <a:latin typeface="Arial" panose="020B0604020202020204" pitchFamily="34" charset="0"/>
                <a:cs typeface="Arial" panose="020B0604020202020204" pitchFamily="34" charset="0"/>
              </a:rPr>
              <a:t>A Java compiler applies strong type checking to generic code and issues errors if the code violates type safety</a:t>
            </a:r>
            <a:r>
              <a:rPr lang="en-IN" sz="2400" u="sng" dirty="0" smtClean="0">
                <a:solidFill>
                  <a:schemeClr val="bg1"/>
                </a:solidFill>
                <a:latin typeface="Arial" panose="020B0604020202020204" pitchFamily="34" charset="0"/>
                <a:cs typeface="Arial" panose="020B0604020202020204" pitchFamily="34" charset="0"/>
              </a:rPr>
              <a:t>. Fixing compile-time errors is easier than fixing runtime errors, which can be difficult to find</a:t>
            </a:r>
            <a:r>
              <a:rPr lang="en-IN" sz="2400" dirty="0" smtClean="0">
                <a:solidFill>
                  <a:schemeClr val="bg1"/>
                </a:solidFill>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IN" sz="2400" dirty="0" smtClean="0">
                <a:solidFill>
                  <a:schemeClr val="bg1"/>
                </a:solidFill>
                <a:latin typeface="Arial" panose="020B0604020202020204" pitchFamily="34" charset="0"/>
                <a:cs typeface="Arial" panose="020B0604020202020204" pitchFamily="34" charset="0"/>
              </a:rPr>
              <a:t>Elimination of casts.</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List </a:t>
            </a:r>
            <a:r>
              <a:rPr lang="en-IN" sz="2400" dirty="0" err="1" smtClean="0">
                <a:solidFill>
                  <a:schemeClr val="bg1"/>
                </a:solidFill>
                <a:latin typeface="Arial" panose="020B0604020202020204" pitchFamily="34" charset="0"/>
                <a:cs typeface="Arial" panose="020B0604020202020204" pitchFamily="34" charset="0"/>
              </a:rPr>
              <a:t>list</a:t>
            </a:r>
            <a:r>
              <a:rPr lang="en-IN" sz="2400" dirty="0" smtClean="0">
                <a:solidFill>
                  <a:schemeClr val="bg1"/>
                </a:solidFill>
                <a:latin typeface="Arial" panose="020B0604020202020204" pitchFamily="34" charset="0"/>
                <a:cs typeface="Arial" panose="020B0604020202020204" pitchFamily="34" charset="0"/>
              </a:rPr>
              <a:t> = new </a:t>
            </a:r>
            <a:r>
              <a:rPr lang="en-IN" sz="2400" dirty="0" err="1" smtClean="0">
                <a:solidFill>
                  <a:schemeClr val="bg1"/>
                </a:solidFill>
                <a:latin typeface="Arial" panose="020B0604020202020204" pitchFamily="34" charset="0"/>
                <a:cs typeface="Arial" panose="020B0604020202020204" pitchFamily="34" charset="0"/>
              </a:rPr>
              <a:t>ArrayList</a:t>
            </a:r>
            <a:r>
              <a:rPr lang="en-IN" sz="2400" dirty="0" smtClean="0">
                <a:solidFill>
                  <a:schemeClr val="bg1"/>
                </a:solidFill>
                <a:latin typeface="Arial" panose="020B0604020202020204" pitchFamily="34" charset="0"/>
                <a:cs typeface="Arial" panose="020B0604020202020204" pitchFamily="34" charset="0"/>
              </a:rPr>
              <a:t>();</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list.add</a:t>
            </a:r>
            <a:r>
              <a:rPr lang="en-IN" sz="2400" dirty="0" smtClean="0">
                <a:solidFill>
                  <a:schemeClr val="bg1"/>
                </a:solidFill>
                <a:latin typeface="Arial" panose="020B0604020202020204" pitchFamily="34" charset="0"/>
                <a:cs typeface="Arial" panose="020B0604020202020204" pitchFamily="34" charset="0"/>
              </a:rPr>
              <a:t>("hello");</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String s = (String) </a:t>
            </a:r>
            <a:r>
              <a:rPr lang="en-IN" sz="2400" dirty="0" err="1" smtClean="0">
                <a:solidFill>
                  <a:schemeClr val="bg1"/>
                </a:solidFill>
                <a:latin typeface="Arial" panose="020B0604020202020204" pitchFamily="34" charset="0"/>
                <a:cs typeface="Arial" panose="020B0604020202020204" pitchFamily="34" charset="0"/>
              </a:rPr>
              <a:t>list.get</a:t>
            </a:r>
            <a:r>
              <a:rPr lang="en-IN" sz="2400" dirty="0" smtClean="0">
                <a:solidFill>
                  <a:schemeClr val="bg1"/>
                </a:solidFill>
                <a:latin typeface="Arial" panose="020B0604020202020204" pitchFamily="34" charset="0"/>
                <a:cs typeface="Arial" panose="020B0604020202020204" pitchFamily="34" charset="0"/>
              </a:rPr>
              <a:t>(0);</a:t>
            </a:r>
          </a:p>
        </p:txBody>
      </p:sp>
      <p:sp>
        <p:nvSpPr>
          <p:cNvPr id="3" name="TextBox 2"/>
          <p:cNvSpPr txBox="1"/>
          <p:nvPr/>
        </p:nvSpPr>
        <p:spPr>
          <a:xfrm>
            <a:off x="354841" y="163773"/>
            <a:ext cx="7284366" cy="1015663"/>
          </a:xfrm>
          <a:prstGeom prst="rect">
            <a:avLst/>
          </a:prstGeom>
          <a:noFill/>
        </p:spPr>
        <p:txBody>
          <a:bodyPr wrap="none" rtlCol="0">
            <a:spAutoFit/>
          </a:bodyPr>
          <a:lstStyle/>
          <a:p>
            <a:r>
              <a:rPr lang="en-IN" sz="6000" dirty="0" smtClean="0">
                <a:solidFill>
                  <a:schemeClr val="bg1"/>
                </a:solidFill>
                <a:latin typeface="Arial" panose="020B0604020202020204" pitchFamily="34" charset="0"/>
                <a:cs typeface="Arial" panose="020B0604020202020204" pitchFamily="34" charset="0"/>
              </a:rPr>
              <a:t>Introducing Generics</a:t>
            </a:r>
            <a:endParaRPr lang="en-IN" sz="6000" dirty="0">
              <a:solidFill>
                <a:schemeClr val="bg1"/>
              </a:solidFill>
              <a:latin typeface="Arial" panose="020B0604020202020204" pitchFamily="34" charset="0"/>
              <a:cs typeface="Arial" panose="020B0604020202020204" pitchFamily="34" charset="0"/>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6223379" y="4141770"/>
            <a:ext cx="5968621" cy="2215991"/>
          </a:xfrm>
          <a:prstGeom prst="rect">
            <a:avLst/>
          </a:prstGeom>
        </p:spPr>
        <p:txBody>
          <a:bodyPr wrap="square">
            <a:spAutoFit/>
          </a:bodyPr>
          <a:lstStyle/>
          <a:p>
            <a:pPr>
              <a:lnSpc>
                <a:spcPct val="150000"/>
              </a:lnSpc>
            </a:pPr>
            <a:r>
              <a:rPr lang="en-IN" sz="2000" u="sng" dirty="0">
                <a:solidFill>
                  <a:schemeClr val="bg1"/>
                </a:solidFill>
                <a:latin typeface="Arial" panose="020B0604020202020204" pitchFamily="34" charset="0"/>
                <a:cs typeface="Arial" panose="020B0604020202020204" pitchFamily="34" charset="0"/>
              </a:rPr>
              <a:t>Using generics, code does not require casting: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List&lt;</a:t>
            </a:r>
            <a:r>
              <a:rPr lang="en-IN" sz="2400" dirty="0" smtClean="0">
                <a:solidFill>
                  <a:srgbClr val="FFC000"/>
                </a:solidFill>
                <a:latin typeface="Arial" panose="020B0604020202020204" pitchFamily="34" charset="0"/>
                <a:cs typeface="Arial" panose="020B0604020202020204" pitchFamily="34" charset="0"/>
              </a:rPr>
              <a:t>String</a:t>
            </a:r>
            <a:r>
              <a:rPr lang="en-IN" sz="2400" dirty="0">
                <a:solidFill>
                  <a:schemeClr val="bg1"/>
                </a:solidFill>
                <a:latin typeface="Arial" panose="020B0604020202020204" pitchFamily="34" charset="0"/>
                <a:cs typeface="Arial" panose="020B0604020202020204" pitchFamily="34" charset="0"/>
              </a:rPr>
              <a:t>&gt; list = new </a:t>
            </a:r>
            <a:r>
              <a:rPr lang="en-IN" sz="2400" dirty="0" err="1">
                <a:solidFill>
                  <a:schemeClr val="bg1"/>
                </a:solidFill>
                <a:latin typeface="Arial" panose="020B0604020202020204" pitchFamily="34" charset="0"/>
                <a:cs typeface="Arial" panose="020B0604020202020204" pitchFamily="34" charset="0"/>
              </a:rPr>
              <a:t>ArrayList</a:t>
            </a:r>
            <a:r>
              <a:rPr lang="en-IN" sz="2400" dirty="0">
                <a:solidFill>
                  <a:schemeClr val="bg1"/>
                </a:solidFill>
                <a:latin typeface="Arial" panose="020B0604020202020204" pitchFamily="34" charset="0"/>
                <a:cs typeface="Arial" panose="020B0604020202020204" pitchFamily="34" charset="0"/>
              </a:rPr>
              <a:t>&lt;</a:t>
            </a:r>
            <a:r>
              <a:rPr lang="en-IN" sz="2400" dirty="0">
                <a:solidFill>
                  <a:srgbClr val="FFC000"/>
                </a:solidFill>
                <a:latin typeface="Arial" panose="020B0604020202020204" pitchFamily="34" charset="0"/>
                <a:cs typeface="Arial" panose="020B0604020202020204" pitchFamily="34" charset="0"/>
              </a:rPr>
              <a:t>String</a:t>
            </a:r>
            <a:r>
              <a:rPr lang="en-IN" sz="2400" dirty="0">
                <a:solidFill>
                  <a:schemeClr val="bg1"/>
                </a:solidFill>
                <a:latin typeface="Arial" panose="020B0604020202020204" pitchFamily="34" charset="0"/>
                <a:cs typeface="Arial" panose="020B0604020202020204" pitchFamily="34" charset="0"/>
              </a:rPr>
              <a:t>&gt;();</a:t>
            </a:r>
          </a:p>
          <a:p>
            <a:pPr>
              <a:lnSpc>
                <a:spcPct val="150000"/>
              </a:lnSpc>
            </a:pPr>
            <a:r>
              <a:rPr lang="en-IN" sz="2400" dirty="0" err="1">
                <a:solidFill>
                  <a:schemeClr val="bg1"/>
                </a:solidFill>
                <a:latin typeface="Arial" panose="020B0604020202020204" pitchFamily="34" charset="0"/>
                <a:cs typeface="Arial" panose="020B0604020202020204" pitchFamily="34" charset="0"/>
              </a:rPr>
              <a:t>list.add</a:t>
            </a:r>
            <a:r>
              <a:rPr lang="en-IN" sz="2400" dirty="0">
                <a:solidFill>
                  <a:schemeClr val="bg1"/>
                </a:solidFill>
                <a:latin typeface="Arial" panose="020B0604020202020204" pitchFamily="34" charset="0"/>
                <a:cs typeface="Arial" panose="020B0604020202020204" pitchFamily="34" charset="0"/>
              </a:rPr>
              <a:t>("hello");</a:t>
            </a:r>
          </a:p>
          <a:p>
            <a:pPr>
              <a:lnSpc>
                <a:spcPct val="150000"/>
              </a:lnSpc>
            </a:pPr>
            <a:r>
              <a:rPr lang="en-IN" sz="2400" dirty="0">
                <a:solidFill>
                  <a:schemeClr val="bg1"/>
                </a:solidFill>
                <a:latin typeface="Arial" panose="020B0604020202020204" pitchFamily="34" charset="0"/>
                <a:cs typeface="Arial" panose="020B0604020202020204" pitchFamily="34" charset="0"/>
              </a:rPr>
              <a:t>String s = </a:t>
            </a:r>
            <a:r>
              <a:rPr lang="en-IN" sz="2400" dirty="0" err="1">
                <a:solidFill>
                  <a:schemeClr val="bg1"/>
                </a:solidFill>
                <a:latin typeface="Arial" panose="020B0604020202020204" pitchFamily="34" charset="0"/>
                <a:cs typeface="Arial" panose="020B0604020202020204" pitchFamily="34" charset="0"/>
              </a:rPr>
              <a:t>list.get</a:t>
            </a:r>
            <a:r>
              <a:rPr lang="en-IN" sz="2400" dirty="0">
                <a:solidFill>
                  <a:schemeClr val="bg1"/>
                </a:solidFill>
                <a:latin typeface="Arial" panose="020B0604020202020204" pitchFamily="34" charset="0"/>
                <a:cs typeface="Arial" panose="020B0604020202020204" pitchFamily="34" charset="0"/>
              </a:rPr>
              <a:t>(0);   // no cast</a:t>
            </a:r>
          </a:p>
        </p:txBody>
      </p:sp>
    </p:spTree>
    <p:extLst>
      <p:ext uri="{BB962C8B-B14F-4D97-AF65-F5344CB8AC3E}">
        <p14:creationId xmlns:p14="http://schemas.microsoft.com/office/powerpoint/2010/main" val="395045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fade">
                                      <p:cBhvr>
                                        <p:cTn id="20" dur="500"/>
                                        <p:tgtEl>
                                          <p:spTgt spid="2">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fade">
                                      <p:cBhvr>
                                        <p:cTn id="23" dur="500"/>
                                        <p:tgtEl>
                                          <p:spTgt spid="2">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fade">
                                      <p:cBhvr>
                                        <p:cTn id="26" dur="500"/>
                                        <p:tgtEl>
                                          <p:spTgt spid="2">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773" y="1467655"/>
            <a:ext cx="11887200" cy="2308324"/>
          </a:xfrm>
          <a:prstGeom prst="rect">
            <a:avLst/>
          </a:prstGeom>
        </p:spPr>
        <p:txBody>
          <a:bodyPr wrap="square">
            <a:spAutoFit/>
          </a:bodyPr>
          <a:lstStyle/>
          <a:p>
            <a:pPr marL="342900" indent="-342900">
              <a:lnSpc>
                <a:spcPct val="150000"/>
              </a:lnSpc>
              <a:buFont typeface="Arial" panose="020B0604020202020204" pitchFamily="34" charset="0"/>
              <a:buChar char="•"/>
            </a:pPr>
            <a:r>
              <a:rPr lang="en-IN" sz="2400" dirty="0" smtClean="0">
                <a:solidFill>
                  <a:schemeClr val="bg1"/>
                </a:solidFill>
                <a:latin typeface="Arial" panose="020B0604020202020204" pitchFamily="34" charset="0"/>
                <a:cs typeface="Arial" panose="020B0604020202020204" pitchFamily="34" charset="0"/>
              </a:rPr>
              <a:t>Enabling programmers to implement generic algorithms.</a:t>
            </a:r>
          </a:p>
          <a:p>
            <a:pPr marL="342900" indent="-342900">
              <a:lnSpc>
                <a:spcPct val="150000"/>
              </a:lnSpc>
              <a:buFont typeface="Arial" panose="020B0604020202020204" pitchFamily="34" charset="0"/>
              <a:buChar char="•"/>
            </a:pPr>
            <a:r>
              <a:rPr lang="en-IN" sz="2400" dirty="0" smtClean="0">
                <a:solidFill>
                  <a:schemeClr val="bg1"/>
                </a:solidFill>
                <a:latin typeface="Arial" panose="020B0604020202020204" pitchFamily="34" charset="0"/>
                <a:cs typeface="Arial" panose="020B0604020202020204" pitchFamily="34" charset="0"/>
              </a:rPr>
              <a:t>By using generics, programmers can implement </a:t>
            </a:r>
            <a:r>
              <a:rPr lang="en-IN" sz="2400" u="sng" dirty="0" smtClean="0">
                <a:solidFill>
                  <a:schemeClr val="bg1"/>
                </a:solidFill>
                <a:latin typeface="Arial" panose="020B0604020202020204" pitchFamily="34" charset="0"/>
                <a:cs typeface="Arial" panose="020B0604020202020204" pitchFamily="34" charset="0"/>
              </a:rPr>
              <a:t>generic algorithms that work on collections of different types</a:t>
            </a:r>
            <a:r>
              <a:rPr lang="en-IN" sz="2400" dirty="0" smtClean="0">
                <a:solidFill>
                  <a:schemeClr val="bg1"/>
                </a:solidFill>
                <a:latin typeface="Arial" panose="020B0604020202020204" pitchFamily="34" charset="0"/>
                <a:cs typeface="Arial" panose="020B0604020202020204" pitchFamily="34" charset="0"/>
              </a:rPr>
              <a:t>, can be customized, and are </a:t>
            </a:r>
            <a:r>
              <a:rPr lang="en-IN" sz="2400" u="sng" dirty="0" smtClean="0">
                <a:solidFill>
                  <a:schemeClr val="bg1"/>
                </a:solidFill>
                <a:latin typeface="Arial" panose="020B0604020202020204" pitchFamily="34" charset="0"/>
                <a:cs typeface="Arial" panose="020B0604020202020204" pitchFamily="34" charset="0"/>
              </a:rPr>
              <a:t>type safe and easier to read</a:t>
            </a: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p:txBody>
      </p:sp>
      <p:sp>
        <p:nvSpPr>
          <p:cNvPr id="3" name="TextBox 2"/>
          <p:cNvSpPr txBox="1"/>
          <p:nvPr/>
        </p:nvSpPr>
        <p:spPr>
          <a:xfrm>
            <a:off x="354841" y="163773"/>
            <a:ext cx="7284366" cy="1015663"/>
          </a:xfrm>
          <a:prstGeom prst="rect">
            <a:avLst/>
          </a:prstGeom>
          <a:noFill/>
        </p:spPr>
        <p:txBody>
          <a:bodyPr wrap="none" rtlCol="0">
            <a:spAutoFit/>
          </a:bodyPr>
          <a:lstStyle/>
          <a:p>
            <a:r>
              <a:rPr lang="en-IN" sz="6000" dirty="0" smtClean="0">
                <a:solidFill>
                  <a:schemeClr val="bg1"/>
                </a:solidFill>
                <a:latin typeface="Arial" panose="020B0604020202020204" pitchFamily="34" charset="0"/>
                <a:cs typeface="Arial" panose="020B0604020202020204" pitchFamily="34" charset="0"/>
              </a:rPr>
              <a:t>Introducing Generics</a:t>
            </a:r>
            <a:endParaRPr lang="en-IN" sz="6000" dirty="0">
              <a:solidFill>
                <a:schemeClr val="bg1"/>
              </a:solidFill>
              <a:latin typeface="Arial" panose="020B0604020202020204" pitchFamily="34" charset="0"/>
              <a:cs typeface="Arial" panose="020B0604020202020204" pitchFamily="34" charset="0"/>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955" y="1413066"/>
            <a:ext cx="11778018" cy="5632311"/>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A </a:t>
            </a:r>
            <a:r>
              <a:rPr lang="en-IN" sz="2400" b="1" u="sng" dirty="0">
                <a:solidFill>
                  <a:schemeClr val="bg1"/>
                </a:solidFill>
                <a:latin typeface="Arial" panose="020B0604020202020204" pitchFamily="34" charset="0"/>
                <a:cs typeface="Arial" panose="020B0604020202020204" pitchFamily="34" charset="0"/>
              </a:rPr>
              <a:t>generic type</a:t>
            </a:r>
            <a:r>
              <a:rPr lang="en-IN" sz="2400" dirty="0">
                <a:solidFill>
                  <a:schemeClr val="bg1"/>
                </a:solidFill>
                <a:latin typeface="Arial" panose="020B0604020202020204" pitchFamily="34" charset="0"/>
                <a:cs typeface="Arial" panose="020B0604020202020204" pitchFamily="34" charset="0"/>
              </a:rPr>
              <a:t> is a reference type that defines a </a:t>
            </a:r>
            <a:r>
              <a:rPr lang="en-IN" sz="2400" u="sng" dirty="0">
                <a:solidFill>
                  <a:schemeClr val="bg1"/>
                </a:solidFill>
                <a:latin typeface="Arial" panose="020B0604020202020204" pitchFamily="34" charset="0"/>
                <a:cs typeface="Arial" panose="020B0604020202020204" pitchFamily="34" charset="0"/>
              </a:rPr>
              <a:t>list of formal type parameters or </a:t>
            </a:r>
            <a:r>
              <a:rPr lang="en-IN" sz="2400" u="sng" dirty="0" smtClean="0">
                <a:solidFill>
                  <a:schemeClr val="bg1"/>
                </a:solidFill>
                <a:latin typeface="Arial" panose="020B0604020202020204" pitchFamily="34" charset="0"/>
                <a:cs typeface="Arial" panose="020B0604020202020204" pitchFamily="34" charset="0"/>
              </a:rPr>
              <a:t>type variables </a:t>
            </a:r>
            <a:r>
              <a:rPr lang="en-IN" sz="2400" u="sng" dirty="0">
                <a:solidFill>
                  <a:schemeClr val="bg1"/>
                </a:solidFill>
                <a:latin typeface="Arial" panose="020B0604020202020204" pitchFamily="34" charset="0"/>
                <a:cs typeface="Arial" panose="020B0604020202020204" pitchFamily="34" charset="0"/>
              </a:rPr>
              <a:t>(T1, T2, ..., </a:t>
            </a:r>
            <a:r>
              <a:rPr lang="en-IN" sz="2400" u="sng" dirty="0" err="1">
                <a:solidFill>
                  <a:schemeClr val="bg1"/>
                </a:solidFill>
                <a:latin typeface="Arial" panose="020B0604020202020204" pitchFamily="34" charset="0"/>
                <a:cs typeface="Arial" panose="020B0604020202020204" pitchFamily="34" charset="0"/>
              </a:rPr>
              <a:t>Tn</a:t>
            </a:r>
            <a:r>
              <a:rPr lang="en-IN" sz="2400" u="sng" dirty="0">
                <a:solidFill>
                  <a:schemeClr val="bg1"/>
                </a:solidFill>
                <a:latin typeface="Arial" panose="020B0604020202020204" pitchFamily="34" charset="0"/>
                <a:cs typeface="Arial" panose="020B0604020202020204" pitchFamily="34" charset="0"/>
              </a:rPr>
              <a:t>)</a:t>
            </a:r>
            <a:r>
              <a:rPr lang="en-IN" sz="2400" dirty="0">
                <a:solidFill>
                  <a:schemeClr val="bg1"/>
                </a:solidFill>
                <a:latin typeface="Arial" panose="020B0604020202020204" pitchFamily="34" charset="0"/>
                <a:cs typeface="Arial" panose="020B0604020202020204" pitchFamily="34" charset="0"/>
              </a:rPr>
              <a:t> that </a:t>
            </a:r>
            <a:r>
              <a:rPr lang="en-IN" sz="2400" u="sng" dirty="0">
                <a:solidFill>
                  <a:schemeClr val="bg1"/>
                </a:solidFill>
                <a:latin typeface="Arial" panose="020B0604020202020204" pitchFamily="34" charset="0"/>
                <a:cs typeface="Arial" panose="020B0604020202020204" pitchFamily="34" charset="0"/>
              </a:rPr>
              <a:t>must be provided before it can be used as a type</a:t>
            </a:r>
            <a:r>
              <a:rPr lang="en-IN" sz="2400" dirty="0" smtClean="0">
                <a:solidFill>
                  <a:schemeClr val="bg1"/>
                </a:solidFill>
                <a:latin typeface="Arial" panose="020B0604020202020204" pitchFamily="34" charset="0"/>
                <a:cs typeface="Arial" panose="020B0604020202020204" pitchFamily="34" charset="0"/>
              </a:rPr>
              <a:t>.</a:t>
            </a:r>
          </a:p>
          <a:p>
            <a:pPr>
              <a:lnSpc>
                <a:spcPct val="150000"/>
              </a:lnSpc>
            </a:pPr>
            <a:r>
              <a:rPr lang="en-IN" sz="2400" dirty="0">
                <a:solidFill>
                  <a:schemeClr val="bg1"/>
                </a:solidFill>
                <a:latin typeface="Arial" panose="020B0604020202020204" pitchFamily="34" charset="0"/>
                <a:cs typeface="Arial" panose="020B0604020202020204" pitchFamily="34" charset="0"/>
              </a:rPr>
              <a:t>The most commonly used type parameter names are:</a:t>
            </a:r>
          </a:p>
          <a:p>
            <a:pPr marL="800100" lvl="1" indent="-342900">
              <a:lnSpc>
                <a:spcPct val="150000"/>
              </a:lnSpc>
              <a:buFont typeface="Arial" panose="020B0604020202020204" pitchFamily="34" charset="0"/>
              <a:buChar char="•"/>
            </a:pPr>
            <a:r>
              <a:rPr lang="en-IN" sz="2400" dirty="0">
                <a:solidFill>
                  <a:srgbClr val="FFC000"/>
                </a:solidFill>
                <a:latin typeface="Arial" panose="020B0604020202020204" pitchFamily="34" charset="0"/>
                <a:cs typeface="Arial" panose="020B0604020202020204" pitchFamily="34" charset="0"/>
              </a:rPr>
              <a:t>E</a:t>
            </a:r>
            <a:r>
              <a:rPr lang="en-IN" sz="2400" dirty="0">
                <a:solidFill>
                  <a:schemeClr val="bg1"/>
                </a:solidFill>
                <a:latin typeface="Arial" panose="020B0604020202020204" pitchFamily="34" charset="0"/>
                <a:cs typeface="Arial" panose="020B0604020202020204" pitchFamily="34" charset="0"/>
              </a:rPr>
              <a:t> – Element </a:t>
            </a:r>
            <a:endParaRPr lang="en-IN" sz="2400" dirty="0" smtClean="0">
              <a:solidFill>
                <a:schemeClr val="bg1"/>
              </a:solidFill>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IN" sz="2400" dirty="0" smtClean="0">
                <a:solidFill>
                  <a:srgbClr val="FFC000"/>
                </a:solidFill>
                <a:latin typeface="Arial" panose="020B0604020202020204" pitchFamily="34" charset="0"/>
                <a:cs typeface="Arial" panose="020B0604020202020204" pitchFamily="34" charset="0"/>
              </a:rPr>
              <a:t>K</a:t>
            </a: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 Key </a:t>
            </a:r>
            <a:endParaRPr lang="en-IN" sz="2400" dirty="0" smtClean="0">
              <a:solidFill>
                <a:schemeClr val="bg1"/>
              </a:solidFill>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IN" sz="2400" dirty="0" smtClean="0">
                <a:solidFill>
                  <a:srgbClr val="FFC000"/>
                </a:solidFill>
                <a:latin typeface="Arial" panose="020B0604020202020204" pitchFamily="34" charset="0"/>
                <a:cs typeface="Arial" panose="020B0604020202020204" pitchFamily="34" charset="0"/>
              </a:rPr>
              <a:t>N</a:t>
            </a: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 Number</a:t>
            </a:r>
          </a:p>
          <a:p>
            <a:pPr marL="800100" lvl="1" indent="-342900">
              <a:lnSpc>
                <a:spcPct val="150000"/>
              </a:lnSpc>
              <a:buFont typeface="Arial" panose="020B0604020202020204" pitchFamily="34" charset="0"/>
              <a:buChar char="•"/>
            </a:pPr>
            <a:r>
              <a:rPr lang="en-IN" sz="2400" dirty="0">
                <a:solidFill>
                  <a:srgbClr val="FFC000"/>
                </a:solidFill>
                <a:latin typeface="Arial" panose="020B0604020202020204" pitchFamily="34" charset="0"/>
                <a:cs typeface="Arial" panose="020B0604020202020204" pitchFamily="34" charset="0"/>
              </a:rPr>
              <a:t>T</a:t>
            </a:r>
            <a:r>
              <a:rPr lang="en-IN" sz="2400" dirty="0">
                <a:solidFill>
                  <a:schemeClr val="bg1"/>
                </a:solidFill>
                <a:latin typeface="Arial" panose="020B0604020202020204" pitchFamily="34" charset="0"/>
                <a:cs typeface="Arial" panose="020B0604020202020204" pitchFamily="34" charset="0"/>
              </a:rPr>
              <a:t> – Type</a:t>
            </a:r>
          </a:p>
          <a:p>
            <a:pPr marL="800100" lvl="1" indent="-342900">
              <a:lnSpc>
                <a:spcPct val="150000"/>
              </a:lnSpc>
              <a:buFont typeface="Arial" panose="020B0604020202020204" pitchFamily="34" charset="0"/>
              <a:buChar char="•"/>
            </a:pPr>
            <a:r>
              <a:rPr lang="en-IN" sz="2400" dirty="0">
                <a:solidFill>
                  <a:srgbClr val="FFC000"/>
                </a:solidFill>
                <a:latin typeface="Arial" panose="020B0604020202020204" pitchFamily="34" charset="0"/>
                <a:cs typeface="Arial" panose="020B0604020202020204" pitchFamily="34" charset="0"/>
              </a:rPr>
              <a:t>V</a:t>
            </a:r>
            <a:r>
              <a:rPr lang="en-IN" sz="2400" dirty="0">
                <a:solidFill>
                  <a:schemeClr val="bg1"/>
                </a:solidFill>
                <a:latin typeface="Arial" panose="020B0604020202020204" pitchFamily="34" charset="0"/>
                <a:cs typeface="Arial" panose="020B0604020202020204" pitchFamily="34" charset="0"/>
              </a:rPr>
              <a:t> – Value (Used in Map)</a:t>
            </a:r>
          </a:p>
          <a:p>
            <a:pPr marL="800100" lvl="1" indent="-342900">
              <a:lnSpc>
                <a:spcPct val="150000"/>
              </a:lnSpc>
              <a:buFont typeface="Arial" panose="020B0604020202020204" pitchFamily="34" charset="0"/>
              <a:buChar char="•"/>
            </a:pPr>
            <a:r>
              <a:rPr lang="en-IN" sz="2400" dirty="0">
                <a:solidFill>
                  <a:srgbClr val="FFC000"/>
                </a:solidFill>
                <a:latin typeface="Arial" panose="020B0604020202020204" pitchFamily="34" charset="0"/>
                <a:cs typeface="Arial" panose="020B0604020202020204" pitchFamily="34" charset="0"/>
              </a:rPr>
              <a:t>S</a:t>
            </a:r>
            <a:r>
              <a:rPr lang="en-IN" sz="2400" dirty="0">
                <a:solidFill>
                  <a:schemeClr val="bg1"/>
                </a:solidFill>
                <a:latin typeface="Arial" panose="020B0604020202020204" pitchFamily="34" charset="0"/>
                <a:cs typeface="Arial" panose="020B0604020202020204" pitchFamily="34" charset="0"/>
              </a:rPr>
              <a:t>,</a:t>
            </a:r>
            <a:r>
              <a:rPr lang="en-IN" sz="2400" dirty="0">
                <a:solidFill>
                  <a:srgbClr val="FFC000"/>
                </a:solidFill>
                <a:latin typeface="Arial" panose="020B0604020202020204" pitchFamily="34" charset="0"/>
                <a:cs typeface="Arial" panose="020B0604020202020204" pitchFamily="34" charset="0"/>
              </a:rPr>
              <a:t>U</a:t>
            </a:r>
            <a:r>
              <a:rPr lang="en-IN" sz="2400" dirty="0">
                <a:solidFill>
                  <a:schemeClr val="bg1"/>
                </a:solidFill>
                <a:latin typeface="Arial" panose="020B0604020202020204" pitchFamily="34" charset="0"/>
                <a:cs typeface="Arial" panose="020B0604020202020204" pitchFamily="34" charset="0"/>
              </a:rPr>
              <a:t>,</a:t>
            </a:r>
            <a:r>
              <a:rPr lang="en-IN" sz="2400" dirty="0">
                <a:solidFill>
                  <a:srgbClr val="FFC000"/>
                </a:solidFill>
                <a:latin typeface="Arial" panose="020B0604020202020204" pitchFamily="34" charset="0"/>
                <a:cs typeface="Arial" panose="020B0604020202020204" pitchFamily="34" charset="0"/>
              </a:rPr>
              <a:t>V</a:t>
            </a:r>
            <a:r>
              <a:rPr lang="en-IN" sz="2400" dirty="0">
                <a:solidFill>
                  <a:schemeClr val="bg1"/>
                </a:solidFill>
                <a:latin typeface="Arial" panose="020B0604020202020204" pitchFamily="34" charset="0"/>
                <a:cs typeface="Arial" panose="020B0604020202020204" pitchFamily="34" charset="0"/>
              </a:rPr>
              <a:t> etc. – 2nd, 3rd, 4th types</a:t>
            </a:r>
          </a:p>
          <a:p>
            <a:pPr>
              <a:lnSpc>
                <a:spcPct val="150000"/>
              </a:lnSpc>
            </a:pPr>
            <a:endParaRPr lang="en-IN" sz="2400" dirty="0" smtClean="0">
              <a:solidFill>
                <a:schemeClr val="bg1"/>
              </a:solidFill>
              <a:latin typeface="Arial" panose="020B0604020202020204" pitchFamily="34" charset="0"/>
              <a:cs typeface="Arial" panose="020B0604020202020204" pitchFamily="34" charset="0"/>
            </a:endParaRPr>
          </a:p>
        </p:txBody>
      </p:sp>
      <p:sp>
        <p:nvSpPr>
          <p:cNvPr id="3" name="TextBox 2"/>
          <p:cNvSpPr txBox="1"/>
          <p:nvPr/>
        </p:nvSpPr>
        <p:spPr>
          <a:xfrm>
            <a:off x="-81894" y="136477"/>
            <a:ext cx="12552988" cy="1015663"/>
          </a:xfrm>
          <a:prstGeom prst="rect">
            <a:avLst/>
          </a:prstGeom>
          <a:noFill/>
        </p:spPr>
        <p:txBody>
          <a:bodyPr wrap="none" rtlCol="0">
            <a:spAutoFit/>
          </a:bodyPr>
          <a:lstStyle/>
          <a:p>
            <a:r>
              <a:rPr lang="en-IN" sz="5800" dirty="0">
                <a:solidFill>
                  <a:schemeClr val="bg1"/>
                </a:solidFill>
              </a:rPr>
              <a:t>Generic Types and Parameterized Types</a:t>
            </a: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043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fade">
                                      <p:cBhvr>
                                        <p:cTn id="13" dur="500"/>
                                        <p:tgtEl>
                                          <p:spTgt spid="2">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fade">
                                      <p:cBhvr>
                                        <p:cTn id="16" dur="500"/>
                                        <p:tgtEl>
                                          <p:spTgt spid="2">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500"/>
                                        <p:tgtEl>
                                          <p:spTgt spid="2">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fade">
                                      <p:cBhvr>
                                        <p:cTn id="22" dur="500"/>
                                        <p:tgtEl>
                                          <p:spTgt spid="2">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Effect transition="in" filter="fade">
                                      <p:cBhvr>
                                        <p:cTn id="25"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4841" y="163773"/>
            <a:ext cx="7075207" cy="1015663"/>
          </a:xfrm>
          <a:prstGeom prst="rect">
            <a:avLst/>
          </a:prstGeom>
          <a:noFill/>
        </p:spPr>
        <p:txBody>
          <a:bodyPr wrap="none" rtlCol="0">
            <a:spAutoFit/>
          </a:bodyPr>
          <a:lstStyle/>
          <a:p>
            <a:r>
              <a:rPr lang="en-IN" sz="6000" dirty="0" smtClean="0">
                <a:solidFill>
                  <a:schemeClr val="bg1"/>
                </a:solidFill>
              </a:rPr>
              <a:t>Generic Type Example</a:t>
            </a:r>
            <a:endParaRPr lang="en-IN" sz="6000" dirty="0">
              <a:solidFill>
                <a:schemeClr val="bg1"/>
              </a:solidFill>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95783" y="1179436"/>
            <a:ext cx="6725453" cy="5632311"/>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public class </a:t>
            </a:r>
            <a:r>
              <a:rPr lang="en-IN" sz="2400" dirty="0" err="1">
                <a:solidFill>
                  <a:schemeClr val="bg1"/>
                </a:solidFill>
                <a:latin typeface="Arial" panose="020B0604020202020204" pitchFamily="34" charset="0"/>
                <a:cs typeface="Arial" panose="020B0604020202020204" pitchFamily="34" charset="0"/>
              </a:rPr>
              <a:t>TypeTest</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a:solidFill>
                  <a:schemeClr val="bg1"/>
                </a:solidFill>
                <a:latin typeface="Arial" panose="020B0604020202020204" pitchFamily="34" charset="0"/>
                <a:cs typeface="Arial" panose="020B0604020202020204" pitchFamily="34" charset="0"/>
              </a:rPr>
              <a:t>static void main(String </a:t>
            </a:r>
            <a:r>
              <a:rPr lang="en-IN" sz="2400" dirty="0" err="1">
                <a:solidFill>
                  <a:schemeClr val="bg1"/>
                </a:solidFill>
                <a:latin typeface="Arial" panose="020B0604020202020204" pitchFamily="34" charset="0"/>
                <a:cs typeface="Arial" panose="020B0604020202020204" pitchFamily="34" charset="0"/>
              </a:rPr>
              <a:t>args</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MyGen</a:t>
            </a:r>
            <a:r>
              <a:rPr lang="en-IN" sz="2400" dirty="0" smtClean="0">
                <a:solidFill>
                  <a:srgbClr val="FFC000"/>
                </a:solidFill>
                <a:latin typeface="Arial" panose="020B0604020202020204" pitchFamily="34" charset="0"/>
                <a:cs typeface="Arial" panose="020B0604020202020204" pitchFamily="34" charset="0"/>
              </a:rPr>
              <a:t>&lt;</a:t>
            </a:r>
            <a:r>
              <a:rPr lang="en-IN" sz="2400" dirty="0" smtClean="0">
                <a:solidFill>
                  <a:schemeClr val="bg1"/>
                </a:solidFill>
                <a:latin typeface="Arial" panose="020B0604020202020204" pitchFamily="34" charset="0"/>
                <a:cs typeface="Arial" panose="020B0604020202020204" pitchFamily="34" charset="0"/>
              </a:rPr>
              <a:t>Integer</a:t>
            </a:r>
            <a:r>
              <a:rPr lang="en-IN" sz="2400" dirty="0">
                <a:solidFill>
                  <a:srgbClr val="FFC000"/>
                </a:solidFill>
                <a:latin typeface="Arial" panose="020B0604020202020204" pitchFamily="34" charset="0"/>
                <a:cs typeface="Arial" panose="020B0604020202020204" pitchFamily="34" charset="0"/>
              </a:rPr>
              <a:t>&gt;</a:t>
            </a:r>
            <a:r>
              <a:rPr lang="en-IN" sz="2400" dirty="0">
                <a:solidFill>
                  <a:schemeClr val="bg1"/>
                </a:solidFill>
                <a:latin typeface="Arial" panose="020B0604020202020204" pitchFamily="34" charset="0"/>
                <a:cs typeface="Arial" panose="020B0604020202020204" pitchFamily="34" charset="0"/>
              </a:rPr>
              <a:t> </a:t>
            </a:r>
            <a:r>
              <a:rPr lang="en-IN" sz="2400" dirty="0" smtClean="0">
                <a:solidFill>
                  <a:schemeClr val="bg1"/>
                </a:solidFill>
                <a:latin typeface="Arial" panose="020B0604020202020204" pitchFamily="34" charset="0"/>
                <a:cs typeface="Arial" panose="020B0604020202020204" pitchFamily="34" charset="0"/>
              </a:rPr>
              <a:t>m1=new </a:t>
            </a:r>
            <a:r>
              <a:rPr lang="en-IN" sz="2400" dirty="0" err="1" smtClean="0">
                <a:solidFill>
                  <a:schemeClr val="bg1"/>
                </a:solidFill>
                <a:latin typeface="Arial" panose="020B0604020202020204" pitchFamily="34" charset="0"/>
                <a:cs typeface="Arial" panose="020B0604020202020204" pitchFamily="34" charset="0"/>
              </a:rPr>
              <a:t>MyGen</a:t>
            </a:r>
            <a:r>
              <a:rPr lang="en-IN" sz="2400" dirty="0" smtClean="0">
                <a:solidFill>
                  <a:srgbClr val="FFC000"/>
                </a:solidFill>
                <a:latin typeface="Arial" panose="020B0604020202020204" pitchFamily="34" charset="0"/>
                <a:cs typeface="Arial" panose="020B0604020202020204" pitchFamily="34" charset="0"/>
              </a:rPr>
              <a:t>&lt;</a:t>
            </a:r>
            <a:r>
              <a:rPr lang="en-IN" sz="2400" dirty="0" smtClean="0">
                <a:solidFill>
                  <a:schemeClr val="bg1"/>
                </a:solidFill>
                <a:latin typeface="Arial" panose="020B0604020202020204" pitchFamily="34" charset="0"/>
                <a:cs typeface="Arial" panose="020B0604020202020204" pitchFamily="34" charset="0"/>
              </a:rPr>
              <a:t>Integer</a:t>
            </a:r>
            <a:r>
              <a:rPr lang="en-IN" sz="2400" dirty="0">
                <a:solidFill>
                  <a:srgbClr val="FFC000"/>
                </a:solidFill>
                <a:latin typeface="Arial" panose="020B0604020202020204" pitchFamily="34" charset="0"/>
                <a:cs typeface="Arial" panose="020B0604020202020204" pitchFamily="34" charset="0"/>
              </a:rPr>
              <a:t>&gt;</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m1.insert(2</a:t>
            </a:r>
            <a:r>
              <a:rPr lang="en-IN" sz="2400" dirty="0">
                <a:solidFill>
                  <a:schemeClr val="bg1"/>
                </a:solidFill>
                <a:latin typeface="Arial" panose="020B0604020202020204" pitchFamily="34" charset="0"/>
                <a:cs typeface="Arial" panose="020B0604020202020204" pitchFamily="34" charset="0"/>
              </a:rPr>
              <a:t>);  </a:t>
            </a:r>
            <a:r>
              <a:rPr lang="en-IN" sz="2400" dirty="0" smtClean="0">
                <a:solidFill>
                  <a:srgbClr val="FFC000"/>
                </a:solidFill>
                <a:latin typeface="Arial" panose="020B0604020202020204" pitchFamily="34" charset="0"/>
                <a:cs typeface="Arial" panose="020B0604020202020204" pitchFamily="34" charset="0"/>
              </a:rPr>
              <a:t>//</a:t>
            </a:r>
            <a:r>
              <a:rPr lang="en-IN" sz="2400" dirty="0" smtClean="0">
                <a:solidFill>
                  <a:srgbClr val="FFC000"/>
                </a:solidFill>
                <a:latin typeface="Arial" panose="020B0604020202020204" pitchFamily="34" charset="0"/>
                <a:cs typeface="Arial" panose="020B0604020202020204" pitchFamily="34" charset="0"/>
              </a:rPr>
              <a:t>m1.add</a:t>
            </a:r>
            <a:r>
              <a:rPr lang="en-IN" sz="2400" dirty="0" smtClean="0">
                <a:solidFill>
                  <a:srgbClr val="FFC000"/>
                </a:solidFill>
                <a:latin typeface="Arial" panose="020B0604020202020204" pitchFamily="34" charset="0"/>
                <a:cs typeface="Arial" panose="020B0604020202020204" pitchFamily="34" charset="0"/>
              </a:rPr>
              <a:t>(“2”) not valid;</a:t>
            </a: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smtClean="0">
                <a:solidFill>
                  <a:schemeClr val="bg1"/>
                </a:solidFill>
                <a:latin typeface="Arial" panose="020B0604020202020204" pitchFamily="34" charset="0"/>
                <a:cs typeface="Arial" panose="020B0604020202020204" pitchFamily="34" charset="0"/>
              </a:rPr>
              <a:t>(m1.get</a:t>
            </a:r>
            <a:r>
              <a:rPr lang="en-IN" sz="2400">
                <a:solidFill>
                  <a:schemeClr val="bg1"/>
                </a:solidFill>
                <a:latin typeface="Arial" panose="020B0604020202020204" pitchFamily="34" charset="0"/>
                <a:cs typeface="Arial" panose="020B0604020202020204" pitchFamily="34" charset="0"/>
              </a:rPr>
              <a:t>()); </a:t>
            </a:r>
            <a:endParaRPr lang="en-IN" sz="2400" smtClean="0">
              <a:solidFill>
                <a:schemeClr val="bg1"/>
              </a:solidFill>
              <a:latin typeface="Arial" panose="020B0604020202020204" pitchFamily="34" charset="0"/>
              <a:cs typeface="Arial" panose="020B0604020202020204" pitchFamily="34" charset="0"/>
            </a:endParaRPr>
          </a:p>
          <a:p>
            <a:pPr>
              <a:lnSpc>
                <a:spcPct val="150000"/>
              </a:lnSpc>
            </a:pPr>
            <a:r>
              <a:rPr lang="en-IN" sz="2400" smtClean="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MyGen</a:t>
            </a:r>
            <a:r>
              <a:rPr lang="en-IN" sz="2400" dirty="0" smtClean="0">
                <a:solidFill>
                  <a:srgbClr val="FFC000"/>
                </a:solidFill>
                <a:latin typeface="Arial" panose="020B0604020202020204" pitchFamily="34" charset="0"/>
                <a:cs typeface="Arial" panose="020B0604020202020204" pitchFamily="34" charset="0"/>
              </a:rPr>
              <a:t>&lt;</a:t>
            </a:r>
            <a:r>
              <a:rPr lang="en-IN" sz="2400" dirty="0" smtClean="0">
                <a:solidFill>
                  <a:schemeClr val="bg1"/>
                </a:solidFill>
                <a:latin typeface="Arial" panose="020B0604020202020204" pitchFamily="34" charset="0"/>
                <a:cs typeface="Arial" panose="020B0604020202020204" pitchFamily="34" charset="0"/>
              </a:rPr>
              <a:t>String</a:t>
            </a:r>
            <a:r>
              <a:rPr lang="en-IN" sz="2400" dirty="0">
                <a:solidFill>
                  <a:srgbClr val="FFC000"/>
                </a:solidFill>
                <a:latin typeface="Arial" panose="020B0604020202020204" pitchFamily="34" charset="0"/>
                <a:cs typeface="Arial" panose="020B0604020202020204" pitchFamily="34" charset="0"/>
              </a:rPr>
              <a:t>&gt;</a:t>
            </a:r>
            <a:r>
              <a:rPr lang="en-IN" sz="2400" dirty="0">
                <a:solidFill>
                  <a:schemeClr val="bg1"/>
                </a:solidFill>
                <a:latin typeface="Arial" panose="020B0604020202020204" pitchFamily="34" charset="0"/>
                <a:cs typeface="Arial" panose="020B0604020202020204" pitchFamily="34" charset="0"/>
              </a:rPr>
              <a:t> m2=new </a:t>
            </a:r>
            <a:r>
              <a:rPr lang="en-IN" sz="2400" dirty="0" err="1">
                <a:solidFill>
                  <a:schemeClr val="bg1"/>
                </a:solidFill>
                <a:latin typeface="Arial" panose="020B0604020202020204" pitchFamily="34" charset="0"/>
                <a:cs typeface="Arial" panose="020B0604020202020204" pitchFamily="34" charset="0"/>
              </a:rPr>
              <a:t>MyGen</a:t>
            </a:r>
            <a:r>
              <a:rPr lang="en-IN" sz="2400" dirty="0">
                <a:solidFill>
                  <a:srgbClr val="FFC000"/>
                </a:solidFill>
                <a:latin typeface="Arial" panose="020B0604020202020204" pitchFamily="34" charset="0"/>
                <a:cs typeface="Arial" panose="020B0604020202020204" pitchFamily="34" charset="0"/>
              </a:rPr>
              <a:t>&lt;</a:t>
            </a:r>
            <a:r>
              <a:rPr lang="en-IN" sz="2400" dirty="0">
                <a:solidFill>
                  <a:schemeClr val="bg1"/>
                </a:solidFill>
                <a:latin typeface="Arial" panose="020B0604020202020204" pitchFamily="34" charset="0"/>
                <a:cs typeface="Arial" panose="020B0604020202020204" pitchFamily="34" charset="0"/>
              </a:rPr>
              <a:t>String</a:t>
            </a:r>
            <a:r>
              <a:rPr lang="en-IN" sz="2400" dirty="0">
                <a:solidFill>
                  <a:srgbClr val="FFC000"/>
                </a:solidFill>
                <a:latin typeface="Arial" panose="020B0604020202020204" pitchFamily="34" charset="0"/>
                <a:cs typeface="Arial" panose="020B0604020202020204" pitchFamily="34" charset="0"/>
              </a:rPr>
              <a:t>&gt;</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m2</a:t>
            </a:r>
            <a:r>
              <a:rPr lang="en-IN" sz="2400" dirty="0" smtClean="0">
                <a:solidFill>
                  <a:schemeClr val="bg1"/>
                </a:solidFill>
                <a:latin typeface="Arial" panose="020B0604020202020204" pitchFamily="34" charset="0"/>
                <a:cs typeface="Arial" panose="020B0604020202020204" pitchFamily="34" charset="0"/>
              </a:rPr>
              <a:t>.insert</a:t>
            </a:r>
            <a:r>
              <a:rPr lang="en-IN" sz="2400" dirty="0">
                <a:solidFill>
                  <a:schemeClr val="bg1"/>
                </a:solidFill>
                <a:latin typeface="Arial" panose="020B0604020202020204" pitchFamily="34" charset="0"/>
                <a:cs typeface="Arial" panose="020B0604020202020204" pitchFamily="34" charset="0"/>
              </a:rPr>
              <a:t>("</a:t>
            </a:r>
            <a:r>
              <a:rPr lang="en-IN" sz="2400" dirty="0">
                <a:solidFill>
                  <a:schemeClr val="bg1"/>
                </a:solidFill>
                <a:latin typeface="Arial" panose="020B0604020202020204" pitchFamily="34" charset="0"/>
                <a:cs typeface="Arial" panose="020B0604020202020204" pitchFamily="34" charset="0"/>
              </a:rPr>
              <a:t>String");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System.out.println</a:t>
            </a:r>
            <a:r>
              <a:rPr lang="en-IN" sz="2400" dirty="0">
                <a:solidFill>
                  <a:schemeClr val="bg1"/>
                </a:solidFill>
                <a:latin typeface="Arial" panose="020B0604020202020204" pitchFamily="34" charset="0"/>
                <a:cs typeface="Arial" panose="020B0604020202020204" pitchFamily="34" charset="0"/>
              </a:rPr>
              <a:t>(m2.get());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p:txBody>
      </p:sp>
      <p:sp>
        <p:nvSpPr>
          <p:cNvPr id="6" name="Rectangle 5"/>
          <p:cNvSpPr/>
          <p:nvPr/>
        </p:nvSpPr>
        <p:spPr>
          <a:xfrm>
            <a:off x="8525439" y="1179436"/>
            <a:ext cx="3525534" cy="3416320"/>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class </a:t>
            </a:r>
            <a:r>
              <a:rPr lang="en-IN" sz="2400" dirty="0" err="1">
                <a:solidFill>
                  <a:schemeClr val="bg1"/>
                </a:solidFill>
                <a:latin typeface="Arial" panose="020B0604020202020204" pitchFamily="34" charset="0"/>
                <a:cs typeface="Arial" panose="020B0604020202020204" pitchFamily="34" charset="0"/>
              </a:rPr>
              <a:t>MyGen</a:t>
            </a:r>
            <a:r>
              <a:rPr lang="en-IN" sz="2400" dirty="0">
                <a:solidFill>
                  <a:schemeClr val="bg1"/>
                </a:solidFill>
                <a:latin typeface="Arial" panose="020B0604020202020204" pitchFamily="34" charset="0"/>
                <a:cs typeface="Arial" panose="020B0604020202020204" pitchFamily="34" charset="0"/>
              </a:rPr>
              <a:t>&lt;</a:t>
            </a:r>
            <a:r>
              <a:rPr lang="en-IN" sz="2400" b="1" dirty="0">
                <a:solidFill>
                  <a:srgbClr val="FFC000"/>
                </a:solidFill>
                <a:latin typeface="Arial" panose="020B0604020202020204" pitchFamily="34" charset="0"/>
                <a:cs typeface="Arial" panose="020B0604020202020204" pitchFamily="34" charset="0"/>
              </a:rPr>
              <a:t>T</a:t>
            </a:r>
            <a:r>
              <a:rPr lang="en-IN" sz="2400" dirty="0">
                <a:solidFill>
                  <a:schemeClr val="bg1"/>
                </a:solidFill>
                <a:latin typeface="Arial" panose="020B0604020202020204" pitchFamily="34" charset="0"/>
                <a:cs typeface="Arial" panose="020B0604020202020204" pitchFamily="34" charset="0"/>
              </a:rPr>
              <a:t>&gt;{  </a:t>
            </a:r>
            <a:endParaRPr lang="en-IN" sz="2400" dirty="0" smtClean="0">
              <a:solidFill>
                <a:schemeClr val="bg1"/>
              </a:solidFill>
              <a:latin typeface="Arial" panose="020B0604020202020204" pitchFamily="34" charset="0"/>
              <a:cs typeface="Arial" panose="020B0604020202020204" pitchFamily="34" charset="0"/>
            </a:endParaRPr>
          </a:p>
          <a:p>
            <a:r>
              <a:rPr lang="en-IN" sz="2400" b="1" dirty="0" smtClean="0">
                <a:solidFill>
                  <a:srgbClr val="FFC000"/>
                </a:solidFill>
                <a:latin typeface="Arial" panose="020B0604020202020204" pitchFamily="34" charset="0"/>
                <a:cs typeface="Arial" panose="020B0604020202020204" pitchFamily="34" charset="0"/>
              </a:rPr>
              <a:t>T</a:t>
            </a:r>
            <a:r>
              <a:rPr lang="en-IN" sz="2400" dirty="0" smtClean="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obj</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endParaRPr lang="en-IN" sz="2400" dirty="0" smtClean="0">
              <a:solidFill>
                <a:schemeClr val="bg1"/>
              </a:solidFill>
              <a:latin typeface="Arial" panose="020B0604020202020204" pitchFamily="34" charset="0"/>
              <a:cs typeface="Arial" panose="020B0604020202020204" pitchFamily="34" charset="0"/>
            </a:endParaRPr>
          </a:p>
          <a:p>
            <a:r>
              <a:rPr lang="en-IN" sz="2400" dirty="0" smtClean="0">
                <a:solidFill>
                  <a:schemeClr val="bg1"/>
                </a:solidFill>
                <a:latin typeface="Arial" panose="020B0604020202020204" pitchFamily="34" charset="0"/>
                <a:cs typeface="Arial" panose="020B0604020202020204" pitchFamily="34" charset="0"/>
              </a:rPr>
              <a:t>void </a:t>
            </a:r>
            <a:r>
              <a:rPr lang="en-IN" sz="2400" dirty="0">
                <a:solidFill>
                  <a:schemeClr val="bg1"/>
                </a:solidFill>
                <a:latin typeface="Arial" panose="020B0604020202020204" pitchFamily="34" charset="0"/>
                <a:cs typeface="Arial" panose="020B0604020202020204" pitchFamily="34" charset="0"/>
              </a:rPr>
              <a:t>insert (</a:t>
            </a:r>
            <a:r>
              <a:rPr lang="en-IN" sz="2400" b="1" dirty="0">
                <a:solidFill>
                  <a:srgbClr val="FFC000"/>
                </a:solidFill>
                <a:latin typeface="Arial" panose="020B0604020202020204" pitchFamily="34" charset="0"/>
                <a:cs typeface="Arial" panose="020B0604020202020204" pitchFamily="34" charset="0"/>
              </a:rPr>
              <a:t>T</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obj</a:t>
            </a:r>
            <a:r>
              <a:rPr lang="en-IN" sz="2400" dirty="0" smtClean="0">
                <a:solidFill>
                  <a:schemeClr val="bg1"/>
                </a:solidFill>
                <a:latin typeface="Arial" panose="020B0604020202020204" pitchFamily="34" charset="0"/>
                <a:cs typeface="Arial" panose="020B0604020202020204" pitchFamily="34" charset="0"/>
              </a:rPr>
              <a:t>){</a:t>
            </a:r>
          </a:p>
          <a:p>
            <a:r>
              <a:rPr lang="en-IN" sz="2400" dirty="0">
                <a:solidFill>
                  <a:schemeClr val="bg1"/>
                </a:solidFill>
                <a:latin typeface="Arial" panose="020B0604020202020204" pitchFamily="34" charset="0"/>
                <a:cs typeface="Arial" panose="020B0604020202020204" pitchFamily="34" charset="0"/>
              </a:rPr>
              <a:t>	</a:t>
            </a:r>
            <a:r>
              <a:rPr lang="en-IN" sz="2400" dirty="0" smtClean="0">
                <a:solidFill>
                  <a:schemeClr val="bg1"/>
                </a:solidFill>
                <a:latin typeface="Arial" panose="020B0604020202020204" pitchFamily="34" charset="0"/>
                <a:cs typeface="Arial" panose="020B0604020202020204" pitchFamily="34" charset="0"/>
              </a:rPr>
              <a:t>this.obj=</a:t>
            </a:r>
            <a:r>
              <a:rPr lang="en-IN" sz="2400" dirty="0" err="1" smtClean="0">
                <a:solidFill>
                  <a:schemeClr val="bg1"/>
                </a:solidFill>
                <a:latin typeface="Arial" panose="020B0604020202020204" pitchFamily="34" charset="0"/>
                <a:cs typeface="Arial" panose="020B0604020202020204" pitchFamily="34" charset="0"/>
              </a:rPr>
              <a:t>obj</a:t>
            </a:r>
            <a:r>
              <a:rPr lang="en-IN" sz="2400" dirty="0" smtClean="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  </a:t>
            </a:r>
          </a:p>
          <a:p>
            <a:r>
              <a:rPr lang="en-IN" sz="2400" b="1" dirty="0" smtClean="0">
                <a:solidFill>
                  <a:srgbClr val="FFC000"/>
                </a:solidFill>
                <a:latin typeface="Arial" panose="020B0604020202020204" pitchFamily="34" charset="0"/>
                <a:cs typeface="Arial" panose="020B0604020202020204" pitchFamily="34" charset="0"/>
              </a:rPr>
              <a:t>T</a:t>
            </a: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get</a:t>
            </a:r>
            <a:r>
              <a:rPr lang="en-IN" sz="2400" dirty="0" smtClean="0">
                <a:solidFill>
                  <a:schemeClr val="bg1"/>
                </a:solidFill>
                <a:latin typeface="Arial" panose="020B0604020202020204" pitchFamily="34" charset="0"/>
                <a:cs typeface="Arial" panose="020B0604020202020204" pitchFamily="34" charset="0"/>
              </a:rPr>
              <a:t>(){</a:t>
            </a:r>
          </a:p>
          <a:p>
            <a:r>
              <a:rPr lang="en-IN" sz="2400" dirty="0">
                <a:solidFill>
                  <a:schemeClr val="bg1"/>
                </a:solidFill>
                <a:latin typeface="Arial" panose="020B0604020202020204" pitchFamily="34" charset="0"/>
                <a:cs typeface="Arial" panose="020B0604020202020204" pitchFamily="34" charset="0"/>
              </a:rPr>
              <a:t>	</a:t>
            </a:r>
            <a:r>
              <a:rPr lang="en-IN" sz="2400" dirty="0" smtClean="0">
                <a:solidFill>
                  <a:schemeClr val="bg1"/>
                </a:solidFill>
                <a:latin typeface="Arial" panose="020B0604020202020204" pitchFamily="34" charset="0"/>
                <a:cs typeface="Arial" panose="020B0604020202020204" pitchFamily="34" charset="0"/>
              </a:rPr>
              <a:t>return </a:t>
            </a:r>
            <a:r>
              <a:rPr lang="en-IN" sz="2400" dirty="0" err="1">
                <a:solidFill>
                  <a:schemeClr val="bg1"/>
                </a:solidFill>
                <a:latin typeface="Arial" panose="020B0604020202020204" pitchFamily="34" charset="0"/>
                <a:cs typeface="Arial" panose="020B0604020202020204" pitchFamily="34" charset="0"/>
              </a:rPr>
              <a:t>obj</a:t>
            </a:r>
            <a:r>
              <a:rPr lang="en-IN" sz="2400" dirty="0" smtClean="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39340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animEffect transition="in" filter="fade">
                                      <p:cBhvr>
                                        <p:cTn id="19" dur="500"/>
                                        <p:tgtEl>
                                          <p:spTgt spid="5">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fade">
                                      <p:cBhvr>
                                        <p:cTn id="25" dur="500"/>
                                        <p:tgtEl>
                                          <p:spTgt spid="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500"/>
                                        <p:tgtEl>
                                          <p:spTgt spid="5">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fade">
                                      <p:cBhvr>
                                        <p:cTn id="38" dur="500"/>
                                        <p:tgtEl>
                                          <p:spTgt spid="5">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Effect transition="in" filter="fade">
                                      <p:cBhvr>
                                        <p:cTn id="41"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8186665" cy="1015663"/>
          </a:xfrm>
          <a:prstGeom prst="rect">
            <a:avLst/>
          </a:prstGeom>
          <a:noFill/>
        </p:spPr>
        <p:txBody>
          <a:bodyPr wrap="none" rtlCol="0">
            <a:spAutoFit/>
          </a:bodyPr>
          <a:lstStyle/>
          <a:p>
            <a:r>
              <a:rPr lang="en-IN" sz="6000" dirty="0" smtClean="0">
                <a:solidFill>
                  <a:schemeClr val="bg1"/>
                </a:solidFill>
              </a:rPr>
              <a:t>Generic Element Example</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86602" y="846162"/>
            <a:ext cx="5950426" cy="5632311"/>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public static void main( String </a:t>
            </a:r>
            <a:r>
              <a:rPr lang="en-IN" sz="2400" dirty="0" err="1">
                <a:solidFill>
                  <a:schemeClr val="bg1"/>
                </a:solidFill>
                <a:latin typeface="Arial" panose="020B0604020202020204" pitchFamily="34" charset="0"/>
                <a:cs typeface="Arial" panose="020B0604020202020204" pitchFamily="34" charset="0"/>
              </a:rPr>
              <a:t>args</a:t>
            </a:r>
            <a:r>
              <a:rPr lang="en-IN" sz="2400" dirty="0">
                <a:solidFill>
                  <a:schemeClr val="bg1"/>
                </a:solidFill>
                <a:latin typeface="Arial" panose="020B0604020202020204" pitchFamily="34" charset="0"/>
                <a:cs typeface="Arial" panose="020B0604020202020204" pitchFamily="34" charset="0"/>
              </a:rPr>
              <a:t>[] )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Integer</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intArray</a:t>
            </a:r>
            <a:r>
              <a:rPr lang="en-IN" sz="2400" dirty="0">
                <a:solidFill>
                  <a:schemeClr val="bg1"/>
                </a:solidFill>
                <a:latin typeface="Arial" panose="020B0604020202020204" pitchFamily="34" charset="0"/>
                <a:cs typeface="Arial" panose="020B0604020202020204" pitchFamily="34" charset="0"/>
              </a:rPr>
              <a:t> = { 1, 2, 3, 4, 5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Character</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charArray</a:t>
            </a:r>
            <a:r>
              <a:rPr lang="en-IN" sz="2400" dirty="0">
                <a:solidFill>
                  <a:schemeClr val="bg1"/>
                </a:solidFill>
                <a:latin typeface="Arial" panose="020B0604020202020204" pitchFamily="34" charset="0"/>
                <a:cs typeface="Arial" panose="020B0604020202020204" pitchFamily="34" charset="0"/>
              </a:rPr>
              <a:t> = { 'J', 'A', 'V', 'A'};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printArray</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intArray</a:t>
            </a:r>
            <a:r>
              <a:rPr lang="en-IN" sz="2400" dirty="0">
                <a:solidFill>
                  <a:schemeClr val="bg1"/>
                </a:solidFill>
                <a:latin typeface="Arial" panose="020B0604020202020204" pitchFamily="34" charset="0"/>
                <a:cs typeface="Arial" panose="020B0604020202020204" pitchFamily="34" charset="0"/>
              </a:rPr>
              <a:t>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printArray</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charArray</a:t>
            </a:r>
            <a:r>
              <a:rPr lang="en-IN" sz="2400" dirty="0">
                <a:solidFill>
                  <a:schemeClr val="bg1"/>
                </a:solidFill>
                <a:latin typeface="Arial" panose="020B0604020202020204" pitchFamily="34" charset="0"/>
                <a:cs typeface="Arial" panose="020B0604020202020204" pitchFamily="34" charset="0"/>
              </a:rPr>
              <a:t>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int</a:t>
            </a: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a=20;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String </a:t>
            </a:r>
            <a:r>
              <a:rPr lang="en-IN" sz="2400" dirty="0">
                <a:solidFill>
                  <a:schemeClr val="bg1"/>
                </a:solidFill>
                <a:latin typeface="Arial" panose="020B0604020202020204" pitchFamily="34" charset="0"/>
                <a:cs typeface="Arial" panose="020B0604020202020204" pitchFamily="34" charset="0"/>
              </a:rPr>
              <a:t>s="Java Generics";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printData</a:t>
            </a:r>
            <a:r>
              <a:rPr lang="en-IN" sz="2400" dirty="0" smtClean="0">
                <a:solidFill>
                  <a:schemeClr val="bg1"/>
                </a:solidFill>
                <a:latin typeface="Arial" panose="020B0604020202020204" pitchFamily="34" charset="0"/>
                <a:cs typeface="Arial" panose="020B0604020202020204" pitchFamily="34" charset="0"/>
              </a:rPr>
              <a:t>(a</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printData</a:t>
            </a:r>
            <a:r>
              <a:rPr lang="en-IN" sz="2400" dirty="0" smtClean="0">
                <a:solidFill>
                  <a:schemeClr val="bg1"/>
                </a:solidFill>
                <a:latin typeface="Arial" panose="020B0604020202020204" pitchFamily="34" charset="0"/>
                <a:cs typeface="Arial" panose="020B0604020202020204" pitchFamily="34" charset="0"/>
              </a:rPr>
              <a:t>(s</a:t>
            </a:r>
            <a:r>
              <a:rPr lang="en-IN" sz="2400" dirty="0">
                <a:solidFill>
                  <a:schemeClr val="bg1"/>
                </a:solidFill>
                <a:latin typeface="Arial" panose="020B0604020202020204" pitchFamily="34" charset="0"/>
                <a:cs typeface="Arial" panose="020B0604020202020204" pitchFamily="34" charset="0"/>
              </a:rPr>
              <a:t>);    }</a:t>
            </a:r>
          </a:p>
        </p:txBody>
      </p:sp>
      <p:sp>
        <p:nvSpPr>
          <p:cNvPr id="7" name="Rectangle 6"/>
          <p:cNvSpPr/>
          <p:nvPr/>
        </p:nvSpPr>
        <p:spPr>
          <a:xfrm>
            <a:off x="5854890" y="996287"/>
            <a:ext cx="6209731" cy="4524315"/>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public class </a:t>
            </a:r>
            <a:r>
              <a:rPr lang="en-IN" sz="2400" dirty="0" err="1">
                <a:solidFill>
                  <a:schemeClr val="bg1"/>
                </a:solidFill>
                <a:latin typeface="Arial" panose="020B0604020202020204" pitchFamily="34" charset="0"/>
                <a:cs typeface="Arial" panose="020B0604020202020204" pitchFamily="34" charset="0"/>
              </a:rPr>
              <a:t>GenericElement</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a:solidFill>
                  <a:schemeClr val="bg1"/>
                </a:solidFill>
                <a:latin typeface="Arial" panose="020B0604020202020204" pitchFamily="34" charset="0"/>
                <a:cs typeface="Arial" panose="020B0604020202020204" pitchFamily="34" charset="0"/>
              </a:rPr>
              <a:t>static &lt; E &gt; void </a:t>
            </a:r>
            <a:r>
              <a:rPr lang="en-IN" sz="2400" dirty="0" err="1" smtClean="0">
                <a:solidFill>
                  <a:schemeClr val="bg1"/>
                </a:solidFill>
                <a:latin typeface="Arial" panose="020B0604020202020204" pitchFamily="34" charset="0"/>
                <a:cs typeface="Arial" panose="020B0604020202020204" pitchFamily="34" charset="0"/>
              </a:rPr>
              <a:t>printArray</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			(E[] </a:t>
            </a:r>
            <a:r>
              <a:rPr lang="en-IN" sz="2400" dirty="0">
                <a:solidFill>
                  <a:schemeClr val="bg1"/>
                </a:solidFill>
                <a:latin typeface="Arial" panose="020B0604020202020204" pitchFamily="34" charset="0"/>
                <a:cs typeface="Arial" panose="020B0604020202020204" pitchFamily="34" charset="0"/>
              </a:rPr>
              <a:t>elements) </a:t>
            </a:r>
            <a:r>
              <a:rPr lang="en-IN" sz="2400" dirty="0" smtClean="0">
                <a:solidFill>
                  <a:schemeClr val="bg1"/>
                </a:solidFill>
                <a:latin typeface="Arial" panose="020B0604020202020204" pitchFamily="34" charset="0"/>
                <a:cs typeface="Arial" panose="020B0604020202020204" pitchFamily="34" charset="0"/>
              </a:rPr>
              <a:t>{</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for ( E element : elements){                      </a:t>
            </a:r>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System.out.print</a:t>
            </a:r>
            <a:r>
              <a:rPr lang="en-IN" sz="2400" dirty="0" smtClean="0">
                <a:solidFill>
                  <a:schemeClr val="bg1"/>
                </a:solidFill>
                <a:latin typeface="Arial" panose="020B0604020202020204" pitchFamily="34" charset="0"/>
                <a:cs typeface="Arial" panose="020B0604020202020204" pitchFamily="34" charset="0"/>
              </a:rPr>
              <a:t>(element </a:t>
            </a:r>
            <a:r>
              <a:rPr lang="en-IN" sz="2400" dirty="0">
                <a:solidFill>
                  <a:schemeClr val="bg1"/>
                </a:solidFill>
                <a:latin typeface="Arial" panose="020B0604020202020204" pitchFamily="34" charset="0"/>
                <a:cs typeface="Arial" panose="020B0604020202020204" pitchFamily="34" charset="0"/>
              </a:rPr>
              <a:t>);           </a:t>
            </a:r>
            <a:r>
              <a:rPr lang="en-IN" sz="2400" dirty="0" smtClean="0">
                <a:solidFill>
                  <a:schemeClr val="bg1"/>
                </a:solidFill>
                <a:latin typeface="Arial" panose="020B0604020202020204" pitchFamily="34" charset="0"/>
                <a:cs typeface="Arial" panose="020B0604020202020204" pitchFamily="34" charset="0"/>
              </a:rPr>
              <a:t>}</a:t>
            </a: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884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8186665" cy="1015663"/>
          </a:xfrm>
          <a:prstGeom prst="rect">
            <a:avLst/>
          </a:prstGeom>
          <a:noFill/>
        </p:spPr>
        <p:txBody>
          <a:bodyPr wrap="none" rtlCol="0">
            <a:spAutoFit/>
          </a:bodyPr>
          <a:lstStyle/>
          <a:p>
            <a:r>
              <a:rPr lang="en-IN" sz="6000" dirty="0" smtClean="0">
                <a:solidFill>
                  <a:schemeClr val="bg1"/>
                </a:solidFill>
              </a:rPr>
              <a:t>Generic Element Example</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86602" y="846162"/>
            <a:ext cx="5950426" cy="5632311"/>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public static void main( String </a:t>
            </a:r>
            <a:r>
              <a:rPr lang="en-IN" sz="2400" dirty="0" err="1">
                <a:solidFill>
                  <a:schemeClr val="bg1"/>
                </a:solidFill>
                <a:latin typeface="Arial" panose="020B0604020202020204" pitchFamily="34" charset="0"/>
                <a:cs typeface="Arial" panose="020B0604020202020204" pitchFamily="34" charset="0"/>
              </a:rPr>
              <a:t>args</a:t>
            </a:r>
            <a:r>
              <a:rPr lang="en-IN" sz="2400" dirty="0">
                <a:solidFill>
                  <a:schemeClr val="bg1"/>
                </a:solidFill>
                <a:latin typeface="Arial" panose="020B0604020202020204" pitchFamily="34" charset="0"/>
                <a:cs typeface="Arial" panose="020B0604020202020204" pitchFamily="34" charset="0"/>
              </a:rPr>
              <a:t>[] )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Integer</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intArray</a:t>
            </a:r>
            <a:r>
              <a:rPr lang="en-IN" sz="2400" dirty="0">
                <a:solidFill>
                  <a:schemeClr val="bg1"/>
                </a:solidFill>
                <a:latin typeface="Arial" panose="020B0604020202020204" pitchFamily="34" charset="0"/>
                <a:cs typeface="Arial" panose="020B0604020202020204" pitchFamily="34" charset="0"/>
              </a:rPr>
              <a:t> = { 1, 2, 3, 4, 5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Character</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charArray</a:t>
            </a:r>
            <a:r>
              <a:rPr lang="en-IN" sz="2400" dirty="0">
                <a:solidFill>
                  <a:schemeClr val="bg1"/>
                </a:solidFill>
                <a:latin typeface="Arial" panose="020B0604020202020204" pitchFamily="34" charset="0"/>
                <a:cs typeface="Arial" panose="020B0604020202020204" pitchFamily="34" charset="0"/>
              </a:rPr>
              <a:t> = { 'J', 'A', 'V', 'A'};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printArray</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intArray</a:t>
            </a:r>
            <a:r>
              <a:rPr lang="en-IN" sz="2400" dirty="0">
                <a:solidFill>
                  <a:schemeClr val="bg1"/>
                </a:solidFill>
                <a:latin typeface="Arial" panose="020B0604020202020204" pitchFamily="34" charset="0"/>
                <a:cs typeface="Arial" panose="020B0604020202020204" pitchFamily="34" charset="0"/>
              </a:rPr>
              <a:t>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printArray</a:t>
            </a:r>
            <a:r>
              <a:rPr lang="en-IN" sz="2400" dirty="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charArray</a:t>
            </a:r>
            <a:r>
              <a:rPr lang="en-IN" sz="2400" dirty="0">
                <a:solidFill>
                  <a:schemeClr val="bg1"/>
                </a:solidFill>
                <a:latin typeface="Arial" panose="020B0604020202020204" pitchFamily="34" charset="0"/>
                <a:cs typeface="Arial" panose="020B0604020202020204" pitchFamily="34" charset="0"/>
              </a:rPr>
              <a:t>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int</a:t>
            </a: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a=20;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String </a:t>
            </a:r>
            <a:r>
              <a:rPr lang="en-IN" sz="2400" dirty="0">
                <a:solidFill>
                  <a:schemeClr val="bg1"/>
                </a:solidFill>
                <a:latin typeface="Arial" panose="020B0604020202020204" pitchFamily="34" charset="0"/>
                <a:cs typeface="Arial" panose="020B0604020202020204" pitchFamily="34" charset="0"/>
              </a:rPr>
              <a:t>s="Java Generics";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printData</a:t>
            </a:r>
            <a:r>
              <a:rPr lang="en-IN" sz="2400" dirty="0" smtClean="0">
                <a:solidFill>
                  <a:schemeClr val="bg1"/>
                </a:solidFill>
                <a:latin typeface="Arial" panose="020B0604020202020204" pitchFamily="34" charset="0"/>
                <a:cs typeface="Arial" panose="020B0604020202020204" pitchFamily="34" charset="0"/>
              </a:rPr>
              <a:t>(a</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err="1" smtClean="0">
                <a:solidFill>
                  <a:schemeClr val="bg1"/>
                </a:solidFill>
                <a:latin typeface="Arial" panose="020B0604020202020204" pitchFamily="34" charset="0"/>
                <a:cs typeface="Arial" panose="020B0604020202020204" pitchFamily="34" charset="0"/>
              </a:rPr>
              <a:t>printData</a:t>
            </a:r>
            <a:r>
              <a:rPr lang="en-IN" sz="2400" dirty="0" smtClean="0">
                <a:solidFill>
                  <a:schemeClr val="bg1"/>
                </a:solidFill>
                <a:latin typeface="Arial" panose="020B0604020202020204" pitchFamily="34" charset="0"/>
                <a:cs typeface="Arial" panose="020B0604020202020204" pitchFamily="34" charset="0"/>
              </a:rPr>
              <a:t>(s</a:t>
            </a:r>
            <a:r>
              <a:rPr lang="en-IN" sz="2400" dirty="0">
                <a:solidFill>
                  <a:schemeClr val="bg1"/>
                </a:solidFill>
                <a:latin typeface="Arial" panose="020B0604020202020204" pitchFamily="34" charset="0"/>
                <a:cs typeface="Arial" panose="020B0604020202020204" pitchFamily="34" charset="0"/>
              </a:rPr>
              <a:t>);    }</a:t>
            </a:r>
          </a:p>
        </p:txBody>
      </p:sp>
      <p:sp>
        <p:nvSpPr>
          <p:cNvPr id="7" name="Rectangle 6"/>
          <p:cNvSpPr/>
          <p:nvPr/>
        </p:nvSpPr>
        <p:spPr>
          <a:xfrm>
            <a:off x="5500048" y="2947916"/>
            <a:ext cx="6337110" cy="2308324"/>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public static &lt; E &gt; void </a:t>
            </a:r>
            <a:r>
              <a:rPr lang="en-IN" sz="2400" dirty="0" err="1" smtClean="0">
                <a:solidFill>
                  <a:schemeClr val="bg1"/>
                </a:solidFill>
                <a:latin typeface="Arial" panose="020B0604020202020204" pitchFamily="34" charset="0"/>
                <a:cs typeface="Arial" panose="020B0604020202020204" pitchFamily="34" charset="0"/>
              </a:rPr>
              <a:t>printData</a:t>
            </a:r>
            <a:r>
              <a:rPr lang="en-IN" sz="2400" dirty="0" smtClean="0">
                <a:solidFill>
                  <a:schemeClr val="bg1"/>
                </a:solidFill>
                <a:latin typeface="Arial" panose="020B0604020202020204" pitchFamily="34" charset="0"/>
                <a:cs typeface="Arial" panose="020B0604020202020204" pitchFamily="34" charset="0"/>
              </a:rPr>
              <a:t>(E </a:t>
            </a:r>
            <a:r>
              <a:rPr lang="en-IN" sz="2400" dirty="0">
                <a:solidFill>
                  <a:schemeClr val="bg1"/>
                </a:solidFill>
                <a:latin typeface="Arial" panose="020B0604020202020204" pitchFamily="34" charset="0"/>
                <a:cs typeface="Arial" panose="020B0604020202020204" pitchFamily="34" charset="0"/>
              </a:rPr>
              <a:t>elements)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p>
          <a:p>
            <a:pPr>
              <a:lnSpc>
                <a:spcPct val="150000"/>
              </a:lnSpc>
            </a:pPr>
            <a:r>
              <a:rPr lang="en-IN" sz="2400" dirty="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smtClean="0">
                <a:solidFill>
                  <a:schemeClr val="bg1"/>
                </a:solidFill>
                <a:latin typeface="Arial" panose="020B0604020202020204" pitchFamily="34" charset="0"/>
                <a:cs typeface="Arial" panose="020B0604020202020204" pitchFamily="34" charset="0"/>
              </a:rPr>
              <a:t>(elements</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856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8186665" cy="1015663"/>
          </a:xfrm>
          <a:prstGeom prst="rect">
            <a:avLst/>
          </a:prstGeom>
          <a:noFill/>
        </p:spPr>
        <p:txBody>
          <a:bodyPr wrap="none" rtlCol="0">
            <a:spAutoFit/>
          </a:bodyPr>
          <a:lstStyle/>
          <a:p>
            <a:r>
              <a:rPr lang="en-IN" sz="6000" dirty="0" smtClean="0">
                <a:solidFill>
                  <a:schemeClr val="bg1"/>
                </a:solidFill>
              </a:rPr>
              <a:t>Generic Element Example</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86602" y="1187357"/>
            <a:ext cx="5950426" cy="2308324"/>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public interface </a:t>
            </a:r>
            <a:r>
              <a:rPr lang="en-IN" sz="2400" dirty="0" smtClean="0">
                <a:solidFill>
                  <a:schemeClr val="bg1"/>
                </a:solidFill>
                <a:latin typeface="Arial" panose="020B0604020202020204" pitchFamily="34" charset="0"/>
                <a:cs typeface="Arial" panose="020B0604020202020204" pitchFamily="34" charset="0"/>
              </a:rPr>
              <a:t>Pair </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err="1" smtClean="0">
                <a:solidFill>
                  <a:schemeClr val="bg1"/>
                </a:solidFill>
                <a:latin typeface="Arial" panose="020B0604020202020204" pitchFamily="34" charset="0"/>
                <a:cs typeface="Arial" panose="020B0604020202020204" pitchFamily="34" charset="0"/>
              </a:rPr>
              <a:t>int</a:t>
            </a:r>
            <a:r>
              <a:rPr lang="en-IN" sz="2400" dirty="0" smtClean="0">
                <a:solidFill>
                  <a:schemeClr val="bg1"/>
                </a:solidFill>
                <a:latin typeface="Arial" panose="020B0604020202020204" pitchFamily="34" charset="0"/>
                <a:cs typeface="Arial" panose="020B0604020202020204" pitchFamily="34" charset="0"/>
              </a:rPr>
              <a:t> </a:t>
            </a:r>
            <a:r>
              <a:rPr lang="en-IN" sz="2400" dirty="0" err="1">
                <a:solidFill>
                  <a:schemeClr val="bg1"/>
                </a:solidFill>
                <a:latin typeface="Arial" panose="020B0604020202020204" pitchFamily="34" charset="0"/>
                <a:cs typeface="Arial" panose="020B0604020202020204" pitchFamily="34" charset="0"/>
              </a:rPr>
              <a:t>getKey</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String </a:t>
            </a:r>
            <a:r>
              <a:rPr lang="en-IN" sz="2400" dirty="0" err="1">
                <a:solidFill>
                  <a:schemeClr val="bg1"/>
                </a:solidFill>
                <a:latin typeface="Arial" panose="020B0604020202020204" pitchFamily="34" charset="0"/>
                <a:cs typeface="Arial" panose="020B0604020202020204" pitchFamily="34" charset="0"/>
              </a:rPr>
              <a:t>getValue</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p:txBody>
      </p:sp>
      <p:sp>
        <p:nvSpPr>
          <p:cNvPr id="7" name="Rectangle 6"/>
          <p:cNvSpPr/>
          <p:nvPr/>
        </p:nvSpPr>
        <p:spPr>
          <a:xfrm>
            <a:off x="5399964" y="771098"/>
            <a:ext cx="6337110" cy="4524315"/>
          </a:xfrm>
          <a:prstGeom prst="rect">
            <a:avLst/>
          </a:prstGeom>
        </p:spPr>
        <p:txBody>
          <a:bodyPr wrap="square">
            <a:spAutoFit/>
          </a:bodyPr>
          <a:lstStyle/>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class </a:t>
            </a:r>
            <a:r>
              <a:rPr lang="en-IN" sz="2400" dirty="0" err="1" smtClean="0">
                <a:solidFill>
                  <a:schemeClr val="bg1"/>
                </a:solidFill>
                <a:latin typeface="Arial" panose="020B0604020202020204" pitchFamily="34" charset="0"/>
                <a:cs typeface="Arial" panose="020B0604020202020204" pitchFamily="34" charset="0"/>
              </a:rPr>
              <a:t>OrderedPair</a:t>
            </a:r>
            <a:r>
              <a:rPr lang="en-IN" sz="2400" dirty="0" smtClean="0">
                <a:solidFill>
                  <a:schemeClr val="bg1"/>
                </a:solidFill>
                <a:latin typeface="Arial" panose="020B0604020202020204" pitchFamily="34" charset="0"/>
                <a:cs typeface="Arial" panose="020B0604020202020204" pitchFamily="34" charset="0"/>
              </a:rPr>
              <a:t> implements Pair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private </a:t>
            </a:r>
            <a:r>
              <a:rPr lang="en-IN" sz="2400" dirty="0" err="1" smtClean="0">
                <a:solidFill>
                  <a:schemeClr val="bg1"/>
                </a:solidFill>
                <a:latin typeface="Arial" panose="020B0604020202020204" pitchFamily="34" charset="0"/>
                <a:cs typeface="Arial" panose="020B0604020202020204" pitchFamily="34" charset="0"/>
              </a:rPr>
              <a:t>int</a:t>
            </a:r>
            <a:r>
              <a:rPr lang="en-IN" sz="2400" dirty="0" smtClean="0">
                <a:solidFill>
                  <a:schemeClr val="bg1"/>
                </a:solidFill>
                <a:latin typeface="Arial" panose="020B0604020202020204" pitchFamily="34" charset="0"/>
                <a:cs typeface="Arial" panose="020B0604020202020204" pitchFamily="34" charset="0"/>
              </a:rPr>
              <a:t> key;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private String value;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err="1" smtClean="0">
                <a:solidFill>
                  <a:schemeClr val="bg1"/>
                </a:solidFill>
                <a:latin typeface="Arial" panose="020B0604020202020204" pitchFamily="34" charset="0"/>
                <a:cs typeface="Arial" panose="020B0604020202020204" pitchFamily="34" charset="0"/>
              </a:rPr>
              <a:t>OrderedPair</a:t>
            </a:r>
            <a:r>
              <a:rPr lang="en-IN" sz="2400" dirty="0" smtClean="0">
                <a:solidFill>
                  <a:schemeClr val="bg1"/>
                </a:solidFill>
                <a:latin typeface="Arial" panose="020B0604020202020204" pitchFamily="34" charset="0"/>
                <a:cs typeface="Arial" panose="020B0604020202020204" pitchFamily="34" charset="0"/>
              </a:rPr>
              <a:t>(</a:t>
            </a:r>
            <a:r>
              <a:rPr lang="en-IN" sz="2400" dirty="0" err="1" smtClean="0">
                <a:solidFill>
                  <a:schemeClr val="bg1"/>
                </a:solidFill>
                <a:latin typeface="Arial" panose="020B0604020202020204" pitchFamily="34" charset="0"/>
                <a:cs typeface="Arial" panose="020B0604020202020204" pitchFamily="34" charset="0"/>
              </a:rPr>
              <a:t>int</a:t>
            </a:r>
            <a:r>
              <a:rPr lang="en-IN" sz="2400" dirty="0" smtClean="0">
                <a:solidFill>
                  <a:schemeClr val="bg1"/>
                </a:solidFill>
                <a:latin typeface="Arial" panose="020B0604020202020204" pitchFamily="34" charset="0"/>
                <a:cs typeface="Arial" panose="020B0604020202020204" pitchFamily="34" charset="0"/>
              </a:rPr>
              <a:t> key, String value)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this.key</a:t>
            </a:r>
            <a:r>
              <a:rPr lang="en-IN" sz="2400" dirty="0" smtClean="0">
                <a:solidFill>
                  <a:schemeClr val="bg1"/>
                </a:solidFill>
                <a:latin typeface="Arial" panose="020B0604020202020204" pitchFamily="34" charset="0"/>
                <a:cs typeface="Arial" panose="020B0604020202020204" pitchFamily="34" charset="0"/>
              </a:rPr>
              <a:t> = key;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this.value</a:t>
            </a:r>
            <a:r>
              <a:rPr lang="en-IN" sz="2400" dirty="0" smtClean="0">
                <a:solidFill>
                  <a:schemeClr val="bg1"/>
                </a:solidFill>
                <a:latin typeface="Arial" panose="020B0604020202020204" pitchFamily="34" charset="0"/>
                <a:cs typeface="Arial" panose="020B0604020202020204" pitchFamily="34" charset="0"/>
              </a:rPr>
              <a:t> = value;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err="1" smtClean="0">
                <a:solidFill>
                  <a:schemeClr val="bg1"/>
                </a:solidFill>
                <a:latin typeface="Arial" panose="020B0604020202020204" pitchFamily="34" charset="0"/>
                <a:cs typeface="Arial" panose="020B0604020202020204" pitchFamily="34" charset="0"/>
              </a:rPr>
              <a:t>int</a:t>
            </a:r>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getKey</a:t>
            </a:r>
            <a:r>
              <a:rPr lang="en-IN" sz="2400" dirty="0" smtClean="0">
                <a:solidFill>
                  <a:schemeClr val="bg1"/>
                </a:solidFill>
                <a:latin typeface="Arial" panose="020B0604020202020204" pitchFamily="34" charset="0"/>
                <a:cs typeface="Arial" panose="020B0604020202020204" pitchFamily="34" charset="0"/>
              </a:rPr>
              <a:t>() { return key;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String </a:t>
            </a:r>
            <a:r>
              <a:rPr lang="en-IN" sz="2400" dirty="0" err="1" smtClean="0">
                <a:solidFill>
                  <a:schemeClr val="bg1"/>
                </a:solidFill>
                <a:latin typeface="Arial" panose="020B0604020202020204" pitchFamily="34" charset="0"/>
                <a:cs typeface="Arial" panose="020B0604020202020204" pitchFamily="34" charset="0"/>
              </a:rPr>
              <a:t>getValue</a:t>
            </a:r>
            <a:r>
              <a:rPr lang="en-IN" sz="2400" dirty="0" smtClean="0">
                <a:solidFill>
                  <a:schemeClr val="bg1"/>
                </a:solidFill>
                <a:latin typeface="Arial" panose="020B0604020202020204" pitchFamily="34" charset="0"/>
                <a:cs typeface="Arial" panose="020B0604020202020204" pitchFamily="34" charset="0"/>
              </a:rPr>
              <a:t>() { return value; } } </a:t>
            </a:r>
            <a:endParaRPr lang="en-IN" sz="2400" dirty="0">
              <a:solidFill>
                <a:schemeClr val="bg1"/>
              </a:solidFill>
              <a:latin typeface="Arial" panose="020B0604020202020204" pitchFamily="34" charset="0"/>
              <a:cs typeface="Arial" panose="020B0604020202020204" pitchFamily="34" charset="0"/>
            </a:endParaRPr>
          </a:p>
        </p:txBody>
      </p:sp>
      <p:sp>
        <p:nvSpPr>
          <p:cNvPr id="2" name="Rectangle 1"/>
          <p:cNvSpPr/>
          <p:nvPr/>
        </p:nvSpPr>
        <p:spPr>
          <a:xfrm>
            <a:off x="286602" y="5844372"/>
            <a:ext cx="11586950" cy="830997"/>
          </a:xfrm>
          <a:prstGeom prst="rect">
            <a:avLst/>
          </a:prstGeom>
        </p:spPr>
        <p:txBody>
          <a:bodyPr wrap="square">
            <a:spAutoFit/>
          </a:bodyPr>
          <a:lstStyle/>
          <a:p>
            <a:r>
              <a:rPr lang="en-IN" sz="2400" dirty="0" smtClean="0">
                <a:solidFill>
                  <a:schemeClr val="bg1"/>
                </a:solidFill>
                <a:latin typeface="Arial" panose="020B0604020202020204" pitchFamily="34" charset="0"/>
                <a:cs typeface="Arial" panose="020B0604020202020204" pitchFamily="34" charset="0"/>
              </a:rPr>
              <a:t>Pair p1 </a:t>
            </a:r>
            <a:r>
              <a:rPr lang="en-IN" sz="2400" dirty="0">
                <a:solidFill>
                  <a:schemeClr val="bg1"/>
                </a:solidFill>
                <a:latin typeface="Arial" panose="020B0604020202020204" pitchFamily="34" charset="0"/>
                <a:cs typeface="Arial" panose="020B0604020202020204" pitchFamily="34" charset="0"/>
              </a:rPr>
              <a:t>= new </a:t>
            </a:r>
            <a:r>
              <a:rPr lang="en-IN" sz="2400" dirty="0" err="1" smtClean="0">
                <a:solidFill>
                  <a:schemeClr val="bg1"/>
                </a:solidFill>
                <a:latin typeface="Arial" panose="020B0604020202020204" pitchFamily="34" charset="0"/>
                <a:cs typeface="Arial" panose="020B0604020202020204" pitchFamily="34" charset="0"/>
              </a:rPr>
              <a:t>OrderedPair</a:t>
            </a:r>
            <a:r>
              <a:rPr lang="en-IN" sz="2400" dirty="0" smtClean="0">
                <a:solidFill>
                  <a:schemeClr val="bg1"/>
                </a:solidFill>
                <a:latin typeface="Arial" panose="020B0604020202020204" pitchFamily="34" charset="0"/>
                <a:cs typeface="Arial" panose="020B0604020202020204" pitchFamily="34" charset="0"/>
              </a:rPr>
              <a:t> (8,”Even”); </a:t>
            </a:r>
          </a:p>
          <a:p>
            <a:r>
              <a:rPr lang="en-IN" sz="2400" b="1" dirty="0" smtClean="0">
                <a:solidFill>
                  <a:schemeClr val="bg1"/>
                </a:solidFill>
                <a:latin typeface="Arial" panose="020B0604020202020204" pitchFamily="34" charset="0"/>
                <a:cs typeface="Arial" panose="020B0604020202020204" pitchFamily="34" charset="0"/>
              </a:rPr>
              <a:t>Pair p2 </a:t>
            </a:r>
            <a:r>
              <a:rPr lang="en-IN" sz="2400" b="1" dirty="0">
                <a:solidFill>
                  <a:schemeClr val="bg1"/>
                </a:solidFill>
                <a:latin typeface="Arial" panose="020B0604020202020204" pitchFamily="34" charset="0"/>
                <a:cs typeface="Arial" panose="020B0604020202020204" pitchFamily="34" charset="0"/>
              </a:rPr>
              <a:t>= new </a:t>
            </a:r>
            <a:r>
              <a:rPr lang="en-IN" sz="2400" b="1" dirty="0" err="1" smtClean="0">
                <a:solidFill>
                  <a:schemeClr val="bg1"/>
                </a:solidFill>
                <a:latin typeface="Arial" panose="020B0604020202020204" pitchFamily="34" charset="0"/>
                <a:cs typeface="Arial" panose="020B0604020202020204" pitchFamily="34" charset="0"/>
              </a:rPr>
              <a:t>OrderedPair</a:t>
            </a:r>
            <a:r>
              <a:rPr lang="en-IN" sz="2400" b="1" dirty="0" smtClean="0">
                <a:solidFill>
                  <a:schemeClr val="bg1"/>
                </a:solidFill>
                <a:latin typeface="Arial" panose="020B0604020202020204" pitchFamily="34" charset="0"/>
                <a:cs typeface="Arial" panose="020B0604020202020204" pitchFamily="34" charset="0"/>
              </a:rPr>
              <a:t> ("</a:t>
            </a:r>
            <a:r>
              <a:rPr lang="en-IN" sz="2400" b="1" dirty="0">
                <a:solidFill>
                  <a:schemeClr val="bg1"/>
                </a:solidFill>
                <a:latin typeface="Arial" panose="020B0604020202020204" pitchFamily="34" charset="0"/>
                <a:cs typeface="Arial" panose="020B0604020202020204" pitchFamily="34" charset="0"/>
              </a:rPr>
              <a:t>hello", "world"); </a:t>
            </a:r>
          </a:p>
        </p:txBody>
      </p:sp>
    </p:spTree>
    <p:extLst>
      <p:ext uri="{BB962C8B-B14F-4D97-AF65-F5344CB8AC3E}">
        <p14:creationId xmlns:p14="http://schemas.microsoft.com/office/powerpoint/2010/main" val="349734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8186665" cy="1015663"/>
          </a:xfrm>
          <a:prstGeom prst="rect">
            <a:avLst/>
          </a:prstGeom>
          <a:noFill/>
        </p:spPr>
        <p:txBody>
          <a:bodyPr wrap="none" rtlCol="0">
            <a:spAutoFit/>
          </a:bodyPr>
          <a:lstStyle/>
          <a:p>
            <a:r>
              <a:rPr lang="en-IN" sz="6000" dirty="0" smtClean="0">
                <a:solidFill>
                  <a:schemeClr val="bg1"/>
                </a:solidFill>
              </a:rPr>
              <a:t>Generic Element Example</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86602" y="1187357"/>
            <a:ext cx="5950426" cy="2248693"/>
          </a:xfrm>
          <a:prstGeom prst="rect">
            <a:avLst/>
          </a:prstGeom>
        </p:spPr>
        <p:txBody>
          <a:bodyPr wrap="square">
            <a:spAutoFit/>
          </a:bodyPr>
          <a:lstStyle/>
          <a:p>
            <a:pPr>
              <a:lnSpc>
                <a:spcPct val="150000"/>
              </a:lnSpc>
            </a:pPr>
            <a:r>
              <a:rPr lang="en-IN" sz="2400" dirty="0">
                <a:solidFill>
                  <a:schemeClr val="bg1"/>
                </a:solidFill>
                <a:latin typeface="Arial" panose="020B0604020202020204" pitchFamily="34" charset="0"/>
                <a:cs typeface="Arial" panose="020B0604020202020204" pitchFamily="34" charset="0"/>
              </a:rPr>
              <a:t>public interface Pair&lt;K, V&gt; {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a:solidFill>
                  <a:schemeClr val="bg1"/>
                </a:solidFill>
                <a:latin typeface="Arial" panose="020B0604020202020204" pitchFamily="34" charset="0"/>
                <a:cs typeface="Arial" panose="020B0604020202020204" pitchFamily="34" charset="0"/>
              </a:rPr>
              <a:t>K </a:t>
            </a:r>
            <a:r>
              <a:rPr lang="en-IN" sz="2400" dirty="0" err="1">
                <a:solidFill>
                  <a:schemeClr val="bg1"/>
                </a:solidFill>
                <a:latin typeface="Arial" panose="020B0604020202020204" pitchFamily="34" charset="0"/>
                <a:cs typeface="Arial" panose="020B0604020202020204" pitchFamily="34" charset="0"/>
              </a:rPr>
              <a:t>getKey</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a:solidFill>
                  <a:schemeClr val="bg1"/>
                </a:solidFill>
                <a:latin typeface="Arial" panose="020B0604020202020204" pitchFamily="34" charset="0"/>
                <a:cs typeface="Arial" panose="020B0604020202020204" pitchFamily="34" charset="0"/>
              </a:rPr>
              <a:t>V </a:t>
            </a:r>
            <a:r>
              <a:rPr lang="en-IN" sz="2400" dirty="0" err="1">
                <a:solidFill>
                  <a:schemeClr val="bg1"/>
                </a:solidFill>
                <a:latin typeface="Arial" panose="020B0604020202020204" pitchFamily="34" charset="0"/>
                <a:cs typeface="Arial" panose="020B0604020202020204" pitchFamily="34" charset="0"/>
              </a:rPr>
              <a:t>getValue</a:t>
            </a:r>
            <a:r>
              <a:rPr lang="en-IN" sz="2400" dirty="0">
                <a:solidFill>
                  <a:schemeClr val="bg1"/>
                </a:solidFill>
                <a:latin typeface="Arial" panose="020B0604020202020204" pitchFamily="34" charset="0"/>
                <a:cs typeface="Arial" panose="020B0604020202020204" pitchFamily="34" charset="0"/>
              </a:rPr>
              <a:t>(); </a:t>
            </a:r>
            <a:endParaRPr lang="en-IN" sz="2400" dirty="0" smtClean="0">
              <a:solidFill>
                <a:schemeClr val="bg1"/>
              </a:solidFill>
              <a:latin typeface="Arial" panose="020B0604020202020204" pitchFamily="34" charset="0"/>
              <a:cs typeface="Arial" panose="020B0604020202020204" pitchFamily="34" charset="0"/>
            </a:endParaRP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p:txBody>
      </p:sp>
      <p:sp>
        <p:nvSpPr>
          <p:cNvPr id="7" name="Rectangle 6"/>
          <p:cNvSpPr/>
          <p:nvPr/>
        </p:nvSpPr>
        <p:spPr>
          <a:xfrm>
            <a:off x="5399964" y="771098"/>
            <a:ext cx="6337110" cy="5018682"/>
          </a:xfrm>
          <a:prstGeom prst="rect">
            <a:avLst/>
          </a:prstGeom>
        </p:spPr>
        <p:txBody>
          <a:bodyPr wrap="square">
            <a:spAutoFit/>
          </a:bodyPr>
          <a:lstStyle/>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class </a:t>
            </a:r>
            <a:r>
              <a:rPr lang="en-IN" sz="2400" dirty="0" err="1" smtClean="0">
                <a:solidFill>
                  <a:schemeClr val="bg1"/>
                </a:solidFill>
                <a:latin typeface="Arial" panose="020B0604020202020204" pitchFamily="34" charset="0"/>
                <a:cs typeface="Arial" panose="020B0604020202020204" pitchFamily="34" charset="0"/>
              </a:rPr>
              <a:t>OrderedPair</a:t>
            </a:r>
            <a:r>
              <a:rPr lang="en-IN" sz="2400" dirty="0" smtClean="0">
                <a:solidFill>
                  <a:schemeClr val="bg1"/>
                </a:solidFill>
                <a:latin typeface="Arial" panose="020B0604020202020204" pitchFamily="34" charset="0"/>
                <a:cs typeface="Arial" panose="020B0604020202020204" pitchFamily="34" charset="0"/>
              </a:rPr>
              <a:t>&lt;K, V&gt; implements Pair&lt;K, V&gt;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private K key;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private V value;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a:t>
            </a:r>
            <a:r>
              <a:rPr lang="en-IN" sz="2400" dirty="0" err="1" smtClean="0">
                <a:solidFill>
                  <a:schemeClr val="bg1"/>
                </a:solidFill>
                <a:latin typeface="Arial" panose="020B0604020202020204" pitchFamily="34" charset="0"/>
                <a:cs typeface="Arial" panose="020B0604020202020204" pitchFamily="34" charset="0"/>
              </a:rPr>
              <a:t>OrderedPair</a:t>
            </a:r>
            <a:r>
              <a:rPr lang="en-IN" sz="2400" dirty="0" smtClean="0">
                <a:solidFill>
                  <a:schemeClr val="bg1"/>
                </a:solidFill>
                <a:latin typeface="Arial" panose="020B0604020202020204" pitchFamily="34" charset="0"/>
                <a:cs typeface="Arial" panose="020B0604020202020204" pitchFamily="34" charset="0"/>
              </a:rPr>
              <a:t>(K key, V value)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this.key</a:t>
            </a:r>
            <a:r>
              <a:rPr lang="en-IN" sz="2400" dirty="0" smtClean="0">
                <a:solidFill>
                  <a:schemeClr val="bg1"/>
                </a:solidFill>
                <a:latin typeface="Arial" panose="020B0604020202020204" pitchFamily="34" charset="0"/>
                <a:cs typeface="Arial" panose="020B0604020202020204" pitchFamily="34" charset="0"/>
              </a:rPr>
              <a:t> = key;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this.value</a:t>
            </a:r>
            <a:r>
              <a:rPr lang="en-IN" sz="2400" dirty="0" smtClean="0">
                <a:solidFill>
                  <a:schemeClr val="bg1"/>
                </a:solidFill>
                <a:latin typeface="Arial" panose="020B0604020202020204" pitchFamily="34" charset="0"/>
                <a:cs typeface="Arial" panose="020B0604020202020204" pitchFamily="34" charset="0"/>
              </a:rPr>
              <a:t> = value;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K </a:t>
            </a:r>
            <a:r>
              <a:rPr lang="en-IN" sz="2400" dirty="0" err="1" smtClean="0">
                <a:solidFill>
                  <a:schemeClr val="bg1"/>
                </a:solidFill>
                <a:latin typeface="Arial" panose="020B0604020202020204" pitchFamily="34" charset="0"/>
                <a:cs typeface="Arial" panose="020B0604020202020204" pitchFamily="34" charset="0"/>
              </a:rPr>
              <a:t>getKey</a:t>
            </a:r>
            <a:r>
              <a:rPr lang="en-IN" sz="2400" dirty="0" smtClean="0">
                <a:solidFill>
                  <a:schemeClr val="bg1"/>
                </a:solidFill>
                <a:latin typeface="Arial" panose="020B0604020202020204" pitchFamily="34" charset="0"/>
                <a:cs typeface="Arial" panose="020B0604020202020204" pitchFamily="34" charset="0"/>
              </a:rPr>
              <a:t>() { return key; } </a:t>
            </a:r>
          </a:p>
          <a:p>
            <a:pPr>
              <a:lnSpc>
                <a:spcPct val="150000"/>
              </a:lnSpc>
            </a:pPr>
            <a:r>
              <a:rPr lang="en-IN" sz="2400" dirty="0" smtClean="0">
                <a:solidFill>
                  <a:schemeClr val="bg1"/>
                </a:solidFill>
                <a:latin typeface="Arial" panose="020B0604020202020204" pitchFamily="34" charset="0"/>
                <a:cs typeface="Arial" panose="020B0604020202020204" pitchFamily="34" charset="0"/>
              </a:rPr>
              <a:t>public V </a:t>
            </a:r>
            <a:r>
              <a:rPr lang="en-IN" sz="2400" dirty="0" err="1" smtClean="0">
                <a:solidFill>
                  <a:schemeClr val="bg1"/>
                </a:solidFill>
                <a:latin typeface="Arial" panose="020B0604020202020204" pitchFamily="34" charset="0"/>
                <a:cs typeface="Arial" panose="020B0604020202020204" pitchFamily="34" charset="0"/>
              </a:rPr>
              <a:t>getValue</a:t>
            </a:r>
            <a:r>
              <a:rPr lang="en-IN" sz="2400" dirty="0" smtClean="0">
                <a:solidFill>
                  <a:schemeClr val="bg1"/>
                </a:solidFill>
                <a:latin typeface="Arial" panose="020B0604020202020204" pitchFamily="34" charset="0"/>
                <a:cs typeface="Arial" panose="020B0604020202020204" pitchFamily="34" charset="0"/>
              </a:rPr>
              <a:t>() { return value; } } </a:t>
            </a:r>
            <a:endParaRPr lang="en-IN" sz="2400" dirty="0">
              <a:solidFill>
                <a:schemeClr val="bg1"/>
              </a:solidFill>
              <a:latin typeface="Arial" panose="020B0604020202020204" pitchFamily="34" charset="0"/>
              <a:cs typeface="Arial" panose="020B0604020202020204" pitchFamily="34" charset="0"/>
            </a:endParaRPr>
          </a:p>
        </p:txBody>
      </p:sp>
      <p:sp>
        <p:nvSpPr>
          <p:cNvPr id="2" name="Rectangle 1"/>
          <p:cNvSpPr/>
          <p:nvPr/>
        </p:nvSpPr>
        <p:spPr>
          <a:xfrm>
            <a:off x="286602" y="5844372"/>
            <a:ext cx="11586950" cy="830997"/>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Pair&lt;String, Integer&gt; p1 = new </a:t>
            </a:r>
            <a:r>
              <a:rPr lang="en-IN" sz="2400" dirty="0" err="1">
                <a:solidFill>
                  <a:schemeClr val="bg1"/>
                </a:solidFill>
                <a:latin typeface="Arial" panose="020B0604020202020204" pitchFamily="34" charset="0"/>
                <a:cs typeface="Arial" panose="020B0604020202020204" pitchFamily="34" charset="0"/>
              </a:rPr>
              <a:t>OrderedPair</a:t>
            </a:r>
            <a:r>
              <a:rPr lang="en-IN" sz="2400" dirty="0">
                <a:solidFill>
                  <a:schemeClr val="bg1"/>
                </a:solidFill>
                <a:latin typeface="Arial" panose="020B0604020202020204" pitchFamily="34" charset="0"/>
                <a:cs typeface="Arial" panose="020B0604020202020204" pitchFamily="34" charset="0"/>
              </a:rPr>
              <a:t>&lt;String, Integer&gt;("Even", 8); </a:t>
            </a:r>
            <a:endParaRPr lang="en-IN" sz="2400" dirty="0" smtClean="0">
              <a:solidFill>
                <a:schemeClr val="bg1"/>
              </a:solidFill>
              <a:latin typeface="Arial" panose="020B0604020202020204" pitchFamily="34" charset="0"/>
              <a:cs typeface="Arial" panose="020B0604020202020204" pitchFamily="34" charset="0"/>
            </a:endParaRPr>
          </a:p>
          <a:p>
            <a:r>
              <a:rPr lang="en-IN" sz="2400" dirty="0" smtClean="0">
                <a:solidFill>
                  <a:schemeClr val="bg1"/>
                </a:solidFill>
                <a:latin typeface="Arial" panose="020B0604020202020204" pitchFamily="34" charset="0"/>
                <a:cs typeface="Arial" panose="020B0604020202020204" pitchFamily="34" charset="0"/>
              </a:rPr>
              <a:t>Pair&lt;String</a:t>
            </a:r>
            <a:r>
              <a:rPr lang="en-IN" sz="2400" dirty="0">
                <a:solidFill>
                  <a:schemeClr val="bg1"/>
                </a:solidFill>
                <a:latin typeface="Arial" panose="020B0604020202020204" pitchFamily="34" charset="0"/>
                <a:cs typeface="Arial" panose="020B0604020202020204" pitchFamily="34" charset="0"/>
              </a:rPr>
              <a:t>, String&gt; p2 = new </a:t>
            </a:r>
            <a:r>
              <a:rPr lang="en-IN" sz="2400" dirty="0" err="1">
                <a:solidFill>
                  <a:schemeClr val="bg1"/>
                </a:solidFill>
                <a:latin typeface="Arial" panose="020B0604020202020204" pitchFamily="34" charset="0"/>
                <a:cs typeface="Arial" panose="020B0604020202020204" pitchFamily="34" charset="0"/>
              </a:rPr>
              <a:t>OrderedPair</a:t>
            </a:r>
            <a:r>
              <a:rPr lang="en-IN" sz="2400" dirty="0">
                <a:solidFill>
                  <a:schemeClr val="bg1"/>
                </a:solidFill>
                <a:latin typeface="Arial" panose="020B0604020202020204" pitchFamily="34" charset="0"/>
                <a:cs typeface="Arial" panose="020B0604020202020204" pitchFamily="34" charset="0"/>
              </a:rPr>
              <a:t>&lt;String, String&gt;("hello", "world"); </a:t>
            </a:r>
          </a:p>
        </p:txBody>
      </p:sp>
    </p:spTree>
    <p:extLst>
      <p:ext uri="{BB962C8B-B14F-4D97-AF65-F5344CB8AC3E}">
        <p14:creationId xmlns:p14="http://schemas.microsoft.com/office/powerpoint/2010/main" val="428808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8390054" cy="1015663"/>
          </a:xfrm>
          <a:prstGeom prst="rect">
            <a:avLst/>
          </a:prstGeom>
          <a:noFill/>
        </p:spPr>
        <p:txBody>
          <a:bodyPr wrap="none" rtlCol="0">
            <a:spAutoFit/>
          </a:bodyPr>
          <a:lstStyle/>
          <a:p>
            <a:r>
              <a:rPr lang="en-IN" sz="6000" dirty="0" smtClean="0">
                <a:solidFill>
                  <a:schemeClr val="bg1"/>
                </a:solidFill>
              </a:rPr>
              <a:t>Generic Wildcard Example</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22914" y="996287"/>
            <a:ext cx="6737444" cy="5632311"/>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import </a:t>
            </a:r>
            <a:r>
              <a:rPr lang="en-IN" sz="2400" dirty="0" err="1">
                <a:solidFill>
                  <a:schemeClr val="bg1"/>
                </a:solidFill>
                <a:latin typeface="Arial" panose="020B0604020202020204" pitchFamily="34" charset="0"/>
                <a:cs typeface="Arial" panose="020B0604020202020204" pitchFamily="34" charset="0"/>
              </a:rPr>
              <a:t>java.util.Arrays</a:t>
            </a:r>
            <a:r>
              <a:rPr lang="en-IN" sz="2400" dirty="0">
                <a:solidFill>
                  <a:schemeClr val="bg1"/>
                </a:solidFill>
                <a:latin typeface="Arial" panose="020B0604020202020204" pitchFamily="34" charset="0"/>
                <a:cs typeface="Arial" panose="020B0604020202020204" pitchFamily="34" charset="0"/>
              </a:rPr>
              <a:t>;</a:t>
            </a:r>
          </a:p>
          <a:p>
            <a:r>
              <a:rPr lang="en-IN" sz="2400" dirty="0">
                <a:solidFill>
                  <a:schemeClr val="bg1"/>
                </a:solidFill>
                <a:latin typeface="Arial" panose="020B0604020202020204" pitchFamily="34" charset="0"/>
                <a:cs typeface="Arial" panose="020B0604020202020204" pitchFamily="34" charset="0"/>
              </a:rPr>
              <a:t>import </a:t>
            </a:r>
            <a:r>
              <a:rPr lang="en-IN" sz="2400" dirty="0" err="1">
                <a:solidFill>
                  <a:schemeClr val="bg1"/>
                </a:solidFill>
                <a:latin typeface="Arial" panose="020B0604020202020204" pitchFamily="34" charset="0"/>
                <a:cs typeface="Arial" panose="020B0604020202020204" pitchFamily="34" charset="0"/>
              </a:rPr>
              <a:t>java.util.List</a:t>
            </a:r>
            <a:r>
              <a:rPr lang="en-IN" sz="2400" dirty="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public class </a:t>
            </a:r>
            <a:r>
              <a:rPr lang="en-IN" sz="2400" dirty="0" err="1" smtClean="0">
                <a:solidFill>
                  <a:schemeClr val="bg1"/>
                </a:solidFill>
                <a:latin typeface="Arial" panose="020B0604020202020204" pitchFamily="34" charset="0"/>
                <a:cs typeface="Arial" panose="020B0604020202020204" pitchFamily="34" charset="0"/>
              </a:rPr>
              <a:t>WildcardDemo</a:t>
            </a: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    public static void main(String[] </a:t>
            </a:r>
            <a:r>
              <a:rPr lang="en-IN" sz="2400" dirty="0" err="1">
                <a:solidFill>
                  <a:schemeClr val="bg1"/>
                </a:solidFill>
                <a:latin typeface="Arial" panose="020B0604020202020204" pitchFamily="34" charset="0"/>
                <a:cs typeface="Arial" panose="020B0604020202020204" pitchFamily="34" charset="0"/>
              </a:rPr>
              <a:t>args</a:t>
            </a:r>
            <a:r>
              <a:rPr lang="en-IN" sz="2400" dirty="0" smtClean="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smtClean="0">
                <a:solidFill>
                  <a:schemeClr val="bg1"/>
                </a:solidFill>
                <a:latin typeface="Arial" panose="020B0604020202020204" pitchFamily="34" charset="0"/>
                <a:cs typeface="Arial" panose="020B0604020202020204" pitchFamily="34" charset="0"/>
              </a:rPr>
              <a:t>List&lt;Integer</a:t>
            </a:r>
            <a:r>
              <a:rPr lang="en-IN" sz="2400" dirty="0">
                <a:solidFill>
                  <a:schemeClr val="bg1"/>
                </a:solidFill>
                <a:latin typeface="Arial" panose="020B0604020202020204" pitchFamily="34" charset="0"/>
                <a:cs typeface="Arial" panose="020B0604020202020204" pitchFamily="34" charset="0"/>
              </a:rPr>
              <a:t>&gt; list1= </a:t>
            </a:r>
            <a:r>
              <a:rPr lang="en-IN" sz="2400" dirty="0" err="1">
                <a:solidFill>
                  <a:schemeClr val="bg1"/>
                </a:solidFill>
                <a:latin typeface="Arial" panose="020B0604020202020204" pitchFamily="34" charset="0"/>
                <a:cs typeface="Arial" panose="020B0604020202020204" pitchFamily="34" charset="0"/>
              </a:rPr>
              <a:t>Arrays.asList</a:t>
            </a:r>
            <a:r>
              <a:rPr lang="en-IN" sz="2400" dirty="0">
                <a:solidFill>
                  <a:schemeClr val="bg1"/>
                </a:solidFill>
                <a:latin typeface="Arial" panose="020B0604020202020204" pitchFamily="34" charset="0"/>
                <a:cs typeface="Arial" panose="020B0604020202020204" pitchFamily="34" charset="0"/>
              </a:rPr>
              <a:t>(4,5,6,7);</a:t>
            </a:r>
          </a:p>
          <a:p>
            <a:r>
              <a:rPr lang="en-IN" sz="2400" dirty="0">
                <a:solidFill>
                  <a:schemeClr val="bg1"/>
                </a:solidFill>
                <a:latin typeface="Arial" panose="020B0604020202020204" pitchFamily="34" charset="0"/>
                <a:cs typeface="Arial" panose="020B0604020202020204" pitchFamily="34" charset="0"/>
              </a:rPr>
              <a:t>         </a:t>
            </a:r>
          </a:p>
          <a:p>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a:solidFill>
                  <a:schemeClr val="bg1"/>
                </a:solidFill>
                <a:latin typeface="Arial" panose="020B0604020202020204" pitchFamily="34" charset="0"/>
                <a:cs typeface="Arial" panose="020B0604020202020204" pitchFamily="34" charset="0"/>
              </a:rPr>
              <a:t>("Total sum is:"+sum(list1));</a:t>
            </a:r>
          </a:p>
          <a:p>
            <a:r>
              <a:rPr lang="en-IN" sz="2400" dirty="0">
                <a:solidFill>
                  <a:schemeClr val="bg1"/>
                </a:solidFill>
                <a:latin typeface="Arial" panose="020B0604020202020204" pitchFamily="34" charset="0"/>
                <a:cs typeface="Arial" panose="020B0604020202020204" pitchFamily="34" charset="0"/>
              </a:rPr>
              <a:t> </a:t>
            </a:r>
          </a:p>
          <a:p>
            <a:r>
              <a:rPr lang="en-IN" sz="2400" dirty="0" smtClean="0">
                <a:solidFill>
                  <a:schemeClr val="bg1"/>
                </a:solidFill>
                <a:latin typeface="Arial" panose="020B0604020202020204" pitchFamily="34" charset="0"/>
                <a:cs typeface="Arial" panose="020B0604020202020204" pitchFamily="34" charset="0"/>
              </a:rPr>
              <a:t>List&lt;Double</a:t>
            </a:r>
            <a:r>
              <a:rPr lang="en-IN" sz="2400" dirty="0">
                <a:solidFill>
                  <a:schemeClr val="bg1"/>
                </a:solidFill>
                <a:latin typeface="Arial" panose="020B0604020202020204" pitchFamily="34" charset="0"/>
                <a:cs typeface="Arial" panose="020B0604020202020204" pitchFamily="34" charset="0"/>
              </a:rPr>
              <a:t>&gt; list2=</a:t>
            </a:r>
            <a:r>
              <a:rPr lang="en-IN" sz="2400" dirty="0" err="1">
                <a:solidFill>
                  <a:schemeClr val="bg1"/>
                </a:solidFill>
                <a:latin typeface="Arial" panose="020B0604020202020204" pitchFamily="34" charset="0"/>
                <a:cs typeface="Arial" panose="020B0604020202020204" pitchFamily="34" charset="0"/>
              </a:rPr>
              <a:t>Arrays.asList</a:t>
            </a:r>
            <a:r>
              <a:rPr lang="en-IN" sz="2400" dirty="0">
                <a:solidFill>
                  <a:schemeClr val="bg1"/>
                </a:solidFill>
                <a:latin typeface="Arial" panose="020B0604020202020204" pitchFamily="34" charset="0"/>
                <a:cs typeface="Arial" panose="020B0604020202020204" pitchFamily="34" charset="0"/>
              </a:rPr>
              <a:t>(4.1,5.1,6.1);</a:t>
            </a:r>
          </a:p>
          <a:p>
            <a:r>
              <a:rPr lang="en-IN" sz="2400" dirty="0">
                <a:solidFill>
                  <a:schemeClr val="bg1"/>
                </a:solidFill>
                <a:latin typeface="Arial" panose="020B0604020202020204" pitchFamily="34" charset="0"/>
                <a:cs typeface="Arial" panose="020B0604020202020204" pitchFamily="34" charset="0"/>
              </a:rPr>
              <a:t>         </a:t>
            </a:r>
          </a:p>
          <a:p>
            <a:r>
              <a:rPr lang="en-IN" sz="2400" dirty="0" err="1" smtClean="0">
                <a:solidFill>
                  <a:schemeClr val="bg1"/>
                </a:solidFill>
                <a:latin typeface="Arial" panose="020B0604020202020204" pitchFamily="34" charset="0"/>
                <a:cs typeface="Arial" panose="020B0604020202020204" pitchFamily="34" charset="0"/>
              </a:rPr>
              <a:t>System.out.print</a:t>
            </a:r>
            <a:r>
              <a:rPr lang="en-IN" sz="2400" dirty="0">
                <a:solidFill>
                  <a:schemeClr val="bg1"/>
                </a:solidFill>
                <a:latin typeface="Arial" panose="020B0604020202020204" pitchFamily="34" charset="0"/>
                <a:cs typeface="Arial" panose="020B0604020202020204" pitchFamily="34" charset="0"/>
              </a:rPr>
              <a:t>("Total sum is:"+sum(list2</a:t>
            </a:r>
            <a:r>
              <a:rPr lang="en-IN" sz="2400" dirty="0" smtClean="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    }</a:t>
            </a:r>
          </a:p>
        </p:txBody>
      </p:sp>
      <p:sp>
        <p:nvSpPr>
          <p:cNvPr id="8" name="Rectangle 7"/>
          <p:cNvSpPr/>
          <p:nvPr/>
        </p:nvSpPr>
        <p:spPr>
          <a:xfrm>
            <a:off x="6714699" y="996287"/>
            <a:ext cx="5308979" cy="3785652"/>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private static double sum</a:t>
            </a:r>
            <a:r>
              <a:rPr lang="en-IN" sz="2400" dirty="0" smtClean="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List</a:t>
            </a:r>
            <a:r>
              <a:rPr lang="en-IN" sz="2400" b="1" u="sng" dirty="0">
                <a:solidFill>
                  <a:srgbClr val="FFC000"/>
                </a:solidFill>
                <a:latin typeface="Arial" panose="020B0604020202020204" pitchFamily="34" charset="0"/>
                <a:cs typeface="Arial" panose="020B0604020202020204" pitchFamily="34" charset="0"/>
              </a:rPr>
              <a:t>&lt;? extends Number&gt;</a:t>
            </a:r>
            <a:r>
              <a:rPr lang="en-IN" sz="2400" dirty="0">
                <a:solidFill>
                  <a:schemeClr val="bg1"/>
                </a:solidFill>
                <a:latin typeface="Arial" panose="020B0604020202020204" pitchFamily="34" charset="0"/>
                <a:cs typeface="Arial" panose="020B0604020202020204" pitchFamily="34" charset="0"/>
              </a:rPr>
              <a:t> list) </a:t>
            </a: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        double sum=0.0;</a:t>
            </a:r>
          </a:p>
          <a:p>
            <a:r>
              <a:rPr lang="en-IN" sz="2400" dirty="0">
                <a:solidFill>
                  <a:schemeClr val="bg1"/>
                </a:solidFill>
                <a:latin typeface="Arial" panose="020B0604020202020204" pitchFamily="34" charset="0"/>
                <a:cs typeface="Arial" panose="020B0604020202020204" pitchFamily="34" charset="0"/>
              </a:rPr>
              <a:t>        for (Number i: list)</a:t>
            </a:r>
          </a:p>
          <a:p>
            <a:r>
              <a:rPr lang="en-IN" sz="2400" dirty="0">
                <a:solidFill>
                  <a:schemeClr val="bg1"/>
                </a:solidFill>
                <a:latin typeface="Arial" panose="020B0604020202020204" pitchFamily="34" charset="0"/>
                <a:cs typeface="Arial" panose="020B0604020202020204" pitchFamily="34" charset="0"/>
              </a:rPr>
              <a:t>        {</a:t>
            </a:r>
          </a:p>
          <a:p>
            <a:r>
              <a:rPr lang="en-IN" sz="2400" dirty="0">
                <a:solidFill>
                  <a:schemeClr val="bg1"/>
                </a:solidFill>
                <a:latin typeface="Arial" panose="020B0604020202020204" pitchFamily="34" charset="0"/>
                <a:cs typeface="Arial" panose="020B0604020202020204" pitchFamily="34" charset="0"/>
              </a:rPr>
              <a:t>            sum+=</a:t>
            </a:r>
            <a:r>
              <a:rPr lang="en-IN" sz="2400" dirty="0" err="1">
                <a:solidFill>
                  <a:schemeClr val="bg1"/>
                </a:solidFill>
                <a:latin typeface="Arial" panose="020B0604020202020204" pitchFamily="34" charset="0"/>
                <a:cs typeface="Arial" panose="020B0604020202020204" pitchFamily="34" charset="0"/>
              </a:rPr>
              <a:t>i.doubleValue</a:t>
            </a:r>
            <a:r>
              <a:rPr lang="en-IN" sz="2400" dirty="0">
                <a:solidFill>
                  <a:schemeClr val="bg1"/>
                </a:solidFill>
                <a:latin typeface="Arial" panose="020B0604020202020204" pitchFamily="34" charset="0"/>
                <a:cs typeface="Arial" panose="020B0604020202020204" pitchFamily="34" charset="0"/>
              </a:rPr>
              <a:t>();</a:t>
            </a:r>
          </a:p>
          <a:p>
            <a:r>
              <a:rPr lang="en-IN" sz="2400" dirty="0">
                <a:solidFill>
                  <a:schemeClr val="bg1"/>
                </a:solidFill>
                <a:latin typeface="Arial" panose="020B0604020202020204" pitchFamily="34" charset="0"/>
                <a:cs typeface="Arial" panose="020B0604020202020204" pitchFamily="34" charset="0"/>
              </a:rPr>
              <a:t>        }</a:t>
            </a:r>
          </a:p>
          <a:p>
            <a:r>
              <a:rPr lang="en-IN" sz="2400" dirty="0">
                <a:solidFill>
                  <a:schemeClr val="bg1"/>
                </a:solidFill>
                <a:latin typeface="Arial" panose="020B0604020202020204" pitchFamily="34" charset="0"/>
                <a:cs typeface="Arial" panose="020B0604020202020204" pitchFamily="34" charset="0"/>
              </a:rPr>
              <a:t> </a:t>
            </a:r>
          </a:p>
          <a:p>
            <a:r>
              <a:rPr lang="en-IN" sz="2400" dirty="0">
                <a:solidFill>
                  <a:schemeClr val="bg1"/>
                </a:solidFill>
                <a:latin typeface="Arial" panose="020B0604020202020204" pitchFamily="34" charset="0"/>
                <a:cs typeface="Arial" panose="020B0604020202020204" pitchFamily="34" charset="0"/>
              </a:rPr>
              <a:t>        return sum;</a:t>
            </a:r>
          </a:p>
          <a:p>
            <a:r>
              <a:rPr lang="en-IN" sz="2400"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126311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8390054" cy="1015663"/>
          </a:xfrm>
          <a:prstGeom prst="rect">
            <a:avLst/>
          </a:prstGeom>
          <a:noFill/>
        </p:spPr>
        <p:txBody>
          <a:bodyPr wrap="none" rtlCol="0">
            <a:spAutoFit/>
          </a:bodyPr>
          <a:lstStyle/>
          <a:p>
            <a:r>
              <a:rPr lang="en-IN" sz="6000" dirty="0" smtClean="0">
                <a:solidFill>
                  <a:schemeClr val="bg1"/>
                </a:solidFill>
              </a:rPr>
              <a:t>Generic Wildcard Example</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22914" y="996287"/>
            <a:ext cx="6737444" cy="5632311"/>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import </a:t>
            </a:r>
            <a:r>
              <a:rPr lang="en-IN" sz="2400" dirty="0" err="1">
                <a:solidFill>
                  <a:schemeClr val="bg1"/>
                </a:solidFill>
                <a:latin typeface="Arial" panose="020B0604020202020204" pitchFamily="34" charset="0"/>
                <a:cs typeface="Arial" panose="020B0604020202020204" pitchFamily="34" charset="0"/>
              </a:rPr>
              <a:t>java.util.Arrays</a:t>
            </a:r>
            <a:r>
              <a:rPr lang="en-IN" sz="2400" dirty="0">
                <a:solidFill>
                  <a:schemeClr val="bg1"/>
                </a:solidFill>
                <a:latin typeface="Arial" panose="020B0604020202020204" pitchFamily="34" charset="0"/>
                <a:cs typeface="Arial" panose="020B0604020202020204" pitchFamily="34" charset="0"/>
              </a:rPr>
              <a:t>;</a:t>
            </a:r>
          </a:p>
          <a:p>
            <a:r>
              <a:rPr lang="en-IN" sz="2400" dirty="0">
                <a:solidFill>
                  <a:schemeClr val="bg1"/>
                </a:solidFill>
                <a:latin typeface="Arial" panose="020B0604020202020204" pitchFamily="34" charset="0"/>
                <a:cs typeface="Arial" panose="020B0604020202020204" pitchFamily="34" charset="0"/>
              </a:rPr>
              <a:t>import </a:t>
            </a:r>
            <a:r>
              <a:rPr lang="en-IN" sz="2400" dirty="0" err="1">
                <a:solidFill>
                  <a:schemeClr val="bg1"/>
                </a:solidFill>
                <a:latin typeface="Arial" panose="020B0604020202020204" pitchFamily="34" charset="0"/>
                <a:cs typeface="Arial" panose="020B0604020202020204" pitchFamily="34" charset="0"/>
              </a:rPr>
              <a:t>java.util.List</a:t>
            </a:r>
            <a:r>
              <a:rPr lang="en-IN" sz="2400" dirty="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public class </a:t>
            </a:r>
            <a:r>
              <a:rPr lang="en-IN" sz="2400" dirty="0" err="1" smtClean="0">
                <a:solidFill>
                  <a:schemeClr val="bg1"/>
                </a:solidFill>
                <a:latin typeface="Arial" panose="020B0604020202020204" pitchFamily="34" charset="0"/>
                <a:cs typeface="Arial" panose="020B0604020202020204" pitchFamily="34" charset="0"/>
              </a:rPr>
              <a:t>WildcardDemo</a:t>
            </a: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    public static void main(String[] </a:t>
            </a:r>
            <a:r>
              <a:rPr lang="en-IN" sz="2400" dirty="0" err="1">
                <a:solidFill>
                  <a:schemeClr val="bg1"/>
                </a:solidFill>
                <a:latin typeface="Arial" panose="020B0604020202020204" pitchFamily="34" charset="0"/>
                <a:cs typeface="Arial" panose="020B0604020202020204" pitchFamily="34" charset="0"/>
              </a:rPr>
              <a:t>args</a:t>
            </a:r>
            <a:r>
              <a:rPr lang="en-IN" sz="2400" dirty="0" smtClean="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smtClean="0">
                <a:solidFill>
                  <a:schemeClr val="bg1"/>
                </a:solidFill>
                <a:latin typeface="Arial" panose="020B0604020202020204" pitchFamily="34" charset="0"/>
                <a:cs typeface="Arial" panose="020B0604020202020204" pitchFamily="34" charset="0"/>
              </a:rPr>
              <a:t>List&lt;Integer</a:t>
            </a:r>
            <a:r>
              <a:rPr lang="en-IN" sz="2400" dirty="0">
                <a:solidFill>
                  <a:schemeClr val="bg1"/>
                </a:solidFill>
                <a:latin typeface="Arial" panose="020B0604020202020204" pitchFamily="34" charset="0"/>
                <a:cs typeface="Arial" panose="020B0604020202020204" pitchFamily="34" charset="0"/>
              </a:rPr>
              <a:t>&gt; list1= </a:t>
            </a:r>
            <a:r>
              <a:rPr lang="en-IN" sz="2400" dirty="0" err="1">
                <a:solidFill>
                  <a:schemeClr val="bg1"/>
                </a:solidFill>
                <a:latin typeface="Arial" panose="020B0604020202020204" pitchFamily="34" charset="0"/>
                <a:cs typeface="Arial" panose="020B0604020202020204" pitchFamily="34" charset="0"/>
              </a:rPr>
              <a:t>Arrays.asList</a:t>
            </a:r>
            <a:r>
              <a:rPr lang="en-IN" sz="2400" dirty="0">
                <a:solidFill>
                  <a:schemeClr val="bg1"/>
                </a:solidFill>
                <a:latin typeface="Arial" panose="020B0604020202020204" pitchFamily="34" charset="0"/>
                <a:cs typeface="Arial" panose="020B0604020202020204" pitchFamily="34" charset="0"/>
              </a:rPr>
              <a:t>(4,5,6,7);</a:t>
            </a:r>
          </a:p>
          <a:p>
            <a:r>
              <a:rPr lang="en-IN" sz="2400" dirty="0">
                <a:solidFill>
                  <a:schemeClr val="bg1"/>
                </a:solidFill>
                <a:latin typeface="Arial" panose="020B0604020202020204" pitchFamily="34" charset="0"/>
                <a:cs typeface="Arial" panose="020B0604020202020204" pitchFamily="34" charset="0"/>
              </a:rPr>
              <a:t>         </a:t>
            </a:r>
          </a:p>
          <a:p>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a:solidFill>
                  <a:schemeClr val="bg1"/>
                </a:solidFill>
                <a:latin typeface="Arial" panose="020B0604020202020204" pitchFamily="34" charset="0"/>
                <a:cs typeface="Arial" panose="020B0604020202020204" pitchFamily="34" charset="0"/>
              </a:rPr>
              <a:t>("Total sum is:"+sum(list1));</a:t>
            </a:r>
          </a:p>
          <a:p>
            <a:r>
              <a:rPr lang="en-IN" sz="2400" dirty="0">
                <a:solidFill>
                  <a:schemeClr val="bg1"/>
                </a:solidFill>
                <a:latin typeface="Arial" panose="020B0604020202020204" pitchFamily="34" charset="0"/>
                <a:cs typeface="Arial" panose="020B0604020202020204" pitchFamily="34" charset="0"/>
              </a:rPr>
              <a:t> </a:t>
            </a:r>
          </a:p>
          <a:p>
            <a:r>
              <a:rPr lang="en-IN" sz="2400" dirty="0">
                <a:solidFill>
                  <a:schemeClr val="bg1"/>
                </a:solidFill>
                <a:latin typeface="Arial" panose="020B0604020202020204" pitchFamily="34" charset="0"/>
                <a:cs typeface="Arial" panose="020B0604020202020204" pitchFamily="34" charset="0"/>
              </a:rPr>
              <a:t> List&lt;Number&gt; list2= </a:t>
            </a:r>
            <a:r>
              <a:rPr lang="en-IN" sz="2400" dirty="0" err="1">
                <a:solidFill>
                  <a:schemeClr val="bg1"/>
                </a:solidFill>
                <a:latin typeface="Arial" panose="020B0604020202020204" pitchFamily="34" charset="0"/>
                <a:cs typeface="Arial" panose="020B0604020202020204" pitchFamily="34" charset="0"/>
              </a:rPr>
              <a:t>Arrays.asList</a:t>
            </a:r>
            <a:r>
              <a:rPr lang="en-IN" sz="2400" dirty="0">
                <a:solidFill>
                  <a:schemeClr val="bg1"/>
                </a:solidFill>
                <a:latin typeface="Arial" panose="020B0604020202020204" pitchFamily="34" charset="0"/>
                <a:cs typeface="Arial" panose="020B0604020202020204" pitchFamily="34" charset="0"/>
              </a:rPr>
              <a:t>(4,5,6,7</a:t>
            </a:r>
            <a:r>
              <a:rPr lang="en-IN" sz="2400" dirty="0" smtClean="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a:p>
            <a:r>
              <a:rPr lang="en-IN" sz="2400" dirty="0" err="1" smtClean="0">
                <a:solidFill>
                  <a:schemeClr val="bg1"/>
                </a:solidFill>
                <a:latin typeface="Arial" panose="020B0604020202020204" pitchFamily="34" charset="0"/>
                <a:cs typeface="Arial" panose="020B0604020202020204" pitchFamily="34" charset="0"/>
              </a:rPr>
              <a:t>System.out.print</a:t>
            </a:r>
            <a:r>
              <a:rPr lang="en-IN" sz="2400" dirty="0">
                <a:solidFill>
                  <a:schemeClr val="bg1"/>
                </a:solidFill>
                <a:latin typeface="Arial" panose="020B0604020202020204" pitchFamily="34" charset="0"/>
                <a:cs typeface="Arial" panose="020B0604020202020204" pitchFamily="34" charset="0"/>
              </a:rPr>
              <a:t>("Total sum is:"+sum(list2</a:t>
            </a:r>
            <a:r>
              <a:rPr lang="en-IN" sz="2400" dirty="0" smtClean="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    }</a:t>
            </a:r>
          </a:p>
        </p:txBody>
      </p:sp>
      <p:sp>
        <p:nvSpPr>
          <p:cNvPr id="8" name="Rectangle 7"/>
          <p:cNvSpPr/>
          <p:nvPr/>
        </p:nvSpPr>
        <p:spPr>
          <a:xfrm>
            <a:off x="6714699" y="996287"/>
            <a:ext cx="5308979" cy="1569660"/>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private static </a:t>
            </a:r>
            <a:r>
              <a:rPr lang="en-IN" sz="2400" dirty="0" smtClean="0">
                <a:solidFill>
                  <a:schemeClr val="bg1"/>
                </a:solidFill>
                <a:latin typeface="Arial" panose="020B0604020202020204" pitchFamily="34" charset="0"/>
                <a:cs typeface="Arial" panose="020B0604020202020204" pitchFamily="34" charset="0"/>
              </a:rPr>
              <a:t>void </a:t>
            </a:r>
            <a:r>
              <a:rPr lang="en-IN" sz="2400" dirty="0">
                <a:solidFill>
                  <a:schemeClr val="bg1"/>
                </a:solidFill>
                <a:latin typeface="Arial" panose="020B0604020202020204" pitchFamily="34" charset="0"/>
                <a:cs typeface="Arial" panose="020B0604020202020204" pitchFamily="34" charset="0"/>
              </a:rPr>
              <a:t>sum</a:t>
            </a:r>
            <a:r>
              <a:rPr lang="en-IN" sz="2400" dirty="0" smtClean="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List</a:t>
            </a:r>
            <a:r>
              <a:rPr lang="en-IN" sz="2400" b="1" u="sng" dirty="0">
                <a:solidFill>
                  <a:srgbClr val="FFC000"/>
                </a:solidFill>
                <a:latin typeface="Arial" panose="020B0604020202020204" pitchFamily="34" charset="0"/>
                <a:cs typeface="Arial" panose="020B0604020202020204" pitchFamily="34" charset="0"/>
              </a:rPr>
              <a:t>&lt;? </a:t>
            </a:r>
            <a:r>
              <a:rPr lang="en-IN" sz="2400" b="1" u="sng" dirty="0" smtClean="0">
                <a:solidFill>
                  <a:srgbClr val="FFC000"/>
                </a:solidFill>
                <a:latin typeface="Arial" panose="020B0604020202020204" pitchFamily="34" charset="0"/>
                <a:cs typeface="Arial" panose="020B0604020202020204" pitchFamily="34" charset="0"/>
              </a:rPr>
              <a:t>super Integer&gt;</a:t>
            </a: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list) </a:t>
            </a: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a:p>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smtClean="0">
                <a:solidFill>
                  <a:schemeClr val="bg1"/>
                </a:solidFill>
                <a:latin typeface="Arial" panose="020B0604020202020204" pitchFamily="34" charset="0"/>
                <a:cs typeface="Arial" panose="020B0604020202020204" pitchFamily="34" charset="0"/>
              </a:rPr>
              <a:t>(list</a:t>
            </a:r>
            <a:r>
              <a:rPr lang="en-IN" sz="2400" dirty="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29699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8390054" cy="1015663"/>
          </a:xfrm>
          <a:prstGeom prst="rect">
            <a:avLst/>
          </a:prstGeom>
          <a:noFill/>
        </p:spPr>
        <p:txBody>
          <a:bodyPr wrap="none" rtlCol="0">
            <a:spAutoFit/>
          </a:bodyPr>
          <a:lstStyle/>
          <a:p>
            <a:r>
              <a:rPr lang="en-IN" sz="6000" dirty="0" smtClean="0">
                <a:solidFill>
                  <a:schemeClr val="bg1"/>
                </a:solidFill>
              </a:rPr>
              <a:t>Generic Wildcard Example</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22914" y="996287"/>
            <a:ext cx="6737444" cy="5632311"/>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import </a:t>
            </a:r>
            <a:r>
              <a:rPr lang="en-IN" sz="2400" dirty="0" err="1">
                <a:solidFill>
                  <a:schemeClr val="bg1"/>
                </a:solidFill>
                <a:latin typeface="Arial" panose="020B0604020202020204" pitchFamily="34" charset="0"/>
                <a:cs typeface="Arial" panose="020B0604020202020204" pitchFamily="34" charset="0"/>
              </a:rPr>
              <a:t>java.util.Arrays</a:t>
            </a:r>
            <a:r>
              <a:rPr lang="en-IN" sz="2400" dirty="0">
                <a:solidFill>
                  <a:schemeClr val="bg1"/>
                </a:solidFill>
                <a:latin typeface="Arial" panose="020B0604020202020204" pitchFamily="34" charset="0"/>
                <a:cs typeface="Arial" panose="020B0604020202020204" pitchFamily="34" charset="0"/>
              </a:rPr>
              <a:t>;</a:t>
            </a:r>
          </a:p>
          <a:p>
            <a:r>
              <a:rPr lang="en-IN" sz="2400" dirty="0">
                <a:solidFill>
                  <a:schemeClr val="bg1"/>
                </a:solidFill>
                <a:latin typeface="Arial" panose="020B0604020202020204" pitchFamily="34" charset="0"/>
                <a:cs typeface="Arial" panose="020B0604020202020204" pitchFamily="34" charset="0"/>
              </a:rPr>
              <a:t>import </a:t>
            </a:r>
            <a:r>
              <a:rPr lang="en-IN" sz="2400" dirty="0" err="1">
                <a:solidFill>
                  <a:schemeClr val="bg1"/>
                </a:solidFill>
                <a:latin typeface="Arial" panose="020B0604020202020204" pitchFamily="34" charset="0"/>
                <a:cs typeface="Arial" panose="020B0604020202020204" pitchFamily="34" charset="0"/>
              </a:rPr>
              <a:t>java.util.List</a:t>
            </a:r>
            <a:r>
              <a:rPr lang="en-IN" sz="2400" dirty="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public class </a:t>
            </a:r>
            <a:r>
              <a:rPr lang="en-IN" sz="2400" dirty="0" err="1" smtClean="0">
                <a:solidFill>
                  <a:schemeClr val="bg1"/>
                </a:solidFill>
                <a:latin typeface="Arial" panose="020B0604020202020204" pitchFamily="34" charset="0"/>
                <a:cs typeface="Arial" panose="020B0604020202020204" pitchFamily="34" charset="0"/>
              </a:rPr>
              <a:t>WildcardDemo</a:t>
            </a: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    public static void main(String[] </a:t>
            </a:r>
            <a:r>
              <a:rPr lang="en-IN" sz="2400" dirty="0" err="1">
                <a:solidFill>
                  <a:schemeClr val="bg1"/>
                </a:solidFill>
                <a:latin typeface="Arial" panose="020B0604020202020204" pitchFamily="34" charset="0"/>
                <a:cs typeface="Arial" panose="020B0604020202020204" pitchFamily="34" charset="0"/>
              </a:rPr>
              <a:t>args</a:t>
            </a:r>
            <a:r>
              <a:rPr lang="en-IN" sz="2400" dirty="0" smtClean="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smtClean="0">
                <a:solidFill>
                  <a:schemeClr val="bg1"/>
                </a:solidFill>
                <a:latin typeface="Arial" panose="020B0604020202020204" pitchFamily="34" charset="0"/>
                <a:cs typeface="Arial" panose="020B0604020202020204" pitchFamily="34" charset="0"/>
              </a:rPr>
              <a:t>List&lt;Integer</a:t>
            </a:r>
            <a:r>
              <a:rPr lang="en-IN" sz="2400" dirty="0">
                <a:solidFill>
                  <a:schemeClr val="bg1"/>
                </a:solidFill>
                <a:latin typeface="Arial" panose="020B0604020202020204" pitchFamily="34" charset="0"/>
                <a:cs typeface="Arial" panose="020B0604020202020204" pitchFamily="34" charset="0"/>
              </a:rPr>
              <a:t>&gt; list1= </a:t>
            </a:r>
            <a:r>
              <a:rPr lang="en-IN" sz="2400" dirty="0" err="1">
                <a:solidFill>
                  <a:schemeClr val="bg1"/>
                </a:solidFill>
                <a:latin typeface="Arial" panose="020B0604020202020204" pitchFamily="34" charset="0"/>
                <a:cs typeface="Arial" panose="020B0604020202020204" pitchFamily="34" charset="0"/>
              </a:rPr>
              <a:t>Arrays.asList</a:t>
            </a:r>
            <a:r>
              <a:rPr lang="en-IN" sz="2400" dirty="0">
                <a:solidFill>
                  <a:schemeClr val="bg1"/>
                </a:solidFill>
                <a:latin typeface="Arial" panose="020B0604020202020204" pitchFamily="34" charset="0"/>
                <a:cs typeface="Arial" panose="020B0604020202020204" pitchFamily="34" charset="0"/>
              </a:rPr>
              <a:t>(4,5,6,7);</a:t>
            </a:r>
          </a:p>
          <a:p>
            <a:r>
              <a:rPr lang="en-IN" sz="2400" dirty="0">
                <a:solidFill>
                  <a:schemeClr val="bg1"/>
                </a:solidFill>
                <a:latin typeface="Arial" panose="020B0604020202020204" pitchFamily="34" charset="0"/>
                <a:cs typeface="Arial" panose="020B0604020202020204" pitchFamily="34" charset="0"/>
              </a:rPr>
              <a:t>         </a:t>
            </a:r>
          </a:p>
          <a:p>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a:solidFill>
                  <a:schemeClr val="bg1"/>
                </a:solidFill>
                <a:latin typeface="Arial" panose="020B0604020202020204" pitchFamily="34" charset="0"/>
                <a:cs typeface="Arial" panose="020B0604020202020204" pitchFamily="34" charset="0"/>
              </a:rPr>
              <a:t>("Total sum is:"+sum(list1));</a:t>
            </a:r>
          </a:p>
          <a:p>
            <a:r>
              <a:rPr lang="en-IN" sz="2400" dirty="0">
                <a:solidFill>
                  <a:schemeClr val="bg1"/>
                </a:solidFill>
                <a:latin typeface="Arial" panose="020B0604020202020204" pitchFamily="34" charset="0"/>
                <a:cs typeface="Arial" panose="020B0604020202020204" pitchFamily="34" charset="0"/>
              </a:rPr>
              <a:t> </a:t>
            </a:r>
          </a:p>
          <a:p>
            <a:r>
              <a:rPr lang="en-IN" sz="2400" dirty="0">
                <a:solidFill>
                  <a:schemeClr val="bg1"/>
                </a:solidFill>
                <a:latin typeface="Arial" panose="020B0604020202020204" pitchFamily="34" charset="0"/>
                <a:cs typeface="Arial" panose="020B0604020202020204" pitchFamily="34" charset="0"/>
              </a:rPr>
              <a:t> List&lt;Number&gt; list2= </a:t>
            </a:r>
            <a:r>
              <a:rPr lang="en-IN" sz="2400" dirty="0" err="1">
                <a:solidFill>
                  <a:schemeClr val="bg1"/>
                </a:solidFill>
                <a:latin typeface="Arial" panose="020B0604020202020204" pitchFamily="34" charset="0"/>
                <a:cs typeface="Arial" panose="020B0604020202020204" pitchFamily="34" charset="0"/>
              </a:rPr>
              <a:t>Arrays.asList</a:t>
            </a:r>
            <a:r>
              <a:rPr lang="en-IN" sz="2400" dirty="0">
                <a:solidFill>
                  <a:schemeClr val="bg1"/>
                </a:solidFill>
                <a:latin typeface="Arial" panose="020B0604020202020204" pitchFamily="34" charset="0"/>
                <a:cs typeface="Arial" panose="020B0604020202020204" pitchFamily="34" charset="0"/>
              </a:rPr>
              <a:t>(4,5,6,7</a:t>
            </a:r>
            <a:r>
              <a:rPr lang="en-IN" sz="2400" dirty="0" smtClean="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         </a:t>
            </a:r>
            <a:endParaRPr lang="en-IN" sz="2400" dirty="0">
              <a:solidFill>
                <a:schemeClr val="bg1"/>
              </a:solidFill>
              <a:latin typeface="Arial" panose="020B0604020202020204" pitchFamily="34" charset="0"/>
              <a:cs typeface="Arial" panose="020B0604020202020204" pitchFamily="34" charset="0"/>
            </a:endParaRPr>
          </a:p>
          <a:p>
            <a:r>
              <a:rPr lang="en-IN" sz="2400" dirty="0" err="1" smtClean="0">
                <a:solidFill>
                  <a:schemeClr val="bg1"/>
                </a:solidFill>
                <a:latin typeface="Arial" panose="020B0604020202020204" pitchFamily="34" charset="0"/>
                <a:cs typeface="Arial" panose="020B0604020202020204" pitchFamily="34" charset="0"/>
              </a:rPr>
              <a:t>System.out.print</a:t>
            </a:r>
            <a:r>
              <a:rPr lang="en-IN" sz="2400" dirty="0">
                <a:solidFill>
                  <a:schemeClr val="bg1"/>
                </a:solidFill>
                <a:latin typeface="Arial" panose="020B0604020202020204" pitchFamily="34" charset="0"/>
                <a:cs typeface="Arial" panose="020B0604020202020204" pitchFamily="34" charset="0"/>
              </a:rPr>
              <a:t>("Total sum is:"+sum(list2</a:t>
            </a:r>
            <a:r>
              <a:rPr lang="en-IN" sz="2400" dirty="0" smtClean="0">
                <a:solidFill>
                  <a:schemeClr val="bg1"/>
                </a:solidFill>
                <a:latin typeface="Arial" panose="020B0604020202020204" pitchFamily="34" charset="0"/>
                <a:cs typeface="Arial" panose="020B0604020202020204" pitchFamily="34" charset="0"/>
              </a:rPr>
              <a:t>));</a:t>
            </a:r>
          </a:p>
          <a:p>
            <a:endParaRPr lang="en-IN" sz="2400" dirty="0">
              <a:solidFill>
                <a:schemeClr val="bg1"/>
              </a:solidFill>
              <a:latin typeface="Arial" panose="020B0604020202020204" pitchFamily="34" charset="0"/>
              <a:cs typeface="Arial" panose="020B0604020202020204" pitchFamily="34" charset="0"/>
            </a:endParaRPr>
          </a:p>
          <a:p>
            <a:r>
              <a:rPr lang="en-IN" sz="2400" dirty="0">
                <a:solidFill>
                  <a:schemeClr val="bg1"/>
                </a:solidFill>
                <a:latin typeface="Arial" panose="020B0604020202020204" pitchFamily="34" charset="0"/>
                <a:cs typeface="Arial" panose="020B0604020202020204" pitchFamily="34" charset="0"/>
              </a:rPr>
              <a:t>    }</a:t>
            </a:r>
          </a:p>
        </p:txBody>
      </p:sp>
      <p:sp>
        <p:nvSpPr>
          <p:cNvPr id="8" name="Rectangle 7"/>
          <p:cNvSpPr/>
          <p:nvPr/>
        </p:nvSpPr>
        <p:spPr>
          <a:xfrm>
            <a:off x="6714699" y="996287"/>
            <a:ext cx="5308979" cy="1569660"/>
          </a:xfrm>
          <a:prstGeom prst="rect">
            <a:avLst/>
          </a:prstGeom>
        </p:spPr>
        <p:txBody>
          <a:bodyPr wrap="square">
            <a:spAutoFit/>
          </a:bodyPr>
          <a:lstStyle/>
          <a:p>
            <a:r>
              <a:rPr lang="en-IN" sz="2400" dirty="0">
                <a:solidFill>
                  <a:schemeClr val="bg1"/>
                </a:solidFill>
                <a:latin typeface="Arial" panose="020B0604020202020204" pitchFamily="34" charset="0"/>
                <a:cs typeface="Arial" panose="020B0604020202020204" pitchFamily="34" charset="0"/>
              </a:rPr>
              <a:t>private static </a:t>
            </a:r>
            <a:r>
              <a:rPr lang="en-IN" sz="2400" dirty="0" smtClean="0">
                <a:solidFill>
                  <a:schemeClr val="bg1"/>
                </a:solidFill>
                <a:latin typeface="Arial" panose="020B0604020202020204" pitchFamily="34" charset="0"/>
                <a:cs typeface="Arial" panose="020B0604020202020204" pitchFamily="34" charset="0"/>
              </a:rPr>
              <a:t>void </a:t>
            </a:r>
            <a:r>
              <a:rPr lang="en-IN" sz="2400" dirty="0">
                <a:solidFill>
                  <a:schemeClr val="bg1"/>
                </a:solidFill>
                <a:latin typeface="Arial" panose="020B0604020202020204" pitchFamily="34" charset="0"/>
                <a:cs typeface="Arial" panose="020B0604020202020204" pitchFamily="34" charset="0"/>
              </a:rPr>
              <a:t>sum</a:t>
            </a:r>
            <a:r>
              <a:rPr lang="en-IN" sz="2400" dirty="0" smtClean="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List</a:t>
            </a:r>
            <a:r>
              <a:rPr lang="en-IN" sz="2400" b="1" u="sng" dirty="0" smtClean="0">
                <a:solidFill>
                  <a:srgbClr val="FFC000"/>
                </a:solidFill>
                <a:latin typeface="Arial" panose="020B0604020202020204" pitchFamily="34" charset="0"/>
                <a:cs typeface="Arial" panose="020B0604020202020204" pitchFamily="34" charset="0"/>
              </a:rPr>
              <a:t>&lt;?&gt;</a:t>
            </a:r>
            <a:r>
              <a:rPr lang="en-IN" sz="2400" dirty="0" smtClean="0">
                <a:solidFill>
                  <a:schemeClr val="bg1"/>
                </a:solidFill>
                <a:latin typeface="Arial" panose="020B0604020202020204" pitchFamily="34" charset="0"/>
                <a:cs typeface="Arial" panose="020B0604020202020204" pitchFamily="34" charset="0"/>
              </a:rPr>
              <a:t> </a:t>
            </a:r>
            <a:r>
              <a:rPr lang="en-IN" sz="2400" dirty="0">
                <a:solidFill>
                  <a:schemeClr val="bg1"/>
                </a:solidFill>
                <a:latin typeface="Arial" panose="020B0604020202020204" pitchFamily="34" charset="0"/>
                <a:cs typeface="Arial" panose="020B0604020202020204" pitchFamily="34" charset="0"/>
              </a:rPr>
              <a:t>list) </a:t>
            </a:r>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a:p>
            <a:r>
              <a:rPr lang="en-IN" sz="2400" dirty="0" smtClean="0">
                <a:solidFill>
                  <a:schemeClr val="bg1"/>
                </a:solidFill>
                <a:latin typeface="Arial" panose="020B0604020202020204" pitchFamily="34" charset="0"/>
                <a:cs typeface="Arial" panose="020B0604020202020204" pitchFamily="34" charset="0"/>
              </a:rPr>
              <a:t>	</a:t>
            </a:r>
            <a:r>
              <a:rPr lang="en-IN" sz="2400" dirty="0" err="1" smtClean="0">
                <a:solidFill>
                  <a:schemeClr val="bg1"/>
                </a:solidFill>
                <a:latin typeface="Arial" panose="020B0604020202020204" pitchFamily="34" charset="0"/>
                <a:cs typeface="Arial" panose="020B0604020202020204" pitchFamily="34" charset="0"/>
              </a:rPr>
              <a:t>System.out.println</a:t>
            </a:r>
            <a:r>
              <a:rPr lang="en-IN" sz="2400" dirty="0" smtClean="0">
                <a:solidFill>
                  <a:schemeClr val="bg1"/>
                </a:solidFill>
                <a:latin typeface="Arial" panose="020B0604020202020204" pitchFamily="34" charset="0"/>
                <a:cs typeface="Arial" panose="020B0604020202020204" pitchFamily="34" charset="0"/>
              </a:rPr>
              <a:t>(list</a:t>
            </a:r>
            <a:r>
              <a:rPr lang="en-IN" sz="2400" dirty="0">
                <a:solidFill>
                  <a:schemeClr val="bg1"/>
                </a:solidFill>
                <a:latin typeface="Arial" panose="020B0604020202020204" pitchFamily="34" charset="0"/>
                <a:cs typeface="Arial" panose="020B0604020202020204" pitchFamily="34" charset="0"/>
              </a:rPr>
              <a:t>);</a:t>
            </a:r>
          </a:p>
          <a:p>
            <a:r>
              <a:rPr lang="en-IN" sz="2400" dirty="0" smtClean="0">
                <a:solidFill>
                  <a:schemeClr val="bg1"/>
                </a:solidFill>
                <a:latin typeface="Arial" panose="020B0604020202020204" pitchFamily="34" charset="0"/>
                <a:cs typeface="Arial" panose="020B0604020202020204" pitchFamily="34" charset="0"/>
              </a:rPr>
              <a:t>}</a:t>
            </a:r>
            <a:endParaRPr lang="en-IN"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7652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647667" y="2674961"/>
            <a:ext cx="6864822" cy="892552"/>
          </a:xfrm>
          <a:prstGeom prst="rect">
            <a:avLst/>
          </a:prstGeom>
        </p:spPr>
        <p:txBody>
          <a:bodyPr wrap="square">
            <a:spAutoFit/>
          </a:bodyPr>
          <a:lstStyle/>
          <a:p>
            <a:pPr algn="ctr"/>
            <a:r>
              <a:rPr lang="en-IN" sz="5200" dirty="0" smtClean="0">
                <a:solidFill>
                  <a:schemeClr val="bg1"/>
                </a:solidFill>
                <a:latin typeface="Arial" panose="020B0604020202020204" pitchFamily="34" charset="0"/>
                <a:cs typeface="Arial" panose="020B0604020202020204" pitchFamily="34" charset="0"/>
              </a:rPr>
              <a:t>Collection Framework</a:t>
            </a:r>
            <a:endParaRPr lang="en-IN" sz="5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85681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6498189" cy="1015663"/>
          </a:xfrm>
          <a:prstGeom prst="rect">
            <a:avLst/>
          </a:prstGeom>
          <a:noFill/>
        </p:spPr>
        <p:txBody>
          <a:bodyPr wrap="none" rtlCol="0">
            <a:spAutoFit/>
          </a:bodyPr>
          <a:lstStyle/>
          <a:p>
            <a:r>
              <a:rPr lang="en-IN" sz="6000" dirty="0" smtClean="0">
                <a:solidFill>
                  <a:schemeClr val="bg1"/>
                </a:solidFill>
              </a:rPr>
              <a:t>What is Collections?</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22914" y="996287"/>
            <a:ext cx="11514160" cy="4247317"/>
          </a:xfrm>
          <a:prstGeom prst="rect">
            <a:avLst/>
          </a:prstGeom>
        </p:spPr>
        <p:txBody>
          <a:bodyPr wrap="square">
            <a:spAutoFit/>
          </a:bodyPr>
          <a:lstStyle/>
          <a:p>
            <a:pPr algn="ctr">
              <a:lnSpc>
                <a:spcPct val="150000"/>
              </a:lnSpc>
            </a:pPr>
            <a:r>
              <a:rPr lang="en-IN" sz="3000" dirty="0" smtClean="0">
                <a:solidFill>
                  <a:schemeClr val="bg1"/>
                </a:solidFill>
              </a:rPr>
              <a:t>A </a:t>
            </a:r>
            <a:r>
              <a:rPr lang="en-IN" sz="3000" i="1" dirty="0">
                <a:solidFill>
                  <a:srgbClr val="FFC000"/>
                </a:solidFill>
              </a:rPr>
              <a:t>collection</a:t>
            </a:r>
            <a:r>
              <a:rPr lang="en-IN" sz="3000" dirty="0">
                <a:solidFill>
                  <a:schemeClr val="bg1"/>
                </a:solidFill>
              </a:rPr>
              <a:t> — sometimes called a container — is simply an object that groups multiple elements into a single unit. </a:t>
            </a:r>
            <a:endParaRPr lang="en-IN" sz="3000" dirty="0" smtClean="0">
              <a:solidFill>
                <a:schemeClr val="bg1"/>
              </a:solidFill>
            </a:endParaRPr>
          </a:p>
          <a:p>
            <a:pPr marL="457200" indent="-457200">
              <a:lnSpc>
                <a:spcPct val="150000"/>
              </a:lnSpc>
              <a:buFont typeface="Arial" panose="020B0604020202020204" pitchFamily="34" charset="0"/>
              <a:buChar char="•"/>
            </a:pPr>
            <a:r>
              <a:rPr lang="en-IN" sz="3000" dirty="0" smtClean="0">
                <a:solidFill>
                  <a:schemeClr val="bg1"/>
                </a:solidFill>
              </a:rPr>
              <a:t>Collections </a:t>
            </a:r>
            <a:r>
              <a:rPr lang="en-IN" sz="3000" dirty="0">
                <a:solidFill>
                  <a:schemeClr val="bg1"/>
                </a:solidFill>
              </a:rPr>
              <a:t>are used to store, retrieve, manipulate, and communicate aggregate </a:t>
            </a:r>
            <a:r>
              <a:rPr lang="en-IN" sz="3000" dirty="0" smtClean="0">
                <a:solidFill>
                  <a:schemeClr val="bg1"/>
                </a:solidFill>
              </a:rPr>
              <a:t>data, such </a:t>
            </a:r>
            <a:r>
              <a:rPr lang="en-IN" sz="3000" dirty="0">
                <a:solidFill>
                  <a:schemeClr val="bg1"/>
                </a:solidFill>
              </a:rPr>
              <a:t>as a </a:t>
            </a:r>
            <a:r>
              <a:rPr lang="en-IN" sz="3000" dirty="0">
                <a:solidFill>
                  <a:srgbClr val="FFC000"/>
                </a:solidFill>
              </a:rPr>
              <a:t>poker hand </a:t>
            </a:r>
            <a:r>
              <a:rPr lang="en-IN" sz="3000" dirty="0">
                <a:solidFill>
                  <a:schemeClr val="bg1"/>
                </a:solidFill>
              </a:rPr>
              <a:t>(a collection of cards), a </a:t>
            </a:r>
            <a:r>
              <a:rPr lang="en-IN" sz="3000" dirty="0">
                <a:solidFill>
                  <a:srgbClr val="FFC000"/>
                </a:solidFill>
              </a:rPr>
              <a:t>mail folder </a:t>
            </a:r>
            <a:r>
              <a:rPr lang="en-IN" sz="3000" dirty="0">
                <a:solidFill>
                  <a:schemeClr val="bg1"/>
                </a:solidFill>
              </a:rPr>
              <a:t>(a collection of letters), or a </a:t>
            </a:r>
            <a:r>
              <a:rPr lang="en-IN" sz="3000" dirty="0">
                <a:solidFill>
                  <a:srgbClr val="FFC000"/>
                </a:solidFill>
              </a:rPr>
              <a:t>telephone directory </a:t>
            </a:r>
            <a:r>
              <a:rPr lang="en-IN" sz="3000" dirty="0">
                <a:solidFill>
                  <a:schemeClr val="bg1"/>
                </a:solidFill>
              </a:rPr>
              <a:t>(a mapping of names to phone numbers).</a:t>
            </a:r>
          </a:p>
        </p:txBody>
      </p:sp>
    </p:spTree>
    <p:extLst>
      <p:ext uri="{BB962C8B-B14F-4D97-AF65-F5344CB8AC3E}">
        <p14:creationId xmlns:p14="http://schemas.microsoft.com/office/powerpoint/2010/main" val="15022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206512" cy="1015663"/>
          </a:xfrm>
          <a:prstGeom prst="rect">
            <a:avLst/>
          </a:prstGeom>
          <a:noFill/>
        </p:spPr>
        <p:txBody>
          <a:bodyPr wrap="none" rtlCol="0">
            <a:spAutoFit/>
          </a:bodyPr>
          <a:lstStyle/>
          <a:p>
            <a:r>
              <a:rPr lang="en-IN" sz="6000" dirty="0" smtClean="0">
                <a:solidFill>
                  <a:schemeClr val="bg1"/>
                </a:solidFill>
              </a:rPr>
              <a:t>What is Collections Framework?</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91235" y="2838734"/>
            <a:ext cx="11514160" cy="1405769"/>
          </a:xfrm>
          <a:prstGeom prst="rect">
            <a:avLst/>
          </a:prstGeom>
        </p:spPr>
        <p:txBody>
          <a:bodyPr wrap="square">
            <a:spAutoFit/>
          </a:bodyPr>
          <a:lstStyle/>
          <a:p>
            <a:pPr algn="ctr">
              <a:lnSpc>
                <a:spcPct val="150000"/>
              </a:lnSpc>
            </a:pPr>
            <a:r>
              <a:rPr lang="en-IN" sz="3000" dirty="0">
                <a:solidFill>
                  <a:schemeClr val="bg1"/>
                </a:solidFill>
              </a:rPr>
              <a:t>A collections framework is a unified architecture for </a:t>
            </a:r>
            <a:r>
              <a:rPr lang="en-IN" sz="3000" u="sng" dirty="0">
                <a:solidFill>
                  <a:schemeClr val="bg1"/>
                </a:solidFill>
              </a:rPr>
              <a:t>representing</a:t>
            </a:r>
            <a:r>
              <a:rPr lang="en-IN" sz="3000" dirty="0">
                <a:solidFill>
                  <a:schemeClr val="bg1"/>
                </a:solidFill>
              </a:rPr>
              <a:t> and </a:t>
            </a:r>
            <a:r>
              <a:rPr lang="en-IN" sz="3000" u="sng" dirty="0">
                <a:solidFill>
                  <a:schemeClr val="bg1"/>
                </a:solidFill>
              </a:rPr>
              <a:t>manipulating collections</a:t>
            </a:r>
            <a:r>
              <a:rPr lang="en-IN" sz="3000" dirty="0">
                <a:solidFill>
                  <a:schemeClr val="bg1"/>
                </a:solidFill>
              </a:rPr>
              <a:t>. </a:t>
            </a:r>
            <a:endParaRPr lang="en-IN" sz="3000" dirty="0" smtClean="0">
              <a:solidFill>
                <a:schemeClr val="bg1"/>
              </a:solidFill>
            </a:endParaRPr>
          </a:p>
        </p:txBody>
      </p:sp>
    </p:spTree>
    <p:extLst>
      <p:ext uri="{BB962C8B-B14F-4D97-AF65-F5344CB8AC3E}">
        <p14:creationId xmlns:p14="http://schemas.microsoft.com/office/powerpoint/2010/main" val="32285312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2240017" cy="1015663"/>
          </a:xfrm>
          <a:prstGeom prst="rect">
            <a:avLst/>
          </a:prstGeom>
          <a:noFill/>
        </p:spPr>
        <p:txBody>
          <a:bodyPr wrap="none" rtlCol="0">
            <a:spAutoFit/>
          </a:bodyPr>
          <a:lstStyle/>
          <a:p>
            <a:r>
              <a:rPr lang="en-IN" sz="6000" dirty="0" smtClean="0">
                <a:solidFill>
                  <a:schemeClr val="bg1"/>
                </a:solidFill>
              </a:rPr>
              <a:t>What is Collections Framework? Cont..</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22914" y="1132767"/>
            <a:ext cx="11514160" cy="4247317"/>
          </a:xfrm>
          <a:prstGeom prst="rect">
            <a:avLst/>
          </a:prstGeom>
        </p:spPr>
        <p:txBody>
          <a:bodyPr wrap="square">
            <a:spAutoFit/>
          </a:bodyPr>
          <a:lstStyle/>
          <a:p>
            <a:pPr>
              <a:lnSpc>
                <a:spcPct val="150000"/>
              </a:lnSpc>
            </a:pPr>
            <a:r>
              <a:rPr lang="en-IN" sz="3000" dirty="0" smtClean="0">
                <a:solidFill>
                  <a:schemeClr val="bg1"/>
                </a:solidFill>
              </a:rPr>
              <a:t>All </a:t>
            </a:r>
            <a:r>
              <a:rPr lang="en-IN" sz="3000" dirty="0">
                <a:solidFill>
                  <a:schemeClr val="bg1"/>
                </a:solidFill>
              </a:rPr>
              <a:t>collections frameworks contain the following:</a:t>
            </a:r>
          </a:p>
          <a:p>
            <a:pPr>
              <a:lnSpc>
                <a:spcPct val="150000"/>
              </a:lnSpc>
            </a:pPr>
            <a:r>
              <a:rPr lang="en-IN" sz="3000" dirty="0">
                <a:solidFill>
                  <a:srgbClr val="FFC000"/>
                </a:solidFill>
              </a:rPr>
              <a:t>Interfaces: </a:t>
            </a:r>
            <a:r>
              <a:rPr lang="en-IN" sz="3000" dirty="0">
                <a:solidFill>
                  <a:schemeClr val="bg1"/>
                </a:solidFill>
              </a:rPr>
              <a:t>These are abstract data types that represent collections. Interfaces allow collections to be manipulated independently of the details of their representation. </a:t>
            </a:r>
          </a:p>
          <a:p>
            <a:pPr>
              <a:lnSpc>
                <a:spcPct val="150000"/>
              </a:lnSpc>
            </a:pPr>
            <a:r>
              <a:rPr lang="en-IN" sz="3000" dirty="0">
                <a:solidFill>
                  <a:srgbClr val="FFC000"/>
                </a:solidFill>
              </a:rPr>
              <a:t>Implementations: </a:t>
            </a:r>
            <a:r>
              <a:rPr lang="en-IN" sz="3000" dirty="0" smtClean="0">
                <a:solidFill>
                  <a:schemeClr val="bg1"/>
                </a:solidFill>
              </a:rPr>
              <a:t>concrete </a:t>
            </a:r>
            <a:r>
              <a:rPr lang="en-IN" sz="3000" dirty="0">
                <a:solidFill>
                  <a:schemeClr val="bg1"/>
                </a:solidFill>
              </a:rPr>
              <a:t>implementations of the collection interfaces. In essence, they are reusable data structures</a:t>
            </a:r>
            <a:r>
              <a:rPr lang="en-IN" sz="3000" dirty="0" smtClean="0">
                <a:solidFill>
                  <a:schemeClr val="bg1"/>
                </a:solidFill>
              </a:rPr>
              <a:t>.</a:t>
            </a:r>
            <a:endParaRPr lang="en-IN" sz="3000" dirty="0">
              <a:solidFill>
                <a:schemeClr val="bg1"/>
              </a:solidFill>
            </a:endParaRPr>
          </a:p>
        </p:txBody>
      </p:sp>
    </p:spTree>
    <p:extLst>
      <p:ext uri="{BB962C8B-B14F-4D97-AF65-F5344CB8AC3E}">
        <p14:creationId xmlns:p14="http://schemas.microsoft.com/office/powerpoint/2010/main" val="316026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2240017" cy="1015663"/>
          </a:xfrm>
          <a:prstGeom prst="rect">
            <a:avLst/>
          </a:prstGeom>
          <a:noFill/>
        </p:spPr>
        <p:txBody>
          <a:bodyPr wrap="none" rtlCol="0">
            <a:spAutoFit/>
          </a:bodyPr>
          <a:lstStyle/>
          <a:p>
            <a:r>
              <a:rPr lang="en-IN" sz="6000" dirty="0" smtClean="0">
                <a:solidFill>
                  <a:schemeClr val="bg1"/>
                </a:solidFill>
              </a:rPr>
              <a:t>What is Collections Framework? Cont..</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22914" y="996287"/>
            <a:ext cx="11514160" cy="4247317"/>
          </a:xfrm>
          <a:prstGeom prst="rect">
            <a:avLst/>
          </a:prstGeom>
        </p:spPr>
        <p:txBody>
          <a:bodyPr wrap="square">
            <a:spAutoFit/>
          </a:bodyPr>
          <a:lstStyle/>
          <a:p>
            <a:pPr>
              <a:lnSpc>
                <a:spcPct val="150000"/>
              </a:lnSpc>
            </a:pPr>
            <a:r>
              <a:rPr lang="en-IN" sz="3000" dirty="0" smtClean="0">
                <a:solidFill>
                  <a:srgbClr val="FFC000"/>
                </a:solidFill>
              </a:rPr>
              <a:t>Algorithms</a:t>
            </a:r>
            <a:r>
              <a:rPr lang="en-IN" sz="3000" dirty="0">
                <a:solidFill>
                  <a:srgbClr val="FFC000"/>
                </a:solidFill>
              </a:rPr>
              <a:t>: </a:t>
            </a:r>
            <a:r>
              <a:rPr lang="en-IN" sz="3000" dirty="0">
                <a:solidFill>
                  <a:schemeClr val="bg1"/>
                </a:solidFill>
              </a:rPr>
              <a:t>These are the methods that perform useful </a:t>
            </a:r>
            <a:r>
              <a:rPr lang="en-IN" sz="3000" dirty="0">
                <a:solidFill>
                  <a:srgbClr val="FFC000"/>
                </a:solidFill>
              </a:rPr>
              <a:t>computations</a:t>
            </a:r>
            <a:r>
              <a:rPr lang="en-IN" sz="3000" dirty="0">
                <a:solidFill>
                  <a:schemeClr val="bg1"/>
                </a:solidFill>
              </a:rPr>
              <a:t>, such as </a:t>
            </a:r>
            <a:r>
              <a:rPr lang="en-IN" sz="3000" dirty="0">
                <a:solidFill>
                  <a:srgbClr val="FFC000"/>
                </a:solidFill>
              </a:rPr>
              <a:t>searching and sorting</a:t>
            </a:r>
            <a:r>
              <a:rPr lang="en-IN" sz="3000" dirty="0">
                <a:solidFill>
                  <a:schemeClr val="bg1"/>
                </a:solidFill>
              </a:rPr>
              <a:t>, on objects that implement collection interfaces. </a:t>
            </a:r>
            <a:endParaRPr lang="en-IN" sz="3000" dirty="0" smtClean="0">
              <a:solidFill>
                <a:schemeClr val="bg1"/>
              </a:solidFill>
            </a:endParaRPr>
          </a:p>
          <a:p>
            <a:pPr>
              <a:lnSpc>
                <a:spcPct val="150000"/>
              </a:lnSpc>
            </a:pPr>
            <a:r>
              <a:rPr lang="en-IN" sz="3000" dirty="0" smtClean="0">
                <a:solidFill>
                  <a:schemeClr val="bg1"/>
                </a:solidFill>
              </a:rPr>
              <a:t>The </a:t>
            </a:r>
            <a:r>
              <a:rPr lang="en-IN" sz="3000" dirty="0">
                <a:solidFill>
                  <a:schemeClr val="bg1"/>
                </a:solidFill>
              </a:rPr>
              <a:t>algorithms are said to be </a:t>
            </a:r>
            <a:r>
              <a:rPr lang="en-IN" sz="3000" dirty="0">
                <a:solidFill>
                  <a:srgbClr val="FFC000"/>
                </a:solidFill>
              </a:rPr>
              <a:t>polymorphic</a:t>
            </a:r>
            <a:r>
              <a:rPr lang="en-IN" sz="3000" dirty="0">
                <a:solidFill>
                  <a:schemeClr val="bg1"/>
                </a:solidFill>
              </a:rPr>
              <a:t>: that is, the same method can be used on many different implementations of the appropriate collection interface. In essence, algorithms are reusable functionality.</a:t>
            </a:r>
          </a:p>
        </p:txBody>
      </p:sp>
    </p:spTree>
    <p:extLst>
      <p:ext uri="{BB962C8B-B14F-4D97-AF65-F5344CB8AC3E}">
        <p14:creationId xmlns:p14="http://schemas.microsoft.com/office/powerpoint/2010/main" val="42499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856113" cy="1015663"/>
          </a:xfrm>
          <a:prstGeom prst="rect">
            <a:avLst/>
          </a:prstGeom>
          <a:noFill/>
        </p:spPr>
        <p:txBody>
          <a:bodyPr wrap="none" rtlCol="0">
            <a:spAutoFit/>
          </a:bodyPr>
          <a:lstStyle/>
          <a:p>
            <a:r>
              <a:rPr lang="en-IN" sz="6000" dirty="0" smtClean="0">
                <a:solidFill>
                  <a:schemeClr val="bg1"/>
                </a:solidFill>
              </a:rPr>
              <a:t>Benefits of Collections Framework</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22914" y="996287"/>
            <a:ext cx="11514160" cy="4247317"/>
          </a:xfrm>
          <a:prstGeom prst="rect">
            <a:avLst/>
          </a:prstGeom>
        </p:spPr>
        <p:txBody>
          <a:bodyPr wrap="square">
            <a:spAutoFit/>
          </a:bodyPr>
          <a:lstStyle/>
          <a:p>
            <a:pPr marL="457200" indent="-457200">
              <a:lnSpc>
                <a:spcPct val="150000"/>
              </a:lnSpc>
              <a:buFont typeface="Arial" panose="020B0604020202020204" pitchFamily="34" charset="0"/>
              <a:buChar char="•"/>
            </a:pPr>
            <a:r>
              <a:rPr lang="en-IN" sz="3000" dirty="0">
                <a:solidFill>
                  <a:schemeClr val="bg1"/>
                </a:solidFill>
              </a:rPr>
              <a:t>Reduces programming </a:t>
            </a:r>
            <a:r>
              <a:rPr lang="en-IN" sz="3000" dirty="0" smtClean="0">
                <a:solidFill>
                  <a:schemeClr val="bg1"/>
                </a:solidFill>
              </a:rPr>
              <a:t>effort.</a:t>
            </a:r>
          </a:p>
          <a:p>
            <a:pPr marL="457200" indent="-457200">
              <a:lnSpc>
                <a:spcPct val="150000"/>
              </a:lnSpc>
              <a:buFont typeface="Arial" panose="020B0604020202020204" pitchFamily="34" charset="0"/>
              <a:buChar char="•"/>
            </a:pPr>
            <a:r>
              <a:rPr lang="en-IN" sz="3000" dirty="0">
                <a:solidFill>
                  <a:schemeClr val="bg1"/>
                </a:solidFill>
              </a:rPr>
              <a:t>Increases program speed and </a:t>
            </a:r>
            <a:r>
              <a:rPr lang="en-IN" sz="3000" dirty="0" smtClean="0">
                <a:solidFill>
                  <a:schemeClr val="bg1"/>
                </a:solidFill>
              </a:rPr>
              <a:t>quality.</a:t>
            </a:r>
          </a:p>
          <a:p>
            <a:pPr marL="457200" indent="-457200">
              <a:lnSpc>
                <a:spcPct val="150000"/>
              </a:lnSpc>
              <a:buFont typeface="Arial" panose="020B0604020202020204" pitchFamily="34" charset="0"/>
              <a:buChar char="•"/>
            </a:pPr>
            <a:r>
              <a:rPr lang="en-IN" sz="3000" dirty="0">
                <a:solidFill>
                  <a:schemeClr val="bg1"/>
                </a:solidFill>
              </a:rPr>
              <a:t>Allows interoperability among unrelated </a:t>
            </a:r>
            <a:r>
              <a:rPr lang="en-IN" sz="3000" dirty="0" smtClean="0">
                <a:solidFill>
                  <a:schemeClr val="bg1"/>
                </a:solidFill>
              </a:rPr>
              <a:t>APIs.</a:t>
            </a:r>
          </a:p>
          <a:p>
            <a:pPr marL="457200" indent="-457200">
              <a:lnSpc>
                <a:spcPct val="150000"/>
              </a:lnSpc>
              <a:buFont typeface="Arial" panose="020B0604020202020204" pitchFamily="34" charset="0"/>
              <a:buChar char="•"/>
            </a:pPr>
            <a:r>
              <a:rPr lang="en-IN" sz="3000" dirty="0">
                <a:solidFill>
                  <a:schemeClr val="bg1"/>
                </a:solidFill>
              </a:rPr>
              <a:t>Reduces effort to learn and to use new </a:t>
            </a:r>
            <a:r>
              <a:rPr lang="en-IN" sz="3000" dirty="0" smtClean="0">
                <a:solidFill>
                  <a:schemeClr val="bg1"/>
                </a:solidFill>
              </a:rPr>
              <a:t>APIs.</a:t>
            </a:r>
          </a:p>
          <a:p>
            <a:pPr marL="457200" indent="-457200">
              <a:lnSpc>
                <a:spcPct val="150000"/>
              </a:lnSpc>
              <a:buFont typeface="Arial" panose="020B0604020202020204" pitchFamily="34" charset="0"/>
              <a:buChar char="•"/>
            </a:pPr>
            <a:r>
              <a:rPr lang="en-IN" sz="3000" dirty="0">
                <a:solidFill>
                  <a:schemeClr val="bg1"/>
                </a:solidFill>
              </a:rPr>
              <a:t>Reduces effort to design new </a:t>
            </a:r>
            <a:r>
              <a:rPr lang="en-IN" sz="3000" dirty="0" smtClean="0">
                <a:solidFill>
                  <a:schemeClr val="bg1"/>
                </a:solidFill>
              </a:rPr>
              <a:t>APIs.</a:t>
            </a:r>
          </a:p>
          <a:p>
            <a:pPr marL="457200" indent="-457200">
              <a:lnSpc>
                <a:spcPct val="150000"/>
              </a:lnSpc>
              <a:buFont typeface="Arial" panose="020B0604020202020204" pitchFamily="34" charset="0"/>
              <a:buChar char="•"/>
            </a:pPr>
            <a:r>
              <a:rPr lang="en-IN" sz="3000" dirty="0">
                <a:solidFill>
                  <a:schemeClr val="bg1"/>
                </a:solidFill>
              </a:rPr>
              <a:t>Fosters software </a:t>
            </a:r>
            <a:r>
              <a:rPr lang="en-IN" sz="3000" dirty="0" smtClean="0">
                <a:solidFill>
                  <a:schemeClr val="bg1"/>
                </a:solidFill>
              </a:rPr>
              <a:t>reuse.</a:t>
            </a:r>
            <a:endParaRPr lang="en-IN" sz="3000" dirty="0">
              <a:solidFill>
                <a:schemeClr val="bg1"/>
              </a:solidFill>
            </a:endParaRPr>
          </a:p>
        </p:txBody>
      </p:sp>
    </p:spTree>
    <p:extLst>
      <p:ext uri="{BB962C8B-B14F-4D97-AF65-F5344CB8AC3E}">
        <p14:creationId xmlns:p14="http://schemas.microsoft.com/office/powerpoint/2010/main" val="291314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784363" cy="1015663"/>
          </a:xfrm>
          <a:prstGeom prst="rect">
            <a:avLst/>
          </a:prstGeom>
          <a:noFill/>
        </p:spPr>
        <p:txBody>
          <a:bodyPr wrap="none" rtlCol="0">
            <a:spAutoFit/>
          </a:bodyPr>
          <a:lstStyle/>
          <a:p>
            <a:r>
              <a:rPr lang="en-IN" sz="6000" dirty="0" smtClean="0">
                <a:solidFill>
                  <a:schemeClr val="bg1"/>
                </a:solidFill>
              </a:rPr>
              <a:t>Collections Framework: Interfaces</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330" y="1514902"/>
            <a:ext cx="10539185" cy="4367283"/>
          </a:xfrm>
          <a:prstGeom prst="rect">
            <a:avLst/>
          </a:prstGeom>
        </p:spPr>
      </p:pic>
    </p:spTree>
    <p:extLst>
      <p:ext uri="{BB962C8B-B14F-4D97-AF65-F5344CB8AC3E}">
        <p14:creationId xmlns:p14="http://schemas.microsoft.com/office/powerpoint/2010/main" val="5961762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784363" cy="1015663"/>
          </a:xfrm>
          <a:prstGeom prst="rect">
            <a:avLst/>
          </a:prstGeom>
          <a:noFill/>
        </p:spPr>
        <p:txBody>
          <a:bodyPr wrap="none" rtlCol="0">
            <a:spAutoFit/>
          </a:bodyPr>
          <a:lstStyle/>
          <a:p>
            <a:r>
              <a:rPr lang="en-IN" sz="6000" dirty="0" smtClean="0">
                <a:solidFill>
                  <a:schemeClr val="bg1"/>
                </a:solidFill>
              </a:rPr>
              <a:t>Collections Framework: Interfaces</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22914" y="1214655"/>
            <a:ext cx="11969086" cy="4939814"/>
          </a:xfrm>
          <a:prstGeom prst="rect">
            <a:avLst/>
          </a:prstGeom>
        </p:spPr>
        <p:txBody>
          <a:bodyPr wrap="square">
            <a:spAutoFit/>
          </a:bodyPr>
          <a:lstStyle/>
          <a:p>
            <a:pPr algn="just">
              <a:lnSpc>
                <a:spcPct val="150000"/>
              </a:lnSpc>
            </a:pPr>
            <a:r>
              <a:rPr lang="en-IN" sz="3000" b="1" dirty="0">
                <a:solidFill>
                  <a:srgbClr val="FFC000"/>
                </a:solidFill>
              </a:rPr>
              <a:t>Collection</a:t>
            </a:r>
            <a:r>
              <a:rPr lang="en-IN" sz="3000" dirty="0">
                <a:solidFill>
                  <a:schemeClr val="bg1"/>
                </a:solidFill>
              </a:rPr>
              <a:t> — the root of the collection hierarchy.</a:t>
            </a:r>
          </a:p>
          <a:p>
            <a:pPr algn="just">
              <a:lnSpc>
                <a:spcPct val="150000"/>
              </a:lnSpc>
            </a:pPr>
            <a:r>
              <a:rPr lang="en-IN" sz="3000" b="1" dirty="0">
                <a:solidFill>
                  <a:srgbClr val="FFC000"/>
                </a:solidFill>
              </a:rPr>
              <a:t>Set</a:t>
            </a:r>
            <a:r>
              <a:rPr lang="en-IN" sz="3000" dirty="0">
                <a:solidFill>
                  <a:schemeClr val="bg1"/>
                </a:solidFill>
              </a:rPr>
              <a:t> — a collection that </a:t>
            </a:r>
            <a:r>
              <a:rPr lang="en-IN" sz="3000" u="sng" dirty="0">
                <a:solidFill>
                  <a:schemeClr val="bg1"/>
                </a:solidFill>
              </a:rPr>
              <a:t>cannot contain duplicate elements</a:t>
            </a:r>
            <a:r>
              <a:rPr lang="en-IN" sz="3000" dirty="0">
                <a:solidFill>
                  <a:schemeClr val="bg1"/>
                </a:solidFill>
              </a:rPr>
              <a:t>. </a:t>
            </a:r>
          </a:p>
          <a:p>
            <a:pPr algn="just">
              <a:lnSpc>
                <a:spcPct val="150000"/>
              </a:lnSpc>
            </a:pPr>
            <a:r>
              <a:rPr lang="en-IN" sz="3000" b="1" dirty="0">
                <a:solidFill>
                  <a:srgbClr val="FFC000"/>
                </a:solidFill>
              </a:rPr>
              <a:t>List</a:t>
            </a:r>
            <a:r>
              <a:rPr lang="en-IN" sz="3000" dirty="0">
                <a:solidFill>
                  <a:schemeClr val="bg1"/>
                </a:solidFill>
              </a:rPr>
              <a:t> — an ordered collection (sometimes called a </a:t>
            </a:r>
            <a:r>
              <a:rPr lang="en-IN" sz="3000" u="sng" dirty="0">
                <a:solidFill>
                  <a:schemeClr val="bg1"/>
                </a:solidFill>
              </a:rPr>
              <a:t>sequence</a:t>
            </a:r>
            <a:r>
              <a:rPr lang="en-IN" sz="3000" dirty="0">
                <a:solidFill>
                  <a:schemeClr val="bg1"/>
                </a:solidFill>
              </a:rPr>
              <a:t>). Lists can contain </a:t>
            </a:r>
            <a:r>
              <a:rPr lang="en-IN" sz="3000" u="sng" dirty="0">
                <a:solidFill>
                  <a:schemeClr val="bg1"/>
                </a:solidFill>
              </a:rPr>
              <a:t>duplicate elements</a:t>
            </a:r>
            <a:r>
              <a:rPr lang="en-IN" sz="3000" dirty="0">
                <a:solidFill>
                  <a:schemeClr val="bg1"/>
                </a:solidFill>
              </a:rPr>
              <a:t>.</a:t>
            </a:r>
          </a:p>
          <a:p>
            <a:pPr algn="just">
              <a:lnSpc>
                <a:spcPct val="150000"/>
              </a:lnSpc>
            </a:pPr>
            <a:r>
              <a:rPr lang="en-IN" sz="3000" b="1" dirty="0" smtClean="0">
                <a:solidFill>
                  <a:srgbClr val="FFC000"/>
                </a:solidFill>
              </a:rPr>
              <a:t>Queue(FIFO)</a:t>
            </a:r>
            <a:r>
              <a:rPr lang="en-IN" sz="3000" dirty="0" smtClean="0">
                <a:solidFill>
                  <a:schemeClr val="bg1"/>
                </a:solidFill>
              </a:rPr>
              <a:t> </a:t>
            </a:r>
            <a:r>
              <a:rPr lang="en-IN" sz="3000" dirty="0">
                <a:solidFill>
                  <a:schemeClr val="bg1"/>
                </a:solidFill>
              </a:rPr>
              <a:t>— a collection used to hold multiple elements prior to processing. Besides basic Collection operations, a Queue provides additional insertion, extraction, and inspection operations. </a:t>
            </a:r>
          </a:p>
        </p:txBody>
      </p:sp>
    </p:spTree>
    <p:extLst>
      <p:ext uri="{BB962C8B-B14F-4D97-AF65-F5344CB8AC3E}">
        <p14:creationId xmlns:p14="http://schemas.microsoft.com/office/powerpoint/2010/main" val="129801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784363" cy="1015663"/>
          </a:xfrm>
          <a:prstGeom prst="rect">
            <a:avLst/>
          </a:prstGeom>
          <a:noFill/>
        </p:spPr>
        <p:txBody>
          <a:bodyPr wrap="none" rtlCol="0">
            <a:spAutoFit/>
          </a:bodyPr>
          <a:lstStyle/>
          <a:p>
            <a:r>
              <a:rPr lang="en-IN" sz="6000" dirty="0" smtClean="0">
                <a:solidFill>
                  <a:schemeClr val="bg1"/>
                </a:solidFill>
              </a:rPr>
              <a:t>Collections Framework: Interfaces</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22913" y="996287"/>
            <a:ext cx="11841707" cy="3554819"/>
          </a:xfrm>
          <a:prstGeom prst="rect">
            <a:avLst/>
          </a:prstGeom>
        </p:spPr>
        <p:txBody>
          <a:bodyPr wrap="square">
            <a:spAutoFit/>
          </a:bodyPr>
          <a:lstStyle/>
          <a:p>
            <a:pPr algn="just">
              <a:lnSpc>
                <a:spcPct val="150000"/>
              </a:lnSpc>
            </a:pPr>
            <a:r>
              <a:rPr lang="en-IN" sz="3000" b="1" dirty="0" err="1" smtClean="0">
                <a:solidFill>
                  <a:srgbClr val="FFC000"/>
                </a:solidFill>
              </a:rPr>
              <a:t>Deque</a:t>
            </a:r>
            <a:r>
              <a:rPr lang="en-IN" sz="3000" b="1" dirty="0" smtClean="0">
                <a:solidFill>
                  <a:srgbClr val="FFC000"/>
                </a:solidFill>
              </a:rPr>
              <a:t>(FIFO/LIFO)</a:t>
            </a:r>
            <a:r>
              <a:rPr lang="en-IN" sz="3000" dirty="0" smtClean="0">
                <a:solidFill>
                  <a:schemeClr val="bg1"/>
                </a:solidFill>
              </a:rPr>
              <a:t> </a:t>
            </a:r>
            <a:r>
              <a:rPr lang="en-IN" sz="3000" dirty="0">
                <a:solidFill>
                  <a:schemeClr val="bg1"/>
                </a:solidFill>
              </a:rPr>
              <a:t>— a collection used to hold multiple elements prior to processing. Besides basic Collection operations, a </a:t>
            </a:r>
            <a:r>
              <a:rPr lang="en-IN" sz="3000" dirty="0" err="1">
                <a:solidFill>
                  <a:schemeClr val="bg1"/>
                </a:solidFill>
              </a:rPr>
              <a:t>Deque</a:t>
            </a:r>
            <a:r>
              <a:rPr lang="en-IN" sz="3000" dirty="0">
                <a:solidFill>
                  <a:schemeClr val="bg1"/>
                </a:solidFill>
              </a:rPr>
              <a:t> provides additional insertion, extraction, and inspection operations. </a:t>
            </a:r>
          </a:p>
          <a:p>
            <a:pPr algn="just">
              <a:lnSpc>
                <a:spcPct val="150000"/>
              </a:lnSpc>
            </a:pPr>
            <a:r>
              <a:rPr lang="en-IN" sz="3000" dirty="0">
                <a:solidFill>
                  <a:srgbClr val="FFC000"/>
                </a:solidFill>
              </a:rPr>
              <a:t>Map</a:t>
            </a:r>
            <a:r>
              <a:rPr lang="en-IN" sz="3000" dirty="0">
                <a:solidFill>
                  <a:schemeClr val="bg1"/>
                </a:solidFill>
              </a:rPr>
              <a:t> — an object that </a:t>
            </a:r>
            <a:r>
              <a:rPr lang="en-IN" sz="3000" u="sng" dirty="0">
                <a:solidFill>
                  <a:schemeClr val="bg1"/>
                </a:solidFill>
              </a:rPr>
              <a:t>maps keys to values</a:t>
            </a:r>
            <a:r>
              <a:rPr lang="en-IN" sz="3000" dirty="0">
                <a:solidFill>
                  <a:schemeClr val="bg1"/>
                </a:solidFill>
              </a:rPr>
              <a:t>. A Map </a:t>
            </a:r>
            <a:r>
              <a:rPr lang="en-IN" sz="3000" u="sng" dirty="0">
                <a:solidFill>
                  <a:schemeClr val="bg1"/>
                </a:solidFill>
              </a:rPr>
              <a:t>cannot contain duplicate keys</a:t>
            </a:r>
            <a:r>
              <a:rPr lang="en-IN" sz="3000" dirty="0">
                <a:solidFill>
                  <a:schemeClr val="bg1"/>
                </a:solidFill>
              </a:rPr>
              <a:t>; each key can map to at most one value.</a:t>
            </a:r>
          </a:p>
        </p:txBody>
      </p:sp>
    </p:spTree>
    <p:extLst>
      <p:ext uri="{BB962C8B-B14F-4D97-AF65-F5344CB8AC3E}">
        <p14:creationId xmlns:p14="http://schemas.microsoft.com/office/powerpoint/2010/main" val="377687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784363" cy="1015663"/>
          </a:xfrm>
          <a:prstGeom prst="rect">
            <a:avLst/>
          </a:prstGeom>
          <a:noFill/>
        </p:spPr>
        <p:txBody>
          <a:bodyPr wrap="none" rtlCol="0">
            <a:spAutoFit/>
          </a:bodyPr>
          <a:lstStyle/>
          <a:p>
            <a:r>
              <a:rPr lang="en-IN" sz="6000" dirty="0" smtClean="0">
                <a:solidFill>
                  <a:schemeClr val="bg1"/>
                </a:solidFill>
              </a:rPr>
              <a:t>Collections Framework: Interfaces</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1194" y="996287"/>
            <a:ext cx="11518710" cy="4247317"/>
          </a:xfrm>
          <a:prstGeom prst="rect">
            <a:avLst/>
          </a:prstGeom>
        </p:spPr>
        <p:txBody>
          <a:bodyPr wrap="square">
            <a:spAutoFit/>
          </a:bodyPr>
          <a:lstStyle/>
          <a:p>
            <a:pPr algn="just">
              <a:lnSpc>
                <a:spcPct val="150000"/>
              </a:lnSpc>
            </a:pPr>
            <a:r>
              <a:rPr lang="en-IN" sz="3000" dirty="0">
                <a:solidFill>
                  <a:schemeClr val="bg1"/>
                </a:solidFill>
              </a:rPr>
              <a:t>The last two core collection interfaces are merely sorted versions of </a:t>
            </a:r>
            <a:endParaRPr lang="en-IN" sz="3000" dirty="0" smtClean="0">
              <a:solidFill>
                <a:schemeClr val="bg1"/>
              </a:solidFill>
            </a:endParaRPr>
          </a:p>
          <a:p>
            <a:pPr algn="just">
              <a:lnSpc>
                <a:spcPct val="150000"/>
              </a:lnSpc>
            </a:pPr>
            <a:r>
              <a:rPr lang="en-IN" sz="3000" dirty="0" smtClean="0">
                <a:solidFill>
                  <a:schemeClr val="bg1"/>
                </a:solidFill>
              </a:rPr>
              <a:t>Set </a:t>
            </a:r>
            <a:r>
              <a:rPr lang="en-IN" sz="3000" dirty="0">
                <a:solidFill>
                  <a:schemeClr val="bg1"/>
                </a:solidFill>
              </a:rPr>
              <a:t>and Map</a:t>
            </a:r>
            <a:r>
              <a:rPr lang="en-IN" sz="3000" dirty="0" smtClean="0">
                <a:solidFill>
                  <a:schemeClr val="bg1"/>
                </a:solidFill>
              </a:rPr>
              <a:t>:</a:t>
            </a:r>
          </a:p>
          <a:p>
            <a:pPr algn="just">
              <a:lnSpc>
                <a:spcPct val="150000"/>
              </a:lnSpc>
            </a:pPr>
            <a:r>
              <a:rPr lang="en-IN" sz="3000" dirty="0" err="1">
                <a:solidFill>
                  <a:srgbClr val="FFC000"/>
                </a:solidFill>
              </a:rPr>
              <a:t>SortedSet</a:t>
            </a:r>
            <a:r>
              <a:rPr lang="en-IN" sz="3000" dirty="0">
                <a:solidFill>
                  <a:schemeClr val="bg1"/>
                </a:solidFill>
              </a:rPr>
              <a:t> — a Set that maintains its elements in ascending order. Several additional operations are provided to take advantage of the ordering. Sorted sets are used for naturally ordered sets, such as word lists and membership rolls</a:t>
            </a:r>
            <a:r>
              <a:rPr lang="en-IN" sz="3000" dirty="0" smtClean="0">
                <a:solidFill>
                  <a:schemeClr val="bg1"/>
                </a:solidFill>
              </a:rPr>
              <a:t>.</a:t>
            </a:r>
            <a:endParaRPr lang="en-IN" sz="3000" dirty="0">
              <a:solidFill>
                <a:schemeClr val="bg1"/>
              </a:solidFill>
            </a:endParaRPr>
          </a:p>
        </p:txBody>
      </p:sp>
    </p:spTree>
    <p:extLst>
      <p:ext uri="{BB962C8B-B14F-4D97-AF65-F5344CB8AC3E}">
        <p14:creationId xmlns:p14="http://schemas.microsoft.com/office/powerpoint/2010/main" val="1882746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784363" cy="1015663"/>
          </a:xfrm>
          <a:prstGeom prst="rect">
            <a:avLst/>
          </a:prstGeom>
          <a:noFill/>
        </p:spPr>
        <p:txBody>
          <a:bodyPr wrap="none" rtlCol="0">
            <a:spAutoFit/>
          </a:bodyPr>
          <a:lstStyle/>
          <a:p>
            <a:r>
              <a:rPr lang="en-IN" sz="6000" dirty="0" smtClean="0">
                <a:solidFill>
                  <a:schemeClr val="bg1"/>
                </a:solidFill>
              </a:rPr>
              <a:t>Collections Framework: Interfaces</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1194" y="996287"/>
            <a:ext cx="11518710" cy="2790764"/>
          </a:xfrm>
          <a:prstGeom prst="rect">
            <a:avLst/>
          </a:prstGeom>
        </p:spPr>
        <p:txBody>
          <a:bodyPr wrap="square">
            <a:spAutoFit/>
          </a:bodyPr>
          <a:lstStyle/>
          <a:p>
            <a:pPr algn="just">
              <a:lnSpc>
                <a:spcPct val="150000"/>
              </a:lnSpc>
            </a:pPr>
            <a:r>
              <a:rPr lang="en-IN" sz="3000" dirty="0" err="1" smtClean="0">
                <a:solidFill>
                  <a:srgbClr val="FFC000"/>
                </a:solidFill>
              </a:rPr>
              <a:t>SortedMap</a:t>
            </a:r>
            <a:r>
              <a:rPr lang="en-IN" sz="3000" dirty="0" smtClean="0">
                <a:solidFill>
                  <a:schemeClr val="bg1"/>
                </a:solidFill>
              </a:rPr>
              <a:t> — a Map that maintains its mappings in ascending key order. This is the Map </a:t>
            </a:r>
            <a:r>
              <a:rPr lang="en-IN" sz="3000" dirty="0" err="1" smtClean="0">
                <a:solidFill>
                  <a:schemeClr val="bg1"/>
                </a:solidFill>
              </a:rPr>
              <a:t>analog</a:t>
            </a:r>
            <a:r>
              <a:rPr lang="en-IN" sz="3000" dirty="0" smtClean="0">
                <a:solidFill>
                  <a:schemeClr val="bg1"/>
                </a:solidFill>
              </a:rPr>
              <a:t> of </a:t>
            </a:r>
            <a:r>
              <a:rPr lang="en-IN" sz="3000" dirty="0" err="1" smtClean="0">
                <a:solidFill>
                  <a:schemeClr val="bg1"/>
                </a:solidFill>
              </a:rPr>
              <a:t>SortedSet</a:t>
            </a:r>
            <a:r>
              <a:rPr lang="en-IN" sz="3000" dirty="0" smtClean="0">
                <a:solidFill>
                  <a:schemeClr val="bg1"/>
                </a:solidFill>
              </a:rPr>
              <a:t>. Sorted maps are used for naturally ordered collections of key/value pairs, such as dictionaries and telephone directories. </a:t>
            </a:r>
            <a:endParaRPr lang="en-IN" sz="3000" dirty="0">
              <a:solidFill>
                <a:schemeClr val="bg1"/>
              </a:solidFill>
            </a:endParaRPr>
          </a:p>
        </p:txBody>
      </p:sp>
    </p:spTree>
    <p:extLst>
      <p:ext uri="{BB962C8B-B14F-4D97-AF65-F5344CB8AC3E}">
        <p14:creationId xmlns:p14="http://schemas.microsoft.com/office/powerpoint/2010/main" val="22011752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784363" cy="1015663"/>
          </a:xfrm>
          <a:prstGeom prst="rect">
            <a:avLst/>
          </a:prstGeom>
          <a:noFill/>
        </p:spPr>
        <p:txBody>
          <a:bodyPr wrap="none" rtlCol="0">
            <a:spAutoFit/>
          </a:bodyPr>
          <a:lstStyle/>
          <a:p>
            <a:r>
              <a:rPr lang="en-IN" sz="6000" dirty="0" smtClean="0">
                <a:solidFill>
                  <a:schemeClr val="bg1"/>
                </a:solidFill>
              </a:rPr>
              <a:t>Collections Framework: Interfaces</a:t>
            </a:r>
            <a:endParaRPr lang="en-IN" sz="60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294" y="846162"/>
            <a:ext cx="10718042" cy="5827593"/>
          </a:xfrm>
          <a:prstGeom prst="rect">
            <a:avLst/>
          </a:prstGeom>
        </p:spPr>
      </p:pic>
    </p:spTree>
    <p:extLst>
      <p:ext uri="{BB962C8B-B14F-4D97-AF65-F5344CB8AC3E}">
        <p14:creationId xmlns:p14="http://schemas.microsoft.com/office/powerpoint/2010/main" val="3773538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2614479" cy="1015663"/>
          </a:xfrm>
          <a:prstGeom prst="rect">
            <a:avLst/>
          </a:prstGeom>
          <a:noFill/>
        </p:spPr>
        <p:txBody>
          <a:bodyPr wrap="none" rtlCol="0">
            <a:spAutoFit/>
          </a:bodyPr>
          <a:lstStyle/>
          <a:p>
            <a:r>
              <a:rPr lang="en-IN" sz="5800" dirty="0" smtClean="0">
                <a:solidFill>
                  <a:schemeClr val="bg1"/>
                </a:solidFill>
              </a:rPr>
              <a:t>Collections Framework: Basic Operation</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1194" y="996287"/>
            <a:ext cx="11518710" cy="4247317"/>
          </a:xfrm>
          <a:prstGeom prst="rect">
            <a:avLst/>
          </a:prstGeom>
        </p:spPr>
        <p:txBody>
          <a:bodyPr wrap="square">
            <a:spAutoFit/>
          </a:bodyPr>
          <a:lstStyle/>
          <a:p>
            <a:pPr marL="514350" indent="-514350" algn="just">
              <a:lnSpc>
                <a:spcPct val="150000"/>
              </a:lnSpc>
              <a:buFont typeface="+mj-lt"/>
              <a:buAutoNum type="arabicPeriod"/>
            </a:pPr>
            <a:r>
              <a:rPr lang="en-IN" sz="3000" dirty="0" err="1">
                <a:solidFill>
                  <a:schemeClr val="bg1"/>
                </a:solidFill>
              </a:rPr>
              <a:t>int</a:t>
            </a:r>
            <a:r>
              <a:rPr lang="en-IN" sz="3000" dirty="0">
                <a:solidFill>
                  <a:schemeClr val="bg1"/>
                </a:solidFill>
              </a:rPr>
              <a:t> size</a:t>
            </a:r>
            <a:r>
              <a:rPr lang="en-IN" sz="3000" dirty="0" smtClean="0">
                <a:solidFill>
                  <a:schemeClr val="bg1"/>
                </a:solidFill>
              </a:rPr>
              <a:t>() </a:t>
            </a:r>
          </a:p>
          <a:p>
            <a:pPr marL="514350" indent="-514350" algn="just">
              <a:lnSpc>
                <a:spcPct val="150000"/>
              </a:lnSpc>
              <a:buFont typeface="+mj-lt"/>
              <a:buAutoNum type="arabicPeriod"/>
            </a:pPr>
            <a:r>
              <a:rPr lang="en-IN" sz="3000" dirty="0" err="1" smtClean="0">
                <a:solidFill>
                  <a:schemeClr val="bg1"/>
                </a:solidFill>
              </a:rPr>
              <a:t>boolean</a:t>
            </a:r>
            <a:r>
              <a:rPr lang="en-IN" sz="3000" dirty="0" smtClean="0">
                <a:solidFill>
                  <a:schemeClr val="bg1"/>
                </a:solidFill>
              </a:rPr>
              <a:t> </a:t>
            </a:r>
            <a:r>
              <a:rPr lang="en-IN" sz="3000" dirty="0" err="1">
                <a:solidFill>
                  <a:schemeClr val="bg1"/>
                </a:solidFill>
              </a:rPr>
              <a:t>isEmpty</a:t>
            </a:r>
            <a:r>
              <a:rPr lang="en-IN" sz="3000" dirty="0" smtClean="0">
                <a:solidFill>
                  <a:schemeClr val="bg1"/>
                </a:solidFill>
              </a:rPr>
              <a:t>()</a:t>
            </a:r>
          </a:p>
          <a:p>
            <a:pPr marL="514350" indent="-514350" algn="just">
              <a:lnSpc>
                <a:spcPct val="150000"/>
              </a:lnSpc>
              <a:buFont typeface="+mj-lt"/>
              <a:buAutoNum type="arabicPeriod"/>
            </a:pPr>
            <a:r>
              <a:rPr lang="en-IN" sz="3000" dirty="0" err="1" smtClean="0">
                <a:solidFill>
                  <a:schemeClr val="bg1"/>
                </a:solidFill>
              </a:rPr>
              <a:t>boolean</a:t>
            </a:r>
            <a:r>
              <a:rPr lang="en-IN" sz="3000" dirty="0" smtClean="0">
                <a:solidFill>
                  <a:schemeClr val="bg1"/>
                </a:solidFill>
              </a:rPr>
              <a:t> </a:t>
            </a:r>
            <a:r>
              <a:rPr lang="en-IN" sz="3000" dirty="0">
                <a:solidFill>
                  <a:schemeClr val="bg1"/>
                </a:solidFill>
              </a:rPr>
              <a:t>contains(Object element</a:t>
            </a:r>
            <a:r>
              <a:rPr lang="en-IN" sz="3000" dirty="0" smtClean="0">
                <a:solidFill>
                  <a:schemeClr val="bg1"/>
                </a:solidFill>
              </a:rPr>
              <a:t>)</a:t>
            </a:r>
          </a:p>
          <a:p>
            <a:pPr marL="514350" indent="-514350" algn="just">
              <a:lnSpc>
                <a:spcPct val="150000"/>
              </a:lnSpc>
              <a:buFont typeface="+mj-lt"/>
              <a:buAutoNum type="arabicPeriod"/>
            </a:pPr>
            <a:r>
              <a:rPr lang="en-IN" sz="3000" dirty="0" err="1" smtClean="0">
                <a:solidFill>
                  <a:schemeClr val="bg1"/>
                </a:solidFill>
              </a:rPr>
              <a:t>boolean</a:t>
            </a:r>
            <a:r>
              <a:rPr lang="en-IN" sz="3000" dirty="0" smtClean="0">
                <a:solidFill>
                  <a:schemeClr val="bg1"/>
                </a:solidFill>
              </a:rPr>
              <a:t> </a:t>
            </a:r>
            <a:r>
              <a:rPr lang="en-IN" sz="3000" dirty="0">
                <a:solidFill>
                  <a:schemeClr val="bg1"/>
                </a:solidFill>
              </a:rPr>
              <a:t>add(E element</a:t>
            </a:r>
            <a:r>
              <a:rPr lang="en-IN" sz="3000" dirty="0" smtClean="0">
                <a:solidFill>
                  <a:schemeClr val="bg1"/>
                </a:solidFill>
              </a:rPr>
              <a:t>)</a:t>
            </a:r>
          </a:p>
          <a:p>
            <a:pPr marL="514350" indent="-514350" algn="just">
              <a:lnSpc>
                <a:spcPct val="150000"/>
              </a:lnSpc>
              <a:buFont typeface="+mj-lt"/>
              <a:buAutoNum type="arabicPeriod"/>
            </a:pPr>
            <a:r>
              <a:rPr lang="en-IN" sz="3000" dirty="0" err="1" smtClean="0">
                <a:solidFill>
                  <a:schemeClr val="bg1"/>
                </a:solidFill>
              </a:rPr>
              <a:t>boolean</a:t>
            </a:r>
            <a:r>
              <a:rPr lang="en-IN" sz="3000" dirty="0" smtClean="0">
                <a:solidFill>
                  <a:schemeClr val="bg1"/>
                </a:solidFill>
              </a:rPr>
              <a:t> </a:t>
            </a:r>
            <a:r>
              <a:rPr lang="en-IN" sz="3000" dirty="0">
                <a:solidFill>
                  <a:schemeClr val="bg1"/>
                </a:solidFill>
              </a:rPr>
              <a:t>remove(Object element), and </a:t>
            </a:r>
            <a:endParaRPr lang="en-IN" sz="3000" dirty="0" smtClean="0">
              <a:solidFill>
                <a:schemeClr val="bg1"/>
              </a:solidFill>
            </a:endParaRPr>
          </a:p>
          <a:p>
            <a:pPr marL="514350" indent="-514350" algn="just">
              <a:lnSpc>
                <a:spcPct val="150000"/>
              </a:lnSpc>
              <a:buFont typeface="+mj-lt"/>
              <a:buAutoNum type="arabicPeriod"/>
            </a:pPr>
            <a:r>
              <a:rPr lang="en-IN" sz="3000" dirty="0" smtClean="0">
                <a:solidFill>
                  <a:schemeClr val="bg1"/>
                </a:solidFill>
              </a:rPr>
              <a:t>Iterator&lt;E</a:t>
            </a:r>
            <a:r>
              <a:rPr lang="en-IN" sz="3000" dirty="0">
                <a:solidFill>
                  <a:schemeClr val="bg1"/>
                </a:solidFill>
              </a:rPr>
              <a:t>&gt; iterator().</a:t>
            </a:r>
          </a:p>
        </p:txBody>
      </p:sp>
    </p:spTree>
    <p:extLst>
      <p:ext uri="{BB962C8B-B14F-4D97-AF65-F5344CB8AC3E}">
        <p14:creationId xmlns:p14="http://schemas.microsoft.com/office/powerpoint/2010/main" val="32620117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1965199" cy="984885"/>
          </a:xfrm>
          <a:prstGeom prst="rect">
            <a:avLst/>
          </a:prstGeom>
          <a:noFill/>
        </p:spPr>
        <p:txBody>
          <a:bodyPr wrap="none" rtlCol="0">
            <a:spAutoFit/>
          </a:bodyPr>
          <a:lstStyle/>
          <a:p>
            <a:r>
              <a:rPr lang="en-IN" sz="5800" dirty="0" smtClean="0">
                <a:solidFill>
                  <a:schemeClr val="bg1"/>
                </a:solidFill>
              </a:rPr>
              <a:t>Collections Framework: Bulk Operation</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86602" y="1282890"/>
            <a:ext cx="11723426" cy="4247317"/>
          </a:xfrm>
          <a:prstGeom prst="rect">
            <a:avLst/>
          </a:prstGeom>
        </p:spPr>
        <p:txBody>
          <a:bodyPr wrap="square">
            <a:spAutoFit/>
          </a:bodyPr>
          <a:lstStyle/>
          <a:p>
            <a:pPr algn="just">
              <a:lnSpc>
                <a:spcPct val="150000"/>
              </a:lnSpc>
            </a:pPr>
            <a:r>
              <a:rPr lang="en-IN" sz="3000" dirty="0">
                <a:solidFill>
                  <a:schemeClr val="bg1"/>
                </a:solidFill>
              </a:rPr>
              <a:t>It also contains methods that operate on entire collections, such as </a:t>
            </a:r>
            <a:endParaRPr lang="en-IN" sz="3000" dirty="0" smtClean="0">
              <a:solidFill>
                <a:schemeClr val="bg1"/>
              </a:solidFill>
            </a:endParaRPr>
          </a:p>
          <a:p>
            <a:pPr marL="514350" indent="-514350" algn="just">
              <a:lnSpc>
                <a:spcPct val="150000"/>
              </a:lnSpc>
              <a:buFont typeface="+mj-lt"/>
              <a:buAutoNum type="arabicPeriod"/>
            </a:pPr>
            <a:r>
              <a:rPr lang="en-IN" sz="3000" b="1" dirty="0" err="1">
                <a:solidFill>
                  <a:schemeClr val="bg1"/>
                </a:solidFill>
              </a:rPr>
              <a:t>containsAll</a:t>
            </a:r>
            <a:r>
              <a:rPr lang="en-IN" sz="3000" dirty="0">
                <a:solidFill>
                  <a:schemeClr val="bg1"/>
                </a:solidFill>
              </a:rPr>
              <a:t> — returns true if the target Collection contains all of the elements in the specified Collection.</a:t>
            </a:r>
          </a:p>
          <a:p>
            <a:pPr marL="514350" indent="-514350" algn="just">
              <a:lnSpc>
                <a:spcPct val="150000"/>
              </a:lnSpc>
              <a:buFont typeface="+mj-lt"/>
              <a:buAutoNum type="arabicPeriod"/>
            </a:pPr>
            <a:r>
              <a:rPr lang="en-IN" sz="3000" b="1" dirty="0" err="1">
                <a:solidFill>
                  <a:schemeClr val="bg1"/>
                </a:solidFill>
              </a:rPr>
              <a:t>addAll</a:t>
            </a:r>
            <a:r>
              <a:rPr lang="en-IN" sz="3000" dirty="0">
                <a:solidFill>
                  <a:schemeClr val="bg1"/>
                </a:solidFill>
              </a:rPr>
              <a:t> — adds all of the elements in the specified Collection to the target Collection</a:t>
            </a:r>
            <a:r>
              <a:rPr lang="en-IN" sz="3000" dirty="0" smtClean="0">
                <a:solidFill>
                  <a:schemeClr val="bg1"/>
                </a:solidFill>
              </a:rPr>
              <a:t>. </a:t>
            </a:r>
            <a:endParaRPr lang="en-IN" sz="3000" dirty="0">
              <a:solidFill>
                <a:schemeClr val="bg1"/>
              </a:solidFill>
            </a:endParaRPr>
          </a:p>
          <a:p>
            <a:pPr algn="just">
              <a:lnSpc>
                <a:spcPct val="150000"/>
              </a:lnSpc>
            </a:pPr>
            <a:endParaRPr lang="en-IN" sz="3000" b="1" dirty="0" smtClean="0">
              <a:solidFill>
                <a:schemeClr val="bg1"/>
              </a:solidFill>
            </a:endParaRPr>
          </a:p>
        </p:txBody>
      </p:sp>
      <p:pic>
        <p:nvPicPr>
          <p:cNvPr id="2" name="Picture 1"/>
          <p:cNvPicPr>
            <a:picLocks noChangeAspect="1"/>
          </p:cNvPicPr>
          <p:nvPr/>
        </p:nvPicPr>
        <p:blipFill>
          <a:blip r:embed="rId2"/>
          <a:stretch>
            <a:fillRect/>
          </a:stretch>
        </p:blipFill>
        <p:spPr>
          <a:xfrm>
            <a:off x="4467364" y="4135620"/>
            <a:ext cx="2752301" cy="2328870"/>
          </a:xfrm>
          <a:prstGeom prst="rect">
            <a:avLst/>
          </a:prstGeom>
        </p:spPr>
      </p:pic>
    </p:spTree>
    <p:extLst>
      <p:ext uri="{BB962C8B-B14F-4D97-AF65-F5344CB8AC3E}">
        <p14:creationId xmlns:p14="http://schemas.microsoft.com/office/powerpoint/2010/main" val="125740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1965199" cy="984885"/>
          </a:xfrm>
          <a:prstGeom prst="rect">
            <a:avLst/>
          </a:prstGeom>
          <a:noFill/>
        </p:spPr>
        <p:txBody>
          <a:bodyPr wrap="none" rtlCol="0">
            <a:spAutoFit/>
          </a:bodyPr>
          <a:lstStyle/>
          <a:p>
            <a:r>
              <a:rPr lang="en-IN" sz="5800" dirty="0" smtClean="0">
                <a:solidFill>
                  <a:schemeClr val="bg1"/>
                </a:solidFill>
              </a:rPr>
              <a:t>Collections Framework: Bulk Operation</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1723426" cy="2169825"/>
          </a:xfrm>
          <a:prstGeom prst="rect">
            <a:avLst/>
          </a:prstGeom>
        </p:spPr>
        <p:txBody>
          <a:bodyPr wrap="square">
            <a:spAutoFit/>
          </a:bodyPr>
          <a:lstStyle/>
          <a:p>
            <a:pPr marL="514350" indent="-514350" algn="just">
              <a:lnSpc>
                <a:spcPct val="150000"/>
              </a:lnSpc>
              <a:buFont typeface="+mj-lt"/>
              <a:buAutoNum type="arabicPeriod" startAt="3"/>
            </a:pPr>
            <a:r>
              <a:rPr lang="en-IN" sz="3000" b="1" dirty="0" err="1">
                <a:solidFill>
                  <a:schemeClr val="bg1"/>
                </a:solidFill>
              </a:rPr>
              <a:t>removeAll</a:t>
            </a:r>
            <a:r>
              <a:rPr lang="en-IN" sz="3000" dirty="0">
                <a:solidFill>
                  <a:schemeClr val="bg1"/>
                </a:solidFill>
              </a:rPr>
              <a:t> — removes from the target Collection all of its elements that are also contained in the specified Collection</a:t>
            </a:r>
            <a:r>
              <a:rPr lang="en-IN" sz="3000" dirty="0" smtClean="0">
                <a:solidFill>
                  <a:schemeClr val="bg1"/>
                </a:solidFill>
              </a:rPr>
              <a:t>.</a:t>
            </a:r>
          </a:p>
          <a:p>
            <a:pPr algn="just">
              <a:lnSpc>
                <a:spcPct val="150000"/>
              </a:lnSpc>
            </a:pPr>
            <a:endParaRPr lang="en-IN" sz="3000" dirty="0">
              <a:solidFill>
                <a:schemeClr val="bg1"/>
              </a:solidFill>
            </a:endParaRPr>
          </a:p>
        </p:txBody>
      </p:sp>
      <p:pic>
        <p:nvPicPr>
          <p:cNvPr id="2" name="Picture 1"/>
          <p:cNvPicPr>
            <a:picLocks noChangeAspect="1"/>
          </p:cNvPicPr>
          <p:nvPr/>
        </p:nvPicPr>
        <p:blipFill>
          <a:blip r:embed="rId2"/>
          <a:stretch>
            <a:fillRect/>
          </a:stretch>
        </p:blipFill>
        <p:spPr>
          <a:xfrm>
            <a:off x="3683197" y="2773268"/>
            <a:ext cx="3686594" cy="2876905"/>
          </a:xfrm>
          <a:prstGeom prst="rect">
            <a:avLst/>
          </a:prstGeom>
        </p:spPr>
      </p:pic>
    </p:spTree>
    <p:extLst>
      <p:ext uri="{BB962C8B-B14F-4D97-AF65-F5344CB8AC3E}">
        <p14:creationId xmlns:p14="http://schemas.microsoft.com/office/powerpoint/2010/main" val="2205916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1965199" cy="984885"/>
          </a:xfrm>
          <a:prstGeom prst="rect">
            <a:avLst/>
          </a:prstGeom>
          <a:noFill/>
        </p:spPr>
        <p:txBody>
          <a:bodyPr wrap="none" rtlCol="0">
            <a:spAutoFit/>
          </a:bodyPr>
          <a:lstStyle/>
          <a:p>
            <a:r>
              <a:rPr lang="en-IN" sz="5800" dirty="0" smtClean="0">
                <a:solidFill>
                  <a:schemeClr val="bg1"/>
                </a:solidFill>
              </a:rPr>
              <a:t>Collections Framework: Bulk Operation</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1723426" cy="5632311"/>
          </a:xfrm>
          <a:prstGeom prst="rect">
            <a:avLst/>
          </a:prstGeom>
        </p:spPr>
        <p:txBody>
          <a:bodyPr wrap="square">
            <a:spAutoFit/>
          </a:bodyPr>
          <a:lstStyle/>
          <a:p>
            <a:pPr marL="514350" indent="-514350" algn="just">
              <a:lnSpc>
                <a:spcPct val="150000"/>
              </a:lnSpc>
              <a:buFont typeface="+mj-lt"/>
              <a:buAutoNum type="arabicPeriod" startAt="4"/>
            </a:pPr>
            <a:r>
              <a:rPr lang="en-IN" sz="3000" b="1" dirty="0" err="1" smtClean="0">
                <a:solidFill>
                  <a:schemeClr val="bg1"/>
                </a:solidFill>
              </a:rPr>
              <a:t>retainAll</a:t>
            </a:r>
            <a:r>
              <a:rPr lang="en-IN" sz="3000" dirty="0" smtClean="0">
                <a:solidFill>
                  <a:schemeClr val="bg1"/>
                </a:solidFill>
              </a:rPr>
              <a:t> </a:t>
            </a:r>
            <a:r>
              <a:rPr lang="en-IN" sz="3000" dirty="0">
                <a:solidFill>
                  <a:schemeClr val="bg1"/>
                </a:solidFill>
              </a:rPr>
              <a:t>— removes from the target Collection all its elements that are not also contained in the specified Collection. That is, it retains only those elements in the target Collection that are also contained in the specified Collection</a:t>
            </a:r>
            <a:r>
              <a:rPr lang="en-IN" sz="3000" dirty="0" smtClean="0">
                <a:solidFill>
                  <a:schemeClr val="bg1"/>
                </a:solidFill>
              </a:rPr>
              <a:t>.</a:t>
            </a:r>
          </a:p>
          <a:p>
            <a:pPr marL="514350" indent="-514350" algn="just">
              <a:lnSpc>
                <a:spcPct val="150000"/>
              </a:lnSpc>
              <a:buFont typeface="+mj-lt"/>
              <a:buAutoNum type="arabicPeriod" startAt="4"/>
            </a:pPr>
            <a:endParaRPr lang="en-IN" sz="3000" dirty="0" smtClean="0">
              <a:solidFill>
                <a:schemeClr val="bg1"/>
              </a:solidFill>
            </a:endParaRPr>
          </a:p>
          <a:p>
            <a:pPr marL="514350" indent="-514350" algn="just">
              <a:lnSpc>
                <a:spcPct val="150000"/>
              </a:lnSpc>
              <a:buFont typeface="+mj-lt"/>
              <a:buAutoNum type="arabicPeriod" startAt="4"/>
            </a:pPr>
            <a:endParaRPr lang="en-IN" sz="3000" dirty="0">
              <a:solidFill>
                <a:schemeClr val="bg1"/>
              </a:solidFill>
            </a:endParaRPr>
          </a:p>
          <a:p>
            <a:pPr marL="514350" indent="-514350" algn="just">
              <a:lnSpc>
                <a:spcPct val="150000"/>
              </a:lnSpc>
              <a:buFont typeface="+mj-lt"/>
              <a:buAutoNum type="arabicPeriod" startAt="4"/>
            </a:pPr>
            <a:endParaRPr lang="en-IN" sz="3000" dirty="0">
              <a:solidFill>
                <a:schemeClr val="bg1"/>
              </a:solidFill>
            </a:endParaRPr>
          </a:p>
          <a:p>
            <a:pPr marL="514350" indent="-514350" algn="just">
              <a:lnSpc>
                <a:spcPct val="150000"/>
              </a:lnSpc>
              <a:buFont typeface="+mj-lt"/>
              <a:buAutoNum type="arabicPeriod" startAt="4"/>
            </a:pPr>
            <a:r>
              <a:rPr lang="en-IN" sz="3000" b="1" dirty="0">
                <a:solidFill>
                  <a:schemeClr val="bg1"/>
                </a:solidFill>
              </a:rPr>
              <a:t>clear</a:t>
            </a:r>
            <a:r>
              <a:rPr lang="en-IN" sz="3000" dirty="0">
                <a:solidFill>
                  <a:schemeClr val="bg1"/>
                </a:solidFill>
              </a:rPr>
              <a:t> — removes all elements from the Collection.</a:t>
            </a:r>
          </a:p>
        </p:txBody>
      </p:sp>
      <p:pic>
        <p:nvPicPr>
          <p:cNvPr id="6" name="Picture 5"/>
          <p:cNvPicPr>
            <a:picLocks noChangeAspect="1"/>
          </p:cNvPicPr>
          <p:nvPr/>
        </p:nvPicPr>
        <p:blipFill>
          <a:blip r:embed="rId2"/>
          <a:stretch>
            <a:fillRect/>
          </a:stretch>
        </p:blipFill>
        <p:spPr>
          <a:xfrm>
            <a:off x="5049671" y="3166053"/>
            <a:ext cx="2613901" cy="2306699"/>
          </a:xfrm>
          <a:prstGeom prst="rect">
            <a:avLst/>
          </a:prstGeom>
        </p:spPr>
      </p:pic>
    </p:spTree>
    <p:extLst>
      <p:ext uri="{BB962C8B-B14F-4D97-AF65-F5344CB8AC3E}">
        <p14:creationId xmlns:p14="http://schemas.microsoft.com/office/powerpoint/2010/main" val="176697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6405664" cy="984885"/>
          </a:xfrm>
          <a:prstGeom prst="rect">
            <a:avLst/>
          </a:prstGeom>
          <a:noFill/>
        </p:spPr>
        <p:txBody>
          <a:bodyPr wrap="none" rtlCol="0">
            <a:spAutoFit/>
          </a:bodyPr>
          <a:lstStyle/>
          <a:p>
            <a:r>
              <a:rPr lang="en-IN" sz="5800" dirty="0" smtClean="0">
                <a:solidFill>
                  <a:schemeClr val="bg1"/>
                </a:solidFill>
              </a:rPr>
              <a:t>Iterator vs for-each()</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1723426" cy="1405769"/>
          </a:xfrm>
          <a:prstGeom prst="rect">
            <a:avLst/>
          </a:prstGeom>
        </p:spPr>
        <p:txBody>
          <a:bodyPr wrap="square">
            <a:spAutoFit/>
          </a:bodyPr>
          <a:lstStyle/>
          <a:p>
            <a:pPr algn="just">
              <a:lnSpc>
                <a:spcPct val="150000"/>
              </a:lnSpc>
            </a:pPr>
            <a:r>
              <a:rPr lang="en-IN" sz="3000" b="1" dirty="0">
                <a:solidFill>
                  <a:schemeClr val="bg1"/>
                </a:solidFill>
              </a:rPr>
              <a:t>Iterator</a:t>
            </a:r>
            <a:r>
              <a:rPr lang="en-IN" sz="3000" dirty="0">
                <a:solidFill>
                  <a:schemeClr val="bg1"/>
                </a:solidFill>
              </a:rPr>
              <a:t> is an interface provided by collection framework to </a:t>
            </a:r>
            <a:r>
              <a:rPr lang="en-IN" sz="3000" u="sng" dirty="0">
                <a:solidFill>
                  <a:schemeClr val="bg1"/>
                </a:solidFill>
              </a:rPr>
              <a:t>traverse a collection and for a sequential access </a:t>
            </a:r>
            <a:r>
              <a:rPr lang="en-IN" sz="3000" dirty="0">
                <a:solidFill>
                  <a:schemeClr val="bg1"/>
                </a:solidFill>
              </a:rPr>
              <a:t>of items in the collection</a:t>
            </a:r>
            <a:r>
              <a:rPr lang="en-IN" sz="3000" dirty="0" smtClean="0">
                <a:solidFill>
                  <a:schemeClr val="bg1"/>
                </a:solidFill>
              </a:rPr>
              <a:t>.</a:t>
            </a:r>
          </a:p>
        </p:txBody>
      </p:sp>
      <p:sp>
        <p:nvSpPr>
          <p:cNvPr id="2" name="Rectangle 1"/>
          <p:cNvSpPr/>
          <p:nvPr/>
        </p:nvSpPr>
        <p:spPr>
          <a:xfrm>
            <a:off x="136479" y="4248202"/>
            <a:ext cx="5595582" cy="1569660"/>
          </a:xfrm>
          <a:prstGeom prst="rect">
            <a:avLst/>
          </a:prstGeom>
        </p:spPr>
        <p:txBody>
          <a:bodyPr wrap="square">
            <a:spAutoFit/>
          </a:bodyPr>
          <a:lstStyle/>
          <a:p>
            <a:r>
              <a:rPr lang="en-IN" sz="2400" dirty="0">
                <a:solidFill>
                  <a:schemeClr val="bg1"/>
                </a:solidFill>
                <a:latin typeface="Consolas" panose="020B0609020204030204" pitchFamily="49" charset="0"/>
              </a:rPr>
              <a:t>for (String </a:t>
            </a:r>
            <a:r>
              <a:rPr lang="en-IN" sz="2400" dirty="0" err="1">
                <a:solidFill>
                  <a:schemeClr val="bg1"/>
                </a:solidFill>
                <a:latin typeface="Consolas" panose="020B0609020204030204" pitchFamily="49" charset="0"/>
              </a:rPr>
              <a:t>i</a:t>
            </a:r>
            <a:r>
              <a:rPr lang="en-IN" sz="2400" dirty="0">
                <a:solidFill>
                  <a:schemeClr val="bg1"/>
                </a:solidFill>
                <a:latin typeface="Consolas" panose="020B0609020204030204" pitchFamily="49" charset="0"/>
              </a:rPr>
              <a:t> : list) { </a:t>
            </a:r>
          </a:p>
          <a:p>
            <a:r>
              <a:rPr lang="en-IN" sz="2400" dirty="0" err="1">
                <a:solidFill>
                  <a:schemeClr val="bg1"/>
                </a:solidFill>
                <a:latin typeface="Consolas" panose="020B0609020204030204" pitchFamily="49" charset="0"/>
              </a:rPr>
              <a:t>System.out.println</a:t>
            </a:r>
            <a:r>
              <a:rPr lang="en-IN" sz="2400" dirty="0">
                <a:solidFill>
                  <a:schemeClr val="bg1"/>
                </a:solidFill>
                <a:latin typeface="Consolas" panose="020B0609020204030204" pitchFamily="49" charset="0"/>
              </a:rPr>
              <a:t>(</a:t>
            </a:r>
            <a:r>
              <a:rPr lang="en-IN" sz="2400" dirty="0" err="1">
                <a:solidFill>
                  <a:schemeClr val="bg1"/>
                </a:solidFill>
                <a:latin typeface="Consolas" panose="020B0609020204030204" pitchFamily="49" charset="0"/>
              </a:rPr>
              <a:t>i</a:t>
            </a:r>
            <a:r>
              <a:rPr lang="en-IN" sz="2400" dirty="0">
                <a:solidFill>
                  <a:schemeClr val="bg1"/>
                </a:solidFill>
                <a:latin typeface="Consolas" panose="020B0609020204030204" pitchFamily="49" charset="0"/>
              </a:rPr>
              <a:t>); </a:t>
            </a:r>
          </a:p>
          <a:p>
            <a:r>
              <a:rPr lang="en-IN" sz="2400" dirty="0" err="1">
                <a:solidFill>
                  <a:srgbClr val="FFC000"/>
                </a:solidFill>
                <a:latin typeface="Consolas" panose="020B0609020204030204" pitchFamily="49" charset="0"/>
              </a:rPr>
              <a:t>list.remove</a:t>
            </a:r>
            <a:r>
              <a:rPr lang="en-IN" sz="2400" dirty="0">
                <a:solidFill>
                  <a:srgbClr val="FFC000"/>
                </a:solidFill>
                <a:latin typeface="Consolas" panose="020B0609020204030204" pitchFamily="49" charset="0"/>
              </a:rPr>
              <a:t>(</a:t>
            </a:r>
            <a:r>
              <a:rPr lang="en-IN" sz="2400" dirty="0" err="1">
                <a:solidFill>
                  <a:srgbClr val="FFC000"/>
                </a:solidFill>
                <a:latin typeface="Consolas" panose="020B0609020204030204" pitchFamily="49" charset="0"/>
              </a:rPr>
              <a:t>i</a:t>
            </a:r>
            <a:r>
              <a:rPr lang="en-IN" sz="2400" dirty="0">
                <a:solidFill>
                  <a:srgbClr val="FFC000"/>
                </a:solidFill>
                <a:latin typeface="Consolas" panose="020B0609020204030204" pitchFamily="49" charset="0"/>
              </a:rPr>
              <a:t>); // </a:t>
            </a:r>
            <a:r>
              <a:rPr lang="en-IN" sz="2400" dirty="0" smtClean="0">
                <a:solidFill>
                  <a:srgbClr val="FFC000"/>
                </a:solidFill>
                <a:latin typeface="Consolas" panose="020B0609020204030204" pitchFamily="49" charset="0"/>
              </a:rPr>
              <a:t>not-valid</a:t>
            </a:r>
            <a:r>
              <a:rPr lang="en-IN" sz="2400" dirty="0" smtClean="0">
                <a:solidFill>
                  <a:schemeClr val="bg1"/>
                </a:solidFill>
                <a:latin typeface="Consolas" panose="020B0609020204030204" pitchFamily="49" charset="0"/>
              </a:rPr>
              <a:t> </a:t>
            </a:r>
            <a:endParaRPr lang="en-IN" sz="2400" dirty="0">
              <a:solidFill>
                <a:schemeClr val="bg1"/>
              </a:solidFill>
              <a:latin typeface="Consolas" panose="020B0609020204030204" pitchFamily="49" charset="0"/>
            </a:endParaRPr>
          </a:p>
          <a:p>
            <a:r>
              <a:rPr lang="en-IN" sz="2400" dirty="0">
                <a:solidFill>
                  <a:schemeClr val="bg1"/>
                </a:solidFill>
                <a:latin typeface="Consolas" panose="020B0609020204030204" pitchFamily="49" charset="0"/>
              </a:rPr>
              <a:t>}</a:t>
            </a:r>
          </a:p>
        </p:txBody>
      </p:sp>
      <p:sp>
        <p:nvSpPr>
          <p:cNvPr id="7" name="Rectangle 6"/>
          <p:cNvSpPr/>
          <p:nvPr/>
        </p:nvSpPr>
        <p:spPr>
          <a:xfrm>
            <a:off x="1893510" y="3063519"/>
            <a:ext cx="7677102" cy="523220"/>
          </a:xfrm>
          <a:prstGeom prst="rect">
            <a:avLst/>
          </a:prstGeom>
        </p:spPr>
        <p:txBody>
          <a:bodyPr wrap="none">
            <a:spAutoFit/>
          </a:bodyPr>
          <a:lstStyle/>
          <a:p>
            <a:r>
              <a:rPr lang="en-IN" sz="2800" dirty="0">
                <a:solidFill>
                  <a:schemeClr val="bg1"/>
                </a:solidFill>
                <a:latin typeface="Consolas" panose="020B0609020204030204" pitchFamily="49" charset="0"/>
              </a:rPr>
              <a:t>List&lt;String&gt; list = new </a:t>
            </a:r>
            <a:r>
              <a:rPr lang="en-IN" sz="2800" dirty="0" err="1">
                <a:solidFill>
                  <a:schemeClr val="bg1"/>
                </a:solidFill>
                <a:latin typeface="Consolas" panose="020B0609020204030204" pitchFamily="49" charset="0"/>
              </a:rPr>
              <a:t>ArrayList</a:t>
            </a:r>
            <a:r>
              <a:rPr lang="en-IN" sz="2800" dirty="0">
                <a:solidFill>
                  <a:schemeClr val="bg1"/>
                </a:solidFill>
                <a:latin typeface="Consolas" panose="020B0609020204030204" pitchFamily="49" charset="0"/>
              </a:rPr>
              <a:t>&lt;&gt;();</a:t>
            </a:r>
            <a:endParaRPr lang="en-IN" sz="2800" dirty="0">
              <a:solidFill>
                <a:schemeClr val="bg1"/>
              </a:solidFill>
            </a:endParaRPr>
          </a:p>
        </p:txBody>
      </p:sp>
      <p:sp>
        <p:nvSpPr>
          <p:cNvPr id="8" name="Rectangle 7"/>
          <p:cNvSpPr/>
          <p:nvPr/>
        </p:nvSpPr>
        <p:spPr>
          <a:xfrm>
            <a:off x="6148315" y="4063536"/>
            <a:ext cx="6096000" cy="1938992"/>
          </a:xfrm>
          <a:prstGeom prst="rect">
            <a:avLst/>
          </a:prstGeom>
        </p:spPr>
        <p:txBody>
          <a:bodyPr>
            <a:spAutoFit/>
          </a:bodyPr>
          <a:lstStyle/>
          <a:p>
            <a:r>
              <a:rPr lang="en-IN" sz="2400" dirty="0">
                <a:solidFill>
                  <a:schemeClr val="bg1"/>
                </a:solidFill>
                <a:latin typeface="Consolas" panose="020B0609020204030204" pitchFamily="49" charset="0"/>
              </a:rPr>
              <a:t>Iterator it=</a:t>
            </a:r>
            <a:r>
              <a:rPr lang="en-IN" sz="2400" dirty="0" err="1">
                <a:solidFill>
                  <a:schemeClr val="bg1"/>
                </a:solidFill>
                <a:latin typeface="Consolas" panose="020B0609020204030204" pitchFamily="49" charset="0"/>
              </a:rPr>
              <a:t>list.iterator</a:t>
            </a:r>
            <a:r>
              <a:rPr lang="en-IN" sz="2400" dirty="0">
                <a:solidFill>
                  <a:schemeClr val="bg1"/>
                </a:solidFill>
                <a:latin typeface="Consolas" panose="020B0609020204030204" pitchFamily="49" charset="0"/>
              </a:rPr>
              <a:t>(); </a:t>
            </a:r>
            <a:endParaRPr lang="en-IN" sz="2400" dirty="0" smtClean="0">
              <a:solidFill>
                <a:schemeClr val="bg1"/>
              </a:solidFill>
              <a:latin typeface="Consolas" panose="020B0609020204030204" pitchFamily="49" charset="0"/>
            </a:endParaRPr>
          </a:p>
          <a:p>
            <a:r>
              <a:rPr lang="en-IN" sz="2400" dirty="0" smtClean="0">
                <a:solidFill>
                  <a:schemeClr val="bg1"/>
                </a:solidFill>
                <a:latin typeface="Consolas" panose="020B0609020204030204" pitchFamily="49" charset="0"/>
              </a:rPr>
              <a:t>while </a:t>
            </a:r>
            <a:r>
              <a:rPr lang="en-IN" sz="2400" dirty="0">
                <a:solidFill>
                  <a:schemeClr val="bg1"/>
                </a:solidFill>
                <a:latin typeface="Consolas" panose="020B0609020204030204" pitchFamily="49" charset="0"/>
              </a:rPr>
              <a:t>(</a:t>
            </a:r>
            <a:r>
              <a:rPr lang="en-IN" sz="2400" dirty="0" err="1">
                <a:solidFill>
                  <a:schemeClr val="bg1"/>
                </a:solidFill>
                <a:latin typeface="Consolas" panose="020B0609020204030204" pitchFamily="49" charset="0"/>
              </a:rPr>
              <a:t>it.hasNext</a:t>
            </a:r>
            <a:r>
              <a:rPr lang="en-IN" sz="2400" dirty="0">
                <a:solidFill>
                  <a:schemeClr val="bg1"/>
                </a:solidFill>
                <a:latin typeface="Consolas" panose="020B0609020204030204" pitchFamily="49" charset="0"/>
              </a:rPr>
              <a:t>()){ </a:t>
            </a:r>
            <a:endParaRPr lang="en-IN" sz="2400" dirty="0" smtClean="0">
              <a:solidFill>
                <a:schemeClr val="bg1"/>
              </a:solidFill>
              <a:latin typeface="Consolas" panose="020B0609020204030204" pitchFamily="49" charset="0"/>
            </a:endParaRPr>
          </a:p>
          <a:p>
            <a:r>
              <a:rPr lang="en-IN" sz="2400" dirty="0" err="1" smtClean="0">
                <a:solidFill>
                  <a:schemeClr val="bg1"/>
                </a:solidFill>
                <a:latin typeface="Consolas" panose="020B0609020204030204" pitchFamily="49" charset="0"/>
              </a:rPr>
              <a:t>System.out.println</a:t>
            </a:r>
            <a:r>
              <a:rPr lang="en-IN" sz="2400" dirty="0" smtClean="0">
                <a:solidFill>
                  <a:schemeClr val="bg1"/>
                </a:solidFill>
                <a:latin typeface="Consolas" panose="020B0609020204030204" pitchFamily="49" charset="0"/>
              </a:rPr>
              <a:t>(</a:t>
            </a:r>
            <a:r>
              <a:rPr lang="en-IN" sz="2400" dirty="0" err="1" smtClean="0">
                <a:solidFill>
                  <a:schemeClr val="bg1"/>
                </a:solidFill>
                <a:latin typeface="Consolas" panose="020B0609020204030204" pitchFamily="49" charset="0"/>
              </a:rPr>
              <a:t>it.next</a:t>
            </a:r>
            <a:r>
              <a:rPr lang="en-IN" sz="2400" dirty="0">
                <a:solidFill>
                  <a:schemeClr val="bg1"/>
                </a:solidFill>
                <a:latin typeface="Consolas" panose="020B0609020204030204" pitchFamily="49" charset="0"/>
              </a:rPr>
              <a:t>()); </a:t>
            </a:r>
            <a:endParaRPr lang="en-IN" sz="2400" dirty="0" smtClean="0">
              <a:solidFill>
                <a:schemeClr val="bg1"/>
              </a:solidFill>
              <a:latin typeface="Consolas" panose="020B0609020204030204" pitchFamily="49" charset="0"/>
            </a:endParaRPr>
          </a:p>
          <a:p>
            <a:r>
              <a:rPr lang="en-IN" sz="2400" dirty="0" err="1" smtClean="0">
                <a:solidFill>
                  <a:srgbClr val="FFC000"/>
                </a:solidFill>
                <a:latin typeface="Consolas" panose="020B0609020204030204" pitchFamily="49" charset="0"/>
              </a:rPr>
              <a:t>it.remove</a:t>
            </a:r>
            <a:r>
              <a:rPr lang="en-IN" sz="2400" dirty="0">
                <a:solidFill>
                  <a:srgbClr val="FFC000"/>
                </a:solidFill>
                <a:latin typeface="Consolas" panose="020B0609020204030204" pitchFamily="49" charset="0"/>
              </a:rPr>
              <a:t>(); // valid here </a:t>
            </a:r>
            <a:endParaRPr lang="en-IN" sz="2400" dirty="0" smtClean="0">
              <a:solidFill>
                <a:srgbClr val="FFC000"/>
              </a:solidFill>
              <a:latin typeface="Consolas" panose="020B0609020204030204" pitchFamily="49" charset="0"/>
            </a:endParaRPr>
          </a:p>
          <a:p>
            <a:r>
              <a:rPr lang="en-IN" sz="2400" dirty="0" smtClean="0">
                <a:solidFill>
                  <a:schemeClr val="bg1"/>
                </a:solidFill>
                <a:latin typeface="Consolas" panose="020B0609020204030204" pitchFamily="49" charset="0"/>
              </a:rPr>
              <a:t>}</a:t>
            </a:r>
            <a:endParaRPr lang="en-IN" sz="2400" dirty="0">
              <a:solidFill>
                <a:schemeClr val="bg1"/>
              </a:solidFill>
              <a:latin typeface="Consolas" panose="020B0609020204030204" pitchFamily="49" charset="0"/>
            </a:endParaRPr>
          </a:p>
        </p:txBody>
      </p:sp>
    </p:spTree>
    <p:extLst>
      <p:ext uri="{BB962C8B-B14F-4D97-AF65-F5344CB8AC3E}">
        <p14:creationId xmlns:p14="http://schemas.microsoft.com/office/powerpoint/2010/main" val="337979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fade">
                                      <p:cBhvr>
                                        <p:cTn id="17" dur="500"/>
                                        <p:tgtEl>
                                          <p:spTgt spid="2">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500"/>
                                        <p:tgtEl>
                                          <p:spTgt spid="2">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fade">
                                      <p:cBhvr>
                                        <p:cTn id="23" dur="500"/>
                                        <p:tgtEl>
                                          <p:spTgt spid="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fade">
                                      <p:cBhvr>
                                        <p:cTn id="28" dur="500"/>
                                        <p:tgtEl>
                                          <p:spTgt spid="8">
                                            <p:txEl>
                                              <p:pRg st="0" end="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animEffect transition="in" filter="fade">
                                      <p:cBhvr>
                                        <p:cTn id="31" dur="500"/>
                                        <p:tgtEl>
                                          <p:spTgt spid="8">
                                            <p:txEl>
                                              <p:p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
                                            <p:txEl>
                                              <p:pRg st="2" end="2"/>
                                            </p:txEl>
                                          </p:spTgt>
                                        </p:tgtEl>
                                        <p:attrNameLst>
                                          <p:attrName>style.visibility</p:attrName>
                                        </p:attrNameLst>
                                      </p:cBhvr>
                                      <p:to>
                                        <p:strVal val="visible"/>
                                      </p:to>
                                    </p:set>
                                    <p:animEffect transition="in" filter="fade">
                                      <p:cBhvr>
                                        <p:cTn id="34" dur="500"/>
                                        <p:tgtEl>
                                          <p:spTgt spid="8">
                                            <p:txEl>
                                              <p:pRg st="2" end="2"/>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Effect transition="in" filter="fade">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fade">
                                      <p:cBhvr>
                                        <p:cTn id="42" dur="500"/>
                                        <p:tgtEl>
                                          <p:spTgt spid="8">
                                            <p:txEl>
                                              <p:pRg st="3" end="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2" end="2"/>
                                            </p:txEl>
                                          </p:spTgt>
                                        </p:tgtEl>
                                        <p:attrNameLst>
                                          <p:attrName>style.visibility</p:attrName>
                                        </p:attrNameLst>
                                      </p:cBhvr>
                                      <p:to>
                                        <p:strVal val="visible"/>
                                      </p:to>
                                    </p:set>
                                    <p:animEffect transition="in" filter="fade">
                                      <p:cBhvr>
                                        <p:cTn id="4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5296835" cy="984885"/>
          </a:xfrm>
          <a:prstGeom prst="rect">
            <a:avLst/>
          </a:prstGeom>
          <a:noFill/>
        </p:spPr>
        <p:txBody>
          <a:bodyPr wrap="none" rtlCol="0">
            <a:spAutoFit/>
          </a:bodyPr>
          <a:lstStyle/>
          <a:p>
            <a:r>
              <a:rPr lang="en-IN" sz="5800" dirty="0" smtClean="0">
                <a:solidFill>
                  <a:schemeClr val="bg1"/>
                </a:solidFill>
              </a:rPr>
              <a:t>The Set Interface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1723426" cy="4939814"/>
          </a:xfrm>
          <a:prstGeom prst="rect">
            <a:avLst/>
          </a:prstGeom>
        </p:spPr>
        <p:txBody>
          <a:bodyPr wrap="square">
            <a:spAutoFit/>
          </a:bodyPr>
          <a:lstStyle/>
          <a:p>
            <a:pPr algn="just">
              <a:lnSpc>
                <a:spcPct val="150000"/>
              </a:lnSpc>
            </a:pPr>
            <a:r>
              <a:rPr lang="en-IN" sz="3000" dirty="0">
                <a:solidFill>
                  <a:schemeClr val="bg1"/>
                </a:solidFill>
              </a:rPr>
              <a:t>A Set is a Collection that </a:t>
            </a:r>
            <a:r>
              <a:rPr lang="en-IN" sz="3000" u="sng" dirty="0">
                <a:solidFill>
                  <a:srgbClr val="FFC000"/>
                </a:solidFill>
              </a:rPr>
              <a:t>cannot contain duplicate elements</a:t>
            </a:r>
            <a:r>
              <a:rPr lang="en-IN" sz="3000" dirty="0" smtClean="0">
                <a:solidFill>
                  <a:schemeClr val="bg1"/>
                </a:solidFill>
              </a:rPr>
              <a:t>.</a:t>
            </a:r>
          </a:p>
          <a:p>
            <a:pPr algn="just">
              <a:lnSpc>
                <a:spcPct val="150000"/>
              </a:lnSpc>
            </a:pPr>
            <a:r>
              <a:rPr lang="en-IN" sz="3000" dirty="0">
                <a:solidFill>
                  <a:schemeClr val="bg1"/>
                </a:solidFill>
              </a:rPr>
              <a:t>The Java platform contains three general-purpose Set implementations</a:t>
            </a:r>
            <a:r>
              <a:rPr lang="en-IN" sz="3000" dirty="0" smtClean="0">
                <a:solidFill>
                  <a:schemeClr val="bg1"/>
                </a:solidFill>
              </a:rPr>
              <a:t>:</a:t>
            </a:r>
          </a:p>
          <a:p>
            <a:pPr marL="514350" indent="-514350" algn="just">
              <a:lnSpc>
                <a:spcPct val="150000"/>
              </a:lnSpc>
              <a:buFont typeface="+mj-lt"/>
              <a:buAutoNum type="arabicPeriod"/>
            </a:pPr>
            <a:r>
              <a:rPr lang="en-IN" sz="3000" dirty="0" err="1" smtClean="0">
                <a:solidFill>
                  <a:srgbClr val="FFC000"/>
                </a:solidFill>
              </a:rPr>
              <a:t>HashSet</a:t>
            </a:r>
            <a:r>
              <a:rPr lang="en-IN" sz="3000" dirty="0">
                <a:solidFill>
                  <a:srgbClr val="FFC000"/>
                </a:solidFill>
              </a:rPr>
              <a:t>, </a:t>
            </a:r>
            <a:r>
              <a:rPr lang="en-IN" sz="3000" dirty="0">
                <a:solidFill>
                  <a:schemeClr val="bg1"/>
                </a:solidFill>
              </a:rPr>
              <a:t>which </a:t>
            </a:r>
            <a:r>
              <a:rPr lang="en-IN" sz="3000" u="sng" dirty="0">
                <a:solidFill>
                  <a:schemeClr val="bg1"/>
                </a:solidFill>
              </a:rPr>
              <a:t>stores its elements in a hash table</a:t>
            </a:r>
            <a:r>
              <a:rPr lang="en-IN" sz="3000" dirty="0">
                <a:solidFill>
                  <a:schemeClr val="bg1"/>
                </a:solidFill>
              </a:rPr>
              <a:t>, is the best-performing implementation; however it makes </a:t>
            </a:r>
            <a:r>
              <a:rPr lang="en-IN" sz="3000" u="sng" dirty="0">
                <a:solidFill>
                  <a:schemeClr val="bg1"/>
                </a:solidFill>
              </a:rPr>
              <a:t>no guarantees concerning the order of iteration</a:t>
            </a:r>
            <a:r>
              <a:rPr lang="en-IN" sz="3000" dirty="0">
                <a:solidFill>
                  <a:schemeClr val="bg1"/>
                </a:solidFill>
              </a:rPr>
              <a:t>. </a:t>
            </a:r>
            <a:endParaRPr lang="en-IN" sz="3000" dirty="0" smtClean="0">
              <a:solidFill>
                <a:schemeClr val="bg1"/>
              </a:solidFill>
            </a:endParaRPr>
          </a:p>
          <a:p>
            <a:pPr marL="514350" indent="-514350" algn="just">
              <a:lnSpc>
                <a:spcPct val="150000"/>
              </a:lnSpc>
              <a:buFont typeface="+mj-lt"/>
              <a:buAutoNum type="arabicPeriod"/>
            </a:pPr>
            <a:r>
              <a:rPr lang="en-IN" sz="3000" dirty="0" err="1" smtClean="0">
                <a:solidFill>
                  <a:srgbClr val="FFC000"/>
                </a:solidFill>
              </a:rPr>
              <a:t>TreeSet</a:t>
            </a:r>
            <a:r>
              <a:rPr lang="en-IN" sz="3000" dirty="0">
                <a:solidFill>
                  <a:srgbClr val="FFC000"/>
                </a:solidFill>
              </a:rPr>
              <a:t>, </a:t>
            </a:r>
            <a:r>
              <a:rPr lang="en-IN" sz="3000" dirty="0">
                <a:solidFill>
                  <a:schemeClr val="bg1"/>
                </a:solidFill>
              </a:rPr>
              <a:t>which stores its elements in a </a:t>
            </a:r>
            <a:r>
              <a:rPr lang="en-IN" sz="3000" u="sng" dirty="0">
                <a:solidFill>
                  <a:schemeClr val="bg1"/>
                </a:solidFill>
              </a:rPr>
              <a:t>red-black tree</a:t>
            </a:r>
            <a:r>
              <a:rPr lang="en-IN" sz="3000" dirty="0">
                <a:solidFill>
                  <a:schemeClr val="bg1"/>
                </a:solidFill>
              </a:rPr>
              <a:t>, </a:t>
            </a:r>
            <a:r>
              <a:rPr lang="en-IN" sz="3000" u="sng" dirty="0">
                <a:solidFill>
                  <a:schemeClr val="bg1"/>
                </a:solidFill>
              </a:rPr>
              <a:t>orders its elements based on their values</a:t>
            </a:r>
            <a:r>
              <a:rPr lang="en-IN" sz="3000" dirty="0">
                <a:solidFill>
                  <a:schemeClr val="bg1"/>
                </a:solidFill>
              </a:rPr>
              <a:t>; it is substantially </a:t>
            </a:r>
            <a:r>
              <a:rPr lang="en-IN" sz="3000" u="sng" dirty="0">
                <a:solidFill>
                  <a:schemeClr val="bg1"/>
                </a:solidFill>
              </a:rPr>
              <a:t>slower than </a:t>
            </a:r>
            <a:r>
              <a:rPr lang="en-IN" sz="3000" u="sng" dirty="0" err="1">
                <a:solidFill>
                  <a:schemeClr val="bg1"/>
                </a:solidFill>
              </a:rPr>
              <a:t>HashSet</a:t>
            </a:r>
            <a:r>
              <a:rPr lang="en-IN" sz="3000" dirty="0">
                <a:solidFill>
                  <a:schemeClr val="bg1"/>
                </a:solidFill>
              </a:rPr>
              <a:t>. </a:t>
            </a:r>
            <a:endParaRPr lang="en-IN" sz="3000" dirty="0" smtClean="0">
              <a:solidFill>
                <a:schemeClr val="bg1"/>
              </a:solidFill>
            </a:endParaRPr>
          </a:p>
        </p:txBody>
      </p:sp>
    </p:spTree>
    <p:extLst>
      <p:ext uri="{BB962C8B-B14F-4D97-AF65-F5344CB8AC3E}">
        <p14:creationId xmlns:p14="http://schemas.microsoft.com/office/powerpoint/2010/main" val="347890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fade">
                                      <p:cBhvr>
                                        <p:cTn id="1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5296835" cy="984885"/>
          </a:xfrm>
          <a:prstGeom prst="rect">
            <a:avLst/>
          </a:prstGeom>
          <a:noFill/>
        </p:spPr>
        <p:txBody>
          <a:bodyPr wrap="none" rtlCol="0">
            <a:spAutoFit/>
          </a:bodyPr>
          <a:lstStyle/>
          <a:p>
            <a:r>
              <a:rPr lang="en-IN" sz="5800" dirty="0" smtClean="0">
                <a:solidFill>
                  <a:schemeClr val="bg1"/>
                </a:solidFill>
              </a:rPr>
              <a:t>The Set Interface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1723426" cy="2169825"/>
          </a:xfrm>
          <a:prstGeom prst="rect">
            <a:avLst/>
          </a:prstGeom>
        </p:spPr>
        <p:txBody>
          <a:bodyPr wrap="square">
            <a:spAutoFit/>
          </a:bodyPr>
          <a:lstStyle/>
          <a:p>
            <a:pPr marL="514350" indent="-514350" algn="just">
              <a:lnSpc>
                <a:spcPct val="150000"/>
              </a:lnSpc>
              <a:buFont typeface="+mj-lt"/>
              <a:buAutoNum type="arabicPeriod" startAt="3"/>
            </a:pPr>
            <a:r>
              <a:rPr lang="en-IN" sz="3000" dirty="0" err="1" smtClean="0">
                <a:solidFill>
                  <a:srgbClr val="FFC000"/>
                </a:solidFill>
              </a:rPr>
              <a:t>LinkedHashSet</a:t>
            </a:r>
            <a:r>
              <a:rPr lang="en-IN" sz="3000" dirty="0">
                <a:solidFill>
                  <a:schemeClr val="bg1"/>
                </a:solidFill>
              </a:rPr>
              <a:t>, which is implemented as a </a:t>
            </a:r>
            <a:r>
              <a:rPr lang="en-IN" sz="3000" u="sng" dirty="0">
                <a:solidFill>
                  <a:srgbClr val="FFC000"/>
                </a:solidFill>
              </a:rPr>
              <a:t>hash table with a linked list </a:t>
            </a:r>
            <a:r>
              <a:rPr lang="en-IN" sz="3000" dirty="0">
                <a:solidFill>
                  <a:schemeClr val="bg1"/>
                </a:solidFill>
              </a:rPr>
              <a:t>running through it, orders its elements based on the order in which they were inserted into the set (insertion-order).</a:t>
            </a:r>
            <a:endParaRPr lang="en-IN" sz="3000" dirty="0" smtClean="0">
              <a:solidFill>
                <a:schemeClr val="bg1"/>
              </a:solidFill>
            </a:endParaRPr>
          </a:p>
        </p:txBody>
      </p:sp>
    </p:spTree>
    <p:extLst>
      <p:ext uri="{BB962C8B-B14F-4D97-AF65-F5344CB8AC3E}">
        <p14:creationId xmlns:p14="http://schemas.microsoft.com/office/powerpoint/2010/main" val="26297902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843418" cy="984885"/>
          </a:xfrm>
          <a:prstGeom prst="rect">
            <a:avLst/>
          </a:prstGeom>
          <a:noFill/>
        </p:spPr>
        <p:txBody>
          <a:bodyPr wrap="none" rtlCol="0">
            <a:spAutoFit/>
          </a:bodyPr>
          <a:lstStyle/>
          <a:p>
            <a:r>
              <a:rPr lang="en-IN" sz="5800" dirty="0" smtClean="0">
                <a:solidFill>
                  <a:schemeClr val="bg1"/>
                </a:solidFill>
              </a:rPr>
              <a:t>The Set Interface: </a:t>
            </a:r>
            <a:r>
              <a:rPr lang="en-IN" sz="5800" dirty="0" err="1" smtClean="0">
                <a:solidFill>
                  <a:schemeClr val="bg1"/>
                </a:solidFill>
              </a:rPr>
              <a:t>HashSet</a:t>
            </a:r>
            <a:r>
              <a:rPr lang="en-IN" sz="5800" dirty="0" smtClean="0">
                <a:solidFill>
                  <a:schemeClr val="bg1"/>
                </a:solidFill>
              </a:rPr>
              <a:t> Example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0112991" cy="5632311"/>
          </a:xfrm>
          <a:prstGeom prst="rect">
            <a:avLst/>
          </a:prstGeom>
        </p:spPr>
        <p:txBody>
          <a:bodyPr wrap="square">
            <a:spAutoFit/>
          </a:bodyPr>
          <a:lstStyle/>
          <a:p>
            <a:pPr algn="just">
              <a:lnSpc>
                <a:spcPct val="150000"/>
              </a:lnSpc>
            </a:pPr>
            <a:r>
              <a:rPr lang="en-IN" sz="3000" dirty="0">
                <a:solidFill>
                  <a:schemeClr val="bg1"/>
                </a:solidFill>
              </a:rPr>
              <a:t>public class </a:t>
            </a:r>
            <a:r>
              <a:rPr lang="en-IN" sz="3000" dirty="0" err="1">
                <a:solidFill>
                  <a:schemeClr val="bg1"/>
                </a:solidFill>
              </a:rPr>
              <a:t>FindDups</a:t>
            </a:r>
            <a:r>
              <a:rPr lang="en-IN" sz="3000" dirty="0">
                <a:solidFill>
                  <a:schemeClr val="bg1"/>
                </a:solidFill>
              </a:rPr>
              <a:t> {</a:t>
            </a:r>
          </a:p>
          <a:p>
            <a:pPr algn="just">
              <a:lnSpc>
                <a:spcPct val="150000"/>
              </a:lnSpc>
            </a:pPr>
            <a:r>
              <a:rPr lang="en-IN" sz="3000" dirty="0">
                <a:solidFill>
                  <a:schemeClr val="bg1"/>
                </a:solidFill>
              </a:rPr>
              <a:t>    public static void main(String[] </a:t>
            </a:r>
            <a:r>
              <a:rPr lang="en-IN" sz="3000" dirty="0" err="1">
                <a:solidFill>
                  <a:schemeClr val="bg1"/>
                </a:solidFill>
              </a:rPr>
              <a:t>args</a:t>
            </a:r>
            <a:r>
              <a:rPr lang="en-IN" sz="3000" dirty="0">
                <a:solidFill>
                  <a:schemeClr val="bg1"/>
                </a:solidFill>
              </a:rPr>
              <a:t>) {</a:t>
            </a:r>
          </a:p>
          <a:p>
            <a:pPr algn="just">
              <a:lnSpc>
                <a:spcPct val="150000"/>
              </a:lnSpc>
            </a:pPr>
            <a:r>
              <a:rPr lang="en-IN" sz="3000" dirty="0">
                <a:solidFill>
                  <a:schemeClr val="bg1"/>
                </a:solidFill>
              </a:rPr>
              <a:t>        </a:t>
            </a:r>
            <a:r>
              <a:rPr lang="en-IN" sz="3000" u="sng" dirty="0">
                <a:solidFill>
                  <a:schemeClr val="bg1"/>
                </a:solidFill>
              </a:rPr>
              <a:t>Set</a:t>
            </a:r>
            <a:r>
              <a:rPr lang="en-IN" sz="3000" dirty="0">
                <a:solidFill>
                  <a:schemeClr val="bg1"/>
                </a:solidFill>
              </a:rPr>
              <a:t>&lt;String&gt; s = new </a:t>
            </a:r>
            <a:r>
              <a:rPr lang="en-IN" sz="3000" u="sng" dirty="0" err="1">
                <a:solidFill>
                  <a:schemeClr val="bg1"/>
                </a:solidFill>
              </a:rPr>
              <a:t>HashSet</a:t>
            </a:r>
            <a:r>
              <a:rPr lang="en-IN" sz="3000" dirty="0">
                <a:solidFill>
                  <a:schemeClr val="bg1"/>
                </a:solidFill>
              </a:rPr>
              <a:t>&lt;String&gt;();</a:t>
            </a:r>
          </a:p>
          <a:p>
            <a:pPr algn="just">
              <a:lnSpc>
                <a:spcPct val="150000"/>
              </a:lnSpc>
            </a:pPr>
            <a:r>
              <a:rPr lang="en-IN" sz="3000" dirty="0">
                <a:solidFill>
                  <a:schemeClr val="bg1"/>
                </a:solidFill>
              </a:rPr>
              <a:t>        for (String a : </a:t>
            </a:r>
            <a:r>
              <a:rPr lang="en-IN" sz="3000" dirty="0" err="1">
                <a:solidFill>
                  <a:schemeClr val="bg1"/>
                </a:solidFill>
              </a:rPr>
              <a:t>args</a:t>
            </a:r>
            <a:r>
              <a:rPr lang="en-IN" sz="3000" dirty="0">
                <a:solidFill>
                  <a:schemeClr val="bg1"/>
                </a:solidFill>
              </a:rPr>
              <a:t>)</a:t>
            </a:r>
          </a:p>
          <a:p>
            <a:pPr algn="just">
              <a:lnSpc>
                <a:spcPct val="150000"/>
              </a:lnSpc>
            </a:pPr>
            <a:r>
              <a:rPr lang="en-IN" sz="3000" dirty="0">
                <a:solidFill>
                  <a:schemeClr val="bg1"/>
                </a:solidFill>
              </a:rPr>
              <a:t>               </a:t>
            </a:r>
            <a:r>
              <a:rPr lang="en-IN" sz="3000" dirty="0" err="1">
                <a:solidFill>
                  <a:srgbClr val="FFC000"/>
                </a:solidFill>
              </a:rPr>
              <a:t>s.add</a:t>
            </a:r>
            <a:r>
              <a:rPr lang="en-IN" sz="3000" dirty="0">
                <a:solidFill>
                  <a:srgbClr val="FFC000"/>
                </a:solidFill>
              </a:rPr>
              <a:t>(a);</a:t>
            </a:r>
          </a:p>
          <a:p>
            <a:pPr algn="just">
              <a:lnSpc>
                <a:spcPct val="150000"/>
              </a:lnSpc>
            </a:pPr>
            <a:r>
              <a:rPr lang="en-IN" sz="3000" dirty="0">
                <a:solidFill>
                  <a:schemeClr val="bg1"/>
                </a:solidFill>
              </a:rPr>
              <a:t>               </a:t>
            </a:r>
            <a:r>
              <a:rPr lang="en-IN" sz="3000" dirty="0" err="1">
                <a:solidFill>
                  <a:schemeClr val="bg1"/>
                </a:solidFill>
              </a:rPr>
              <a:t>System.out.println</a:t>
            </a:r>
            <a:r>
              <a:rPr lang="en-IN" sz="3000" dirty="0">
                <a:solidFill>
                  <a:schemeClr val="bg1"/>
                </a:solidFill>
              </a:rPr>
              <a:t>(</a:t>
            </a:r>
            <a:r>
              <a:rPr lang="en-IN" sz="3000" dirty="0" err="1">
                <a:solidFill>
                  <a:srgbClr val="FFC000"/>
                </a:solidFill>
              </a:rPr>
              <a:t>s.size</a:t>
            </a:r>
            <a:r>
              <a:rPr lang="en-IN" sz="3000" dirty="0">
                <a:solidFill>
                  <a:srgbClr val="FFC000"/>
                </a:solidFill>
              </a:rPr>
              <a:t>()</a:t>
            </a:r>
            <a:r>
              <a:rPr lang="en-IN" sz="3000" dirty="0">
                <a:solidFill>
                  <a:schemeClr val="bg1"/>
                </a:solidFill>
              </a:rPr>
              <a:t> + " distinct words: " + s);</a:t>
            </a:r>
          </a:p>
          <a:p>
            <a:pPr algn="just">
              <a:lnSpc>
                <a:spcPct val="150000"/>
              </a:lnSpc>
            </a:pPr>
            <a:r>
              <a:rPr lang="en-IN" sz="3000" dirty="0">
                <a:solidFill>
                  <a:schemeClr val="bg1"/>
                </a:solidFill>
              </a:rPr>
              <a:t>    }</a:t>
            </a:r>
          </a:p>
          <a:p>
            <a:pPr algn="just">
              <a:lnSpc>
                <a:spcPct val="150000"/>
              </a:lnSpc>
            </a:pPr>
            <a:r>
              <a:rPr lang="en-IN" sz="3000" dirty="0" smtClean="0">
                <a:solidFill>
                  <a:schemeClr val="bg1"/>
                </a:solidFill>
              </a:rPr>
              <a:t>}</a:t>
            </a:r>
            <a:endParaRPr lang="en-IN" sz="3000" dirty="0">
              <a:solidFill>
                <a:schemeClr val="bg1"/>
              </a:solidFill>
            </a:endParaRPr>
          </a:p>
        </p:txBody>
      </p:sp>
      <p:sp>
        <p:nvSpPr>
          <p:cNvPr id="2" name="Rectangle 1"/>
          <p:cNvSpPr/>
          <p:nvPr/>
        </p:nvSpPr>
        <p:spPr>
          <a:xfrm>
            <a:off x="6894139" y="1284014"/>
            <a:ext cx="5297861" cy="1815882"/>
          </a:xfrm>
          <a:prstGeom prst="rect">
            <a:avLst/>
          </a:prstGeom>
        </p:spPr>
        <p:txBody>
          <a:bodyPr wrap="none">
            <a:spAutoFit/>
          </a:bodyPr>
          <a:lstStyle/>
          <a:p>
            <a:r>
              <a:rPr lang="en-IN" sz="2800" dirty="0">
                <a:solidFill>
                  <a:srgbClr val="FFC000"/>
                </a:solidFill>
              </a:rPr>
              <a:t>java </a:t>
            </a:r>
            <a:r>
              <a:rPr lang="en-IN" sz="2800" dirty="0" err="1">
                <a:solidFill>
                  <a:srgbClr val="FFC000"/>
                </a:solidFill>
              </a:rPr>
              <a:t>FindDups</a:t>
            </a:r>
            <a:r>
              <a:rPr lang="en-IN" sz="2800" dirty="0">
                <a:solidFill>
                  <a:srgbClr val="FFC000"/>
                </a:solidFill>
              </a:rPr>
              <a:t> </a:t>
            </a:r>
            <a:r>
              <a:rPr lang="en-IN" sz="2800" dirty="0" err="1">
                <a:solidFill>
                  <a:srgbClr val="FFC000"/>
                </a:solidFill>
              </a:rPr>
              <a:t>i</a:t>
            </a:r>
            <a:r>
              <a:rPr lang="en-IN" sz="2800" dirty="0">
                <a:solidFill>
                  <a:srgbClr val="FFC000"/>
                </a:solidFill>
              </a:rPr>
              <a:t> came </a:t>
            </a:r>
            <a:r>
              <a:rPr lang="en-IN" sz="2800" dirty="0" err="1">
                <a:solidFill>
                  <a:srgbClr val="FFC000"/>
                </a:solidFill>
              </a:rPr>
              <a:t>i</a:t>
            </a:r>
            <a:r>
              <a:rPr lang="en-IN" sz="2800" dirty="0">
                <a:solidFill>
                  <a:srgbClr val="FFC000"/>
                </a:solidFill>
              </a:rPr>
              <a:t> saw </a:t>
            </a:r>
            <a:r>
              <a:rPr lang="en-IN" sz="2800" dirty="0" err="1">
                <a:solidFill>
                  <a:srgbClr val="FFC000"/>
                </a:solidFill>
              </a:rPr>
              <a:t>i</a:t>
            </a:r>
            <a:r>
              <a:rPr lang="en-IN" sz="2800" dirty="0">
                <a:solidFill>
                  <a:srgbClr val="FFC000"/>
                </a:solidFill>
              </a:rPr>
              <a:t> </a:t>
            </a:r>
            <a:r>
              <a:rPr lang="en-IN" sz="2800" dirty="0" smtClean="0">
                <a:solidFill>
                  <a:srgbClr val="FFC000"/>
                </a:solidFill>
              </a:rPr>
              <a:t>left</a:t>
            </a:r>
          </a:p>
          <a:p>
            <a:endParaRPr lang="en-IN" sz="2800" dirty="0">
              <a:solidFill>
                <a:srgbClr val="FFC000"/>
              </a:solidFill>
            </a:endParaRPr>
          </a:p>
          <a:p>
            <a:r>
              <a:rPr lang="en-IN" sz="2800" dirty="0" smtClean="0">
                <a:solidFill>
                  <a:srgbClr val="FFC000"/>
                </a:solidFill>
              </a:rPr>
              <a:t>O/P:</a:t>
            </a:r>
          </a:p>
          <a:p>
            <a:r>
              <a:rPr lang="en-IN" sz="2800" dirty="0">
                <a:solidFill>
                  <a:srgbClr val="FFC000"/>
                </a:solidFill>
              </a:rPr>
              <a:t>4 distinct words: [left, came, saw, </a:t>
            </a:r>
            <a:r>
              <a:rPr lang="en-IN" sz="2800" dirty="0" err="1">
                <a:solidFill>
                  <a:srgbClr val="FFC000"/>
                </a:solidFill>
              </a:rPr>
              <a:t>i</a:t>
            </a:r>
            <a:r>
              <a:rPr lang="en-IN" sz="2800" dirty="0">
                <a:solidFill>
                  <a:srgbClr val="FFC000"/>
                </a:solidFill>
              </a:rPr>
              <a:t>]</a:t>
            </a:r>
          </a:p>
        </p:txBody>
      </p:sp>
    </p:spTree>
    <p:extLst>
      <p:ext uri="{BB962C8B-B14F-4D97-AF65-F5344CB8AC3E}">
        <p14:creationId xmlns:p14="http://schemas.microsoft.com/office/powerpoint/2010/main" val="348016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fade">
                                      <p:cBhvr>
                                        <p:cTn id="13" dur="500"/>
                                        <p:tgtEl>
                                          <p:spTgt spid="5">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7" end="7"/>
                                            </p:txEl>
                                          </p:spTgt>
                                        </p:tgtEl>
                                        <p:attrNameLst>
                                          <p:attrName>style.visibility</p:attrName>
                                        </p:attrNameLst>
                                      </p:cBhvr>
                                      <p:to>
                                        <p:strVal val="visible"/>
                                      </p:to>
                                    </p:set>
                                    <p:animEffect transition="in" filter="fade">
                                      <p:cBhvr>
                                        <p:cTn id="16" dur="500"/>
                                        <p:tgtEl>
                                          <p:spTgt spid="5">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fade">
                                      <p:cBhvr>
                                        <p:cTn id="29" dur="500"/>
                                        <p:tgtEl>
                                          <p:spTgt spid="5">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Effect transition="in" filter="fade">
                                      <p:cBhvr>
                                        <p:cTn id="34" dur="500"/>
                                        <p:tgtEl>
                                          <p:spTgt spid="5">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Effect transition="in" filter="fade">
                                      <p:cBhvr>
                                        <p:cTn id="39" dur="500"/>
                                        <p:tgtEl>
                                          <p:spTgt spid="2">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
                                            <p:txEl>
                                              <p:pRg st="2" end="2"/>
                                            </p:txEl>
                                          </p:spTgt>
                                        </p:tgtEl>
                                        <p:attrNameLst>
                                          <p:attrName>style.visibility</p:attrName>
                                        </p:attrNameLst>
                                      </p:cBhvr>
                                      <p:to>
                                        <p:strVal val="visible"/>
                                      </p:to>
                                    </p:set>
                                    <p:animEffect transition="in" filter="fade">
                                      <p:cBhvr>
                                        <p:cTn id="44" dur="500"/>
                                        <p:tgtEl>
                                          <p:spTgt spid="2">
                                            <p:txEl>
                                              <p:pRg st="2" end="2"/>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fade">
                                      <p:cBhvr>
                                        <p:cTn id="4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843418" cy="984885"/>
          </a:xfrm>
          <a:prstGeom prst="rect">
            <a:avLst/>
          </a:prstGeom>
          <a:noFill/>
        </p:spPr>
        <p:txBody>
          <a:bodyPr wrap="none" rtlCol="0">
            <a:spAutoFit/>
          </a:bodyPr>
          <a:lstStyle/>
          <a:p>
            <a:r>
              <a:rPr lang="en-IN" sz="5800" dirty="0" smtClean="0">
                <a:solidFill>
                  <a:schemeClr val="bg1"/>
                </a:solidFill>
              </a:rPr>
              <a:t>The Set Interface: </a:t>
            </a:r>
            <a:r>
              <a:rPr lang="en-IN" sz="5800" dirty="0" err="1" smtClean="0">
                <a:solidFill>
                  <a:schemeClr val="bg1"/>
                </a:solidFill>
              </a:rPr>
              <a:t>HashSet</a:t>
            </a:r>
            <a:r>
              <a:rPr lang="en-IN" sz="5800" dirty="0" smtClean="0">
                <a:solidFill>
                  <a:schemeClr val="bg1"/>
                </a:solidFill>
              </a:rPr>
              <a:t> Example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0112991" cy="5632311"/>
          </a:xfrm>
          <a:prstGeom prst="rect">
            <a:avLst/>
          </a:prstGeom>
        </p:spPr>
        <p:txBody>
          <a:bodyPr wrap="square">
            <a:spAutoFit/>
          </a:bodyPr>
          <a:lstStyle/>
          <a:p>
            <a:pPr algn="just">
              <a:lnSpc>
                <a:spcPct val="150000"/>
              </a:lnSpc>
            </a:pPr>
            <a:r>
              <a:rPr lang="en-IN" sz="3000" dirty="0">
                <a:solidFill>
                  <a:schemeClr val="bg1"/>
                </a:solidFill>
              </a:rPr>
              <a:t>public class </a:t>
            </a:r>
            <a:r>
              <a:rPr lang="en-IN" sz="3000" dirty="0" err="1">
                <a:solidFill>
                  <a:schemeClr val="bg1"/>
                </a:solidFill>
              </a:rPr>
              <a:t>FindDups</a:t>
            </a:r>
            <a:r>
              <a:rPr lang="en-IN" sz="3000" dirty="0">
                <a:solidFill>
                  <a:schemeClr val="bg1"/>
                </a:solidFill>
              </a:rPr>
              <a:t> {</a:t>
            </a:r>
          </a:p>
          <a:p>
            <a:pPr algn="just">
              <a:lnSpc>
                <a:spcPct val="150000"/>
              </a:lnSpc>
            </a:pPr>
            <a:r>
              <a:rPr lang="en-IN" sz="3000" dirty="0">
                <a:solidFill>
                  <a:schemeClr val="bg1"/>
                </a:solidFill>
              </a:rPr>
              <a:t>    public static void main(String[] </a:t>
            </a:r>
            <a:r>
              <a:rPr lang="en-IN" sz="3000" dirty="0" err="1">
                <a:solidFill>
                  <a:schemeClr val="bg1"/>
                </a:solidFill>
              </a:rPr>
              <a:t>args</a:t>
            </a:r>
            <a:r>
              <a:rPr lang="en-IN" sz="3000" dirty="0">
                <a:solidFill>
                  <a:schemeClr val="bg1"/>
                </a:solidFill>
              </a:rPr>
              <a:t>) {</a:t>
            </a:r>
          </a:p>
          <a:p>
            <a:pPr algn="just">
              <a:lnSpc>
                <a:spcPct val="150000"/>
              </a:lnSpc>
            </a:pPr>
            <a:r>
              <a:rPr lang="en-IN" sz="3000" dirty="0">
                <a:solidFill>
                  <a:schemeClr val="bg1"/>
                </a:solidFill>
              </a:rPr>
              <a:t>        </a:t>
            </a:r>
            <a:r>
              <a:rPr lang="en-IN" sz="3000" u="sng" dirty="0">
                <a:solidFill>
                  <a:schemeClr val="bg1"/>
                </a:solidFill>
              </a:rPr>
              <a:t>Set</a:t>
            </a:r>
            <a:r>
              <a:rPr lang="en-IN" sz="3000" dirty="0">
                <a:solidFill>
                  <a:schemeClr val="bg1"/>
                </a:solidFill>
              </a:rPr>
              <a:t>&lt;String&gt; s = new </a:t>
            </a:r>
            <a:r>
              <a:rPr lang="en-IN" sz="3000" u="sng" dirty="0" err="1" smtClean="0">
                <a:solidFill>
                  <a:schemeClr val="bg1"/>
                </a:solidFill>
              </a:rPr>
              <a:t>TreeSet</a:t>
            </a:r>
            <a:r>
              <a:rPr lang="en-IN" sz="3000" dirty="0" smtClean="0">
                <a:solidFill>
                  <a:schemeClr val="bg1"/>
                </a:solidFill>
              </a:rPr>
              <a:t>&lt;String</a:t>
            </a:r>
            <a:r>
              <a:rPr lang="en-IN" sz="3000" dirty="0">
                <a:solidFill>
                  <a:schemeClr val="bg1"/>
                </a:solidFill>
              </a:rPr>
              <a:t>&gt;();</a:t>
            </a:r>
          </a:p>
          <a:p>
            <a:pPr algn="just">
              <a:lnSpc>
                <a:spcPct val="150000"/>
              </a:lnSpc>
            </a:pPr>
            <a:r>
              <a:rPr lang="en-IN" sz="3000" dirty="0">
                <a:solidFill>
                  <a:schemeClr val="bg1"/>
                </a:solidFill>
              </a:rPr>
              <a:t>        for (String a : </a:t>
            </a:r>
            <a:r>
              <a:rPr lang="en-IN" sz="3000" dirty="0" err="1">
                <a:solidFill>
                  <a:schemeClr val="bg1"/>
                </a:solidFill>
              </a:rPr>
              <a:t>args</a:t>
            </a:r>
            <a:r>
              <a:rPr lang="en-IN" sz="3000" dirty="0">
                <a:solidFill>
                  <a:schemeClr val="bg1"/>
                </a:solidFill>
              </a:rPr>
              <a:t>)</a:t>
            </a:r>
          </a:p>
          <a:p>
            <a:pPr algn="just">
              <a:lnSpc>
                <a:spcPct val="150000"/>
              </a:lnSpc>
            </a:pPr>
            <a:r>
              <a:rPr lang="en-IN" sz="3000" dirty="0">
                <a:solidFill>
                  <a:schemeClr val="bg1"/>
                </a:solidFill>
              </a:rPr>
              <a:t>               </a:t>
            </a:r>
            <a:r>
              <a:rPr lang="en-IN" sz="3000" dirty="0" err="1">
                <a:solidFill>
                  <a:srgbClr val="FFC000"/>
                </a:solidFill>
              </a:rPr>
              <a:t>s.add</a:t>
            </a:r>
            <a:r>
              <a:rPr lang="en-IN" sz="3000" dirty="0">
                <a:solidFill>
                  <a:srgbClr val="FFC000"/>
                </a:solidFill>
              </a:rPr>
              <a:t>(a);</a:t>
            </a:r>
          </a:p>
          <a:p>
            <a:pPr algn="just">
              <a:lnSpc>
                <a:spcPct val="150000"/>
              </a:lnSpc>
            </a:pPr>
            <a:r>
              <a:rPr lang="en-IN" sz="3000" dirty="0">
                <a:solidFill>
                  <a:schemeClr val="bg1"/>
                </a:solidFill>
              </a:rPr>
              <a:t>               </a:t>
            </a:r>
            <a:r>
              <a:rPr lang="en-IN" sz="3000" dirty="0" err="1">
                <a:solidFill>
                  <a:schemeClr val="bg1"/>
                </a:solidFill>
              </a:rPr>
              <a:t>System.out.println</a:t>
            </a:r>
            <a:r>
              <a:rPr lang="en-IN" sz="3000" dirty="0">
                <a:solidFill>
                  <a:schemeClr val="bg1"/>
                </a:solidFill>
              </a:rPr>
              <a:t>(</a:t>
            </a:r>
            <a:r>
              <a:rPr lang="en-IN" sz="3000" dirty="0" err="1">
                <a:solidFill>
                  <a:srgbClr val="FFC000"/>
                </a:solidFill>
              </a:rPr>
              <a:t>s.size</a:t>
            </a:r>
            <a:r>
              <a:rPr lang="en-IN" sz="3000" dirty="0">
                <a:solidFill>
                  <a:srgbClr val="FFC000"/>
                </a:solidFill>
              </a:rPr>
              <a:t>()</a:t>
            </a:r>
            <a:r>
              <a:rPr lang="en-IN" sz="3000" dirty="0">
                <a:solidFill>
                  <a:schemeClr val="bg1"/>
                </a:solidFill>
              </a:rPr>
              <a:t> + " distinct words: " + s);</a:t>
            </a:r>
          </a:p>
          <a:p>
            <a:pPr algn="just">
              <a:lnSpc>
                <a:spcPct val="150000"/>
              </a:lnSpc>
            </a:pPr>
            <a:r>
              <a:rPr lang="en-IN" sz="3000" dirty="0">
                <a:solidFill>
                  <a:schemeClr val="bg1"/>
                </a:solidFill>
              </a:rPr>
              <a:t>    }</a:t>
            </a:r>
          </a:p>
          <a:p>
            <a:pPr algn="just">
              <a:lnSpc>
                <a:spcPct val="150000"/>
              </a:lnSpc>
            </a:pPr>
            <a:r>
              <a:rPr lang="en-IN" sz="3000" dirty="0" smtClean="0">
                <a:solidFill>
                  <a:schemeClr val="bg1"/>
                </a:solidFill>
              </a:rPr>
              <a:t>}</a:t>
            </a:r>
            <a:endParaRPr lang="en-IN" sz="3000" dirty="0">
              <a:solidFill>
                <a:schemeClr val="bg1"/>
              </a:solidFill>
            </a:endParaRPr>
          </a:p>
        </p:txBody>
      </p:sp>
      <p:sp>
        <p:nvSpPr>
          <p:cNvPr id="2" name="Rectangle 1"/>
          <p:cNvSpPr/>
          <p:nvPr/>
        </p:nvSpPr>
        <p:spPr>
          <a:xfrm>
            <a:off x="6894139" y="1284014"/>
            <a:ext cx="5254965" cy="1815882"/>
          </a:xfrm>
          <a:prstGeom prst="rect">
            <a:avLst/>
          </a:prstGeom>
        </p:spPr>
        <p:txBody>
          <a:bodyPr wrap="none">
            <a:spAutoFit/>
          </a:bodyPr>
          <a:lstStyle/>
          <a:p>
            <a:r>
              <a:rPr lang="en-IN" sz="2800" dirty="0">
                <a:solidFill>
                  <a:srgbClr val="FFC000"/>
                </a:solidFill>
              </a:rPr>
              <a:t>java </a:t>
            </a:r>
            <a:r>
              <a:rPr lang="en-IN" sz="2800" dirty="0" err="1">
                <a:solidFill>
                  <a:srgbClr val="FFC000"/>
                </a:solidFill>
              </a:rPr>
              <a:t>FindDups</a:t>
            </a:r>
            <a:r>
              <a:rPr lang="en-IN" sz="2800" dirty="0">
                <a:solidFill>
                  <a:srgbClr val="FFC000"/>
                </a:solidFill>
              </a:rPr>
              <a:t> </a:t>
            </a:r>
            <a:r>
              <a:rPr lang="en-IN" sz="2800" dirty="0" err="1">
                <a:solidFill>
                  <a:srgbClr val="FFC000"/>
                </a:solidFill>
              </a:rPr>
              <a:t>i</a:t>
            </a:r>
            <a:r>
              <a:rPr lang="en-IN" sz="2800" dirty="0">
                <a:solidFill>
                  <a:srgbClr val="FFC000"/>
                </a:solidFill>
              </a:rPr>
              <a:t> came </a:t>
            </a:r>
            <a:r>
              <a:rPr lang="en-IN" sz="2800" dirty="0" err="1">
                <a:solidFill>
                  <a:srgbClr val="FFC000"/>
                </a:solidFill>
              </a:rPr>
              <a:t>i</a:t>
            </a:r>
            <a:r>
              <a:rPr lang="en-IN" sz="2800" dirty="0">
                <a:solidFill>
                  <a:srgbClr val="FFC000"/>
                </a:solidFill>
              </a:rPr>
              <a:t> saw </a:t>
            </a:r>
            <a:r>
              <a:rPr lang="en-IN" sz="2800" dirty="0" err="1">
                <a:solidFill>
                  <a:srgbClr val="FFC000"/>
                </a:solidFill>
              </a:rPr>
              <a:t>i</a:t>
            </a:r>
            <a:r>
              <a:rPr lang="en-IN" sz="2800" dirty="0">
                <a:solidFill>
                  <a:srgbClr val="FFC000"/>
                </a:solidFill>
              </a:rPr>
              <a:t> </a:t>
            </a:r>
            <a:r>
              <a:rPr lang="en-IN" sz="2800" dirty="0" smtClean="0">
                <a:solidFill>
                  <a:srgbClr val="FFC000"/>
                </a:solidFill>
              </a:rPr>
              <a:t>left</a:t>
            </a:r>
          </a:p>
          <a:p>
            <a:endParaRPr lang="en-IN" sz="2800" dirty="0">
              <a:solidFill>
                <a:srgbClr val="FFC000"/>
              </a:solidFill>
            </a:endParaRPr>
          </a:p>
          <a:p>
            <a:r>
              <a:rPr lang="en-IN" sz="2800" dirty="0" smtClean="0">
                <a:solidFill>
                  <a:srgbClr val="FFC000"/>
                </a:solidFill>
              </a:rPr>
              <a:t>O/P:</a:t>
            </a:r>
          </a:p>
          <a:p>
            <a:r>
              <a:rPr lang="en-IN" sz="2800" dirty="0">
                <a:solidFill>
                  <a:srgbClr val="FFC000"/>
                </a:solidFill>
              </a:rPr>
              <a:t>4 distinct words: </a:t>
            </a:r>
            <a:r>
              <a:rPr lang="en-IN" sz="2800" dirty="0" smtClean="0">
                <a:solidFill>
                  <a:srgbClr val="FFC000"/>
                </a:solidFill>
              </a:rPr>
              <a:t>[came</a:t>
            </a:r>
            <a:r>
              <a:rPr lang="en-IN" sz="2800" dirty="0">
                <a:solidFill>
                  <a:srgbClr val="FFC000"/>
                </a:solidFill>
              </a:rPr>
              <a:t>, i</a:t>
            </a:r>
            <a:r>
              <a:rPr lang="en-IN" sz="2800" dirty="0" smtClean="0">
                <a:solidFill>
                  <a:srgbClr val="FFC000"/>
                </a:solidFill>
              </a:rPr>
              <a:t>, </a:t>
            </a:r>
            <a:r>
              <a:rPr lang="en-IN" sz="2800" dirty="0" err="1" smtClean="0">
                <a:solidFill>
                  <a:srgbClr val="FFC000"/>
                </a:solidFill>
              </a:rPr>
              <a:t>left,saw</a:t>
            </a:r>
            <a:r>
              <a:rPr lang="en-IN" sz="2800" dirty="0" smtClean="0">
                <a:solidFill>
                  <a:srgbClr val="FFC000"/>
                </a:solidFill>
              </a:rPr>
              <a:t>]</a:t>
            </a:r>
            <a:endParaRPr lang="en-IN" sz="2800" dirty="0">
              <a:solidFill>
                <a:srgbClr val="FFC000"/>
              </a:solidFill>
            </a:endParaRPr>
          </a:p>
        </p:txBody>
      </p:sp>
    </p:spTree>
    <p:extLst>
      <p:ext uri="{BB962C8B-B14F-4D97-AF65-F5344CB8AC3E}">
        <p14:creationId xmlns:p14="http://schemas.microsoft.com/office/powerpoint/2010/main" val="248350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fade">
                                      <p:cBhvr>
                                        <p:cTn id="13" dur="500"/>
                                        <p:tgtEl>
                                          <p:spTgt spid="5">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7" end="7"/>
                                            </p:txEl>
                                          </p:spTgt>
                                        </p:tgtEl>
                                        <p:attrNameLst>
                                          <p:attrName>style.visibility</p:attrName>
                                        </p:attrNameLst>
                                      </p:cBhvr>
                                      <p:to>
                                        <p:strVal val="visible"/>
                                      </p:to>
                                    </p:set>
                                    <p:animEffect transition="in" filter="fade">
                                      <p:cBhvr>
                                        <p:cTn id="16" dur="500"/>
                                        <p:tgtEl>
                                          <p:spTgt spid="5">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fade">
                                      <p:cBhvr>
                                        <p:cTn id="29" dur="500"/>
                                        <p:tgtEl>
                                          <p:spTgt spid="5">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Effect transition="in" filter="fade">
                                      <p:cBhvr>
                                        <p:cTn id="34" dur="500"/>
                                        <p:tgtEl>
                                          <p:spTgt spid="5">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Effect transition="in" filter="fade">
                                      <p:cBhvr>
                                        <p:cTn id="39" dur="500"/>
                                        <p:tgtEl>
                                          <p:spTgt spid="2">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
                                            <p:txEl>
                                              <p:pRg st="2" end="2"/>
                                            </p:txEl>
                                          </p:spTgt>
                                        </p:tgtEl>
                                        <p:attrNameLst>
                                          <p:attrName>style.visibility</p:attrName>
                                        </p:attrNameLst>
                                      </p:cBhvr>
                                      <p:to>
                                        <p:strVal val="visible"/>
                                      </p:to>
                                    </p:set>
                                    <p:animEffect transition="in" filter="fade">
                                      <p:cBhvr>
                                        <p:cTn id="44" dur="500"/>
                                        <p:tgtEl>
                                          <p:spTgt spid="2">
                                            <p:txEl>
                                              <p:pRg st="2" end="2"/>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fade">
                                      <p:cBhvr>
                                        <p:cTn id="4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843418" cy="984885"/>
          </a:xfrm>
          <a:prstGeom prst="rect">
            <a:avLst/>
          </a:prstGeom>
          <a:noFill/>
        </p:spPr>
        <p:txBody>
          <a:bodyPr wrap="none" rtlCol="0">
            <a:spAutoFit/>
          </a:bodyPr>
          <a:lstStyle/>
          <a:p>
            <a:r>
              <a:rPr lang="en-IN" sz="5800" dirty="0" smtClean="0">
                <a:solidFill>
                  <a:schemeClr val="bg1"/>
                </a:solidFill>
              </a:rPr>
              <a:t>The Set Interface: </a:t>
            </a:r>
            <a:r>
              <a:rPr lang="en-IN" sz="5800" dirty="0" err="1" smtClean="0">
                <a:solidFill>
                  <a:schemeClr val="bg1"/>
                </a:solidFill>
              </a:rPr>
              <a:t>HashSet</a:t>
            </a:r>
            <a:r>
              <a:rPr lang="en-IN" sz="5800" dirty="0" smtClean="0">
                <a:solidFill>
                  <a:schemeClr val="bg1"/>
                </a:solidFill>
              </a:rPr>
              <a:t> Example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96287"/>
            <a:ext cx="10112991" cy="5632311"/>
          </a:xfrm>
          <a:prstGeom prst="rect">
            <a:avLst/>
          </a:prstGeom>
        </p:spPr>
        <p:txBody>
          <a:bodyPr wrap="square">
            <a:spAutoFit/>
          </a:bodyPr>
          <a:lstStyle/>
          <a:p>
            <a:pPr algn="just"/>
            <a:r>
              <a:rPr lang="en-IN" sz="3000" dirty="0">
                <a:solidFill>
                  <a:schemeClr val="bg1"/>
                </a:solidFill>
              </a:rPr>
              <a:t>public class FindDups2 {</a:t>
            </a:r>
          </a:p>
          <a:p>
            <a:pPr algn="just"/>
            <a:r>
              <a:rPr lang="en-IN" sz="3000" dirty="0">
                <a:solidFill>
                  <a:schemeClr val="bg1"/>
                </a:solidFill>
              </a:rPr>
              <a:t>    public static void main(String[] </a:t>
            </a:r>
            <a:r>
              <a:rPr lang="en-IN" sz="3000" dirty="0" err="1">
                <a:solidFill>
                  <a:schemeClr val="bg1"/>
                </a:solidFill>
              </a:rPr>
              <a:t>args</a:t>
            </a:r>
            <a:r>
              <a:rPr lang="en-IN" sz="3000" dirty="0">
                <a:solidFill>
                  <a:schemeClr val="bg1"/>
                </a:solidFill>
              </a:rPr>
              <a:t>) {</a:t>
            </a:r>
          </a:p>
          <a:p>
            <a:pPr algn="just"/>
            <a:r>
              <a:rPr lang="en-IN" sz="3000" dirty="0">
                <a:solidFill>
                  <a:schemeClr val="bg1"/>
                </a:solidFill>
              </a:rPr>
              <a:t>        Set&lt;String&gt; </a:t>
            </a:r>
            <a:r>
              <a:rPr lang="en-IN" sz="3000" dirty="0" err="1">
                <a:solidFill>
                  <a:schemeClr val="bg1"/>
                </a:solidFill>
              </a:rPr>
              <a:t>uniques</a:t>
            </a:r>
            <a:r>
              <a:rPr lang="en-IN" sz="3000" dirty="0">
                <a:solidFill>
                  <a:schemeClr val="bg1"/>
                </a:solidFill>
              </a:rPr>
              <a:t> = new </a:t>
            </a:r>
            <a:r>
              <a:rPr lang="en-IN" sz="3000" dirty="0" err="1">
                <a:solidFill>
                  <a:schemeClr val="bg1"/>
                </a:solidFill>
              </a:rPr>
              <a:t>HashSet</a:t>
            </a:r>
            <a:r>
              <a:rPr lang="en-IN" sz="3000" dirty="0">
                <a:solidFill>
                  <a:schemeClr val="bg1"/>
                </a:solidFill>
              </a:rPr>
              <a:t>&lt;String&gt;();</a:t>
            </a:r>
          </a:p>
          <a:p>
            <a:pPr algn="just"/>
            <a:r>
              <a:rPr lang="en-IN" sz="3000" dirty="0">
                <a:solidFill>
                  <a:schemeClr val="bg1"/>
                </a:solidFill>
              </a:rPr>
              <a:t>        Set&lt;String&gt; dups    = new </a:t>
            </a:r>
            <a:r>
              <a:rPr lang="en-IN" sz="3000" dirty="0" err="1">
                <a:solidFill>
                  <a:schemeClr val="bg1"/>
                </a:solidFill>
              </a:rPr>
              <a:t>HashSet</a:t>
            </a:r>
            <a:r>
              <a:rPr lang="en-IN" sz="3000" dirty="0">
                <a:solidFill>
                  <a:schemeClr val="bg1"/>
                </a:solidFill>
              </a:rPr>
              <a:t>&lt;String&gt;();</a:t>
            </a:r>
          </a:p>
          <a:p>
            <a:pPr algn="just"/>
            <a:r>
              <a:rPr lang="en-IN" sz="3000" dirty="0" smtClean="0">
                <a:solidFill>
                  <a:schemeClr val="bg1"/>
                </a:solidFill>
              </a:rPr>
              <a:t>        </a:t>
            </a:r>
            <a:r>
              <a:rPr lang="en-IN" sz="3000" dirty="0">
                <a:solidFill>
                  <a:schemeClr val="bg1"/>
                </a:solidFill>
              </a:rPr>
              <a:t>for (String a : </a:t>
            </a:r>
            <a:r>
              <a:rPr lang="en-IN" sz="3000" dirty="0" err="1">
                <a:solidFill>
                  <a:schemeClr val="bg1"/>
                </a:solidFill>
              </a:rPr>
              <a:t>args</a:t>
            </a:r>
            <a:r>
              <a:rPr lang="en-IN" sz="3000" dirty="0">
                <a:solidFill>
                  <a:schemeClr val="bg1"/>
                </a:solidFill>
              </a:rPr>
              <a:t>)</a:t>
            </a:r>
          </a:p>
          <a:p>
            <a:pPr algn="just"/>
            <a:r>
              <a:rPr lang="en-IN" sz="3000" dirty="0">
                <a:solidFill>
                  <a:schemeClr val="bg1"/>
                </a:solidFill>
              </a:rPr>
              <a:t>            if (!</a:t>
            </a:r>
            <a:r>
              <a:rPr lang="en-IN" sz="3000" dirty="0" err="1">
                <a:solidFill>
                  <a:schemeClr val="bg1"/>
                </a:solidFill>
              </a:rPr>
              <a:t>uniques.add</a:t>
            </a:r>
            <a:r>
              <a:rPr lang="en-IN" sz="3000" dirty="0">
                <a:solidFill>
                  <a:schemeClr val="bg1"/>
                </a:solidFill>
              </a:rPr>
              <a:t>(a))</a:t>
            </a:r>
          </a:p>
          <a:p>
            <a:pPr algn="just"/>
            <a:r>
              <a:rPr lang="en-IN" sz="3000" dirty="0">
                <a:solidFill>
                  <a:schemeClr val="bg1"/>
                </a:solidFill>
              </a:rPr>
              <a:t>                </a:t>
            </a:r>
            <a:r>
              <a:rPr lang="en-IN" sz="3000" dirty="0" err="1">
                <a:solidFill>
                  <a:schemeClr val="bg1"/>
                </a:solidFill>
              </a:rPr>
              <a:t>dups.add</a:t>
            </a:r>
            <a:r>
              <a:rPr lang="en-IN" sz="3000" dirty="0">
                <a:solidFill>
                  <a:schemeClr val="bg1"/>
                </a:solidFill>
              </a:rPr>
              <a:t>(a);</a:t>
            </a:r>
          </a:p>
          <a:p>
            <a:pPr algn="just"/>
            <a:r>
              <a:rPr lang="en-IN" sz="3000" dirty="0" smtClean="0">
                <a:solidFill>
                  <a:schemeClr val="bg1"/>
                </a:solidFill>
              </a:rPr>
              <a:t>	</a:t>
            </a:r>
          </a:p>
          <a:p>
            <a:pPr algn="just"/>
            <a:r>
              <a:rPr lang="en-IN" sz="3000" dirty="0">
                <a:solidFill>
                  <a:schemeClr val="bg1"/>
                </a:solidFill>
              </a:rPr>
              <a:t>	</a:t>
            </a:r>
            <a:r>
              <a:rPr lang="en-IN" sz="3000" dirty="0" err="1" smtClean="0">
                <a:solidFill>
                  <a:schemeClr val="bg1"/>
                </a:solidFill>
              </a:rPr>
              <a:t>uniques.removeAll</a:t>
            </a:r>
            <a:r>
              <a:rPr lang="en-IN" sz="3000" dirty="0" smtClean="0">
                <a:solidFill>
                  <a:schemeClr val="bg1"/>
                </a:solidFill>
              </a:rPr>
              <a:t>(dups</a:t>
            </a:r>
            <a:r>
              <a:rPr lang="en-IN" sz="3000" dirty="0">
                <a:solidFill>
                  <a:schemeClr val="bg1"/>
                </a:solidFill>
              </a:rPr>
              <a:t>);</a:t>
            </a:r>
          </a:p>
          <a:p>
            <a:pPr algn="just"/>
            <a:r>
              <a:rPr lang="en-IN" sz="3000" dirty="0" smtClean="0">
                <a:solidFill>
                  <a:schemeClr val="bg1"/>
                </a:solidFill>
              </a:rPr>
              <a:t>        </a:t>
            </a:r>
            <a:r>
              <a:rPr lang="en-IN" sz="3000" dirty="0" err="1" smtClean="0">
                <a:solidFill>
                  <a:schemeClr val="bg1"/>
                </a:solidFill>
              </a:rPr>
              <a:t>System.out.println</a:t>
            </a:r>
            <a:r>
              <a:rPr lang="en-IN" sz="3000" dirty="0">
                <a:solidFill>
                  <a:schemeClr val="bg1"/>
                </a:solidFill>
              </a:rPr>
              <a:t>("Unique words:    " + </a:t>
            </a:r>
            <a:r>
              <a:rPr lang="en-IN" sz="3000" dirty="0" err="1">
                <a:solidFill>
                  <a:schemeClr val="bg1"/>
                </a:solidFill>
              </a:rPr>
              <a:t>uniques</a:t>
            </a:r>
            <a:r>
              <a:rPr lang="en-IN" sz="3000" dirty="0">
                <a:solidFill>
                  <a:schemeClr val="bg1"/>
                </a:solidFill>
              </a:rPr>
              <a:t>);</a:t>
            </a:r>
          </a:p>
          <a:p>
            <a:pPr algn="just"/>
            <a:r>
              <a:rPr lang="en-IN" sz="3000" dirty="0">
                <a:solidFill>
                  <a:schemeClr val="bg1"/>
                </a:solidFill>
              </a:rPr>
              <a:t>        </a:t>
            </a:r>
            <a:r>
              <a:rPr lang="en-IN" sz="3000" dirty="0" err="1">
                <a:solidFill>
                  <a:schemeClr val="bg1"/>
                </a:solidFill>
              </a:rPr>
              <a:t>System.out.println</a:t>
            </a:r>
            <a:r>
              <a:rPr lang="en-IN" sz="3000" dirty="0">
                <a:solidFill>
                  <a:schemeClr val="bg1"/>
                </a:solidFill>
              </a:rPr>
              <a:t>("Duplicate words: " + dups);</a:t>
            </a:r>
          </a:p>
          <a:p>
            <a:pPr algn="just"/>
            <a:r>
              <a:rPr lang="en-IN" sz="3000" dirty="0">
                <a:solidFill>
                  <a:schemeClr val="bg1"/>
                </a:solidFill>
              </a:rPr>
              <a:t>    </a:t>
            </a:r>
            <a:r>
              <a:rPr lang="en-IN" sz="3000" dirty="0" smtClean="0">
                <a:solidFill>
                  <a:schemeClr val="bg1"/>
                </a:solidFill>
              </a:rPr>
              <a:t>}}</a:t>
            </a:r>
            <a:endParaRPr lang="en-IN" sz="3000" dirty="0">
              <a:solidFill>
                <a:schemeClr val="bg1"/>
              </a:solidFill>
            </a:endParaRPr>
          </a:p>
        </p:txBody>
      </p:sp>
      <p:sp>
        <p:nvSpPr>
          <p:cNvPr id="6" name="Rectangle 5"/>
          <p:cNvSpPr/>
          <p:nvPr/>
        </p:nvSpPr>
        <p:spPr>
          <a:xfrm>
            <a:off x="7016969" y="2836262"/>
            <a:ext cx="5011757" cy="2246769"/>
          </a:xfrm>
          <a:prstGeom prst="rect">
            <a:avLst/>
          </a:prstGeom>
        </p:spPr>
        <p:txBody>
          <a:bodyPr wrap="none">
            <a:spAutoFit/>
          </a:bodyPr>
          <a:lstStyle/>
          <a:p>
            <a:r>
              <a:rPr lang="en-IN" sz="2800" dirty="0">
                <a:solidFill>
                  <a:srgbClr val="FFC000"/>
                </a:solidFill>
              </a:rPr>
              <a:t>java </a:t>
            </a:r>
            <a:r>
              <a:rPr lang="en-IN" sz="2800" dirty="0" err="1">
                <a:solidFill>
                  <a:srgbClr val="FFC000"/>
                </a:solidFill>
              </a:rPr>
              <a:t>FindDups</a:t>
            </a:r>
            <a:r>
              <a:rPr lang="en-IN" sz="2800" dirty="0">
                <a:solidFill>
                  <a:srgbClr val="FFC000"/>
                </a:solidFill>
              </a:rPr>
              <a:t> </a:t>
            </a:r>
            <a:r>
              <a:rPr lang="en-IN" sz="2800" dirty="0" err="1">
                <a:solidFill>
                  <a:srgbClr val="FFC000"/>
                </a:solidFill>
              </a:rPr>
              <a:t>i</a:t>
            </a:r>
            <a:r>
              <a:rPr lang="en-IN" sz="2800" dirty="0">
                <a:solidFill>
                  <a:srgbClr val="FFC000"/>
                </a:solidFill>
              </a:rPr>
              <a:t> came </a:t>
            </a:r>
            <a:r>
              <a:rPr lang="en-IN" sz="2800" dirty="0" err="1">
                <a:solidFill>
                  <a:srgbClr val="FFC000"/>
                </a:solidFill>
              </a:rPr>
              <a:t>i</a:t>
            </a:r>
            <a:r>
              <a:rPr lang="en-IN" sz="2800" dirty="0">
                <a:solidFill>
                  <a:srgbClr val="FFC000"/>
                </a:solidFill>
              </a:rPr>
              <a:t> saw </a:t>
            </a:r>
            <a:r>
              <a:rPr lang="en-IN" sz="2800" dirty="0" err="1">
                <a:solidFill>
                  <a:srgbClr val="FFC000"/>
                </a:solidFill>
              </a:rPr>
              <a:t>i</a:t>
            </a:r>
            <a:r>
              <a:rPr lang="en-IN" sz="2800" dirty="0">
                <a:solidFill>
                  <a:srgbClr val="FFC000"/>
                </a:solidFill>
              </a:rPr>
              <a:t> </a:t>
            </a:r>
            <a:r>
              <a:rPr lang="en-IN" sz="2800" dirty="0" smtClean="0">
                <a:solidFill>
                  <a:srgbClr val="FFC000"/>
                </a:solidFill>
              </a:rPr>
              <a:t>left</a:t>
            </a:r>
          </a:p>
          <a:p>
            <a:endParaRPr lang="en-IN" sz="2800" dirty="0">
              <a:solidFill>
                <a:srgbClr val="FFC000"/>
              </a:solidFill>
            </a:endParaRPr>
          </a:p>
          <a:p>
            <a:r>
              <a:rPr lang="en-IN" sz="2800" dirty="0" smtClean="0">
                <a:solidFill>
                  <a:srgbClr val="FFC000"/>
                </a:solidFill>
              </a:rPr>
              <a:t>O/P:</a:t>
            </a:r>
          </a:p>
          <a:p>
            <a:r>
              <a:rPr lang="en-IN" sz="2800" dirty="0">
                <a:solidFill>
                  <a:srgbClr val="FFC000"/>
                </a:solidFill>
              </a:rPr>
              <a:t>Unique words:    [left, saw, came]</a:t>
            </a:r>
          </a:p>
          <a:p>
            <a:r>
              <a:rPr lang="en-IN" sz="2800" dirty="0">
                <a:solidFill>
                  <a:srgbClr val="FFC000"/>
                </a:solidFill>
              </a:rPr>
              <a:t>Duplicate words: [</a:t>
            </a:r>
            <a:r>
              <a:rPr lang="en-IN" sz="2800" dirty="0" err="1">
                <a:solidFill>
                  <a:srgbClr val="FFC000"/>
                </a:solidFill>
              </a:rPr>
              <a:t>i</a:t>
            </a:r>
            <a:r>
              <a:rPr lang="en-IN" sz="2800" dirty="0">
                <a:solidFill>
                  <a:srgbClr val="FFC000"/>
                </a:solidFill>
              </a:rPr>
              <a:t>]</a:t>
            </a:r>
          </a:p>
        </p:txBody>
      </p:sp>
    </p:spTree>
    <p:extLst>
      <p:ext uri="{BB962C8B-B14F-4D97-AF65-F5344CB8AC3E}">
        <p14:creationId xmlns:p14="http://schemas.microsoft.com/office/powerpoint/2010/main" val="332792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500"/>
                                        <p:tgtEl>
                                          <p:spTgt spid="5">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11" end="11"/>
                                            </p:txEl>
                                          </p:spTgt>
                                        </p:tgtEl>
                                        <p:attrNameLst>
                                          <p:attrName>style.visibility</p:attrName>
                                        </p:attrNameLst>
                                      </p:cBhvr>
                                      <p:to>
                                        <p:strVal val="visible"/>
                                      </p:to>
                                    </p:set>
                                    <p:animEffect transition="in" filter="fade">
                                      <p:cBhvr>
                                        <p:cTn id="23" dur="500"/>
                                        <p:tgtEl>
                                          <p:spTgt spid="5">
                                            <p:txEl>
                                              <p:pRg st="11" end="1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fade">
                                      <p:cBhvr>
                                        <p:cTn id="28" dur="500"/>
                                        <p:tgtEl>
                                          <p:spTgt spid="5">
                                            <p:txEl>
                                              <p:pRg st="2" end="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Effect transition="in" filter="fade">
                                      <p:cBhvr>
                                        <p:cTn id="31" dur="500"/>
                                        <p:tgtEl>
                                          <p:spTgt spid="5">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4" end="4"/>
                                            </p:txEl>
                                          </p:spTgt>
                                        </p:tgtEl>
                                        <p:attrNameLst>
                                          <p:attrName>style.visibility</p:attrName>
                                        </p:attrNameLst>
                                      </p:cBhvr>
                                      <p:to>
                                        <p:strVal val="visible"/>
                                      </p:to>
                                    </p:set>
                                    <p:animEffect transition="in" filter="fade">
                                      <p:cBhvr>
                                        <p:cTn id="36" dur="500"/>
                                        <p:tgtEl>
                                          <p:spTgt spid="5">
                                            <p:txEl>
                                              <p:pRg st="4" end="4"/>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animEffect transition="in" filter="fade">
                                      <p:cBhvr>
                                        <p:cTn id="39" dur="500"/>
                                        <p:tgtEl>
                                          <p:spTgt spid="5">
                                            <p:txEl>
                                              <p:pRg st="5" end="5"/>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fade">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500"/>
                                        <p:tgtEl>
                                          <p:spTgt spid="5">
                                            <p:txEl>
                                              <p:pRg st="9" end="9"/>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5">
                                            <p:txEl>
                                              <p:pRg st="10" end="10"/>
                                            </p:txEl>
                                          </p:spTgt>
                                        </p:tgtEl>
                                        <p:attrNameLst>
                                          <p:attrName>style.visibility</p:attrName>
                                        </p:attrNameLst>
                                      </p:cBhvr>
                                      <p:to>
                                        <p:strVal val="visible"/>
                                      </p:to>
                                    </p:set>
                                    <p:animEffect transition="in" filter="fade">
                                      <p:cBhvr>
                                        <p:cTn id="55"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0843418" cy="984885"/>
          </a:xfrm>
          <a:prstGeom prst="rect">
            <a:avLst/>
          </a:prstGeom>
          <a:noFill/>
        </p:spPr>
        <p:txBody>
          <a:bodyPr wrap="none" rtlCol="0">
            <a:spAutoFit/>
          </a:bodyPr>
          <a:lstStyle/>
          <a:p>
            <a:r>
              <a:rPr lang="en-IN" sz="5800" dirty="0" smtClean="0">
                <a:solidFill>
                  <a:schemeClr val="bg1"/>
                </a:solidFill>
              </a:rPr>
              <a:t>The Set Interface: </a:t>
            </a:r>
            <a:r>
              <a:rPr lang="en-IN" sz="5800" dirty="0" err="1" smtClean="0">
                <a:solidFill>
                  <a:schemeClr val="bg1"/>
                </a:solidFill>
              </a:rPr>
              <a:t>HashSet</a:t>
            </a:r>
            <a:r>
              <a:rPr lang="en-IN" sz="5800" dirty="0" smtClean="0">
                <a:solidFill>
                  <a:schemeClr val="bg1"/>
                </a:solidFill>
              </a:rPr>
              <a:t> Example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36478" y="900751"/>
            <a:ext cx="10112991" cy="6093976"/>
          </a:xfrm>
          <a:prstGeom prst="rect">
            <a:avLst/>
          </a:prstGeom>
        </p:spPr>
        <p:txBody>
          <a:bodyPr wrap="square">
            <a:spAutoFit/>
          </a:bodyPr>
          <a:lstStyle/>
          <a:p>
            <a:pPr algn="just"/>
            <a:r>
              <a:rPr lang="en-IN" sz="3000" dirty="0">
                <a:solidFill>
                  <a:schemeClr val="bg1"/>
                </a:solidFill>
              </a:rPr>
              <a:t>import </a:t>
            </a:r>
            <a:r>
              <a:rPr lang="en-IN" sz="3000" dirty="0" err="1">
                <a:solidFill>
                  <a:schemeClr val="bg1"/>
                </a:solidFill>
              </a:rPr>
              <a:t>java.util</a:t>
            </a:r>
            <a:r>
              <a:rPr lang="en-IN" sz="3000" dirty="0">
                <a:solidFill>
                  <a:schemeClr val="bg1"/>
                </a:solidFill>
              </a:rPr>
              <a:t>.*; </a:t>
            </a:r>
          </a:p>
          <a:p>
            <a:pPr algn="just"/>
            <a:r>
              <a:rPr lang="en-IN" sz="3000" dirty="0">
                <a:solidFill>
                  <a:schemeClr val="bg1"/>
                </a:solidFill>
              </a:rPr>
              <a:t>  </a:t>
            </a:r>
            <a:r>
              <a:rPr lang="en-IN" sz="3000" dirty="0" smtClean="0">
                <a:solidFill>
                  <a:schemeClr val="bg1"/>
                </a:solidFill>
              </a:rPr>
              <a:t>class </a:t>
            </a:r>
            <a:r>
              <a:rPr lang="en-IN" sz="3000" dirty="0">
                <a:solidFill>
                  <a:schemeClr val="bg1"/>
                </a:solidFill>
              </a:rPr>
              <a:t>Test </a:t>
            </a:r>
            <a:r>
              <a:rPr lang="en-IN" sz="3000" dirty="0" smtClean="0">
                <a:solidFill>
                  <a:schemeClr val="bg1"/>
                </a:solidFill>
              </a:rPr>
              <a:t>{ </a:t>
            </a:r>
            <a:endParaRPr lang="en-IN" sz="3000" dirty="0">
              <a:solidFill>
                <a:schemeClr val="bg1"/>
              </a:solidFill>
            </a:endParaRPr>
          </a:p>
          <a:p>
            <a:pPr algn="just"/>
            <a:r>
              <a:rPr lang="en-IN" sz="3000" dirty="0">
                <a:solidFill>
                  <a:schemeClr val="bg1"/>
                </a:solidFill>
              </a:rPr>
              <a:t>    public static void main(String[]</a:t>
            </a:r>
            <a:r>
              <a:rPr lang="en-IN" sz="3000" dirty="0" err="1">
                <a:solidFill>
                  <a:schemeClr val="bg1"/>
                </a:solidFill>
              </a:rPr>
              <a:t>args</a:t>
            </a:r>
            <a:r>
              <a:rPr lang="en-IN" sz="3000" dirty="0">
                <a:solidFill>
                  <a:schemeClr val="bg1"/>
                </a:solidFill>
              </a:rPr>
              <a:t>) </a:t>
            </a:r>
            <a:r>
              <a:rPr lang="en-IN" sz="3000" dirty="0" smtClean="0">
                <a:solidFill>
                  <a:schemeClr val="bg1"/>
                </a:solidFill>
              </a:rPr>
              <a:t>{ </a:t>
            </a:r>
            <a:endParaRPr lang="en-IN" sz="3000" dirty="0">
              <a:solidFill>
                <a:schemeClr val="bg1"/>
              </a:solidFill>
            </a:endParaRPr>
          </a:p>
          <a:p>
            <a:pPr algn="just"/>
            <a:r>
              <a:rPr lang="en-IN" sz="3000" dirty="0">
                <a:solidFill>
                  <a:schemeClr val="bg1"/>
                </a:solidFill>
              </a:rPr>
              <a:t>        </a:t>
            </a:r>
            <a:r>
              <a:rPr lang="en-IN" sz="3000" dirty="0" err="1">
                <a:solidFill>
                  <a:schemeClr val="bg1"/>
                </a:solidFill>
              </a:rPr>
              <a:t>HashSet</a:t>
            </a:r>
            <a:r>
              <a:rPr lang="en-IN" sz="3000" dirty="0">
                <a:solidFill>
                  <a:schemeClr val="bg1"/>
                </a:solidFill>
              </a:rPr>
              <a:t>&lt;String&gt; </a:t>
            </a:r>
            <a:r>
              <a:rPr lang="en-IN" sz="3000" dirty="0" err="1" smtClean="0">
                <a:solidFill>
                  <a:schemeClr val="bg1"/>
                </a:solidFill>
              </a:rPr>
              <a:t>hset</a:t>
            </a:r>
            <a:r>
              <a:rPr lang="en-IN" sz="3000" dirty="0" smtClean="0">
                <a:solidFill>
                  <a:schemeClr val="bg1"/>
                </a:solidFill>
              </a:rPr>
              <a:t> </a:t>
            </a:r>
            <a:r>
              <a:rPr lang="en-IN" sz="3000" dirty="0">
                <a:solidFill>
                  <a:schemeClr val="bg1"/>
                </a:solidFill>
              </a:rPr>
              <a:t>= new </a:t>
            </a:r>
            <a:r>
              <a:rPr lang="en-IN" sz="3000" dirty="0" err="1">
                <a:solidFill>
                  <a:schemeClr val="bg1"/>
                </a:solidFill>
              </a:rPr>
              <a:t>HashSet</a:t>
            </a:r>
            <a:r>
              <a:rPr lang="en-IN" sz="3000" dirty="0">
                <a:solidFill>
                  <a:schemeClr val="bg1"/>
                </a:solidFill>
              </a:rPr>
              <a:t>&lt;String&gt;(); </a:t>
            </a:r>
          </a:p>
          <a:p>
            <a:pPr algn="just"/>
            <a:r>
              <a:rPr lang="en-IN" sz="3000" dirty="0" smtClean="0">
                <a:solidFill>
                  <a:schemeClr val="bg1"/>
                </a:solidFill>
              </a:rPr>
              <a:t>	</a:t>
            </a:r>
            <a:r>
              <a:rPr lang="en-IN" sz="3000" dirty="0" err="1" smtClean="0">
                <a:solidFill>
                  <a:schemeClr val="bg1"/>
                </a:solidFill>
              </a:rPr>
              <a:t>hset.</a:t>
            </a:r>
            <a:r>
              <a:rPr lang="en-IN" sz="3000" dirty="0" err="1" smtClean="0">
                <a:solidFill>
                  <a:srgbClr val="FFC000"/>
                </a:solidFill>
              </a:rPr>
              <a:t>add</a:t>
            </a:r>
            <a:r>
              <a:rPr lang="en-IN" sz="3000" dirty="0">
                <a:solidFill>
                  <a:schemeClr val="bg1"/>
                </a:solidFill>
              </a:rPr>
              <a:t>("India"); </a:t>
            </a:r>
          </a:p>
          <a:p>
            <a:pPr algn="just"/>
            <a:r>
              <a:rPr lang="en-IN" sz="3000" dirty="0">
                <a:solidFill>
                  <a:schemeClr val="bg1"/>
                </a:solidFill>
              </a:rPr>
              <a:t>       </a:t>
            </a:r>
            <a:r>
              <a:rPr lang="en-IN" sz="3000" dirty="0" smtClean="0">
                <a:solidFill>
                  <a:schemeClr val="bg1"/>
                </a:solidFill>
              </a:rPr>
              <a:t>    </a:t>
            </a:r>
            <a:r>
              <a:rPr lang="en-IN" sz="3000" dirty="0" err="1" smtClean="0">
                <a:solidFill>
                  <a:schemeClr val="bg1"/>
                </a:solidFill>
              </a:rPr>
              <a:t>hset.</a:t>
            </a:r>
            <a:r>
              <a:rPr lang="en-IN" sz="3000" dirty="0" err="1" smtClean="0">
                <a:solidFill>
                  <a:srgbClr val="FFC000"/>
                </a:solidFill>
              </a:rPr>
              <a:t>add</a:t>
            </a:r>
            <a:r>
              <a:rPr lang="en-IN" sz="3000" dirty="0">
                <a:solidFill>
                  <a:schemeClr val="bg1"/>
                </a:solidFill>
              </a:rPr>
              <a:t>("Australia"); </a:t>
            </a:r>
          </a:p>
          <a:p>
            <a:pPr algn="just"/>
            <a:r>
              <a:rPr lang="en-IN" sz="3000" dirty="0" smtClean="0">
                <a:solidFill>
                  <a:schemeClr val="bg1"/>
                </a:solidFill>
              </a:rPr>
              <a:t>           </a:t>
            </a:r>
            <a:r>
              <a:rPr lang="en-IN" sz="3000" dirty="0" err="1" smtClean="0">
                <a:solidFill>
                  <a:schemeClr val="bg1"/>
                </a:solidFill>
              </a:rPr>
              <a:t>hset.</a:t>
            </a:r>
            <a:r>
              <a:rPr lang="en-IN" sz="3000" dirty="0" err="1" smtClean="0">
                <a:solidFill>
                  <a:srgbClr val="FFC000"/>
                </a:solidFill>
              </a:rPr>
              <a:t>add</a:t>
            </a:r>
            <a:r>
              <a:rPr lang="en-IN" sz="3000" dirty="0">
                <a:solidFill>
                  <a:schemeClr val="bg1"/>
                </a:solidFill>
              </a:rPr>
              <a:t>("South Africa"); </a:t>
            </a:r>
          </a:p>
          <a:p>
            <a:pPr algn="just"/>
            <a:r>
              <a:rPr lang="en-IN" sz="3000" dirty="0" smtClean="0">
                <a:solidFill>
                  <a:schemeClr val="bg1"/>
                </a:solidFill>
              </a:rPr>
              <a:t>           </a:t>
            </a:r>
            <a:endParaRPr lang="en-IN" sz="3000" dirty="0">
              <a:solidFill>
                <a:schemeClr val="bg1"/>
              </a:solidFill>
            </a:endParaRPr>
          </a:p>
          <a:p>
            <a:pPr algn="just"/>
            <a:r>
              <a:rPr lang="en-IN" sz="3000" dirty="0" err="1" smtClean="0">
                <a:solidFill>
                  <a:schemeClr val="bg1"/>
                </a:solidFill>
              </a:rPr>
              <a:t>System.out.println</a:t>
            </a:r>
            <a:r>
              <a:rPr lang="en-IN" sz="3000" dirty="0">
                <a:solidFill>
                  <a:schemeClr val="bg1"/>
                </a:solidFill>
              </a:rPr>
              <a:t>("List contains India or not:" + </a:t>
            </a:r>
          </a:p>
          <a:p>
            <a:pPr algn="just"/>
            <a:r>
              <a:rPr lang="en-IN" sz="3000" dirty="0">
                <a:solidFill>
                  <a:schemeClr val="bg1"/>
                </a:solidFill>
              </a:rPr>
              <a:t>                           </a:t>
            </a:r>
            <a:r>
              <a:rPr lang="en-IN" sz="3000" dirty="0" err="1" smtClean="0">
                <a:solidFill>
                  <a:schemeClr val="bg1"/>
                </a:solidFill>
              </a:rPr>
              <a:t>hset.</a:t>
            </a:r>
            <a:r>
              <a:rPr lang="en-IN" sz="3000" dirty="0" err="1" smtClean="0">
                <a:solidFill>
                  <a:srgbClr val="FFC000"/>
                </a:solidFill>
              </a:rPr>
              <a:t>contains</a:t>
            </a:r>
            <a:r>
              <a:rPr lang="en-IN" sz="3000" dirty="0">
                <a:solidFill>
                  <a:schemeClr val="bg1"/>
                </a:solidFill>
              </a:rPr>
              <a:t>("India")); </a:t>
            </a:r>
          </a:p>
          <a:p>
            <a:pPr algn="just"/>
            <a:r>
              <a:rPr lang="en-IN" sz="3000" dirty="0" smtClean="0">
                <a:solidFill>
                  <a:schemeClr val="bg1"/>
                </a:solidFill>
              </a:rPr>
              <a:t>	</a:t>
            </a:r>
            <a:r>
              <a:rPr lang="en-IN" sz="3000" dirty="0" err="1" smtClean="0">
                <a:solidFill>
                  <a:schemeClr val="bg1"/>
                </a:solidFill>
              </a:rPr>
              <a:t>h.</a:t>
            </a:r>
            <a:r>
              <a:rPr lang="en-IN" sz="3000" dirty="0" err="1" smtClean="0">
                <a:solidFill>
                  <a:srgbClr val="FFC000"/>
                </a:solidFill>
              </a:rPr>
              <a:t>remove</a:t>
            </a:r>
            <a:r>
              <a:rPr lang="en-IN" sz="3000" dirty="0">
                <a:solidFill>
                  <a:schemeClr val="bg1"/>
                </a:solidFill>
              </a:rPr>
              <a:t>("Australia"); </a:t>
            </a:r>
          </a:p>
          <a:p>
            <a:pPr algn="just"/>
            <a:r>
              <a:rPr lang="en-IN" sz="3000" dirty="0" err="1" smtClean="0">
                <a:solidFill>
                  <a:schemeClr val="bg1"/>
                </a:solidFill>
              </a:rPr>
              <a:t>System.out.println</a:t>
            </a:r>
            <a:r>
              <a:rPr lang="en-IN" sz="3000" dirty="0">
                <a:solidFill>
                  <a:schemeClr val="bg1"/>
                </a:solidFill>
              </a:rPr>
              <a:t>("List after removing Australia:"+h); </a:t>
            </a:r>
            <a:r>
              <a:rPr lang="en-IN" sz="3000" dirty="0" smtClean="0">
                <a:solidFill>
                  <a:schemeClr val="bg1"/>
                </a:solidFill>
              </a:rPr>
              <a:t>  </a:t>
            </a:r>
            <a:endParaRPr lang="en-IN" sz="3000" dirty="0">
              <a:solidFill>
                <a:schemeClr val="bg1"/>
              </a:solidFill>
            </a:endParaRPr>
          </a:p>
          <a:p>
            <a:pPr algn="just"/>
            <a:r>
              <a:rPr lang="en-IN" sz="3000" dirty="0">
                <a:solidFill>
                  <a:schemeClr val="bg1"/>
                </a:solidFill>
              </a:rPr>
              <a:t>        </a:t>
            </a:r>
            <a:r>
              <a:rPr lang="en-IN" sz="3000" dirty="0" smtClean="0">
                <a:solidFill>
                  <a:schemeClr val="bg1"/>
                </a:solidFill>
              </a:rPr>
              <a:t>    </a:t>
            </a:r>
            <a:r>
              <a:rPr lang="en-IN" sz="3000" dirty="0">
                <a:solidFill>
                  <a:schemeClr val="bg1"/>
                </a:solidFill>
              </a:rPr>
              <a:t>} </a:t>
            </a:r>
            <a:r>
              <a:rPr lang="en-IN" sz="3000" dirty="0" smtClean="0">
                <a:solidFill>
                  <a:schemeClr val="bg1"/>
                </a:solidFill>
              </a:rPr>
              <a:t>} </a:t>
            </a:r>
            <a:endParaRPr lang="en-IN" sz="3000" dirty="0">
              <a:solidFill>
                <a:schemeClr val="bg1"/>
              </a:solidFill>
            </a:endParaRPr>
          </a:p>
        </p:txBody>
      </p:sp>
      <p:sp>
        <p:nvSpPr>
          <p:cNvPr id="2" name="Rectangle 1"/>
          <p:cNvSpPr/>
          <p:nvPr/>
        </p:nvSpPr>
        <p:spPr>
          <a:xfrm>
            <a:off x="7201469" y="3056788"/>
            <a:ext cx="4794913" cy="1569660"/>
          </a:xfrm>
          <a:prstGeom prst="rect">
            <a:avLst/>
          </a:prstGeom>
        </p:spPr>
        <p:txBody>
          <a:bodyPr wrap="square">
            <a:spAutoFit/>
          </a:bodyPr>
          <a:lstStyle/>
          <a:p>
            <a:r>
              <a:rPr lang="en-IN" sz="2400" dirty="0" smtClean="0">
                <a:solidFill>
                  <a:srgbClr val="FFC000"/>
                </a:solidFill>
              </a:rPr>
              <a:t>O/P: </a:t>
            </a:r>
          </a:p>
          <a:p>
            <a:r>
              <a:rPr lang="en-IN" sz="2400" dirty="0" smtClean="0">
                <a:solidFill>
                  <a:srgbClr val="FFC000"/>
                </a:solidFill>
              </a:rPr>
              <a:t>List </a:t>
            </a:r>
            <a:r>
              <a:rPr lang="en-IN" sz="2400" dirty="0">
                <a:solidFill>
                  <a:srgbClr val="FFC000"/>
                </a:solidFill>
              </a:rPr>
              <a:t>contains India or not</a:t>
            </a:r>
            <a:r>
              <a:rPr lang="en-IN" sz="2400" dirty="0" smtClean="0">
                <a:solidFill>
                  <a:srgbClr val="FFC000"/>
                </a:solidFill>
              </a:rPr>
              <a:t>: true</a:t>
            </a:r>
            <a:endParaRPr lang="en-IN" sz="2400" dirty="0">
              <a:solidFill>
                <a:srgbClr val="FFC000"/>
              </a:solidFill>
            </a:endParaRPr>
          </a:p>
          <a:p>
            <a:r>
              <a:rPr lang="en-IN" sz="2400" dirty="0">
                <a:solidFill>
                  <a:srgbClr val="FFC000"/>
                </a:solidFill>
              </a:rPr>
              <a:t>List after removing Australia</a:t>
            </a:r>
            <a:r>
              <a:rPr lang="en-IN" sz="2400" dirty="0" smtClean="0">
                <a:solidFill>
                  <a:srgbClr val="FFC000"/>
                </a:solidFill>
              </a:rPr>
              <a:t>:</a:t>
            </a:r>
          </a:p>
          <a:p>
            <a:r>
              <a:rPr lang="en-IN" sz="2400" dirty="0" smtClean="0">
                <a:solidFill>
                  <a:srgbClr val="FFC000"/>
                </a:solidFill>
              </a:rPr>
              <a:t>[</a:t>
            </a:r>
            <a:r>
              <a:rPr lang="en-IN" sz="2400" dirty="0">
                <a:solidFill>
                  <a:srgbClr val="FFC000"/>
                </a:solidFill>
              </a:rPr>
              <a:t>South Africa, India]</a:t>
            </a:r>
          </a:p>
        </p:txBody>
      </p:sp>
    </p:spTree>
    <p:extLst>
      <p:ext uri="{BB962C8B-B14F-4D97-AF65-F5344CB8AC3E}">
        <p14:creationId xmlns:p14="http://schemas.microsoft.com/office/powerpoint/2010/main" val="486356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12" end="12"/>
                                            </p:txEl>
                                          </p:spTgt>
                                        </p:tgtEl>
                                        <p:attrNameLst>
                                          <p:attrName>style.visibility</p:attrName>
                                        </p:attrNameLst>
                                      </p:cBhvr>
                                      <p:to>
                                        <p:strVal val="visible"/>
                                      </p:to>
                                    </p:set>
                                    <p:animEffect transition="in" filter="fade">
                                      <p:cBhvr>
                                        <p:cTn id="19" dur="500"/>
                                        <p:tgtEl>
                                          <p:spTgt spid="5">
                                            <p:txEl>
                                              <p:pRg st="12" end="1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fade">
                                      <p:cBhvr>
                                        <p:cTn id="30" dur="500"/>
                                        <p:tgtEl>
                                          <p:spTgt spid="5">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fade">
                                      <p:cBhvr>
                                        <p:cTn id="38" dur="500"/>
                                        <p:tgtEl>
                                          <p:spTgt spid="5">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animEffect transition="in" filter="fade">
                                      <p:cBhvr>
                                        <p:cTn id="43" dur="500"/>
                                        <p:tgtEl>
                                          <p:spTgt spid="5">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1" end="11"/>
                                            </p:txEl>
                                          </p:spTgt>
                                        </p:tgtEl>
                                        <p:attrNameLst>
                                          <p:attrName>style.visibility</p:attrName>
                                        </p:attrNameLst>
                                      </p:cBhvr>
                                      <p:to>
                                        <p:strVal val="visible"/>
                                      </p:to>
                                    </p:set>
                                    <p:animEffect transition="in" filter="fade">
                                      <p:cBhvr>
                                        <p:cTn id="46" dur="500"/>
                                        <p:tgtEl>
                                          <p:spTgt spid="5">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fade">
                                      <p:cBhvr>
                                        <p:cTn id="5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5353389" cy="984885"/>
          </a:xfrm>
          <a:prstGeom prst="rect">
            <a:avLst/>
          </a:prstGeom>
          <a:noFill/>
        </p:spPr>
        <p:txBody>
          <a:bodyPr wrap="none" rtlCol="0">
            <a:spAutoFit/>
          </a:bodyPr>
          <a:lstStyle/>
          <a:p>
            <a:r>
              <a:rPr lang="en-IN" sz="5800" dirty="0" smtClean="0">
                <a:solidFill>
                  <a:schemeClr val="bg1"/>
                </a:solidFill>
              </a:rPr>
              <a:t>The List Interface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928608"/>
            <a:ext cx="11582400" cy="5909310"/>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2800" dirty="0">
                <a:solidFill>
                  <a:schemeClr val="bg1"/>
                </a:solidFill>
              </a:rPr>
              <a:t>The </a:t>
            </a:r>
            <a:r>
              <a:rPr lang="en-IN" sz="2800" dirty="0" smtClean="0">
                <a:solidFill>
                  <a:srgbClr val="FFC000"/>
                </a:solidFill>
              </a:rPr>
              <a:t>List</a:t>
            </a:r>
            <a:r>
              <a:rPr lang="en-IN" sz="2800" dirty="0" smtClean="0">
                <a:solidFill>
                  <a:schemeClr val="bg1"/>
                </a:solidFill>
              </a:rPr>
              <a:t> </a:t>
            </a:r>
            <a:r>
              <a:rPr lang="en-IN" sz="2800" dirty="0">
                <a:solidFill>
                  <a:schemeClr val="bg1"/>
                </a:solidFill>
              </a:rPr>
              <a:t>is a child interface of Collection. It is an </a:t>
            </a:r>
            <a:r>
              <a:rPr lang="en-IN" sz="2800" dirty="0">
                <a:solidFill>
                  <a:srgbClr val="FFC000"/>
                </a:solidFill>
              </a:rPr>
              <a:t>ordered collection of objects</a:t>
            </a:r>
            <a:r>
              <a:rPr lang="en-IN" sz="2800" dirty="0">
                <a:solidFill>
                  <a:schemeClr val="bg1"/>
                </a:solidFill>
              </a:rPr>
              <a:t> in which </a:t>
            </a:r>
            <a:r>
              <a:rPr lang="en-IN" sz="2800" dirty="0">
                <a:solidFill>
                  <a:srgbClr val="FFC000"/>
                </a:solidFill>
              </a:rPr>
              <a:t>duplicate values can be stored</a:t>
            </a:r>
            <a:r>
              <a:rPr lang="en-IN" sz="2800" dirty="0">
                <a:solidFill>
                  <a:schemeClr val="bg1"/>
                </a:solidFill>
              </a:rPr>
              <a:t>. </a:t>
            </a:r>
            <a:endParaRPr lang="en-IN" sz="2800" dirty="0" smtClean="0">
              <a:solidFill>
                <a:schemeClr val="bg1"/>
              </a:solidFill>
            </a:endParaRPr>
          </a:p>
          <a:p>
            <a:pPr algn="just">
              <a:lnSpc>
                <a:spcPct val="150000"/>
              </a:lnSpc>
            </a:pPr>
            <a:r>
              <a:rPr lang="en-IN" sz="2800" dirty="0" smtClean="0">
                <a:solidFill>
                  <a:schemeClr val="bg1"/>
                </a:solidFill>
              </a:rPr>
              <a:t>In </a:t>
            </a:r>
            <a:r>
              <a:rPr lang="en-IN" sz="2800" dirty="0">
                <a:solidFill>
                  <a:schemeClr val="bg1"/>
                </a:solidFill>
              </a:rPr>
              <a:t>addition to the operations inherited from Collection, the List interface includes operations for the following:</a:t>
            </a:r>
          </a:p>
          <a:p>
            <a:pPr marL="457200" indent="-457200" algn="just">
              <a:lnSpc>
                <a:spcPct val="150000"/>
              </a:lnSpc>
              <a:buFont typeface="Arial" panose="020B0604020202020204" pitchFamily="34" charset="0"/>
              <a:buChar char="•"/>
            </a:pPr>
            <a:r>
              <a:rPr lang="en-IN" sz="2800" b="1" u="sng" dirty="0">
                <a:solidFill>
                  <a:schemeClr val="bg1"/>
                </a:solidFill>
              </a:rPr>
              <a:t>Positional access</a:t>
            </a:r>
            <a:r>
              <a:rPr lang="en-IN" sz="2800" dirty="0">
                <a:solidFill>
                  <a:schemeClr val="bg1"/>
                </a:solidFill>
              </a:rPr>
              <a:t> — manipulates elements based on their numerical position in the list. This includes methods such as </a:t>
            </a:r>
            <a:r>
              <a:rPr lang="en-IN" sz="2800" dirty="0">
                <a:solidFill>
                  <a:srgbClr val="FFC000"/>
                </a:solidFill>
              </a:rPr>
              <a:t>get</a:t>
            </a:r>
            <a:r>
              <a:rPr lang="en-IN" sz="2800" dirty="0">
                <a:solidFill>
                  <a:schemeClr val="bg1"/>
                </a:solidFill>
              </a:rPr>
              <a:t>, </a:t>
            </a:r>
            <a:r>
              <a:rPr lang="en-IN" sz="2800" dirty="0">
                <a:solidFill>
                  <a:srgbClr val="FFC000"/>
                </a:solidFill>
              </a:rPr>
              <a:t>set</a:t>
            </a:r>
            <a:r>
              <a:rPr lang="en-IN" sz="2800" dirty="0">
                <a:solidFill>
                  <a:schemeClr val="bg1"/>
                </a:solidFill>
              </a:rPr>
              <a:t>, </a:t>
            </a:r>
            <a:r>
              <a:rPr lang="en-IN" sz="2800" dirty="0">
                <a:solidFill>
                  <a:srgbClr val="FFC000"/>
                </a:solidFill>
              </a:rPr>
              <a:t>add</a:t>
            </a:r>
            <a:r>
              <a:rPr lang="en-IN" sz="2800" dirty="0">
                <a:solidFill>
                  <a:schemeClr val="bg1"/>
                </a:solidFill>
              </a:rPr>
              <a:t>, </a:t>
            </a:r>
            <a:r>
              <a:rPr lang="en-IN" sz="2800" dirty="0" err="1">
                <a:solidFill>
                  <a:srgbClr val="FFC000"/>
                </a:solidFill>
              </a:rPr>
              <a:t>addAll</a:t>
            </a:r>
            <a:r>
              <a:rPr lang="en-IN" sz="2800" dirty="0">
                <a:solidFill>
                  <a:schemeClr val="bg1"/>
                </a:solidFill>
              </a:rPr>
              <a:t>, and </a:t>
            </a:r>
            <a:r>
              <a:rPr lang="en-IN" sz="2800" dirty="0">
                <a:solidFill>
                  <a:srgbClr val="FFC000"/>
                </a:solidFill>
              </a:rPr>
              <a:t>remove</a:t>
            </a:r>
            <a:r>
              <a:rPr lang="en-IN" sz="2800" dirty="0">
                <a:solidFill>
                  <a:schemeClr val="bg1"/>
                </a:solidFill>
              </a:rPr>
              <a:t>.</a:t>
            </a:r>
          </a:p>
          <a:p>
            <a:pPr marL="457200" indent="-457200" algn="just">
              <a:lnSpc>
                <a:spcPct val="150000"/>
              </a:lnSpc>
              <a:buFont typeface="Arial" panose="020B0604020202020204" pitchFamily="34" charset="0"/>
              <a:buChar char="•"/>
            </a:pPr>
            <a:r>
              <a:rPr lang="en-IN" sz="2800" b="1" u="sng" dirty="0">
                <a:solidFill>
                  <a:schemeClr val="bg1"/>
                </a:solidFill>
              </a:rPr>
              <a:t>Search</a:t>
            </a:r>
            <a:r>
              <a:rPr lang="en-IN" sz="2800" dirty="0">
                <a:solidFill>
                  <a:schemeClr val="bg1"/>
                </a:solidFill>
              </a:rPr>
              <a:t> — searches for a specified object in the list and returns its numerical position. Search methods include </a:t>
            </a:r>
            <a:r>
              <a:rPr lang="en-IN" sz="2800" dirty="0" err="1">
                <a:solidFill>
                  <a:srgbClr val="FFC000"/>
                </a:solidFill>
              </a:rPr>
              <a:t>indexOf</a:t>
            </a:r>
            <a:r>
              <a:rPr lang="en-IN" sz="2800" dirty="0">
                <a:solidFill>
                  <a:schemeClr val="bg1"/>
                </a:solidFill>
              </a:rPr>
              <a:t> and </a:t>
            </a:r>
            <a:r>
              <a:rPr lang="en-IN" sz="2800" dirty="0" err="1">
                <a:solidFill>
                  <a:srgbClr val="FFC000"/>
                </a:solidFill>
              </a:rPr>
              <a:t>lastIndexOf</a:t>
            </a:r>
            <a:r>
              <a:rPr lang="en-IN" sz="2800" dirty="0" smtClean="0">
                <a:solidFill>
                  <a:schemeClr val="bg1"/>
                </a:solidFill>
              </a:rPr>
              <a:t>.</a:t>
            </a:r>
            <a:endParaRPr lang="en-IN" sz="2800" dirty="0">
              <a:solidFill>
                <a:schemeClr val="bg1"/>
              </a:solidFill>
            </a:endParaRPr>
          </a:p>
        </p:txBody>
      </p:sp>
    </p:spTree>
    <p:extLst>
      <p:ext uri="{BB962C8B-B14F-4D97-AF65-F5344CB8AC3E}">
        <p14:creationId xmlns:p14="http://schemas.microsoft.com/office/powerpoint/2010/main" val="71175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5353389" cy="984885"/>
          </a:xfrm>
          <a:prstGeom prst="rect">
            <a:avLst/>
          </a:prstGeom>
          <a:noFill/>
        </p:spPr>
        <p:txBody>
          <a:bodyPr wrap="none" rtlCol="0">
            <a:spAutoFit/>
          </a:bodyPr>
          <a:lstStyle/>
          <a:p>
            <a:r>
              <a:rPr lang="en-IN" sz="5800" dirty="0" smtClean="0">
                <a:solidFill>
                  <a:schemeClr val="bg1"/>
                </a:solidFill>
              </a:rPr>
              <a:t>The List Interface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928608"/>
            <a:ext cx="11582400" cy="671851"/>
          </a:xfrm>
          <a:prstGeom prst="rect">
            <a:avLst/>
          </a:prstGeom>
        </p:spPr>
        <p:txBody>
          <a:bodyPr wrap="square">
            <a:spAutoFit/>
          </a:bodyPr>
          <a:lstStyle/>
          <a:p>
            <a:pPr marL="457200" indent="-457200" algn="just">
              <a:lnSpc>
                <a:spcPct val="150000"/>
              </a:lnSpc>
              <a:buFont typeface="Arial" panose="020B0604020202020204" pitchFamily="34" charset="0"/>
              <a:buChar char="•"/>
            </a:pPr>
            <a:endParaRPr lang="en-IN" sz="2800" dirty="0">
              <a:solidFill>
                <a:schemeClr val="bg1"/>
              </a:solidFill>
            </a:endParaRPr>
          </a:p>
        </p:txBody>
      </p:sp>
      <p:sp>
        <p:nvSpPr>
          <p:cNvPr id="5" name="Rectangle 4"/>
          <p:cNvSpPr/>
          <p:nvPr/>
        </p:nvSpPr>
        <p:spPr>
          <a:xfrm>
            <a:off x="345744" y="1209092"/>
            <a:ext cx="11391330" cy="5262979"/>
          </a:xfrm>
          <a:prstGeom prst="rect">
            <a:avLst/>
          </a:prstGeom>
        </p:spPr>
        <p:txBody>
          <a:bodyPr wrap="square">
            <a:spAutoFit/>
          </a:bodyPr>
          <a:lstStyle/>
          <a:p>
            <a:pPr>
              <a:lnSpc>
                <a:spcPct val="150000"/>
              </a:lnSpc>
            </a:pPr>
            <a:r>
              <a:rPr lang="en-IN" sz="2800" b="1" u="sng" dirty="0" smtClean="0">
                <a:solidFill>
                  <a:schemeClr val="bg1"/>
                </a:solidFill>
              </a:rPr>
              <a:t>Iteration:</a:t>
            </a:r>
            <a:r>
              <a:rPr lang="en-IN" sz="2800" dirty="0" smtClean="0">
                <a:solidFill>
                  <a:schemeClr val="bg1"/>
                </a:solidFill>
              </a:rPr>
              <a:t> </a:t>
            </a:r>
            <a:r>
              <a:rPr lang="en-IN" sz="2800" dirty="0" err="1" smtClean="0">
                <a:solidFill>
                  <a:srgbClr val="FFC000"/>
                </a:solidFill>
              </a:rPr>
              <a:t>ListIterator</a:t>
            </a:r>
            <a:r>
              <a:rPr lang="en-IN" sz="2800" dirty="0" smtClean="0">
                <a:solidFill>
                  <a:schemeClr val="bg1"/>
                </a:solidFill>
              </a:rPr>
              <a:t>(extends </a:t>
            </a:r>
            <a:r>
              <a:rPr lang="en-IN" sz="2800" dirty="0">
                <a:solidFill>
                  <a:schemeClr val="bg1"/>
                </a:solidFill>
              </a:rPr>
              <a:t>Iterator) is used to iterate over List element. List iterator is bidirectional iterator</a:t>
            </a:r>
            <a:r>
              <a:rPr lang="en-IN" sz="2800" dirty="0" smtClean="0">
                <a:solidFill>
                  <a:schemeClr val="bg1"/>
                </a:solidFill>
              </a:rPr>
              <a:t>.</a:t>
            </a:r>
          </a:p>
          <a:p>
            <a:pPr fontAlgn="base">
              <a:lnSpc>
                <a:spcPct val="150000"/>
              </a:lnSpc>
            </a:pPr>
            <a:r>
              <a:rPr lang="en-IN" sz="2800" b="1" u="sng" dirty="0" smtClean="0">
                <a:solidFill>
                  <a:schemeClr val="bg1"/>
                </a:solidFill>
              </a:rPr>
              <a:t>Range-view:</a:t>
            </a:r>
            <a:r>
              <a:rPr lang="en-IN" sz="2800" b="1" dirty="0" smtClean="0">
                <a:solidFill>
                  <a:schemeClr val="bg1"/>
                </a:solidFill>
              </a:rPr>
              <a:t> </a:t>
            </a:r>
            <a:r>
              <a:rPr lang="en-IN" sz="2800" dirty="0" smtClean="0">
                <a:solidFill>
                  <a:schemeClr val="bg1"/>
                </a:solidFill>
              </a:rPr>
              <a:t>List </a:t>
            </a:r>
            <a:r>
              <a:rPr lang="en-IN" sz="2800" dirty="0">
                <a:solidFill>
                  <a:schemeClr val="bg1"/>
                </a:solidFill>
              </a:rPr>
              <a:t>Interface provides a method to get the List view of the portion of </a:t>
            </a:r>
            <a:r>
              <a:rPr lang="en-IN" sz="2800" u="sng" dirty="0">
                <a:solidFill>
                  <a:schemeClr val="bg1"/>
                </a:solidFill>
              </a:rPr>
              <a:t>given List between two indices</a:t>
            </a:r>
            <a:r>
              <a:rPr lang="en-IN" sz="2800" dirty="0">
                <a:solidFill>
                  <a:schemeClr val="bg1"/>
                </a:solidFill>
              </a:rPr>
              <a:t>. Following is the method supported by List for range view operation.</a:t>
            </a:r>
          </a:p>
          <a:p>
            <a:pPr marL="457200" indent="-457200" fontAlgn="base">
              <a:lnSpc>
                <a:spcPct val="150000"/>
              </a:lnSpc>
              <a:buFont typeface="Arial" panose="020B0604020202020204" pitchFamily="34" charset="0"/>
              <a:buChar char="•"/>
            </a:pPr>
            <a:r>
              <a:rPr lang="en-IN" sz="2800" dirty="0">
                <a:solidFill>
                  <a:srgbClr val="FFC000"/>
                </a:solidFill>
              </a:rPr>
              <a:t>List </a:t>
            </a:r>
            <a:r>
              <a:rPr lang="en-IN" sz="2800" dirty="0" err="1">
                <a:solidFill>
                  <a:srgbClr val="FFC000"/>
                </a:solidFill>
              </a:rPr>
              <a:t>subList</a:t>
            </a:r>
            <a:r>
              <a:rPr lang="en-IN" sz="2800" dirty="0">
                <a:solidFill>
                  <a:srgbClr val="FFC000"/>
                </a:solidFill>
              </a:rPr>
              <a:t>(</a:t>
            </a:r>
            <a:r>
              <a:rPr lang="en-IN" sz="2800" dirty="0" err="1">
                <a:solidFill>
                  <a:srgbClr val="FFC000"/>
                </a:solidFill>
              </a:rPr>
              <a:t>int</a:t>
            </a:r>
            <a:r>
              <a:rPr lang="en-IN" sz="2800" dirty="0">
                <a:solidFill>
                  <a:srgbClr val="FFC000"/>
                </a:solidFill>
              </a:rPr>
              <a:t> </a:t>
            </a:r>
            <a:r>
              <a:rPr lang="en-IN" sz="2800" dirty="0" err="1">
                <a:solidFill>
                  <a:srgbClr val="FFC000"/>
                </a:solidFill>
              </a:rPr>
              <a:t>fromIndex,int</a:t>
            </a:r>
            <a:r>
              <a:rPr lang="en-IN" sz="2800" dirty="0">
                <a:solidFill>
                  <a:srgbClr val="FFC000"/>
                </a:solidFill>
              </a:rPr>
              <a:t> </a:t>
            </a:r>
            <a:r>
              <a:rPr lang="en-IN" sz="2800" dirty="0" err="1">
                <a:solidFill>
                  <a:srgbClr val="FFC000"/>
                </a:solidFill>
              </a:rPr>
              <a:t>toIndex</a:t>
            </a:r>
            <a:r>
              <a:rPr lang="en-IN" sz="2800" dirty="0">
                <a:solidFill>
                  <a:srgbClr val="FFC000"/>
                </a:solidFill>
              </a:rPr>
              <a:t>)</a:t>
            </a:r>
            <a:r>
              <a:rPr lang="en-IN" sz="2800" b="1" dirty="0">
                <a:solidFill>
                  <a:schemeClr val="bg1"/>
                </a:solidFill>
              </a:rPr>
              <a:t>:</a:t>
            </a:r>
            <a:r>
              <a:rPr lang="en-IN" sz="2800" dirty="0">
                <a:solidFill>
                  <a:schemeClr val="bg1"/>
                </a:solidFill>
              </a:rPr>
              <a:t>This method returns List view of specified List between </a:t>
            </a:r>
            <a:r>
              <a:rPr lang="en-IN" sz="2800" u="sng" dirty="0" err="1">
                <a:solidFill>
                  <a:schemeClr val="bg1"/>
                </a:solidFill>
              </a:rPr>
              <a:t>fromIndex</a:t>
            </a:r>
            <a:r>
              <a:rPr lang="en-IN" sz="2800" u="sng" dirty="0">
                <a:solidFill>
                  <a:schemeClr val="bg1"/>
                </a:solidFill>
              </a:rPr>
              <a:t>(inclusive) and </a:t>
            </a:r>
            <a:r>
              <a:rPr lang="en-IN" sz="2800" u="sng" dirty="0" err="1">
                <a:solidFill>
                  <a:schemeClr val="bg1"/>
                </a:solidFill>
              </a:rPr>
              <a:t>toIndex</a:t>
            </a:r>
            <a:r>
              <a:rPr lang="en-IN" sz="2800" u="sng" dirty="0">
                <a:solidFill>
                  <a:schemeClr val="bg1"/>
                </a:solidFill>
              </a:rPr>
              <a:t>(exclusive)</a:t>
            </a:r>
            <a:r>
              <a:rPr lang="en-IN" sz="2800" dirty="0">
                <a:solidFill>
                  <a:schemeClr val="bg1"/>
                </a:solidFill>
              </a:rPr>
              <a:t>.</a:t>
            </a:r>
          </a:p>
          <a:p>
            <a:pPr>
              <a:lnSpc>
                <a:spcPct val="150000"/>
              </a:lnSpc>
            </a:pPr>
            <a:endParaRPr lang="en-IN" sz="2800" dirty="0">
              <a:solidFill>
                <a:schemeClr val="bg1"/>
              </a:solidFill>
            </a:endParaRPr>
          </a:p>
        </p:txBody>
      </p:sp>
    </p:spTree>
    <p:extLst>
      <p:ext uri="{BB962C8B-B14F-4D97-AF65-F5344CB8AC3E}">
        <p14:creationId xmlns:p14="http://schemas.microsoft.com/office/powerpoint/2010/main" val="329137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28560"/>
            <a:ext cx="5510996" cy="984885"/>
          </a:xfrm>
          <a:prstGeom prst="rect">
            <a:avLst/>
          </a:prstGeom>
          <a:noFill/>
        </p:spPr>
        <p:txBody>
          <a:bodyPr wrap="none" rtlCol="0">
            <a:spAutoFit/>
          </a:bodyPr>
          <a:lstStyle/>
          <a:p>
            <a:r>
              <a:rPr lang="en-IN" sz="5800" dirty="0">
                <a:solidFill>
                  <a:schemeClr val="bg1"/>
                </a:solidFill>
              </a:rPr>
              <a:t>Positional </a:t>
            </a:r>
            <a:r>
              <a:rPr lang="en-IN" sz="5800" dirty="0" smtClean="0">
                <a:solidFill>
                  <a:schemeClr val="bg1"/>
                </a:solidFill>
              </a:rPr>
              <a:t>Access</a:t>
            </a:r>
            <a:endParaRPr lang="en-IN" sz="5800" dirty="0">
              <a:solidFill>
                <a:schemeClr val="bg1"/>
              </a:solidFill>
            </a:endParaRPr>
          </a:p>
        </p:txBody>
      </p:sp>
      <p:cxnSp>
        <p:nvCxnSpPr>
          <p:cNvPr id="4" name="Straight Connector 3"/>
          <p:cNvCxnSpPr/>
          <p:nvPr/>
        </p:nvCxnSpPr>
        <p:spPr>
          <a:xfrm flipV="1">
            <a:off x="545909" y="66873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68491" y="819424"/>
            <a:ext cx="11368584" cy="5637121"/>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2700" b="1" dirty="0">
                <a:solidFill>
                  <a:srgbClr val="FFC000"/>
                </a:solidFill>
              </a:rPr>
              <a:t>void add(</a:t>
            </a:r>
            <a:r>
              <a:rPr lang="en-IN" sz="2700" b="1" dirty="0" err="1">
                <a:solidFill>
                  <a:srgbClr val="FFC000"/>
                </a:solidFill>
              </a:rPr>
              <a:t>int</a:t>
            </a:r>
            <a:r>
              <a:rPr lang="en-IN" sz="2700" b="1" dirty="0">
                <a:solidFill>
                  <a:srgbClr val="FFC000"/>
                </a:solidFill>
              </a:rPr>
              <a:t> </a:t>
            </a:r>
            <a:r>
              <a:rPr lang="en-IN" sz="2700" b="1" dirty="0" err="1">
                <a:solidFill>
                  <a:srgbClr val="FFC000"/>
                </a:solidFill>
              </a:rPr>
              <a:t>index,Object</a:t>
            </a:r>
            <a:r>
              <a:rPr lang="en-IN" sz="2700" b="1" dirty="0">
                <a:solidFill>
                  <a:srgbClr val="FFC000"/>
                </a:solidFill>
              </a:rPr>
              <a:t> O):</a:t>
            </a:r>
            <a:r>
              <a:rPr lang="en-IN" sz="2700" dirty="0">
                <a:solidFill>
                  <a:schemeClr val="bg1"/>
                </a:solidFill>
              </a:rPr>
              <a:t> This method adds given element at specified </a:t>
            </a:r>
            <a:r>
              <a:rPr lang="en-IN" sz="2700" dirty="0" smtClean="0">
                <a:solidFill>
                  <a:schemeClr val="bg1"/>
                </a:solidFill>
              </a:rPr>
              <a:t>index</a:t>
            </a:r>
          </a:p>
          <a:p>
            <a:pPr marL="457200" indent="-457200" algn="just">
              <a:lnSpc>
                <a:spcPct val="150000"/>
              </a:lnSpc>
              <a:buFont typeface="Arial" panose="020B0604020202020204" pitchFamily="34" charset="0"/>
              <a:buChar char="•"/>
            </a:pPr>
            <a:r>
              <a:rPr lang="en-IN" sz="2700" b="1" dirty="0" err="1" smtClean="0">
                <a:solidFill>
                  <a:srgbClr val="FFC000"/>
                </a:solidFill>
              </a:rPr>
              <a:t>boolean</a:t>
            </a:r>
            <a:r>
              <a:rPr lang="en-IN" sz="2700" b="1" dirty="0" smtClean="0">
                <a:solidFill>
                  <a:srgbClr val="FFC000"/>
                </a:solidFill>
              </a:rPr>
              <a:t> </a:t>
            </a:r>
            <a:r>
              <a:rPr lang="en-IN" sz="2700" b="1" dirty="0" err="1">
                <a:solidFill>
                  <a:srgbClr val="FFC000"/>
                </a:solidFill>
              </a:rPr>
              <a:t>addAll</a:t>
            </a:r>
            <a:r>
              <a:rPr lang="en-IN" sz="2700" b="1" dirty="0">
                <a:solidFill>
                  <a:srgbClr val="FFC000"/>
                </a:solidFill>
              </a:rPr>
              <a:t>(</a:t>
            </a:r>
            <a:r>
              <a:rPr lang="en-IN" sz="2700" b="1" dirty="0" err="1">
                <a:solidFill>
                  <a:srgbClr val="FFC000"/>
                </a:solidFill>
              </a:rPr>
              <a:t>int</a:t>
            </a:r>
            <a:r>
              <a:rPr lang="en-IN" sz="2700" b="1" dirty="0">
                <a:solidFill>
                  <a:srgbClr val="FFC000"/>
                </a:solidFill>
              </a:rPr>
              <a:t> index, Collection c):</a:t>
            </a:r>
            <a:r>
              <a:rPr lang="en-IN" sz="2700" dirty="0">
                <a:solidFill>
                  <a:schemeClr val="bg1"/>
                </a:solidFill>
              </a:rPr>
              <a:t> This method adds all elements from specified collection to list. First element gets inserted at given index. If there is already an element at that position, that element and other subsequent elements(if any) are shifted to the right by increasing their index.</a:t>
            </a:r>
          </a:p>
          <a:p>
            <a:pPr marL="457200" indent="-457200" algn="just">
              <a:lnSpc>
                <a:spcPct val="150000"/>
              </a:lnSpc>
              <a:buFont typeface="Arial" panose="020B0604020202020204" pitchFamily="34" charset="0"/>
              <a:buChar char="•"/>
            </a:pPr>
            <a:r>
              <a:rPr lang="en-IN" sz="2700" b="1" dirty="0">
                <a:solidFill>
                  <a:srgbClr val="FFC000"/>
                </a:solidFill>
              </a:rPr>
              <a:t>Object remove(</a:t>
            </a:r>
            <a:r>
              <a:rPr lang="en-IN" sz="2700" b="1" dirty="0" err="1">
                <a:solidFill>
                  <a:srgbClr val="FFC000"/>
                </a:solidFill>
              </a:rPr>
              <a:t>int</a:t>
            </a:r>
            <a:r>
              <a:rPr lang="en-IN" sz="2700" b="1" dirty="0">
                <a:solidFill>
                  <a:srgbClr val="FFC000"/>
                </a:solidFill>
              </a:rPr>
              <a:t> index):</a:t>
            </a:r>
            <a:r>
              <a:rPr lang="en-IN" sz="2700" dirty="0">
                <a:solidFill>
                  <a:schemeClr val="bg1"/>
                </a:solidFill>
              </a:rPr>
              <a:t> This method removes an element from the specified index. It shifts subsequent elements(if any) to left and decreases their indexes by 1</a:t>
            </a:r>
            <a:r>
              <a:rPr lang="en-IN" sz="2700" dirty="0" smtClean="0">
                <a:solidFill>
                  <a:schemeClr val="bg1"/>
                </a:solidFill>
              </a:rPr>
              <a:t>.</a:t>
            </a:r>
            <a:endParaRPr lang="en-IN" sz="2700" dirty="0">
              <a:solidFill>
                <a:schemeClr val="bg1"/>
              </a:solidFill>
            </a:endParaRPr>
          </a:p>
        </p:txBody>
      </p:sp>
    </p:spTree>
    <p:extLst>
      <p:ext uri="{BB962C8B-B14F-4D97-AF65-F5344CB8AC3E}">
        <p14:creationId xmlns:p14="http://schemas.microsoft.com/office/powerpoint/2010/main" val="82265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5312223" cy="984885"/>
          </a:xfrm>
          <a:prstGeom prst="rect">
            <a:avLst/>
          </a:prstGeom>
          <a:noFill/>
        </p:spPr>
        <p:txBody>
          <a:bodyPr wrap="none" rtlCol="0">
            <a:spAutoFit/>
          </a:bodyPr>
          <a:lstStyle/>
          <a:p>
            <a:r>
              <a:rPr lang="en-IN" sz="5800" dirty="0">
                <a:solidFill>
                  <a:schemeClr val="bg1"/>
                </a:solidFill>
              </a:rPr>
              <a:t>Positional </a:t>
            </a:r>
            <a:r>
              <a:rPr lang="en-IN" sz="5800" dirty="0" smtClean="0">
                <a:solidFill>
                  <a:schemeClr val="bg1"/>
                </a:solidFill>
              </a:rPr>
              <a:t>Access</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59557" y="928608"/>
            <a:ext cx="11177517" cy="3323987"/>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2800" b="1" dirty="0" smtClean="0">
                <a:solidFill>
                  <a:srgbClr val="FFC000"/>
                </a:solidFill>
              </a:rPr>
              <a:t>Object </a:t>
            </a:r>
            <a:r>
              <a:rPr lang="en-IN" sz="2800" b="1" dirty="0">
                <a:solidFill>
                  <a:srgbClr val="FFC000"/>
                </a:solidFill>
              </a:rPr>
              <a:t>get(</a:t>
            </a:r>
            <a:r>
              <a:rPr lang="en-IN" sz="2800" b="1" dirty="0" err="1">
                <a:solidFill>
                  <a:srgbClr val="FFC000"/>
                </a:solidFill>
              </a:rPr>
              <a:t>int</a:t>
            </a:r>
            <a:r>
              <a:rPr lang="en-IN" sz="2800" b="1" dirty="0">
                <a:solidFill>
                  <a:srgbClr val="FFC000"/>
                </a:solidFill>
              </a:rPr>
              <a:t> index):</a:t>
            </a:r>
            <a:r>
              <a:rPr lang="en-IN" sz="2800" dirty="0">
                <a:solidFill>
                  <a:schemeClr val="bg1"/>
                </a:solidFill>
              </a:rPr>
              <a:t> This method returns element at the specified index.</a:t>
            </a:r>
          </a:p>
          <a:p>
            <a:pPr marL="457200" indent="-457200" algn="just">
              <a:lnSpc>
                <a:spcPct val="150000"/>
              </a:lnSpc>
              <a:buFont typeface="Arial" panose="020B0604020202020204" pitchFamily="34" charset="0"/>
              <a:buChar char="•"/>
            </a:pPr>
            <a:r>
              <a:rPr lang="en-IN" sz="2800" b="1" dirty="0">
                <a:solidFill>
                  <a:srgbClr val="FFC000"/>
                </a:solidFill>
              </a:rPr>
              <a:t>Object set(</a:t>
            </a:r>
            <a:r>
              <a:rPr lang="en-IN" sz="2800" b="1" dirty="0" err="1">
                <a:solidFill>
                  <a:srgbClr val="FFC000"/>
                </a:solidFill>
              </a:rPr>
              <a:t>int</a:t>
            </a:r>
            <a:r>
              <a:rPr lang="en-IN" sz="2800" b="1" dirty="0">
                <a:solidFill>
                  <a:srgbClr val="FFC000"/>
                </a:solidFill>
              </a:rPr>
              <a:t> index, Object new):</a:t>
            </a:r>
            <a:r>
              <a:rPr lang="en-IN" sz="2800" dirty="0">
                <a:solidFill>
                  <a:schemeClr val="bg1"/>
                </a:solidFill>
              </a:rPr>
              <a:t> This method replaces element at given index with new element. This function returns the element which was just replaced by new element.</a:t>
            </a:r>
          </a:p>
        </p:txBody>
      </p:sp>
    </p:spTree>
    <p:extLst>
      <p:ext uri="{BB962C8B-B14F-4D97-AF65-F5344CB8AC3E}">
        <p14:creationId xmlns:p14="http://schemas.microsoft.com/office/powerpoint/2010/main" val="217733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376"/>
            <a:ext cx="11226150" cy="984885"/>
          </a:xfrm>
          <a:prstGeom prst="rect">
            <a:avLst/>
          </a:prstGeom>
          <a:noFill/>
        </p:spPr>
        <p:txBody>
          <a:bodyPr wrap="none" rtlCol="0">
            <a:spAutoFit/>
          </a:bodyPr>
          <a:lstStyle/>
          <a:p>
            <a:r>
              <a:rPr lang="en-IN" sz="5800" dirty="0">
                <a:solidFill>
                  <a:schemeClr val="bg1"/>
                </a:solidFill>
              </a:rPr>
              <a:t>Positional Access</a:t>
            </a:r>
            <a:r>
              <a:rPr lang="en-IN" sz="5800" dirty="0" smtClean="0">
                <a:solidFill>
                  <a:schemeClr val="bg1"/>
                </a:solidFill>
              </a:rPr>
              <a:t>: </a:t>
            </a:r>
            <a:r>
              <a:rPr lang="en-IN" sz="5800" dirty="0" err="1" smtClean="0">
                <a:solidFill>
                  <a:schemeClr val="bg1"/>
                </a:solidFill>
              </a:rPr>
              <a:t>ArrayList</a:t>
            </a:r>
            <a:r>
              <a:rPr lang="en-IN" sz="5800" dirty="0" smtClean="0">
                <a:solidFill>
                  <a:schemeClr val="bg1"/>
                </a:solidFill>
              </a:rPr>
              <a:t> Example</a:t>
            </a:r>
            <a:endParaRPr lang="en-IN" sz="5800" dirty="0">
              <a:solidFill>
                <a:schemeClr val="bg1"/>
              </a:solidFill>
            </a:endParaRPr>
          </a:p>
        </p:txBody>
      </p:sp>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928608"/>
            <a:ext cx="11582400" cy="5693866"/>
          </a:xfrm>
          <a:prstGeom prst="rect">
            <a:avLst/>
          </a:prstGeom>
        </p:spPr>
        <p:txBody>
          <a:bodyPr wrap="square">
            <a:spAutoFit/>
          </a:bodyPr>
          <a:lstStyle/>
          <a:p>
            <a:pPr algn="just"/>
            <a:r>
              <a:rPr lang="en-IN" sz="2800" dirty="0">
                <a:solidFill>
                  <a:schemeClr val="bg1"/>
                </a:solidFill>
              </a:rPr>
              <a:t>import </a:t>
            </a:r>
            <a:r>
              <a:rPr lang="en-IN" sz="2800" dirty="0" err="1">
                <a:solidFill>
                  <a:schemeClr val="bg1"/>
                </a:solidFill>
              </a:rPr>
              <a:t>java.util</a:t>
            </a:r>
            <a:r>
              <a:rPr lang="en-IN" sz="2800" dirty="0">
                <a:solidFill>
                  <a:schemeClr val="bg1"/>
                </a:solidFill>
              </a:rPr>
              <a:t>.*; </a:t>
            </a:r>
          </a:p>
          <a:p>
            <a:pPr algn="just"/>
            <a:r>
              <a:rPr lang="en-IN" sz="2800" dirty="0">
                <a:solidFill>
                  <a:schemeClr val="bg1"/>
                </a:solidFill>
              </a:rPr>
              <a:t> </a:t>
            </a:r>
            <a:r>
              <a:rPr lang="en-IN" sz="2800" dirty="0" smtClean="0">
                <a:solidFill>
                  <a:schemeClr val="bg1"/>
                </a:solidFill>
              </a:rPr>
              <a:t>public </a:t>
            </a:r>
            <a:r>
              <a:rPr lang="en-IN" sz="2800" dirty="0">
                <a:solidFill>
                  <a:schemeClr val="bg1"/>
                </a:solidFill>
              </a:rPr>
              <a:t>class </a:t>
            </a:r>
            <a:r>
              <a:rPr lang="en-IN" sz="2800" dirty="0" err="1">
                <a:solidFill>
                  <a:schemeClr val="bg1"/>
                </a:solidFill>
              </a:rPr>
              <a:t>ListDemo</a:t>
            </a:r>
            <a:r>
              <a:rPr lang="en-IN" sz="2800" dirty="0">
                <a:solidFill>
                  <a:schemeClr val="bg1"/>
                </a:solidFill>
              </a:rPr>
              <a:t> </a:t>
            </a:r>
            <a:r>
              <a:rPr lang="en-IN" sz="2800" dirty="0" smtClean="0">
                <a:solidFill>
                  <a:schemeClr val="bg1"/>
                </a:solidFill>
              </a:rPr>
              <a:t>{ </a:t>
            </a:r>
            <a:endParaRPr lang="en-IN" sz="2800" dirty="0">
              <a:solidFill>
                <a:schemeClr val="bg1"/>
              </a:solidFill>
            </a:endParaRPr>
          </a:p>
          <a:p>
            <a:pPr algn="just"/>
            <a:r>
              <a:rPr lang="en-IN" sz="2800" dirty="0">
                <a:solidFill>
                  <a:schemeClr val="bg1"/>
                </a:solidFill>
              </a:rPr>
              <a:t>    public static void main (String[] </a:t>
            </a:r>
            <a:r>
              <a:rPr lang="en-IN" sz="2800" dirty="0" err="1">
                <a:solidFill>
                  <a:schemeClr val="bg1"/>
                </a:solidFill>
              </a:rPr>
              <a:t>args</a:t>
            </a:r>
            <a:r>
              <a:rPr lang="en-IN" sz="2800" dirty="0">
                <a:solidFill>
                  <a:schemeClr val="bg1"/>
                </a:solidFill>
              </a:rPr>
              <a:t>) </a:t>
            </a:r>
            <a:r>
              <a:rPr lang="en-IN" sz="2800" dirty="0" smtClean="0">
                <a:solidFill>
                  <a:schemeClr val="bg1"/>
                </a:solidFill>
              </a:rPr>
              <a:t>{ </a:t>
            </a:r>
            <a:endParaRPr lang="en-IN" sz="2800" dirty="0">
              <a:solidFill>
                <a:schemeClr val="bg1"/>
              </a:solidFill>
            </a:endParaRPr>
          </a:p>
          <a:p>
            <a:pPr algn="just"/>
            <a:r>
              <a:rPr lang="en-IN" sz="2800" dirty="0" smtClean="0">
                <a:solidFill>
                  <a:schemeClr val="bg1"/>
                </a:solidFill>
              </a:rPr>
              <a:t>	List&lt;Integer</a:t>
            </a:r>
            <a:r>
              <a:rPr lang="en-IN" sz="2800" dirty="0">
                <a:solidFill>
                  <a:schemeClr val="bg1"/>
                </a:solidFill>
              </a:rPr>
              <a:t>&gt; l1 = new </a:t>
            </a:r>
            <a:r>
              <a:rPr lang="en-IN" sz="2800" dirty="0" err="1">
                <a:solidFill>
                  <a:srgbClr val="FFC000"/>
                </a:solidFill>
              </a:rPr>
              <a:t>ArrayList</a:t>
            </a:r>
            <a:r>
              <a:rPr lang="en-IN" sz="2800" dirty="0">
                <a:solidFill>
                  <a:schemeClr val="bg1"/>
                </a:solidFill>
              </a:rPr>
              <a:t>&lt;Integer&gt;(); </a:t>
            </a:r>
          </a:p>
          <a:p>
            <a:pPr algn="just"/>
            <a:r>
              <a:rPr lang="en-IN" sz="2800" dirty="0" smtClean="0">
                <a:solidFill>
                  <a:schemeClr val="bg1"/>
                </a:solidFill>
              </a:rPr>
              <a:t>             </a:t>
            </a:r>
            <a:r>
              <a:rPr lang="en-IN" sz="2800" dirty="0">
                <a:solidFill>
                  <a:schemeClr val="bg1"/>
                </a:solidFill>
              </a:rPr>
              <a:t>l1.</a:t>
            </a:r>
            <a:r>
              <a:rPr lang="en-IN" sz="2800" dirty="0">
                <a:solidFill>
                  <a:srgbClr val="FFC000"/>
                </a:solidFill>
              </a:rPr>
              <a:t>add</a:t>
            </a:r>
            <a:r>
              <a:rPr lang="en-IN" sz="2800" dirty="0">
                <a:solidFill>
                  <a:schemeClr val="bg1"/>
                </a:solidFill>
              </a:rPr>
              <a:t>(0, 1);  // adds 1 at 0 index </a:t>
            </a:r>
          </a:p>
          <a:p>
            <a:pPr algn="just"/>
            <a:r>
              <a:rPr lang="en-IN" sz="2800" dirty="0">
                <a:solidFill>
                  <a:schemeClr val="bg1"/>
                </a:solidFill>
              </a:rPr>
              <a:t>     </a:t>
            </a:r>
            <a:r>
              <a:rPr lang="en-IN" sz="2800" dirty="0" smtClean="0">
                <a:solidFill>
                  <a:schemeClr val="bg1"/>
                </a:solidFill>
              </a:rPr>
              <a:t>        </a:t>
            </a:r>
            <a:r>
              <a:rPr lang="en-IN" sz="2800" dirty="0">
                <a:solidFill>
                  <a:schemeClr val="bg1"/>
                </a:solidFill>
              </a:rPr>
              <a:t>l1.</a:t>
            </a:r>
            <a:r>
              <a:rPr lang="en-IN" sz="2800" dirty="0">
                <a:solidFill>
                  <a:srgbClr val="FFC000"/>
                </a:solidFill>
              </a:rPr>
              <a:t>add</a:t>
            </a:r>
            <a:r>
              <a:rPr lang="en-IN" sz="2800" dirty="0">
                <a:solidFill>
                  <a:schemeClr val="bg1"/>
                </a:solidFill>
              </a:rPr>
              <a:t>(1, 2);  // adds 2 at 1 index </a:t>
            </a:r>
          </a:p>
          <a:p>
            <a:pPr algn="just"/>
            <a:r>
              <a:rPr lang="en-IN" sz="2800" dirty="0" smtClean="0">
                <a:solidFill>
                  <a:schemeClr val="bg1"/>
                </a:solidFill>
              </a:rPr>
              <a:t>             </a:t>
            </a:r>
            <a:r>
              <a:rPr lang="en-IN" sz="2800" dirty="0" err="1">
                <a:solidFill>
                  <a:schemeClr val="bg1"/>
                </a:solidFill>
              </a:rPr>
              <a:t>System.out.println</a:t>
            </a:r>
            <a:r>
              <a:rPr lang="en-IN" sz="2800" dirty="0">
                <a:solidFill>
                  <a:schemeClr val="bg1"/>
                </a:solidFill>
              </a:rPr>
              <a:t>(l1);  // [1, 2] </a:t>
            </a:r>
          </a:p>
          <a:p>
            <a:pPr algn="just"/>
            <a:r>
              <a:rPr lang="en-IN" sz="2800" dirty="0">
                <a:solidFill>
                  <a:schemeClr val="bg1"/>
                </a:solidFill>
              </a:rPr>
              <a:t>  </a:t>
            </a:r>
          </a:p>
          <a:p>
            <a:pPr algn="just"/>
            <a:r>
              <a:rPr lang="en-IN" sz="2800" dirty="0">
                <a:solidFill>
                  <a:schemeClr val="bg1"/>
                </a:solidFill>
              </a:rPr>
              <a:t>        // Creating another list </a:t>
            </a:r>
          </a:p>
          <a:p>
            <a:pPr algn="just"/>
            <a:r>
              <a:rPr lang="en-IN" sz="2800" dirty="0">
                <a:solidFill>
                  <a:schemeClr val="bg1"/>
                </a:solidFill>
              </a:rPr>
              <a:t>        List&lt;Integer&gt; l2 = new </a:t>
            </a:r>
            <a:r>
              <a:rPr lang="en-IN" sz="2800" dirty="0" err="1">
                <a:solidFill>
                  <a:schemeClr val="bg1"/>
                </a:solidFill>
              </a:rPr>
              <a:t>ArrayList</a:t>
            </a:r>
            <a:r>
              <a:rPr lang="en-IN" sz="2800" dirty="0">
                <a:solidFill>
                  <a:schemeClr val="bg1"/>
                </a:solidFill>
              </a:rPr>
              <a:t>&lt;Integer&gt;(); </a:t>
            </a:r>
          </a:p>
          <a:p>
            <a:pPr algn="just"/>
            <a:r>
              <a:rPr lang="en-IN" sz="2800" dirty="0">
                <a:solidFill>
                  <a:schemeClr val="bg1"/>
                </a:solidFill>
              </a:rPr>
              <a:t>        l2.</a:t>
            </a:r>
            <a:r>
              <a:rPr lang="en-IN" sz="2800" dirty="0">
                <a:solidFill>
                  <a:srgbClr val="FFC000"/>
                </a:solidFill>
              </a:rPr>
              <a:t>add</a:t>
            </a:r>
            <a:r>
              <a:rPr lang="en-IN" sz="2800" dirty="0">
                <a:solidFill>
                  <a:schemeClr val="bg1"/>
                </a:solidFill>
              </a:rPr>
              <a:t>(1); </a:t>
            </a:r>
          </a:p>
          <a:p>
            <a:pPr algn="just"/>
            <a:r>
              <a:rPr lang="en-IN" sz="2800" dirty="0">
                <a:solidFill>
                  <a:schemeClr val="bg1"/>
                </a:solidFill>
              </a:rPr>
              <a:t>        l2.</a:t>
            </a:r>
            <a:r>
              <a:rPr lang="en-IN" sz="2800" dirty="0">
                <a:solidFill>
                  <a:srgbClr val="FFC000"/>
                </a:solidFill>
              </a:rPr>
              <a:t>add</a:t>
            </a:r>
            <a:r>
              <a:rPr lang="en-IN" sz="2800" dirty="0">
                <a:solidFill>
                  <a:schemeClr val="bg1"/>
                </a:solidFill>
              </a:rPr>
              <a:t>(2); </a:t>
            </a:r>
          </a:p>
          <a:p>
            <a:pPr algn="just"/>
            <a:r>
              <a:rPr lang="en-IN" sz="2800" dirty="0">
                <a:solidFill>
                  <a:schemeClr val="bg1"/>
                </a:solidFill>
              </a:rPr>
              <a:t>        l2.</a:t>
            </a:r>
            <a:r>
              <a:rPr lang="en-IN" sz="2800" dirty="0">
                <a:solidFill>
                  <a:srgbClr val="FFC000"/>
                </a:solidFill>
              </a:rPr>
              <a:t>add</a:t>
            </a:r>
            <a:r>
              <a:rPr lang="en-IN" sz="2800" dirty="0">
                <a:solidFill>
                  <a:schemeClr val="bg1"/>
                </a:solidFill>
              </a:rPr>
              <a:t>(3); </a:t>
            </a:r>
          </a:p>
        </p:txBody>
      </p:sp>
    </p:spTree>
    <p:extLst>
      <p:ext uri="{BB962C8B-B14F-4D97-AF65-F5344CB8AC3E}">
        <p14:creationId xmlns:p14="http://schemas.microsoft.com/office/powerpoint/2010/main" val="233099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500"/>
                                        <p:tgtEl>
                                          <p:spTgt spid="2">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500"/>
                                        <p:tgtEl>
                                          <p:spTgt spid="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fade">
                                      <p:cBhvr>
                                        <p:cTn id="34" dur="500"/>
                                        <p:tgtEl>
                                          <p:spTgt spid="2">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fade">
                                      <p:cBhvr>
                                        <p:cTn id="37" dur="500"/>
                                        <p:tgtEl>
                                          <p:spTgt spid="2">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
                                            <p:txEl>
                                              <p:pRg st="10" end="10"/>
                                            </p:txEl>
                                          </p:spTgt>
                                        </p:tgtEl>
                                        <p:attrNameLst>
                                          <p:attrName>style.visibility</p:attrName>
                                        </p:attrNameLst>
                                      </p:cBhvr>
                                      <p:to>
                                        <p:strVal val="visible"/>
                                      </p:to>
                                    </p:set>
                                    <p:animEffect transition="in" filter="fade">
                                      <p:cBhvr>
                                        <p:cTn id="40" dur="500"/>
                                        <p:tgtEl>
                                          <p:spTgt spid="2">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animEffect transition="in" filter="fade">
                                      <p:cBhvr>
                                        <p:cTn id="43" dur="500"/>
                                        <p:tgtEl>
                                          <p:spTgt spid="2">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2">
                                            <p:txEl>
                                              <p:pRg st="12" end="12"/>
                                            </p:txEl>
                                          </p:spTgt>
                                        </p:tgtEl>
                                        <p:attrNameLst>
                                          <p:attrName>style.visibility</p:attrName>
                                        </p:attrNameLst>
                                      </p:cBhvr>
                                      <p:to>
                                        <p:strVal val="visible"/>
                                      </p:to>
                                    </p:set>
                                    <p:animEffect transition="in" filter="fade">
                                      <p:cBhvr>
                                        <p:cTn id="46"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860368"/>
            <a:ext cx="11582400" cy="6124754"/>
          </a:xfrm>
          <a:prstGeom prst="rect">
            <a:avLst/>
          </a:prstGeom>
        </p:spPr>
        <p:txBody>
          <a:bodyPr wrap="square">
            <a:spAutoFit/>
          </a:bodyPr>
          <a:lstStyle/>
          <a:p>
            <a:pPr algn="just"/>
            <a:r>
              <a:rPr lang="en-IN" sz="2800" dirty="0">
                <a:solidFill>
                  <a:schemeClr val="bg1"/>
                </a:solidFill>
              </a:rPr>
              <a:t> </a:t>
            </a:r>
            <a:r>
              <a:rPr lang="en-IN" sz="2800" dirty="0" smtClean="0">
                <a:solidFill>
                  <a:schemeClr val="bg1"/>
                </a:solidFill>
              </a:rPr>
              <a:t>  </a:t>
            </a:r>
            <a:r>
              <a:rPr lang="en-IN" sz="2800" dirty="0">
                <a:solidFill>
                  <a:schemeClr val="bg1"/>
                </a:solidFill>
              </a:rPr>
              <a:t>// Will add list l2 from 1 index </a:t>
            </a:r>
          </a:p>
          <a:p>
            <a:pPr algn="just"/>
            <a:r>
              <a:rPr lang="en-IN" sz="2800" dirty="0">
                <a:solidFill>
                  <a:schemeClr val="bg1"/>
                </a:solidFill>
              </a:rPr>
              <a:t>        l1.</a:t>
            </a:r>
            <a:r>
              <a:rPr lang="en-IN" sz="2800" dirty="0">
                <a:solidFill>
                  <a:srgbClr val="FFC000"/>
                </a:solidFill>
              </a:rPr>
              <a:t>addAll</a:t>
            </a:r>
            <a:r>
              <a:rPr lang="en-IN" sz="2800" dirty="0">
                <a:solidFill>
                  <a:schemeClr val="bg1"/>
                </a:solidFill>
              </a:rPr>
              <a:t>(1, l2); </a:t>
            </a:r>
          </a:p>
          <a:p>
            <a:pPr algn="just"/>
            <a:r>
              <a:rPr lang="en-IN" sz="2800" dirty="0">
                <a:solidFill>
                  <a:schemeClr val="bg1"/>
                </a:solidFill>
              </a:rPr>
              <a:t>        </a:t>
            </a:r>
            <a:r>
              <a:rPr lang="en-IN" sz="2800" dirty="0" err="1">
                <a:solidFill>
                  <a:schemeClr val="bg1"/>
                </a:solidFill>
              </a:rPr>
              <a:t>System.out.println</a:t>
            </a:r>
            <a:r>
              <a:rPr lang="en-IN" sz="2800" dirty="0">
                <a:solidFill>
                  <a:schemeClr val="bg1"/>
                </a:solidFill>
              </a:rPr>
              <a:t>(l1); //[1, 1, 2, 3, 2] </a:t>
            </a:r>
          </a:p>
          <a:p>
            <a:pPr algn="just"/>
            <a:endParaRPr lang="en-IN" sz="2800" dirty="0">
              <a:solidFill>
                <a:schemeClr val="bg1"/>
              </a:solidFill>
            </a:endParaRPr>
          </a:p>
          <a:p>
            <a:pPr algn="just"/>
            <a:r>
              <a:rPr lang="en-IN" sz="2800" dirty="0">
                <a:solidFill>
                  <a:schemeClr val="bg1"/>
                </a:solidFill>
              </a:rPr>
              <a:t>        // Removes element from index 1 </a:t>
            </a:r>
          </a:p>
          <a:p>
            <a:pPr algn="just"/>
            <a:r>
              <a:rPr lang="en-IN" sz="2800" dirty="0">
                <a:solidFill>
                  <a:schemeClr val="bg1"/>
                </a:solidFill>
              </a:rPr>
              <a:t>        l1.</a:t>
            </a:r>
            <a:r>
              <a:rPr lang="en-IN" sz="2800" dirty="0">
                <a:solidFill>
                  <a:srgbClr val="FFC000"/>
                </a:solidFill>
              </a:rPr>
              <a:t>remove</a:t>
            </a:r>
            <a:r>
              <a:rPr lang="en-IN" sz="2800" dirty="0">
                <a:solidFill>
                  <a:schemeClr val="bg1"/>
                </a:solidFill>
              </a:rPr>
              <a:t>(1);      </a:t>
            </a:r>
          </a:p>
          <a:p>
            <a:pPr algn="just"/>
            <a:r>
              <a:rPr lang="en-IN" sz="2800" dirty="0">
                <a:solidFill>
                  <a:schemeClr val="bg1"/>
                </a:solidFill>
              </a:rPr>
              <a:t>        </a:t>
            </a:r>
            <a:r>
              <a:rPr lang="en-IN" sz="2800" dirty="0" err="1">
                <a:solidFill>
                  <a:schemeClr val="bg1"/>
                </a:solidFill>
              </a:rPr>
              <a:t>System.out.println</a:t>
            </a:r>
            <a:r>
              <a:rPr lang="en-IN" sz="2800" dirty="0">
                <a:solidFill>
                  <a:schemeClr val="bg1"/>
                </a:solidFill>
              </a:rPr>
              <a:t>(l1); // [1, 2, 3, 2] </a:t>
            </a:r>
          </a:p>
          <a:p>
            <a:pPr algn="just"/>
            <a:endParaRPr lang="en-IN" sz="2800" dirty="0" smtClean="0">
              <a:solidFill>
                <a:schemeClr val="bg1"/>
              </a:solidFill>
            </a:endParaRPr>
          </a:p>
          <a:p>
            <a:pPr algn="just"/>
            <a:r>
              <a:rPr lang="en-IN" sz="2800" dirty="0" smtClean="0">
                <a:solidFill>
                  <a:schemeClr val="bg1"/>
                </a:solidFill>
              </a:rPr>
              <a:t>        </a:t>
            </a:r>
            <a:r>
              <a:rPr lang="en-IN" sz="2800" dirty="0">
                <a:solidFill>
                  <a:schemeClr val="bg1"/>
                </a:solidFill>
              </a:rPr>
              <a:t>// Prints element at index 3 </a:t>
            </a:r>
          </a:p>
          <a:p>
            <a:pPr algn="just"/>
            <a:r>
              <a:rPr lang="en-IN" sz="2800" dirty="0">
                <a:solidFill>
                  <a:schemeClr val="bg1"/>
                </a:solidFill>
              </a:rPr>
              <a:t>        </a:t>
            </a:r>
            <a:r>
              <a:rPr lang="en-IN" sz="2800" dirty="0" err="1">
                <a:solidFill>
                  <a:schemeClr val="bg1"/>
                </a:solidFill>
              </a:rPr>
              <a:t>System.out.println</a:t>
            </a:r>
            <a:r>
              <a:rPr lang="en-IN" sz="2800" dirty="0">
                <a:solidFill>
                  <a:schemeClr val="bg1"/>
                </a:solidFill>
              </a:rPr>
              <a:t>(l1.</a:t>
            </a:r>
            <a:r>
              <a:rPr lang="en-IN" sz="2800" dirty="0">
                <a:solidFill>
                  <a:srgbClr val="FFC000"/>
                </a:solidFill>
              </a:rPr>
              <a:t>get</a:t>
            </a:r>
            <a:r>
              <a:rPr lang="en-IN" sz="2800" dirty="0">
                <a:solidFill>
                  <a:schemeClr val="bg1"/>
                </a:solidFill>
              </a:rPr>
              <a:t>(3)); </a:t>
            </a:r>
            <a:r>
              <a:rPr lang="en-IN" sz="2800" dirty="0" smtClean="0">
                <a:solidFill>
                  <a:schemeClr val="bg1"/>
                </a:solidFill>
              </a:rPr>
              <a:t>//2</a:t>
            </a:r>
            <a:endParaRPr lang="en-IN" sz="2800" dirty="0">
              <a:solidFill>
                <a:schemeClr val="bg1"/>
              </a:solidFill>
            </a:endParaRPr>
          </a:p>
          <a:p>
            <a:pPr algn="just"/>
            <a:endParaRPr lang="en-IN" sz="2800" dirty="0" smtClean="0">
              <a:solidFill>
                <a:schemeClr val="bg1"/>
              </a:solidFill>
            </a:endParaRPr>
          </a:p>
          <a:p>
            <a:pPr algn="just"/>
            <a:r>
              <a:rPr lang="en-IN" sz="2800" dirty="0" smtClean="0">
                <a:solidFill>
                  <a:schemeClr val="bg1"/>
                </a:solidFill>
              </a:rPr>
              <a:t>        </a:t>
            </a:r>
            <a:r>
              <a:rPr lang="en-IN" sz="2800" dirty="0">
                <a:solidFill>
                  <a:schemeClr val="bg1"/>
                </a:solidFill>
              </a:rPr>
              <a:t>// Replace 0th element with 5 </a:t>
            </a:r>
          </a:p>
          <a:p>
            <a:pPr algn="just"/>
            <a:r>
              <a:rPr lang="en-IN" sz="2800" dirty="0">
                <a:solidFill>
                  <a:schemeClr val="bg1"/>
                </a:solidFill>
              </a:rPr>
              <a:t>        l1.</a:t>
            </a:r>
            <a:r>
              <a:rPr lang="en-IN" sz="2800" dirty="0">
                <a:solidFill>
                  <a:srgbClr val="FFC000"/>
                </a:solidFill>
              </a:rPr>
              <a:t>set</a:t>
            </a:r>
            <a:r>
              <a:rPr lang="en-IN" sz="2800" dirty="0">
                <a:solidFill>
                  <a:schemeClr val="bg1"/>
                </a:solidFill>
              </a:rPr>
              <a:t>(0, 5);    </a:t>
            </a:r>
          </a:p>
          <a:p>
            <a:pPr algn="just"/>
            <a:r>
              <a:rPr lang="en-IN" sz="2800" dirty="0">
                <a:solidFill>
                  <a:schemeClr val="bg1"/>
                </a:solidFill>
              </a:rPr>
              <a:t>        </a:t>
            </a:r>
            <a:r>
              <a:rPr lang="en-IN" sz="2800" dirty="0" err="1">
                <a:solidFill>
                  <a:schemeClr val="bg1"/>
                </a:solidFill>
              </a:rPr>
              <a:t>System.out.println</a:t>
            </a:r>
            <a:r>
              <a:rPr lang="en-IN" sz="2800" dirty="0">
                <a:solidFill>
                  <a:schemeClr val="bg1"/>
                </a:solidFill>
              </a:rPr>
              <a:t>(l1); </a:t>
            </a:r>
            <a:r>
              <a:rPr lang="en-IN" sz="2800" dirty="0" smtClean="0">
                <a:solidFill>
                  <a:schemeClr val="bg1"/>
                </a:solidFill>
              </a:rPr>
              <a:t>//[</a:t>
            </a:r>
            <a:r>
              <a:rPr lang="en-IN" sz="2800" dirty="0">
                <a:solidFill>
                  <a:schemeClr val="bg1"/>
                </a:solidFill>
              </a:rPr>
              <a:t>5, 2, 3, 2] </a:t>
            </a:r>
            <a:r>
              <a:rPr lang="en-IN" sz="2800" dirty="0" smtClean="0">
                <a:solidFill>
                  <a:schemeClr val="bg1"/>
                </a:solidFill>
              </a:rPr>
              <a:t>} } </a:t>
            </a:r>
            <a:endParaRPr lang="en-IN" sz="2800" dirty="0">
              <a:solidFill>
                <a:schemeClr val="bg1"/>
              </a:solidFill>
            </a:endParaRPr>
          </a:p>
        </p:txBody>
      </p:sp>
      <p:sp>
        <p:nvSpPr>
          <p:cNvPr id="5" name="TextBox 4"/>
          <p:cNvSpPr txBox="1"/>
          <p:nvPr/>
        </p:nvSpPr>
        <p:spPr>
          <a:xfrm>
            <a:off x="0" y="-19376"/>
            <a:ext cx="11226150" cy="984885"/>
          </a:xfrm>
          <a:prstGeom prst="rect">
            <a:avLst/>
          </a:prstGeom>
          <a:noFill/>
        </p:spPr>
        <p:txBody>
          <a:bodyPr wrap="none" rtlCol="0">
            <a:spAutoFit/>
          </a:bodyPr>
          <a:lstStyle/>
          <a:p>
            <a:r>
              <a:rPr lang="en-IN" sz="5800" dirty="0">
                <a:solidFill>
                  <a:schemeClr val="bg1"/>
                </a:solidFill>
              </a:rPr>
              <a:t>Positional Access</a:t>
            </a:r>
            <a:r>
              <a:rPr lang="en-IN" sz="5800" dirty="0" smtClean="0">
                <a:solidFill>
                  <a:schemeClr val="bg1"/>
                </a:solidFill>
              </a:rPr>
              <a:t>: </a:t>
            </a:r>
            <a:r>
              <a:rPr lang="en-IN" sz="5800" dirty="0" err="1" smtClean="0">
                <a:solidFill>
                  <a:schemeClr val="bg1"/>
                </a:solidFill>
              </a:rPr>
              <a:t>ArrayList</a:t>
            </a:r>
            <a:r>
              <a:rPr lang="en-IN" sz="5800" dirty="0" smtClean="0">
                <a:solidFill>
                  <a:schemeClr val="bg1"/>
                </a:solidFill>
              </a:rPr>
              <a:t> Example</a:t>
            </a:r>
            <a:endParaRPr lang="en-IN" sz="5800" dirty="0">
              <a:solidFill>
                <a:schemeClr val="bg1"/>
              </a:solidFill>
            </a:endParaRPr>
          </a:p>
        </p:txBody>
      </p:sp>
    </p:spTree>
    <p:extLst>
      <p:ext uri="{BB962C8B-B14F-4D97-AF65-F5344CB8AC3E}">
        <p14:creationId xmlns:p14="http://schemas.microsoft.com/office/powerpoint/2010/main" val="336635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fade">
                                      <p:cBhvr>
                                        <p:cTn id="20" dur="500"/>
                                        <p:tgtEl>
                                          <p:spTgt spid="2">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fade">
                                      <p:cBhvr>
                                        <p:cTn id="23" dur="500"/>
                                        <p:tgtEl>
                                          <p:spTgt spid="2">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500"/>
                                        <p:tgtEl>
                                          <p:spTgt spid="2">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500"/>
                                        <p:tgtEl>
                                          <p:spTgt spid="2">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fade">
                                      <p:cBhvr>
                                        <p:cTn id="36" dur="500"/>
                                        <p:tgtEl>
                                          <p:spTgt spid="2">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
                                            <p:txEl>
                                              <p:pRg st="11" end="11"/>
                                            </p:txEl>
                                          </p:spTgt>
                                        </p:tgtEl>
                                        <p:attrNameLst>
                                          <p:attrName>style.visibility</p:attrName>
                                        </p:attrNameLst>
                                      </p:cBhvr>
                                      <p:to>
                                        <p:strVal val="visible"/>
                                      </p:to>
                                    </p:set>
                                    <p:animEffect transition="in" filter="fade">
                                      <p:cBhvr>
                                        <p:cTn id="41" dur="500"/>
                                        <p:tgtEl>
                                          <p:spTgt spid="2">
                                            <p:txEl>
                                              <p:pRg st="11" end="11"/>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2">
                                            <p:txEl>
                                              <p:pRg st="12" end="12"/>
                                            </p:txEl>
                                          </p:spTgt>
                                        </p:tgtEl>
                                        <p:attrNameLst>
                                          <p:attrName>style.visibility</p:attrName>
                                        </p:attrNameLst>
                                      </p:cBhvr>
                                      <p:to>
                                        <p:strVal val="visible"/>
                                      </p:to>
                                    </p:set>
                                    <p:animEffect transition="in" filter="fade">
                                      <p:cBhvr>
                                        <p:cTn id="44" dur="500"/>
                                        <p:tgtEl>
                                          <p:spTgt spid="2">
                                            <p:txEl>
                                              <p:pRg st="12" end="12"/>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2">
                                            <p:txEl>
                                              <p:pRg st="13" end="13"/>
                                            </p:txEl>
                                          </p:spTgt>
                                        </p:tgtEl>
                                        <p:attrNameLst>
                                          <p:attrName>style.visibility</p:attrName>
                                        </p:attrNameLst>
                                      </p:cBhvr>
                                      <p:to>
                                        <p:strVal val="visible"/>
                                      </p:to>
                                    </p:set>
                                    <p:animEffect transition="in" filter="fade">
                                      <p:cBhvr>
                                        <p:cTn id="47"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969552"/>
            <a:ext cx="11582400" cy="3323987"/>
          </a:xfrm>
          <a:prstGeom prst="rect">
            <a:avLst/>
          </a:prstGeom>
        </p:spPr>
        <p:txBody>
          <a:bodyPr wrap="square">
            <a:spAutoFit/>
          </a:bodyPr>
          <a:lstStyle/>
          <a:p>
            <a:pPr algn="just">
              <a:lnSpc>
                <a:spcPct val="150000"/>
              </a:lnSpc>
            </a:pPr>
            <a:r>
              <a:rPr lang="en-IN" sz="2800" dirty="0" smtClean="0">
                <a:solidFill>
                  <a:schemeClr val="bg1"/>
                </a:solidFill>
              </a:rPr>
              <a:t>List </a:t>
            </a:r>
            <a:r>
              <a:rPr lang="en-IN" sz="2800" dirty="0">
                <a:solidFill>
                  <a:schemeClr val="bg1"/>
                </a:solidFill>
              </a:rPr>
              <a:t>provides methods to search element and </a:t>
            </a:r>
            <a:r>
              <a:rPr lang="en-IN" sz="2800" u="sng" dirty="0">
                <a:solidFill>
                  <a:schemeClr val="bg1"/>
                </a:solidFill>
              </a:rPr>
              <a:t>returns its numeric position</a:t>
            </a:r>
            <a:r>
              <a:rPr lang="en-IN" sz="2800" dirty="0">
                <a:solidFill>
                  <a:schemeClr val="bg1"/>
                </a:solidFill>
              </a:rPr>
              <a:t>.</a:t>
            </a:r>
          </a:p>
          <a:p>
            <a:pPr marL="457200" indent="-457200" algn="just">
              <a:lnSpc>
                <a:spcPct val="150000"/>
              </a:lnSpc>
              <a:buFont typeface="Arial" panose="020B0604020202020204" pitchFamily="34" charset="0"/>
              <a:buChar char="•"/>
            </a:pPr>
            <a:r>
              <a:rPr lang="en-IN" sz="2800" b="1" dirty="0" err="1">
                <a:solidFill>
                  <a:srgbClr val="FFC000"/>
                </a:solidFill>
              </a:rPr>
              <a:t>int</a:t>
            </a:r>
            <a:r>
              <a:rPr lang="en-IN" sz="2800" b="1" dirty="0">
                <a:solidFill>
                  <a:srgbClr val="FFC000"/>
                </a:solidFill>
              </a:rPr>
              <a:t> </a:t>
            </a:r>
            <a:r>
              <a:rPr lang="en-IN" sz="2800" b="1" dirty="0" err="1">
                <a:solidFill>
                  <a:srgbClr val="FFC000"/>
                </a:solidFill>
              </a:rPr>
              <a:t>indexOf</a:t>
            </a:r>
            <a:r>
              <a:rPr lang="en-IN" sz="2800" b="1" dirty="0">
                <a:solidFill>
                  <a:srgbClr val="FFC000"/>
                </a:solidFill>
              </a:rPr>
              <a:t>(Object o):</a:t>
            </a:r>
            <a:r>
              <a:rPr lang="en-IN" sz="2800" dirty="0">
                <a:solidFill>
                  <a:schemeClr val="bg1"/>
                </a:solidFill>
              </a:rPr>
              <a:t> This method returns first occurrence of given element or -1 if element is not present in list.</a:t>
            </a:r>
          </a:p>
          <a:p>
            <a:pPr marL="457200" indent="-457200" algn="just">
              <a:lnSpc>
                <a:spcPct val="150000"/>
              </a:lnSpc>
              <a:buFont typeface="Arial" panose="020B0604020202020204" pitchFamily="34" charset="0"/>
              <a:buChar char="•"/>
            </a:pPr>
            <a:r>
              <a:rPr lang="en-IN" sz="2800" b="1" dirty="0" err="1">
                <a:solidFill>
                  <a:srgbClr val="FFC000"/>
                </a:solidFill>
              </a:rPr>
              <a:t>int</a:t>
            </a:r>
            <a:r>
              <a:rPr lang="en-IN" sz="2800" b="1" dirty="0">
                <a:solidFill>
                  <a:srgbClr val="FFC000"/>
                </a:solidFill>
              </a:rPr>
              <a:t> </a:t>
            </a:r>
            <a:r>
              <a:rPr lang="en-IN" sz="2800" b="1" dirty="0" err="1">
                <a:solidFill>
                  <a:srgbClr val="FFC000"/>
                </a:solidFill>
              </a:rPr>
              <a:t>lastIndexOf</a:t>
            </a:r>
            <a:r>
              <a:rPr lang="en-IN" sz="2800" b="1" dirty="0">
                <a:solidFill>
                  <a:srgbClr val="FFC000"/>
                </a:solidFill>
              </a:rPr>
              <a:t>(Object o):</a:t>
            </a:r>
            <a:r>
              <a:rPr lang="en-IN" sz="2800" dirty="0">
                <a:solidFill>
                  <a:schemeClr val="bg1"/>
                </a:solidFill>
              </a:rPr>
              <a:t> This method returns the last occurrence of given element or -1 if element is not present in list.</a:t>
            </a:r>
          </a:p>
        </p:txBody>
      </p:sp>
      <p:sp>
        <p:nvSpPr>
          <p:cNvPr id="5" name="TextBox 4"/>
          <p:cNvSpPr txBox="1"/>
          <p:nvPr/>
        </p:nvSpPr>
        <p:spPr>
          <a:xfrm>
            <a:off x="0" y="-19376"/>
            <a:ext cx="2206373" cy="984885"/>
          </a:xfrm>
          <a:prstGeom prst="rect">
            <a:avLst/>
          </a:prstGeom>
          <a:noFill/>
        </p:spPr>
        <p:txBody>
          <a:bodyPr wrap="none" rtlCol="0">
            <a:spAutoFit/>
          </a:bodyPr>
          <a:lstStyle/>
          <a:p>
            <a:r>
              <a:rPr lang="en-IN" sz="5800" dirty="0" smtClean="0">
                <a:solidFill>
                  <a:schemeClr val="bg1"/>
                </a:solidFill>
              </a:rPr>
              <a:t>Search</a:t>
            </a:r>
            <a:endParaRPr lang="en-IN" sz="5800" dirty="0">
              <a:solidFill>
                <a:schemeClr val="bg1"/>
              </a:solidFill>
            </a:endParaRPr>
          </a:p>
        </p:txBody>
      </p:sp>
    </p:spTree>
    <p:extLst>
      <p:ext uri="{BB962C8B-B14F-4D97-AF65-F5344CB8AC3E}">
        <p14:creationId xmlns:p14="http://schemas.microsoft.com/office/powerpoint/2010/main" val="419011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969552"/>
            <a:ext cx="11582400" cy="6555641"/>
          </a:xfrm>
          <a:prstGeom prst="rect">
            <a:avLst/>
          </a:prstGeom>
        </p:spPr>
        <p:txBody>
          <a:bodyPr wrap="square">
            <a:spAutoFit/>
          </a:bodyPr>
          <a:lstStyle/>
          <a:p>
            <a:pPr algn="just"/>
            <a:r>
              <a:rPr lang="en-IN" sz="2800" dirty="0">
                <a:solidFill>
                  <a:schemeClr val="bg1"/>
                </a:solidFill>
              </a:rPr>
              <a:t>import </a:t>
            </a:r>
            <a:r>
              <a:rPr lang="en-IN" sz="2800" dirty="0" err="1">
                <a:solidFill>
                  <a:schemeClr val="bg1"/>
                </a:solidFill>
              </a:rPr>
              <a:t>java.util</a:t>
            </a:r>
            <a:r>
              <a:rPr lang="en-IN" sz="2800" dirty="0">
                <a:solidFill>
                  <a:schemeClr val="bg1"/>
                </a:solidFill>
              </a:rPr>
              <a:t>.*; </a:t>
            </a:r>
          </a:p>
          <a:p>
            <a:pPr algn="just"/>
            <a:r>
              <a:rPr lang="en-IN" sz="2800" dirty="0">
                <a:solidFill>
                  <a:schemeClr val="bg1"/>
                </a:solidFill>
              </a:rPr>
              <a:t>  </a:t>
            </a:r>
            <a:r>
              <a:rPr lang="en-IN" sz="2800" dirty="0" smtClean="0">
                <a:solidFill>
                  <a:schemeClr val="bg1"/>
                </a:solidFill>
              </a:rPr>
              <a:t>public </a:t>
            </a:r>
            <a:r>
              <a:rPr lang="en-IN" sz="2800" dirty="0">
                <a:solidFill>
                  <a:schemeClr val="bg1"/>
                </a:solidFill>
              </a:rPr>
              <a:t>class </a:t>
            </a:r>
            <a:r>
              <a:rPr lang="en-IN" sz="2800" dirty="0" err="1">
                <a:solidFill>
                  <a:schemeClr val="bg1"/>
                </a:solidFill>
              </a:rPr>
              <a:t>ListDemo</a:t>
            </a:r>
            <a:r>
              <a:rPr lang="en-IN" sz="2800" dirty="0">
                <a:solidFill>
                  <a:schemeClr val="bg1"/>
                </a:solidFill>
              </a:rPr>
              <a:t> </a:t>
            </a:r>
            <a:r>
              <a:rPr lang="en-IN" sz="2800" dirty="0" smtClean="0">
                <a:solidFill>
                  <a:schemeClr val="bg1"/>
                </a:solidFill>
              </a:rPr>
              <a:t>{ </a:t>
            </a:r>
            <a:endParaRPr lang="en-IN" sz="2800" dirty="0">
              <a:solidFill>
                <a:schemeClr val="bg1"/>
              </a:solidFill>
            </a:endParaRPr>
          </a:p>
          <a:p>
            <a:pPr algn="just"/>
            <a:r>
              <a:rPr lang="en-IN" sz="2800" dirty="0">
                <a:solidFill>
                  <a:schemeClr val="bg1"/>
                </a:solidFill>
              </a:rPr>
              <a:t>    public static void main(String[] </a:t>
            </a:r>
            <a:r>
              <a:rPr lang="en-IN" sz="2800" dirty="0" err="1">
                <a:solidFill>
                  <a:schemeClr val="bg1"/>
                </a:solidFill>
              </a:rPr>
              <a:t>args</a:t>
            </a:r>
            <a:r>
              <a:rPr lang="en-IN" sz="2800" dirty="0">
                <a:solidFill>
                  <a:schemeClr val="bg1"/>
                </a:solidFill>
              </a:rPr>
              <a:t>) </a:t>
            </a:r>
            <a:r>
              <a:rPr lang="en-IN" sz="2800" dirty="0" smtClean="0">
                <a:solidFill>
                  <a:schemeClr val="bg1"/>
                </a:solidFill>
              </a:rPr>
              <a:t>{ </a:t>
            </a:r>
            <a:endParaRPr lang="en-IN" sz="2800" dirty="0">
              <a:solidFill>
                <a:schemeClr val="bg1"/>
              </a:solidFill>
            </a:endParaRPr>
          </a:p>
          <a:p>
            <a:pPr algn="just"/>
            <a:r>
              <a:rPr lang="en-IN" sz="2800" dirty="0">
                <a:solidFill>
                  <a:schemeClr val="bg1"/>
                </a:solidFill>
              </a:rPr>
              <a:t>        // Type safe array list, stores only string </a:t>
            </a:r>
          </a:p>
          <a:p>
            <a:pPr algn="just"/>
            <a:r>
              <a:rPr lang="en-IN" sz="2800" dirty="0">
                <a:solidFill>
                  <a:schemeClr val="bg1"/>
                </a:solidFill>
              </a:rPr>
              <a:t>        List&lt;String&gt; l = new </a:t>
            </a:r>
            <a:r>
              <a:rPr lang="en-IN" sz="2800" dirty="0" err="1">
                <a:solidFill>
                  <a:schemeClr val="bg1"/>
                </a:solidFill>
              </a:rPr>
              <a:t>ArrayList</a:t>
            </a:r>
            <a:r>
              <a:rPr lang="en-IN" sz="2800" dirty="0">
                <a:solidFill>
                  <a:schemeClr val="bg1"/>
                </a:solidFill>
              </a:rPr>
              <a:t>&lt;String</a:t>
            </a:r>
            <a:r>
              <a:rPr lang="en-IN" sz="2800" dirty="0" smtClean="0">
                <a:solidFill>
                  <a:schemeClr val="bg1"/>
                </a:solidFill>
              </a:rPr>
              <a:t>&gt;(3); </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l.add</a:t>
            </a:r>
            <a:r>
              <a:rPr lang="en-IN" sz="2800" dirty="0" smtClean="0">
                <a:solidFill>
                  <a:schemeClr val="bg1"/>
                </a:solidFill>
              </a:rPr>
              <a:t>(“Java"); </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l.add</a:t>
            </a:r>
            <a:r>
              <a:rPr lang="en-IN" sz="2800" dirty="0" smtClean="0">
                <a:solidFill>
                  <a:schemeClr val="bg1"/>
                </a:solidFill>
              </a:rPr>
              <a:t>(“PHP"); </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l.add</a:t>
            </a:r>
            <a:r>
              <a:rPr lang="en-IN" sz="2800" dirty="0" smtClean="0">
                <a:solidFill>
                  <a:schemeClr val="bg1"/>
                </a:solidFill>
              </a:rPr>
              <a:t>(“Python"); </a:t>
            </a:r>
            <a:endParaRPr lang="en-IN" sz="2800" dirty="0">
              <a:solidFill>
                <a:schemeClr val="bg1"/>
              </a:solidFill>
            </a:endParaRPr>
          </a:p>
          <a:p>
            <a:pPr algn="just"/>
            <a:r>
              <a:rPr lang="en-IN" sz="2800" dirty="0">
                <a:solidFill>
                  <a:schemeClr val="bg1"/>
                </a:solidFill>
              </a:rPr>
              <a:t>  </a:t>
            </a:r>
          </a:p>
          <a:p>
            <a:pPr algn="just"/>
            <a:r>
              <a:rPr lang="en-IN" sz="2800" dirty="0">
                <a:solidFill>
                  <a:schemeClr val="bg1"/>
                </a:solidFill>
              </a:rPr>
              <a:t>        // Using </a:t>
            </a:r>
            <a:r>
              <a:rPr lang="en-IN" sz="2800" dirty="0" err="1">
                <a:solidFill>
                  <a:schemeClr val="bg1"/>
                </a:solidFill>
              </a:rPr>
              <a:t>indexOf</a:t>
            </a:r>
            <a:r>
              <a:rPr lang="en-IN" sz="2800" dirty="0">
                <a:solidFill>
                  <a:schemeClr val="bg1"/>
                </a:solidFill>
              </a:rPr>
              <a:t>() and </a:t>
            </a:r>
            <a:r>
              <a:rPr lang="en-IN" sz="2800" dirty="0" err="1">
                <a:solidFill>
                  <a:schemeClr val="bg1"/>
                </a:solidFill>
              </a:rPr>
              <a:t>lastIndexOf</a:t>
            </a:r>
            <a:r>
              <a:rPr lang="en-IN" sz="2800" dirty="0">
                <a:solidFill>
                  <a:schemeClr val="bg1"/>
                </a:solidFill>
              </a:rPr>
              <a:t>() </a:t>
            </a:r>
          </a:p>
          <a:p>
            <a:r>
              <a:rPr lang="en-IN" sz="2800" dirty="0" smtClean="0">
                <a:solidFill>
                  <a:schemeClr val="bg1"/>
                </a:solidFill>
              </a:rPr>
              <a:t>  </a:t>
            </a:r>
            <a:r>
              <a:rPr lang="en-IN" sz="2800" dirty="0" err="1">
                <a:solidFill>
                  <a:schemeClr val="bg1"/>
                </a:solidFill>
              </a:rPr>
              <a:t>System.out.println</a:t>
            </a:r>
            <a:r>
              <a:rPr lang="en-IN" sz="2800" dirty="0">
                <a:solidFill>
                  <a:schemeClr val="bg1"/>
                </a:solidFill>
              </a:rPr>
              <a:t>("first index </a:t>
            </a:r>
            <a:r>
              <a:rPr lang="en-IN" sz="2800" dirty="0" smtClean="0">
                <a:solidFill>
                  <a:schemeClr val="bg1"/>
                </a:solidFill>
              </a:rPr>
              <a:t>element :" +</a:t>
            </a:r>
            <a:r>
              <a:rPr lang="en-IN" sz="2800" dirty="0" err="1" smtClean="0">
                <a:solidFill>
                  <a:schemeClr val="bg1"/>
                </a:solidFill>
              </a:rPr>
              <a:t>l.</a:t>
            </a:r>
            <a:r>
              <a:rPr lang="en-IN" sz="2800" dirty="0" err="1" smtClean="0">
                <a:solidFill>
                  <a:srgbClr val="FFC000"/>
                </a:solidFill>
              </a:rPr>
              <a:t>indexOf</a:t>
            </a:r>
            <a:r>
              <a:rPr lang="en-IN" sz="2800" dirty="0" smtClean="0">
                <a:solidFill>
                  <a:schemeClr val="bg1"/>
                </a:solidFill>
              </a:rPr>
              <a:t>(“Java")); </a:t>
            </a:r>
          </a:p>
          <a:p>
            <a:r>
              <a:rPr lang="en-IN" sz="2800" dirty="0" smtClean="0">
                <a:solidFill>
                  <a:schemeClr val="bg1"/>
                </a:solidFill>
              </a:rPr>
              <a:t>  </a:t>
            </a:r>
            <a:r>
              <a:rPr lang="en-IN" sz="2800" dirty="0" err="1">
                <a:solidFill>
                  <a:schemeClr val="bg1"/>
                </a:solidFill>
              </a:rPr>
              <a:t>System.out.println</a:t>
            </a:r>
            <a:r>
              <a:rPr lang="en-IN" sz="2800" dirty="0">
                <a:solidFill>
                  <a:schemeClr val="bg1"/>
                </a:solidFill>
              </a:rPr>
              <a:t>("last index </a:t>
            </a:r>
            <a:r>
              <a:rPr lang="en-IN" sz="2800" dirty="0" smtClean="0">
                <a:solidFill>
                  <a:schemeClr val="bg1"/>
                </a:solidFill>
              </a:rPr>
              <a:t>element :" +</a:t>
            </a:r>
            <a:r>
              <a:rPr lang="en-IN" sz="2800" dirty="0" err="1" smtClean="0">
                <a:solidFill>
                  <a:schemeClr val="bg1"/>
                </a:solidFill>
              </a:rPr>
              <a:t>l.</a:t>
            </a:r>
            <a:r>
              <a:rPr lang="en-IN" sz="2800" dirty="0" err="1" smtClean="0">
                <a:solidFill>
                  <a:srgbClr val="FFC000"/>
                </a:solidFill>
              </a:rPr>
              <a:t>lastIndexOf</a:t>
            </a:r>
            <a:r>
              <a:rPr lang="en-IN" sz="2800" dirty="0" smtClean="0">
                <a:solidFill>
                  <a:schemeClr val="bg1"/>
                </a:solidFill>
              </a:rPr>
              <a:t>(“Python")); </a:t>
            </a:r>
            <a:endParaRPr lang="en-IN" sz="2800" dirty="0">
              <a:solidFill>
                <a:schemeClr val="bg1"/>
              </a:solidFill>
            </a:endParaRPr>
          </a:p>
          <a:p>
            <a:pPr algn="just"/>
            <a:r>
              <a:rPr lang="en-IN" sz="2800" dirty="0">
                <a:solidFill>
                  <a:schemeClr val="bg1"/>
                </a:solidFill>
              </a:rPr>
              <a:t> </a:t>
            </a:r>
            <a:r>
              <a:rPr lang="en-IN" sz="2800" dirty="0" smtClean="0">
                <a:solidFill>
                  <a:schemeClr val="bg1"/>
                </a:solidFill>
              </a:rPr>
              <a:t> </a:t>
            </a:r>
            <a:r>
              <a:rPr lang="en-IN" sz="2800" dirty="0" err="1">
                <a:solidFill>
                  <a:schemeClr val="bg1"/>
                </a:solidFill>
              </a:rPr>
              <a:t>System.out.println</a:t>
            </a:r>
            <a:r>
              <a:rPr lang="en-IN" sz="2800" dirty="0">
                <a:solidFill>
                  <a:schemeClr val="bg1"/>
                </a:solidFill>
              </a:rPr>
              <a:t>("Index of element"+ </a:t>
            </a:r>
            <a:r>
              <a:rPr lang="en-IN" sz="2800" dirty="0" smtClean="0">
                <a:solidFill>
                  <a:schemeClr val="bg1"/>
                </a:solidFill>
              </a:rPr>
              <a:t>" </a:t>
            </a:r>
            <a:r>
              <a:rPr lang="en-IN" sz="2800" dirty="0">
                <a:solidFill>
                  <a:schemeClr val="bg1"/>
                </a:solidFill>
              </a:rPr>
              <a:t>not present : " + </a:t>
            </a:r>
            <a:r>
              <a:rPr lang="en-IN" sz="2800" dirty="0" err="1">
                <a:solidFill>
                  <a:schemeClr val="bg1"/>
                </a:solidFill>
              </a:rPr>
              <a:t>l.</a:t>
            </a:r>
            <a:r>
              <a:rPr lang="en-IN" sz="2800" dirty="0" err="1">
                <a:solidFill>
                  <a:srgbClr val="FFC000"/>
                </a:solidFill>
              </a:rPr>
              <a:t>indexOf</a:t>
            </a:r>
            <a:r>
              <a:rPr lang="en-IN" sz="2800" dirty="0">
                <a:solidFill>
                  <a:schemeClr val="bg1"/>
                </a:solidFill>
              </a:rPr>
              <a:t>("Hello")); </a:t>
            </a:r>
          </a:p>
          <a:p>
            <a:pPr algn="just"/>
            <a:r>
              <a:rPr lang="en-IN" sz="2800" dirty="0">
                <a:solidFill>
                  <a:schemeClr val="bg1"/>
                </a:solidFill>
              </a:rPr>
              <a:t>    } </a:t>
            </a:r>
          </a:p>
          <a:p>
            <a:pPr algn="just"/>
            <a:r>
              <a:rPr lang="en-IN" sz="2800" dirty="0">
                <a:solidFill>
                  <a:schemeClr val="bg1"/>
                </a:solidFill>
              </a:rPr>
              <a:t>} </a:t>
            </a:r>
          </a:p>
        </p:txBody>
      </p:sp>
      <p:sp>
        <p:nvSpPr>
          <p:cNvPr id="5" name="TextBox 4"/>
          <p:cNvSpPr txBox="1"/>
          <p:nvPr/>
        </p:nvSpPr>
        <p:spPr>
          <a:xfrm>
            <a:off x="0" y="-19376"/>
            <a:ext cx="7921528" cy="984885"/>
          </a:xfrm>
          <a:prstGeom prst="rect">
            <a:avLst/>
          </a:prstGeom>
          <a:noFill/>
        </p:spPr>
        <p:txBody>
          <a:bodyPr wrap="none" rtlCol="0">
            <a:spAutoFit/>
          </a:bodyPr>
          <a:lstStyle/>
          <a:p>
            <a:r>
              <a:rPr lang="en-IN" sz="5800" dirty="0" smtClean="0">
                <a:solidFill>
                  <a:schemeClr val="bg1"/>
                </a:solidFill>
              </a:rPr>
              <a:t>Search: </a:t>
            </a:r>
            <a:r>
              <a:rPr lang="en-IN" sz="5800" dirty="0" err="1" smtClean="0">
                <a:solidFill>
                  <a:schemeClr val="bg1"/>
                </a:solidFill>
              </a:rPr>
              <a:t>ArrayList</a:t>
            </a:r>
            <a:r>
              <a:rPr lang="en-IN" sz="5800" dirty="0" smtClean="0">
                <a:solidFill>
                  <a:schemeClr val="bg1"/>
                </a:solidFill>
              </a:rPr>
              <a:t> Example</a:t>
            </a:r>
            <a:endParaRPr lang="en-IN" sz="5800" dirty="0">
              <a:solidFill>
                <a:schemeClr val="bg1"/>
              </a:solidFill>
            </a:endParaRPr>
          </a:p>
        </p:txBody>
      </p:sp>
      <p:sp>
        <p:nvSpPr>
          <p:cNvPr id="3" name="Rectangle 2"/>
          <p:cNvSpPr/>
          <p:nvPr/>
        </p:nvSpPr>
        <p:spPr>
          <a:xfrm>
            <a:off x="7306101" y="3472303"/>
            <a:ext cx="4622042" cy="1200329"/>
          </a:xfrm>
          <a:prstGeom prst="rect">
            <a:avLst/>
          </a:prstGeom>
        </p:spPr>
        <p:txBody>
          <a:bodyPr wrap="square">
            <a:spAutoFit/>
          </a:bodyPr>
          <a:lstStyle/>
          <a:p>
            <a:r>
              <a:rPr lang="en-IN" sz="2400" dirty="0">
                <a:solidFill>
                  <a:srgbClr val="FFC000"/>
                </a:solidFill>
              </a:rPr>
              <a:t>first index </a:t>
            </a:r>
            <a:r>
              <a:rPr lang="en-IN" sz="2400" dirty="0" smtClean="0">
                <a:solidFill>
                  <a:srgbClr val="FFC000"/>
                </a:solidFill>
              </a:rPr>
              <a:t>element: 0</a:t>
            </a:r>
            <a:endParaRPr lang="en-IN" sz="2400" dirty="0">
              <a:solidFill>
                <a:srgbClr val="FFC000"/>
              </a:solidFill>
            </a:endParaRPr>
          </a:p>
          <a:p>
            <a:r>
              <a:rPr lang="en-IN" sz="2400" dirty="0">
                <a:solidFill>
                  <a:srgbClr val="FFC000"/>
                </a:solidFill>
              </a:rPr>
              <a:t>last index </a:t>
            </a:r>
            <a:r>
              <a:rPr lang="en-IN" sz="2400" dirty="0" smtClean="0">
                <a:solidFill>
                  <a:srgbClr val="FFC000"/>
                </a:solidFill>
              </a:rPr>
              <a:t>element: 2</a:t>
            </a:r>
            <a:endParaRPr lang="en-IN" sz="2400" dirty="0">
              <a:solidFill>
                <a:srgbClr val="FFC000"/>
              </a:solidFill>
            </a:endParaRPr>
          </a:p>
          <a:p>
            <a:r>
              <a:rPr lang="en-IN" sz="2400" dirty="0">
                <a:solidFill>
                  <a:srgbClr val="FFC000"/>
                </a:solidFill>
              </a:rPr>
              <a:t>Index of element not present : -1</a:t>
            </a:r>
          </a:p>
        </p:txBody>
      </p:sp>
    </p:spTree>
    <p:extLst>
      <p:ext uri="{BB962C8B-B14F-4D97-AF65-F5344CB8AC3E}">
        <p14:creationId xmlns:p14="http://schemas.microsoft.com/office/powerpoint/2010/main" val="303268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500"/>
                                        <p:tgtEl>
                                          <p:spTgt spid="2">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5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500"/>
                                        <p:tgtEl>
                                          <p:spTgt spid="2">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10" end="10"/>
                                            </p:txEl>
                                          </p:spTgt>
                                        </p:tgtEl>
                                        <p:attrNameLst>
                                          <p:attrName>style.visibility</p:attrName>
                                        </p:attrNameLst>
                                      </p:cBhvr>
                                      <p:to>
                                        <p:strVal val="visible"/>
                                      </p:to>
                                    </p:set>
                                    <p:animEffect transition="in" filter="fade">
                                      <p:cBhvr>
                                        <p:cTn id="36" dur="500"/>
                                        <p:tgtEl>
                                          <p:spTgt spid="2">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animEffect transition="in" filter="fade">
                                      <p:cBhvr>
                                        <p:cTn id="39" dur="500"/>
                                        <p:tgtEl>
                                          <p:spTgt spid="2">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
                                            <p:txEl>
                                              <p:pRg st="12" end="12"/>
                                            </p:txEl>
                                          </p:spTgt>
                                        </p:tgtEl>
                                        <p:attrNameLst>
                                          <p:attrName>style.visibility</p:attrName>
                                        </p:attrNameLst>
                                      </p:cBhvr>
                                      <p:to>
                                        <p:strVal val="visible"/>
                                      </p:to>
                                    </p:set>
                                    <p:animEffect transition="in" filter="fade">
                                      <p:cBhvr>
                                        <p:cTn id="42" dur="500"/>
                                        <p:tgtEl>
                                          <p:spTgt spid="2">
                                            <p:txEl>
                                              <p:pRg st="12" end="12"/>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13" end="13"/>
                                            </p:txEl>
                                          </p:spTgt>
                                        </p:tgtEl>
                                        <p:attrNameLst>
                                          <p:attrName>style.visibility</p:attrName>
                                        </p:attrNameLst>
                                      </p:cBhvr>
                                      <p:to>
                                        <p:strVal val="visible"/>
                                      </p:to>
                                    </p:set>
                                    <p:animEffect transition="in" filter="fade">
                                      <p:cBhvr>
                                        <p:cTn id="45" dur="500"/>
                                        <p:tgtEl>
                                          <p:spTgt spid="2">
                                            <p:txEl>
                                              <p:pRg st="13" end="1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57115" y="1338042"/>
            <a:ext cx="11582400" cy="4832092"/>
          </a:xfrm>
          <a:prstGeom prst="rect">
            <a:avLst/>
          </a:prstGeom>
        </p:spPr>
        <p:txBody>
          <a:bodyPr wrap="square">
            <a:spAutoFit/>
          </a:bodyPr>
          <a:lstStyle/>
          <a:p>
            <a:pPr algn="just"/>
            <a:r>
              <a:rPr lang="en-IN" sz="2800" dirty="0">
                <a:solidFill>
                  <a:schemeClr val="bg1"/>
                </a:solidFill>
              </a:rPr>
              <a:t>public class </a:t>
            </a:r>
            <a:r>
              <a:rPr lang="en-IN" sz="2800" dirty="0" err="1" smtClean="0">
                <a:solidFill>
                  <a:schemeClr val="bg1"/>
                </a:solidFill>
              </a:rPr>
              <a:t>BiDirectinalListIteratorDemo</a:t>
            </a:r>
            <a:r>
              <a:rPr lang="en-IN" sz="2800" dirty="0" smtClean="0">
                <a:solidFill>
                  <a:schemeClr val="bg1"/>
                </a:solidFill>
              </a:rPr>
              <a:t> {</a:t>
            </a:r>
          </a:p>
          <a:p>
            <a:pPr algn="just"/>
            <a:r>
              <a:rPr lang="en-IN" sz="2800" dirty="0">
                <a:solidFill>
                  <a:schemeClr val="bg1"/>
                </a:solidFill>
              </a:rPr>
              <a:t>	public static void main(String[] </a:t>
            </a:r>
            <a:r>
              <a:rPr lang="en-IN" sz="2800" dirty="0" err="1">
                <a:solidFill>
                  <a:schemeClr val="bg1"/>
                </a:solidFill>
              </a:rPr>
              <a:t>args</a:t>
            </a:r>
            <a:r>
              <a:rPr lang="en-IN" sz="2800" dirty="0">
                <a:solidFill>
                  <a:schemeClr val="bg1"/>
                </a:solidFill>
              </a:rPr>
              <a:t>) </a:t>
            </a:r>
            <a:r>
              <a:rPr lang="en-IN" sz="2800" dirty="0" smtClean="0">
                <a:solidFill>
                  <a:schemeClr val="bg1"/>
                </a:solidFill>
              </a:rPr>
              <a:t>{</a:t>
            </a:r>
            <a:endParaRPr lang="en-IN" sz="2800" dirty="0">
              <a:solidFill>
                <a:schemeClr val="bg1"/>
              </a:solidFill>
            </a:endParaRPr>
          </a:p>
          <a:p>
            <a:pPr algn="just"/>
            <a:r>
              <a:rPr lang="en-IN" sz="2800" dirty="0">
                <a:solidFill>
                  <a:schemeClr val="bg1"/>
                </a:solidFill>
              </a:rPr>
              <a:t>		</a:t>
            </a:r>
            <a:r>
              <a:rPr lang="en-IN" sz="2800" dirty="0" smtClean="0">
                <a:solidFill>
                  <a:schemeClr val="bg1"/>
                </a:solidFill>
              </a:rPr>
              <a:t>List&lt;String&gt; </a:t>
            </a:r>
            <a:r>
              <a:rPr lang="en-IN" sz="2800" dirty="0">
                <a:solidFill>
                  <a:schemeClr val="bg1"/>
                </a:solidFill>
              </a:rPr>
              <a:t>names = new </a:t>
            </a:r>
            <a:r>
              <a:rPr lang="en-IN" sz="2800" dirty="0" err="1" smtClean="0">
                <a:solidFill>
                  <a:schemeClr val="bg1"/>
                </a:solidFill>
              </a:rPr>
              <a:t>LinkedList</a:t>
            </a:r>
            <a:r>
              <a:rPr lang="en-IN" sz="2800" dirty="0">
                <a:solidFill>
                  <a:schemeClr val="bg1"/>
                </a:solidFill>
              </a:rPr>
              <a:t>&lt;&gt;();</a:t>
            </a:r>
          </a:p>
          <a:p>
            <a:pPr algn="just"/>
            <a:r>
              <a:rPr lang="en-IN" sz="2800" dirty="0">
                <a:solidFill>
                  <a:schemeClr val="bg1"/>
                </a:solidFill>
              </a:rPr>
              <a:t>		</a:t>
            </a:r>
            <a:r>
              <a:rPr lang="en-IN" sz="2800" dirty="0" err="1">
                <a:solidFill>
                  <a:schemeClr val="bg1"/>
                </a:solidFill>
              </a:rPr>
              <a:t>names.add</a:t>
            </a:r>
            <a:r>
              <a:rPr lang="en-IN" sz="2800" dirty="0" smtClean="0">
                <a:solidFill>
                  <a:schemeClr val="bg1"/>
                </a:solidFill>
              </a:rPr>
              <a:t>(“Java");</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names.add</a:t>
            </a:r>
            <a:r>
              <a:rPr lang="en-IN" sz="2800" dirty="0" smtClean="0">
                <a:solidFill>
                  <a:schemeClr val="bg1"/>
                </a:solidFill>
              </a:rPr>
              <a:t>(“Python");</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names.add</a:t>
            </a:r>
            <a:r>
              <a:rPr lang="en-IN" sz="2800" dirty="0" smtClean="0">
                <a:solidFill>
                  <a:schemeClr val="bg1"/>
                </a:solidFill>
              </a:rPr>
              <a:t>(“PHP");</a:t>
            </a:r>
            <a:endParaRPr lang="en-IN" sz="2800" dirty="0">
              <a:solidFill>
                <a:schemeClr val="bg1"/>
              </a:solidFill>
            </a:endParaRPr>
          </a:p>
          <a:p>
            <a:pPr algn="just"/>
            <a:r>
              <a:rPr lang="en-IN" sz="2800" dirty="0">
                <a:solidFill>
                  <a:schemeClr val="bg1"/>
                </a:solidFill>
              </a:rPr>
              <a:t>		</a:t>
            </a:r>
          </a:p>
          <a:p>
            <a:pPr algn="just"/>
            <a:r>
              <a:rPr lang="en-IN" sz="2800" dirty="0">
                <a:solidFill>
                  <a:schemeClr val="bg1"/>
                </a:solidFill>
              </a:rPr>
              <a:t>		// Getting </a:t>
            </a:r>
            <a:r>
              <a:rPr lang="en-IN" sz="2800" dirty="0" err="1">
                <a:solidFill>
                  <a:schemeClr val="bg1"/>
                </a:solidFill>
              </a:rPr>
              <a:t>ListIterator</a:t>
            </a:r>
            <a:endParaRPr lang="en-IN" sz="2800" dirty="0">
              <a:solidFill>
                <a:schemeClr val="bg1"/>
              </a:solidFill>
            </a:endParaRPr>
          </a:p>
          <a:p>
            <a:pPr algn="just"/>
            <a:r>
              <a:rPr lang="en-IN" sz="2800" dirty="0">
                <a:solidFill>
                  <a:schemeClr val="bg1"/>
                </a:solidFill>
              </a:rPr>
              <a:t>		</a:t>
            </a:r>
            <a:r>
              <a:rPr lang="en-IN" sz="2800" dirty="0" err="1" smtClean="0">
                <a:solidFill>
                  <a:srgbClr val="FFC000"/>
                </a:solidFill>
              </a:rPr>
              <a:t>ListIterator</a:t>
            </a:r>
            <a:r>
              <a:rPr lang="en-IN" sz="2800" dirty="0" smtClean="0">
                <a:solidFill>
                  <a:schemeClr val="bg1"/>
                </a:solidFill>
              </a:rPr>
              <a:t>&lt;String&gt; </a:t>
            </a:r>
            <a:r>
              <a:rPr lang="en-IN" sz="2800" dirty="0" err="1">
                <a:solidFill>
                  <a:schemeClr val="bg1"/>
                </a:solidFill>
              </a:rPr>
              <a:t>listIterator</a:t>
            </a:r>
            <a:r>
              <a:rPr lang="en-IN" sz="2800" dirty="0">
                <a:solidFill>
                  <a:schemeClr val="bg1"/>
                </a:solidFill>
              </a:rPr>
              <a:t> = </a:t>
            </a:r>
            <a:r>
              <a:rPr lang="en-IN" sz="2800" dirty="0" err="1">
                <a:solidFill>
                  <a:srgbClr val="FFC000"/>
                </a:solidFill>
              </a:rPr>
              <a:t>names.listIterator</a:t>
            </a:r>
            <a:r>
              <a:rPr lang="en-IN" sz="2800" dirty="0">
                <a:solidFill>
                  <a:srgbClr val="FFC000"/>
                </a:solidFill>
              </a:rPr>
              <a:t>();</a:t>
            </a:r>
          </a:p>
          <a:p>
            <a:pPr algn="just"/>
            <a:r>
              <a:rPr lang="en-IN" sz="2800" dirty="0">
                <a:solidFill>
                  <a:schemeClr val="bg1"/>
                </a:solidFill>
              </a:rPr>
              <a:t>		</a:t>
            </a:r>
          </a:p>
          <a:p>
            <a:pPr algn="just"/>
            <a:r>
              <a:rPr lang="en-IN" sz="2800" dirty="0">
                <a:solidFill>
                  <a:schemeClr val="bg1"/>
                </a:solidFill>
              </a:rPr>
              <a:t>		</a:t>
            </a:r>
          </a:p>
        </p:txBody>
      </p:sp>
      <p:sp>
        <p:nvSpPr>
          <p:cNvPr id="5" name="TextBox 4"/>
          <p:cNvSpPr txBox="1"/>
          <p:nvPr/>
        </p:nvSpPr>
        <p:spPr>
          <a:xfrm>
            <a:off x="0" y="-19376"/>
            <a:ext cx="8858002" cy="984885"/>
          </a:xfrm>
          <a:prstGeom prst="rect">
            <a:avLst/>
          </a:prstGeom>
          <a:noFill/>
        </p:spPr>
        <p:txBody>
          <a:bodyPr wrap="none" rtlCol="0">
            <a:spAutoFit/>
          </a:bodyPr>
          <a:lstStyle/>
          <a:p>
            <a:r>
              <a:rPr lang="en-IN" sz="5800" dirty="0" smtClean="0">
                <a:solidFill>
                  <a:schemeClr val="bg1"/>
                </a:solidFill>
              </a:rPr>
              <a:t>Iterator: </a:t>
            </a:r>
            <a:r>
              <a:rPr lang="en-IN" sz="5800" dirty="0" err="1" smtClean="0">
                <a:solidFill>
                  <a:schemeClr val="bg1"/>
                </a:solidFill>
              </a:rPr>
              <a:t>ListIterator</a:t>
            </a:r>
            <a:r>
              <a:rPr lang="en-IN" sz="5800" dirty="0" smtClean="0">
                <a:solidFill>
                  <a:schemeClr val="bg1"/>
                </a:solidFill>
              </a:rPr>
              <a:t> Example</a:t>
            </a:r>
            <a:endParaRPr lang="en-IN" sz="5800" dirty="0">
              <a:solidFill>
                <a:schemeClr val="bg1"/>
              </a:solidFill>
            </a:endParaRPr>
          </a:p>
        </p:txBody>
      </p:sp>
    </p:spTree>
    <p:extLst>
      <p:ext uri="{BB962C8B-B14F-4D97-AF65-F5344CB8AC3E}">
        <p14:creationId xmlns:p14="http://schemas.microsoft.com/office/powerpoint/2010/main" val="220305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500"/>
                                        <p:tgtEl>
                                          <p:spTgt spid="2">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8" end="8"/>
                                            </p:txEl>
                                          </p:spTgt>
                                        </p:tgtEl>
                                        <p:attrNameLst>
                                          <p:attrName>style.visibility</p:attrName>
                                        </p:attrNameLst>
                                      </p:cBhvr>
                                      <p:to>
                                        <p:strVal val="visible"/>
                                      </p:to>
                                    </p:set>
                                    <p:animEffect transition="in" filter="fade">
                                      <p:cBhvr>
                                        <p:cTn id="30"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833072"/>
            <a:ext cx="8512259" cy="6124754"/>
          </a:xfrm>
          <a:prstGeom prst="rect">
            <a:avLst/>
          </a:prstGeom>
        </p:spPr>
        <p:txBody>
          <a:bodyPr wrap="square">
            <a:spAutoFit/>
          </a:bodyPr>
          <a:lstStyle/>
          <a:p>
            <a:r>
              <a:rPr lang="en-IN" sz="2800" dirty="0" smtClean="0">
                <a:solidFill>
                  <a:schemeClr val="bg1"/>
                </a:solidFill>
              </a:rPr>
              <a:t>// </a:t>
            </a:r>
            <a:r>
              <a:rPr lang="en-IN" sz="2800" dirty="0">
                <a:solidFill>
                  <a:schemeClr val="bg1"/>
                </a:solidFill>
              </a:rPr>
              <a:t>Traversing elements</a:t>
            </a:r>
          </a:p>
          <a:p>
            <a:r>
              <a:rPr lang="en-IN" sz="2800" dirty="0" err="1" smtClean="0">
                <a:solidFill>
                  <a:schemeClr val="bg1"/>
                </a:solidFill>
              </a:rPr>
              <a:t>System.out.println</a:t>
            </a:r>
            <a:r>
              <a:rPr lang="en-IN" sz="2800" dirty="0">
                <a:solidFill>
                  <a:schemeClr val="bg1"/>
                </a:solidFill>
              </a:rPr>
              <a:t>("Forward Direction Iteration:");</a:t>
            </a:r>
          </a:p>
          <a:p>
            <a:endParaRPr lang="en-IN" sz="2800" dirty="0" smtClean="0">
              <a:solidFill>
                <a:schemeClr val="bg1"/>
              </a:solidFill>
            </a:endParaRPr>
          </a:p>
          <a:p>
            <a:r>
              <a:rPr lang="en-IN" sz="2800" dirty="0" smtClean="0">
                <a:solidFill>
                  <a:schemeClr val="bg1"/>
                </a:solidFill>
              </a:rPr>
              <a:t>while(</a:t>
            </a:r>
            <a:r>
              <a:rPr lang="en-IN" sz="2800" dirty="0" err="1" smtClean="0">
                <a:solidFill>
                  <a:schemeClr val="bg1"/>
                </a:solidFill>
              </a:rPr>
              <a:t>listIterator.</a:t>
            </a:r>
            <a:r>
              <a:rPr lang="en-IN" sz="2800" dirty="0" err="1" smtClean="0">
                <a:solidFill>
                  <a:srgbClr val="FFC000"/>
                </a:solidFill>
              </a:rPr>
              <a:t>hasNext</a:t>
            </a:r>
            <a:r>
              <a:rPr lang="en-IN" sz="2800" dirty="0">
                <a:solidFill>
                  <a:schemeClr val="bg1"/>
                </a:solidFill>
              </a:rPr>
              <a:t>()){</a:t>
            </a:r>
          </a:p>
          <a:p>
            <a:r>
              <a:rPr lang="en-IN" sz="2800" dirty="0" err="1" smtClean="0">
                <a:solidFill>
                  <a:schemeClr val="bg1"/>
                </a:solidFill>
              </a:rPr>
              <a:t>System.out.print</a:t>
            </a:r>
            <a:r>
              <a:rPr lang="en-IN" sz="2800" dirty="0" smtClean="0">
                <a:solidFill>
                  <a:schemeClr val="bg1"/>
                </a:solidFill>
              </a:rPr>
              <a:t>(</a:t>
            </a:r>
            <a:r>
              <a:rPr lang="en-IN" sz="2800" dirty="0" err="1" smtClean="0">
                <a:solidFill>
                  <a:srgbClr val="FFC000"/>
                </a:solidFill>
              </a:rPr>
              <a:t>listIterator.next</a:t>
            </a:r>
            <a:r>
              <a:rPr lang="en-IN" sz="2800" dirty="0">
                <a:solidFill>
                  <a:srgbClr val="FFC000"/>
                </a:solidFill>
              </a:rPr>
              <a:t>()</a:t>
            </a:r>
            <a:r>
              <a:rPr lang="en-IN" sz="2800" dirty="0">
                <a:solidFill>
                  <a:schemeClr val="bg1"/>
                </a:solidFill>
              </a:rPr>
              <a:t>);			</a:t>
            </a:r>
          </a:p>
          <a:p>
            <a:r>
              <a:rPr lang="en-IN" sz="2800" dirty="0" smtClean="0">
                <a:solidFill>
                  <a:schemeClr val="bg1"/>
                </a:solidFill>
              </a:rPr>
              <a:t>}</a:t>
            </a:r>
            <a:r>
              <a:rPr lang="en-IN" sz="2800" dirty="0">
                <a:solidFill>
                  <a:schemeClr val="bg1"/>
                </a:solidFill>
              </a:rPr>
              <a:t>	</a:t>
            </a:r>
          </a:p>
          <a:p>
            <a:endParaRPr lang="en-IN" sz="2800" dirty="0" smtClean="0">
              <a:solidFill>
                <a:schemeClr val="bg1"/>
              </a:solidFill>
            </a:endParaRPr>
          </a:p>
          <a:p>
            <a:r>
              <a:rPr lang="en-IN" sz="2800" dirty="0" smtClean="0">
                <a:solidFill>
                  <a:schemeClr val="bg1"/>
                </a:solidFill>
              </a:rPr>
              <a:t>// </a:t>
            </a:r>
            <a:r>
              <a:rPr lang="en-IN" sz="2800" dirty="0">
                <a:solidFill>
                  <a:schemeClr val="bg1"/>
                </a:solidFill>
              </a:rPr>
              <a:t>Traversing elements</a:t>
            </a:r>
          </a:p>
          <a:p>
            <a:r>
              <a:rPr lang="en-IN" sz="2800" dirty="0" err="1" smtClean="0">
                <a:solidFill>
                  <a:schemeClr val="bg1"/>
                </a:solidFill>
              </a:rPr>
              <a:t>System.out.println</a:t>
            </a:r>
            <a:r>
              <a:rPr lang="en-IN" sz="2800" dirty="0">
                <a:solidFill>
                  <a:schemeClr val="bg1"/>
                </a:solidFill>
              </a:rPr>
              <a:t>("Backward Direction Iteration:");</a:t>
            </a:r>
          </a:p>
          <a:p>
            <a:r>
              <a:rPr lang="en-IN" sz="2800" dirty="0" smtClean="0">
                <a:solidFill>
                  <a:schemeClr val="bg1"/>
                </a:solidFill>
              </a:rPr>
              <a:t> while(</a:t>
            </a:r>
            <a:r>
              <a:rPr lang="en-IN" sz="2800" dirty="0" err="1" smtClean="0">
                <a:solidFill>
                  <a:schemeClr val="bg1"/>
                </a:solidFill>
              </a:rPr>
              <a:t>listIterator.</a:t>
            </a:r>
            <a:r>
              <a:rPr lang="en-IN" sz="2800" dirty="0" err="1" smtClean="0">
                <a:solidFill>
                  <a:srgbClr val="FFC000"/>
                </a:solidFill>
              </a:rPr>
              <a:t>hasPrevious</a:t>
            </a:r>
            <a:r>
              <a:rPr lang="en-IN" sz="2800" dirty="0">
                <a:solidFill>
                  <a:schemeClr val="bg1"/>
                </a:solidFill>
              </a:rPr>
              <a:t>()){</a:t>
            </a:r>
          </a:p>
          <a:p>
            <a:r>
              <a:rPr lang="en-IN" sz="2800" dirty="0">
                <a:solidFill>
                  <a:schemeClr val="bg1"/>
                </a:solidFill>
              </a:rPr>
              <a:t>	</a:t>
            </a:r>
            <a:r>
              <a:rPr lang="en-IN" sz="2800" dirty="0" err="1" smtClean="0">
                <a:solidFill>
                  <a:schemeClr val="bg1"/>
                </a:solidFill>
              </a:rPr>
              <a:t>System.out.print</a:t>
            </a:r>
            <a:r>
              <a:rPr lang="en-IN" sz="2800" dirty="0" smtClean="0">
                <a:solidFill>
                  <a:schemeClr val="bg1"/>
                </a:solidFill>
              </a:rPr>
              <a:t>(</a:t>
            </a:r>
            <a:r>
              <a:rPr lang="en-IN" sz="2800" dirty="0" err="1" smtClean="0">
                <a:solidFill>
                  <a:schemeClr val="bg1"/>
                </a:solidFill>
              </a:rPr>
              <a:t>listIterator.</a:t>
            </a:r>
            <a:r>
              <a:rPr lang="en-IN" sz="2800" dirty="0" err="1" smtClean="0">
                <a:solidFill>
                  <a:srgbClr val="FFC000"/>
                </a:solidFill>
              </a:rPr>
              <a:t>previous</a:t>
            </a:r>
            <a:r>
              <a:rPr lang="en-IN" sz="2800" dirty="0">
                <a:solidFill>
                  <a:schemeClr val="bg1"/>
                </a:solidFill>
              </a:rPr>
              <a:t>());			</a:t>
            </a:r>
          </a:p>
          <a:p>
            <a:r>
              <a:rPr lang="en-IN" sz="2800" dirty="0" smtClean="0">
                <a:solidFill>
                  <a:schemeClr val="bg1"/>
                </a:solidFill>
              </a:rPr>
              <a:t>}</a:t>
            </a:r>
            <a:endParaRPr lang="en-IN" sz="2800" dirty="0">
              <a:solidFill>
                <a:schemeClr val="bg1"/>
              </a:solidFill>
            </a:endParaRPr>
          </a:p>
          <a:p>
            <a:r>
              <a:rPr lang="en-IN" sz="2800" dirty="0" smtClean="0">
                <a:solidFill>
                  <a:schemeClr val="bg1"/>
                </a:solidFill>
              </a:rPr>
              <a:t>}}</a:t>
            </a:r>
            <a:endParaRPr lang="en-IN" sz="2800" dirty="0">
              <a:solidFill>
                <a:schemeClr val="bg1"/>
              </a:solidFill>
            </a:endParaRPr>
          </a:p>
        </p:txBody>
      </p:sp>
      <p:sp>
        <p:nvSpPr>
          <p:cNvPr id="5" name="TextBox 4"/>
          <p:cNvSpPr txBox="1"/>
          <p:nvPr/>
        </p:nvSpPr>
        <p:spPr>
          <a:xfrm>
            <a:off x="0" y="-19376"/>
            <a:ext cx="8858002" cy="984885"/>
          </a:xfrm>
          <a:prstGeom prst="rect">
            <a:avLst/>
          </a:prstGeom>
          <a:noFill/>
        </p:spPr>
        <p:txBody>
          <a:bodyPr wrap="none" rtlCol="0">
            <a:spAutoFit/>
          </a:bodyPr>
          <a:lstStyle/>
          <a:p>
            <a:r>
              <a:rPr lang="en-IN" sz="5800" dirty="0" smtClean="0">
                <a:solidFill>
                  <a:schemeClr val="bg1"/>
                </a:solidFill>
              </a:rPr>
              <a:t>Iterator: </a:t>
            </a:r>
            <a:r>
              <a:rPr lang="en-IN" sz="5800" dirty="0" err="1" smtClean="0">
                <a:solidFill>
                  <a:schemeClr val="bg1"/>
                </a:solidFill>
              </a:rPr>
              <a:t>ListIterator</a:t>
            </a:r>
            <a:r>
              <a:rPr lang="en-IN" sz="5800" dirty="0" smtClean="0">
                <a:solidFill>
                  <a:schemeClr val="bg1"/>
                </a:solidFill>
              </a:rPr>
              <a:t> Example</a:t>
            </a:r>
            <a:endParaRPr lang="en-IN" sz="5800" dirty="0">
              <a:solidFill>
                <a:schemeClr val="bg1"/>
              </a:solidFill>
            </a:endParaRPr>
          </a:p>
        </p:txBody>
      </p:sp>
      <p:sp>
        <p:nvSpPr>
          <p:cNvPr id="3" name="Rectangle 2"/>
          <p:cNvSpPr/>
          <p:nvPr/>
        </p:nvSpPr>
        <p:spPr>
          <a:xfrm>
            <a:off x="7415284" y="2079567"/>
            <a:ext cx="4649337" cy="2246769"/>
          </a:xfrm>
          <a:prstGeom prst="rect">
            <a:avLst/>
          </a:prstGeom>
        </p:spPr>
        <p:txBody>
          <a:bodyPr wrap="square">
            <a:spAutoFit/>
          </a:bodyPr>
          <a:lstStyle/>
          <a:p>
            <a:r>
              <a:rPr lang="en-IN" sz="2800" dirty="0">
                <a:solidFill>
                  <a:srgbClr val="FFC000"/>
                </a:solidFill>
              </a:rPr>
              <a:t>Forward Direction Iteration</a:t>
            </a:r>
            <a:r>
              <a:rPr lang="en-IN" sz="2800" dirty="0" smtClean="0">
                <a:solidFill>
                  <a:srgbClr val="FFC000"/>
                </a:solidFill>
              </a:rPr>
              <a:t>:</a:t>
            </a:r>
          </a:p>
          <a:p>
            <a:r>
              <a:rPr lang="en-IN" sz="2800" dirty="0" smtClean="0">
                <a:solidFill>
                  <a:srgbClr val="FFC000"/>
                </a:solidFill>
              </a:rPr>
              <a:t>Java Python PHP </a:t>
            </a:r>
          </a:p>
          <a:p>
            <a:endParaRPr lang="en-IN" sz="2800" dirty="0" smtClean="0">
              <a:solidFill>
                <a:srgbClr val="FFC000"/>
              </a:solidFill>
            </a:endParaRPr>
          </a:p>
          <a:p>
            <a:r>
              <a:rPr lang="en-IN" sz="2800" dirty="0" smtClean="0">
                <a:solidFill>
                  <a:srgbClr val="FFC000"/>
                </a:solidFill>
              </a:rPr>
              <a:t>Backward </a:t>
            </a:r>
            <a:r>
              <a:rPr lang="en-IN" sz="2800" dirty="0">
                <a:solidFill>
                  <a:srgbClr val="FFC000"/>
                </a:solidFill>
              </a:rPr>
              <a:t>Direction Iteration: </a:t>
            </a:r>
            <a:endParaRPr lang="en-IN" sz="2800" dirty="0" smtClean="0">
              <a:solidFill>
                <a:srgbClr val="FFC000"/>
              </a:solidFill>
            </a:endParaRPr>
          </a:p>
          <a:p>
            <a:r>
              <a:rPr lang="en-IN" sz="2800" dirty="0" smtClean="0">
                <a:solidFill>
                  <a:srgbClr val="FFC000"/>
                </a:solidFill>
              </a:rPr>
              <a:t>PHP Python Java</a:t>
            </a:r>
            <a:endParaRPr lang="en-IN" sz="2800" dirty="0">
              <a:solidFill>
                <a:srgbClr val="FFC000"/>
              </a:solidFill>
            </a:endParaRPr>
          </a:p>
        </p:txBody>
      </p:sp>
    </p:spTree>
    <p:extLst>
      <p:ext uri="{BB962C8B-B14F-4D97-AF65-F5344CB8AC3E}">
        <p14:creationId xmlns:p14="http://schemas.microsoft.com/office/powerpoint/2010/main" val="47220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fade">
                                      <p:cBhvr>
                                        <p:cTn id="13" dur="500"/>
                                        <p:tgtEl>
                                          <p:spTgt spid="2">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fade">
                                      <p:cBhvr>
                                        <p:cTn id="16" dur="500"/>
                                        <p:tgtEl>
                                          <p:spTgt spid="2">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500"/>
                                        <p:tgtEl>
                                          <p:spTgt spid="2">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7" end="7"/>
                                            </p:txEl>
                                          </p:spTgt>
                                        </p:tgtEl>
                                        <p:attrNameLst>
                                          <p:attrName>style.visibility</p:attrName>
                                        </p:attrNameLst>
                                      </p:cBhvr>
                                      <p:to>
                                        <p:strVal val="visible"/>
                                      </p:to>
                                    </p:set>
                                    <p:animEffect transition="in" filter="fade">
                                      <p:cBhvr>
                                        <p:cTn id="24" dur="500"/>
                                        <p:tgtEl>
                                          <p:spTgt spid="2">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fade">
                                      <p:cBhvr>
                                        <p:cTn id="27" dur="500"/>
                                        <p:tgtEl>
                                          <p:spTgt spid="2">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9" end="9"/>
                                            </p:txEl>
                                          </p:spTgt>
                                        </p:tgtEl>
                                        <p:attrNameLst>
                                          <p:attrName>style.visibility</p:attrName>
                                        </p:attrNameLst>
                                      </p:cBhvr>
                                      <p:to>
                                        <p:strVal val="visible"/>
                                      </p:to>
                                    </p:set>
                                    <p:animEffect transition="in" filter="fade">
                                      <p:cBhvr>
                                        <p:cTn id="30" dur="500"/>
                                        <p:tgtEl>
                                          <p:spTgt spid="2">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animEffect transition="in" filter="fade">
                                      <p:cBhvr>
                                        <p:cTn id="33" dur="500"/>
                                        <p:tgtEl>
                                          <p:spTgt spid="2">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11" end="11"/>
                                            </p:txEl>
                                          </p:spTgt>
                                        </p:tgtEl>
                                        <p:attrNameLst>
                                          <p:attrName>style.visibility</p:attrName>
                                        </p:attrNameLst>
                                      </p:cBhvr>
                                      <p:to>
                                        <p:strVal val="visible"/>
                                      </p:to>
                                    </p:set>
                                    <p:animEffect transition="in" filter="fade">
                                      <p:cBhvr>
                                        <p:cTn id="36" dur="500"/>
                                        <p:tgtEl>
                                          <p:spTgt spid="2">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animEffect transition="in" filter="fade">
                                      <p:cBhvr>
                                        <p:cTn id="39" dur="500"/>
                                        <p:tgtEl>
                                          <p:spTgt spid="2">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15" y="723883"/>
            <a:ext cx="11582400" cy="6555641"/>
          </a:xfrm>
          <a:prstGeom prst="rect">
            <a:avLst/>
          </a:prstGeom>
        </p:spPr>
        <p:txBody>
          <a:bodyPr wrap="square">
            <a:spAutoFit/>
          </a:bodyPr>
          <a:lstStyle/>
          <a:p>
            <a:pPr algn="just"/>
            <a:r>
              <a:rPr lang="en-IN" sz="2800" dirty="0" smtClean="0">
                <a:solidFill>
                  <a:schemeClr val="bg1"/>
                </a:solidFill>
              </a:rPr>
              <a:t>public </a:t>
            </a:r>
            <a:r>
              <a:rPr lang="en-IN" sz="2800" dirty="0">
                <a:solidFill>
                  <a:schemeClr val="bg1"/>
                </a:solidFill>
              </a:rPr>
              <a:t>class </a:t>
            </a:r>
            <a:r>
              <a:rPr lang="en-IN" sz="2800" dirty="0" err="1">
                <a:solidFill>
                  <a:schemeClr val="bg1"/>
                </a:solidFill>
              </a:rPr>
              <a:t>ListDemo</a:t>
            </a:r>
            <a:r>
              <a:rPr lang="en-IN" sz="2800" dirty="0">
                <a:solidFill>
                  <a:schemeClr val="bg1"/>
                </a:solidFill>
              </a:rPr>
              <a:t> </a:t>
            </a:r>
            <a:r>
              <a:rPr lang="en-IN" sz="2800" dirty="0" smtClean="0">
                <a:solidFill>
                  <a:schemeClr val="bg1"/>
                </a:solidFill>
              </a:rPr>
              <a:t>{ </a:t>
            </a:r>
            <a:endParaRPr lang="en-IN" sz="2800" dirty="0">
              <a:solidFill>
                <a:schemeClr val="bg1"/>
              </a:solidFill>
            </a:endParaRPr>
          </a:p>
          <a:p>
            <a:pPr algn="just"/>
            <a:r>
              <a:rPr lang="en-IN" sz="2800" dirty="0">
                <a:solidFill>
                  <a:schemeClr val="bg1"/>
                </a:solidFill>
              </a:rPr>
              <a:t>    public static void main (String[] </a:t>
            </a:r>
            <a:r>
              <a:rPr lang="en-IN" sz="2800" dirty="0" err="1">
                <a:solidFill>
                  <a:schemeClr val="bg1"/>
                </a:solidFill>
              </a:rPr>
              <a:t>args</a:t>
            </a:r>
            <a:r>
              <a:rPr lang="en-IN" sz="2800" dirty="0">
                <a:solidFill>
                  <a:schemeClr val="bg1"/>
                </a:solidFill>
              </a:rPr>
              <a:t>) </a:t>
            </a:r>
            <a:r>
              <a:rPr lang="en-IN" sz="2800" dirty="0" smtClean="0">
                <a:solidFill>
                  <a:schemeClr val="bg1"/>
                </a:solidFill>
              </a:rPr>
              <a:t>{ </a:t>
            </a:r>
            <a:endParaRPr lang="en-IN" sz="2800" dirty="0">
              <a:solidFill>
                <a:schemeClr val="bg1"/>
              </a:solidFill>
            </a:endParaRPr>
          </a:p>
          <a:p>
            <a:pPr algn="just"/>
            <a:r>
              <a:rPr lang="en-IN" sz="2800" dirty="0">
                <a:solidFill>
                  <a:schemeClr val="bg1"/>
                </a:solidFill>
              </a:rPr>
              <a:t>        // Type safe array list, stores only string </a:t>
            </a:r>
          </a:p>
          <a:p>
            <a:pPr algn="just"/>
            <a:r>
              <a:rPr lang="en-IN" sz="2800" dirty="0">
                <a:solidFill>
                  <a:schemeClr val="bg1"/>
                </a:solidFill>
              </a:rPr>
              <a:t>        List&lt;String&gt; l = new </a:t>
            </a:r>
            <a:r>
              <a:rPr lang="en-IN" sz="2800" dirty="0" err="1">
                <a:solidFill>
                  <a:srgbClr val="FFC000"/>
                </a:solidFill>
              </a:rPr>
              <a:t>ArrayList</a:t>
            </a:r>
            <a:r>
              <a:rPr lang="en-IN" sz="2800" dirty="0">
                <a:solidFill>
                  <a:schemeClr val="bg1"/>
                </a:solidFill>
              </a:rPr>
              <a:t>&lt;String&gt;(5); </a:t>
            </a:r>
            <a:endParaRPr lang="en-IN" sz="2800" dirty="0" smtClean="0">
              <a:solidFill>
                <a:schemeClr val="bg1"/>
              </a:solidFill>
            </a:endParaRPr>
          </a:p>
          <a:p>
            <a:pPr algn="just"/>
            <a:r>
              <a:rPr lang="en-IN" sz="2800" dirty="0" smtClean="0">
                <a:solidFill>
                  <a:schemeClr val="bg1"/>
                </a:solidFill>
              </a:rPr>
              <a:t>      // </a:t>
            </a:r>
            <a:r>
              <a:rPr lang="en-IN" sz="2800" dirty="0">
                <a:solidFill>
                  <a:schemeClr val="bg1"/>
                </a:solidFill>
              </a:rPr>
              <a:t>List&lt;String&gt; l = new </a:t>
            </a:r>
            <a:r>
              <a:rPr lang="en-IN" sz="2800" dirty="0" err="1" smtClean="0">
                <a:solidFill>
                  <a:srgbClr val="FFC000"/>
                </a:solidFill>
              </a:rPr>
              <a:t>LinkedList</a:t>
            </a:r>
            <a:r>
              <a:rPr lang="en-IN" sz="2800" dirty="0" smtClean="0">
                <a:solidFill>
                  <a:schemeClr val="bg1"/>
                </a:solidFill>
              </a:rPr>
              <a:t>&lt;String</a:t>
            </a:r>
            <a:r>
              <a:rPr lang="en-IN" sz="2800" dirty="0">
                <a:solidFill>
                  <a:schemeClr val="bg1"/>
                </a:solidFill>
              </a:rPr>
              <a:t>&gt;(5);</a:t>
            </a:r>
          </a:p>
          <a:p>
            <a:pPr algn="just"/>
            <a:r>
              <a:rPr lang="en-IN" sz="2800" dirty="0">
                <a:solidFill>
                  <a:schemeClr val="bg1"/>
                </a:solidFill>
              </a:rPr>
              <a:t>  </a:t>
            </a:r>
            <a:r>
              <a:rPr lang="en-IN" sz="2800" dirty="0" smtClean="0">
                <a:solidFill>
                  <a:schemeClr val="bg1"/>
                </a:solidFill>
              </a:rPr>
              <a:t>      </a:t>
            </a:r>
            <a:r>
              <a:rPr lang="en-IN" sz="2800" dirty="0" err="1">
                <a:solidFill>
                  <a:schemeClr val="bg1"/>
                </a:solidFill>
              </a:rPr>
              <a:t>l.add</a:t>
            </a:r>
            <a:r>
              <a:rPr lang="en-IN" sz="2800" dirty="0" smtClean="0">
                <a:solidFill>
                  <a:schemeClr val="bg1"/>
                </a:solidFill>
              </a:rPr>
              <a:t>(“Java");          //0 index</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l.add</a:t>
            </a:r>
            <a:r>
              <a:rPr lang="en-IN" sz="2800" dirty="0" smtClean="0">
                <a:solidFill>
                  <a:schemeClr val="bg1"/>
                </a:solidFill>
              </a:rPr>
              <a:t>(“Python");    //1 index</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l.add</a:t>
            </a:r>
            <a:r>
              <a:rPr lang="en-IN" sz="2800" dirty="0" smtClean="0">
                <a:solidFill>
                  <a:schemeClr val="bg1"/>
                </a:solidFill>
              </a:rPr>
              <a:t>(“PHP");         // 2 index</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l.add</a:t>
            </a:r>
            <a:r>
              <a:rPr lang="en-IN" sz="2800" dirty="0" smtClean="0">
                <a:solidFill>
                  <a:schemeClr val="bg1"/>
                </a:solidFill>
              </a:rPr>
              <a:t>(“Ruby");       // 3 index</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l.add</a:t>
            </a:r>
            <a:r>
              <a:rPr lang="en-IN" sz="2800" dirty="0" smtClean="0">
                <a:solidFill>
                  <a:schemeClr val="bg1"/>
                </a:solidFill>
              </a:rPr>
              <a:t>(“React");      // 4 index</a:t>
            </a:r>
            <a:endParaRPr lang="en-IN" sz="2800" dirty="0">
              <a:solidFill>
                <a:schemeClr val="bg1"/>
              </a:solidFill>
            </a:endParaRPr>
          </a:p>
          <a:p>
            <a:pPr algn="just"/>
            <a:r>
              <a:rPr lang="en-IN" sz="2800" dirty="0">
                <a:solidFill>
                  <a:schemeClr val="bg1"/>
                </a:solidFill>
              </a:rPr>
              <a:t>  </a:t>
            </a:r>
            <a:r>
              <a:rPr lang="en-IN" sz="2800" dirty="0" smtClean="0">
                <a:solidFill>
                  <a:schemeClr val="bg1"/>
                </a:solidFill>
              </a:rPr>
              <a:t>        </a:t>
            </a:r>
            <a:r>
              <a:rPr lang="en-IN" sz="2800" dirty="0">
                <a:solidFill>
                  <a:schemeClr val="bg1"/>
                </a:solidFill>
              </a:rPr>
              <a:t>List&lt;String&gt; range = new </a:t>
            </a:r>
            <a:r>
              <a:rPr lang="en-IN" sz="2800" dirty="0" err="1">
                <a:solidFill>
                  <a:schemeClr val="bg1"/>
                </a:solidFill>
              </a:rPr>
              <a:t>ArrayList</a:t>
            </a:r>
            <a:r>
              <a:rPr lang="en-IN" sz="2800" dirty="0">
                <a:solidFill>
                  <a:schemeClr val="bg1"/>
                </a:solidFill>
              </a:rPr>
              <a:t>&lt;String&gt;(); </a:t>
            </a:r>
          </a:p>
          <a:p>
            <a:pPr algn="just"/>
            <a:r>
              <a:rPr lang="en-IN" sz="2800" dirty="0">
                <a:solidFill>
                  <a:schemeClr val="bg1"/>
                </a:solidFill>
              </a:rPr>
              <a:t>  </a:t>
            </a:r>
            <a:r>
              <a:rPr lang="en-IN" sz="2800" dirty="0" smtClean="0">
                <a:solidFill>
                  <a:schemeClr val="bg1"/>
                </a:solidFill>
              </a:rPr>
              <a:t>        </a:t>
            </a:r>
            <a:endParaRPr lang="en-IN" sz="2800" dirty="0">
              <a:solidFill>
                <a:schemeClr val="bg1"/>
              </a:solidFill>
            </a:endParaRPr>
          </a:p>
          <a:p>
            <a:r>
              <a:rPr lang="en-IN" sz="2800" dirty="0" smtClean="0">
                <a:solidFill>
                  <a:schemeClr val="bg1"/>
                </a:solidFill>
              </a:rPr>
              <a:t>range </a:t>
            </a:r>
            <a:r>
              <a:rPr lang="en-IN" sz="2800" dirty="0">
                <a:solidFill>
                  <a:schemeClr val="bg1"/>
                </a:solidFill>
              </a:rPr>
              <a:t>= </a:t>
            </a:r>
            <a:r>
              <a:rPr lang="en-IN" sz="2800" dirty="0" err="1">
                <a:solidFill>
                  <a:schemeClr val="bg1"/>
                </a:solidFill>
              </a:rPr>
              <a:t>l.</a:t>
            </a:r>
            <a:r>
              <a:rPr lang="en-IN" sz="2800" dirty="0" err="1">
                <a:solidFill>
                  <a:srgbClr val="FFC000"/>
                </a:solidFill>
              </a:rPr>
              <a:t>subList</a:t>
            </a:r>
            <a:r>
              <a:rPr lang="en-IN" sz="2800" dirty="0">
                <a:solidFill>
                  <a:schemeClr val="bg1"/>
                </a:solidFill>
              </a:rPr>
              <a:t>(2, 4); </a:t>
            </a:r>
            <a:r>
              <a:rPr lang="en-IN" sz="2400" dirty="0">
                <a:solidFill>
                  <a:schemeClr val="bg1"/>
                </a:solidFill>
              </a:rPr>
              <a:t>// Return List between </a:t>
            </a:r>
            <a:r>
              <a:rPr lang="en-IN" sz="2400" u="sng" dirty="0">
                <a:solidFill>
                  <a:schemeClr val="bg1"/>
                </a:solidFill>
              </a:rPr>
              <a:t>2nd(including) and 4th element(excluding) </a:t>
            </a:r>
          </a:p>
          <a:p>
            <a:pPr algn="just"/>
            <a:r>
              <a:rPr lang="en-IN" sz="2800" dirty="0" err="1" smtClean="0">
                <a:solidFill>
                  <a:schemeClr val="bg1"/>
                </a:solidFill>
              </a:rPr>
              <a:t>System.out.println</a:t>
            </a:r>
            <a:r>
              <a:rPr lang="en-IN" sz="2800" dirty="0" smtClean="0">
                <a:solidFill>
                  <a:schemeClr val="bg1"/>
                </a:solidFill>
              </a:rPr>
              <a:t>(range</a:t>
            </a:r>
            <a:r>
              <a:rPr lang="en-IN" sz="2800" dirty="0">
                <a:solidFill>
                  <a:schemeClr val="bg1"/>
                </a:solidFill>
              </a:rPr>
              <a:t>);  </a:t>
            </a:r>
            <a:r>
              <a:rPr lang="en-IN" sz="2800" dirty="0" smtClean="0">
                <a:solidFill>
                  <a:schemeClr val="bg1"/>
                </a:solidFill>
              </a:rPr>
              <a:t>  </a:t>
            </a:r>
            <a:r>
              <a:rPr lang="en-IN" sz="2800" dirty="0">
                <a:solidFill>
                  <a:schemeClr val="bg1"/>
                </a:solidFill>
              </a:rPr>
              <a:t>} 		</a:t>
            </a:r>
          </a:p>
          <a:p>
            <a:pPr algn="just"/>
            <a:r>
              <a:rPr lang="en-IN" sz="2800" dirty="0">
                <a:solidFill>
                  <a:schemeClr val="bg1"/>
                </a:solidFill>
              </a:rPr>
              <a:t>		</a:t>
            </a:r>
          </a:p>
        </p:txBody>
      </p:sp>
      <p:cxnSp>
        <p:nvCxnSpPr>
          <p:cNvPr id="4" name="Straight Connector 3"/>
          <p:cNvCxnSpPr/>
          <p:nvPr/>
        </p:nvCxnSpPr>
        <p:spPr>
          <a:xfrm flipV="1">
            <a:off x="559557" y="696035"/>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55856"/>
            <a:ext cx="8857361" cy="984885"/>
          </a:xfrm>
          <a:prstGeom prst="rect">
            <a:avLst/>
          </a:prstGeom>
          <a:noFill/>
        </p:spPr>
        <p:txBody>
          <a:bodyPr wrap="none" rtlCol="0">
            <a:spAutoFit/>
          </a:bodyPr>
          <a:lstStyle/>
          <a:p>
            <a:r>
              <a:rPr lang="en-IN" sz="5800" dirty="0" smtClean="0">
                <a:solidFill>
                  <a:schemeClr val="bg1"/>
                </a:solidFill>
              </a:rPr>
              <a:t>Range-view: </a:t>
            </a:r>
            <a:r>
              <a:rPr lang="en-IN" sz="5800" dirty="0" err="1" smtClean="0">
                <a:solidFill>
                  <a:schemeClr val="bg1"/>
                </a:solidFill>
              </a:rPr>
              <a:t>subList</a:t>
            </a:r>
            <a:r>
              <a:rPr lang="en-IN" sz="5800" dirty="0" smtClean="0">
                <a:solidFill>
                  <a:schemeClr val="bg1"/>
                </a:solidFill>
              </a:rPr>
              <a:t> Example</a:t>
            </a:r>
            <a:endParaRPr lang="en-IN" sz="5800" dirty="0">
              <a:solidFill>
                <a:schemeClr val="bg1"/>
              </a:solidFill>
            </a:endParaRPr>
          </a:p>
        </p:txBody>
      </p:sp>
      <p:sp>
        <p:nvSpPr>
          <p:cNvPr id="3" name="Rectangle 2"/>
          <p:cNvSpPr/>
          <p:nvPr/>
        </p:nvSpPr>
        <p:spPr>
          <a:xfrm>
            <a:off x="8590844" y="2998674"/>
            <a:ext cx="1863202" cy="954107"/>
          </a:xfrm>
          <a:prstGeom prst="rect">
            <a:avLst/>
          </a:prstGeom>
        </p:spPr>
        <p:txBody>
          <a:bodyPr wrap="none">
            <a:spAutoFit/>
          </a:bodyPr>
          <a:lstStyle/>
          <a:p>
            <a:r>
              <a:rPr lang="en-IN" sz="2800" dirty="0" smtClean="0">
                <a:solidFill>
                  <a:srgbClr val="FFC000"/>
                </a:solidFill>
              </a:rPr>
              <a:t>O/P:</a:t>
            </a:r>
          </a:p>
          <a:p>
            <a:r>
              <a:rPr lang="en-IN" sz="2800" dirty="0" smtClean="0">
                <a:solidFill>
                  <a:srgbClr val="FFC000"/>
                </a:solidFill>
              </a:rPr>
              <a:t>[</a:t>
            </a:r>
            <a:r>
              <a:rPr lang="en-IN" sz="2800" dirty="0">
                <a:solidFill>
                  <a:srgbClr val="FFC000"/>
                </a:solidFill>
              </a:rPr>
              <a:t>PHP, Ruby]</a:t>
            </a:r>
          </a:p>
        </p:txBody>
      </p:sp>
    </p:spTree>
    <p:extLst>
      <p:ext uri="{BB962C8B-B14F-4D97-AF65-F5344CB8AC3E}">
        <p14:creationId xmlns:p14="http://schemas.microsoft.com/office/powerpoint/2010/main" val="287183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500"/>
                                        <p:tgtEl>
                                          <p:spTgt spid="2">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500"/>
                                        <p:tgtEl>
                                          <p:spTgt spid="2">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500"/>
                                        <p:tgtEl>
                                          <p:spTgt spid="2">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Effect transition="in" filter="fade">
                                      <p:cBhvr>
                                        <p:cTn id="34" dur="500"/>
                                        <p:tgtEl>
                                          <p:spTgt spid="2">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animEffect transition="in" filter="fade">
                                      <p:cBhvr>
                                        <p:cTn id="39" dur="500"/>
                                        <p:tgtEl>
                                          <p:spTgt spid="2">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
                                            <p:txEl>
                                              <p:pRg st="11" end="11"/>
                                            </p:txEl>
                                          </p:spTgt>
                                        </p:tgtEl>
                                        <p:attrNameLst>
                                          <p:attrName>style.visibility</p:attrName>
                                        </p:attrNameLst>
                                      </p:cBhvr>
                                      <p:to>
                                        <p:strVal val="visible"/>
                                      </p:to>
                                    </p:set>
                                    <p:animEffect transition="in" filter="fade">
                                      <p:cBhvr>
                                        <p:cTn id="42" dur="500"/>
                                        <p:tgtEl>
                                          <p:spTgt spid="2">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12" end="12"/>
                                            </p:txEl>
                                          </p:spTgt>
                                        </p:tgtEl>
                                        <p:attrNameLst>
                                          <p:attrName>style.visibility</p:attrName>
                                        </p:attrNameLst>
                                      </p:cBhvr>
                                      <p:to>
                                        <p:strVal val="visible"/>
                                      </p:to>
                                    </p:set>
                                    <p:animEffect transition="in" filter="fade">
                                      <p:cBhvr>
                                        <p:cTn id="45" dur="500"/>
                                        <p:tgtEl>
                                          <p:spTgt spid="2">
                                            <p:txEl>
                                              <p:pRg st="12" end="1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
                                            <p:txEl>
                                              <p:pRg st="13" end="13"/>
                                            </p:txEl>
                                          </p:spTgt>
                                        </p:tgtEl>
                                        <p:attrNameLst>
                                          <p:attrName>style.visibility</p:attrName>
                                        </p:attrNameLst>
                                      </p:cBhvr>
                                      <p:to>
                                        <p:strVal val="visible"/>
                                      </p:to>
                                    </p:set>
                                    <p:animEffect transition="in" filter="fade">
                                      <p:cBhvr>
                                        <p:cTn id="48" dur="500"/>
                                        <p:tgtEl>
                                          <p:spTgt spid="2">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fade">
                                      <p:cBhvr>
                                        <p:cTn id="5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45743" y="1119680"/>
            <a:ext cx="11391331" cy="526297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2800" dirty="0" err="1">
                <a:solidFill>
                  <a:schemeClr val="bg1"/>
                </a:solidFill>
              </a:rPr>
              <a:t>ArrayList</a:t>
            </a:r>
            <a:r>
              <a:rPr lang="en-IN" sz="2800" dirty="0">
                <a:solidFill>
                  <a:schemeClr val="bg1"/>
                </a:solidFill>
              </a:rPr>
              <a:t> internally uses </a:t>
            </a:r>
            <a:r>
              <a:rPr lang="en-IN" sz="2800" dirty="0">
                <a:solidFill>
                  <a:srgbClr val="FFC000"/>
                </a:solidFill>
              </a:rPr>
              <a:t>dynamic array</a:t>
            </a:r>
            <a:r>
              <a:rPr lang="en-IN" sz="2800" dirty="0">
                <a:solidFill>
                  <a:schemeClr val="bg1"/>
                </a:solidFill>
              </a:rPr>
              <a:t> to store the </a:t>
            </a:r>
            <a:r>
              <a:rPr lang="en-IN" sz="2800" dirty="0" smtClean="0">
                <a:solidFill>
                  <a:schemeClr val="bg1"/>
                </a:solidFill>
              </a:rPr>
              <a:t>elements while </a:t>
            </a:r>
            <a:r>
              <a:rPr lang="en-IN" sz="2800" dirty="0" err="1" smtClean="0">
                <a:solidFill>
                  <a:schemeClr val="bg1"/>
                </a:solidFill>
              </a:rPr>
              <a:t>LinkedList</a:t>
            </a:r>
            <a:r>
              <a:rPr lang="en-IN" sz="2800" dirty="0" smtClean="0">
                <a:solidFill>
                  <a:schemeClr val="bg1"/>
                </a:solidFill>
              </a:rPr>
              <a:t> </a:t>
            </a:r>
            <a:r>
              <a:rPr lang="en-IN" sz="2800" dirty="0">
                <a:solidFill>
                  <a:schemeClr val="bg1"/>
                </a:solidFill>
              </a:rPr>
              <a:t>internally uses </a:t>
            </a:r>
            <a:r>
              <a:rPr lang="en-IN" sz="2800" dirty="0">
                <a:solidFill>
                  <a:srgbClr val="FFC000"/>
                </a:solidFill>
              </a:rPr>
              <a:t>doubly linked</a:t>
            </a:r>
            <a:r>
              <a:rPr lang="en-IN" sz="2800" dirty="0">
                <a:solidFill>
                  <a:schemeClr val="bg1"/>
                </a:solidFill>
              </a:rPr>
              <a:t> list to store the elements.</a:t>
            </a:r>
          </a:p>
          <a:p>
            <a:pPr marL="457200" indent="-457200" algn="just">
              <a:lnSpc>
                <a:spcPct val="150000"/>
              </a:lnSpc>
              <a:buFont typeface="Arial" panose="020B0604020202020204" pitchFamily="34" charset="0"/>
              <a:buChar char="•"/>
            </a:pPr>
            <a:r>
              <a:rPr lang="en-IN" sz="2800" u="sng" dirty="0" smtClean="0">
                <a:solidFill>
                  <a:schemeClr val="bg1"/>
                </a:solidFill>
              </a:rPr>
              <a:t>Insertions and Removal </a:t>
            </a:r>
            <a:r>
              <a:rPr lang="en-IN" sz="2800" u="sng" dirty="0">
                <a:solidFill>
                  <a:schemeClr val="bg1"/>
                </a:solidFill>
              </a:rPr>
              <a:t>are easy and fast in </a:t>
            </a:r>
            <a:r>
              <a:rPr lang="en-IN" sz="2800" u="sng" dirty="0" err="1">
                <a:solidFill>
                  <a:schemeClr val="bg1"/>
                </a:solidFill>
              </a:rPr>
              <a:t>LinkedList</a:t>
            </a:r>
            <a:r>
              <a:rPr lang="en-IN" sz="2800" u="sng" dirty="0">
                <a:solidFill>
                  <a:schemeClr val="bg1"/>
                </a:solidFill>
              </a:rPr>
              <a:t> as compared to </a:t>
            </a:r>
            <a:r>
              <a:rPr lang="en-IN" sz="2800" u="sng" dirty="0" err="1">
                <a:solidFill>
                  <a:schemeClr val="bg1"/>
                </a:solidFill>
              </a:rPr>
              <a:t>ArrayList</a:t>
            </a:r>
            <a:r>
              <a:rPr lang="en-IN" sz="2800" u="sng" dirty="0">
                <a:solidFill>
                  <a:schemeClr val="bg1"/>
                </a:solidFill>
              </a:rPr>
              <a:t> </a:t>
            </a:r>
            <a:r>
              <a:rPr lang="en-IN" sz="2800" dirty="0">
                <a:solidFill>
                  <a:schemeClr val="bg1"/>
                </a:solidFill>
              </a:rPr>
              <a:t>because there is </a:t>
            </a:r>
            <a:r>
              <a:rPr lang="en-IN" sz="2800" dirty="0" smtClean="0">
                <a:solidFill>
                  <a:schemeClr val="bg1"/>
                </a:solidFill>
              </a:rPr>
              <a:t>no risk </a:t>
            </a:r>
            <a:r>
              <a:rPr lang="en-IN" sz="2800" dirty="0">
                <a:solidFill>
                  <a:schemeClr val="bg1"/>
                </a:solidFill>
              </a:rPr>
              <a:t>of resizing array and copying content to new array if array gets full which </a:t>
            </a:r>
            <a:r>
              <a:rPr lang="en-IN" sz="2800" dirty="0" smtClean="0">
                <a:solidFill>
                  <a:schemeClr val="bg1"/>
                </a:solidFill>
              </a:rPr>
              <a:t>makes adding </a:t>
            </a:r>
            <a:r>
              <a:rPr lang="en-IN" sz="2800" dirty="0">
                <a:solidFill>
                  <a:schemeClr val="bg1"/>
                </a:solidFill>
              </a:rPr>
              <a:t>into </a:t>
            </a:r>
            <a:r>
              <a:rPr lang="en-IN" sz="2800" dirty="0" err="1">
                <a:solidFill>
                  <a:schemeClr val="bg1"/>
                </a:solidFill>
              </a:rPr>
              <a:t>ArrayList</a:t>
            </a:r>
            <a:r>
              <a:rPr lang="en-IN" sz="2800" dirty="0">
                <a:solidFill>
                  <a:schemeClr val="bg1"/>
                </a:solidFill>
              </a:rPr>
              <a:t> of O(n) in worst case, while adding is O(1) operation in </a:t>
            </a:r>
            <a:r>
              <a:rPr lang="en-IN" sz="2800" dirty="0" err="1" smtClean="0">
                <a:solidFill>
                  <a:schemeClr val="bg1"/>
                </a:solidFill>
              </a:rPr>
              <a:t>LinkedList</a:t>
            </a:r>
            <a:r>
              <a:rPr lang="en-IN" sz="2800" dirty="0" smtClean="0">
                <a:solidFill>
                  <a:schemeClr val="bg1"/>
                </a:solidFill>
              </a:rPr>
              <a:t> in </a:t>
            </a:r>
            <a:r>
              <a:rPr lang="en-IN" sz="2800" dirty="0">
                <a:solidFill>
                  <a:schemeClr val="bg1"/>
                </a:solidFill>
              </a:rPr>
              <a:t>Java. </a:t>
            </a:r>
            <a:endParaRPr lang="en-IN" sz="2800" dirty="0" smtClean="0">
              <a:solidFill>
                <a:schemeClr val="bg1"/>
              </a:solidFill>
            </a:endParaRPr>
          </a:p>
          <a:p>
            <a:pPr marL="457200" indent="-457200" algn="just">
              <a:lnSpc>
                <a:spcPct val="150000"/>
              </a:lnSpc>
              <a:buFont typeface="Arial" panose="020B0604020202020204" pitchFamily="34" charset="0"/>
              <a:buChar char="•"/>
            </a:pPr>
            <a:r>
              <a:rPr lang="en-IN" sz="2800" u="sng" dirty="0" err="1">
                <a:solidFill>
                  <a:schemeClr val="bg1"/>
                </a:solidFill>
              </a:rPr>
              <a:t>ArrayList</a:t>
            </a:r>
            <a:r>
              <a:rPr lang="en-IN" sz="2800" dirty="0">
                <a:solidFill>
                  <a:schemeClr val="bg1"/>
                </a:solidFill>
              </a:rPr>
              <a:t> is </a:t>
            </a:r>
            <a:r>
              <a:rPr lang="en-IN" sz="2800" u="sng" dirty="0">
                <a:solidFill>
                  <a:schemeClr val="bg1"/>
                </a:solidFill>
              </a:rPr>
              <a:t>better for storing and accessing data</a:t>
            </a:r>
            <a:r>
              <a:rPr lang="en-IN" sz="2800" dirty="0">
                <a:solidFill>
                  <a:schemeClr val="bg1"/>
                </a:solidFill>
              </a:rPr>
              <a:t> while </a:t>
            </a:r>
            <a:r>
              <a:rPr lang="en-IN" sz="2800" u="sng" dirty="0" err="1">
                <a:solidFill>
                  <a:schemeClr val="bg1"/>
                </a:solidFill>
              </a:rPr>
              <a:t>LinkedList</a:t>
            </a:r>
            <a:r>
              <a:rPr lang="en-IN" sz="2800" dirty="0">
                <a:solidFill>
                  <a:schemeClr val="bg1"/>
                </a:solidFill>
              </a:rPr>
              <a:t> is </a:t>
            </a:r>
            <a:r>
              <a:rPr lang="en-IN" sz="2800" u="sng" dirty="0">
                <a:solidFill>
                  <a:schemeClr val="bg1"/>
                </a:solidFill>
              </a:rPr>
              <a:t>better for manipulating data</a:t>
            </a:r>
            <a:r>
              <a:rPr lang="en-IN" sz="2800" dirty="0">
                <a:solidFill>
                  <a:schemeClr val="bg1"/>
                </a:solidFill>
              </a:rPr>
              <a:t>.</a:t>
            </a:r>
          </a:p>
        </p:txBody>
      </p:sp>
      <p:sp>
        <p:nvSpPr>
          <p:cNvPr id="5" name="TextBox 4"/>
          <p:cNvSpPr txBox="1"/>
          <p:nvPr/>
        </p:nvSpPr>
        <p:spPr>
          <a:xfrm>
            <a:off x="0" y="-19376"/>
            <a:ext cx="6732099" cy="984885"/>
          </a:xfrm>
          <a:prstGeom prst="rect">
            <a:avLst/>
          </a:prstGeom>
          <a:noFill/>
        </p:spPr>
        <p:txBody>
          <a:bodyPr wrap="none" rtlCol="0">
            <a:spAutoFit/>
          </a:bodyPr>
          <a:lstStyle/>
          <a:p>
            <a:r>
              <a:rPr lang="en-IN" sz="5800" dirty="0" err="1" smtClean="0">
                <a:solidFill>
                  <a:schemeClr val="bg1"/>
                </a:solidFill>
              </a:rPr>
              <a:t>ArrayList</a:t>
            </a:r>
            <a:r>
              <a:rPr lang="en-IN" sz="5800" dirty="0" smtClean="0">
                <a:solidFill>
                  <a:schemeClr val="bg1"/>
                </a:solidFill>
              </a:rPr>
              <a:t> vs </a:t>
            </a:r>
            <a:r>
              <a:rPr lang="en-IN" sz="5800" dirty="0" err="1" smtClean="0">
                <a:solidFill>
                  <a:schemeClr val="bg1"/>
                </a:solidFill>
              </a:rPr>
              <a:t>LinkedList</a:t>
            </a:r>
            <a:endParaRPr lang="en-IN" sz="5800" dirty="0">
              <a:solidFill>
                <a:schemeClr val="bg1"/>
              </a:solidFill>
            </a:endParaRPr>
          </a:p>
        </p:txBody>
      </p:sp>
    </p:spTree>
    <p:extLst>
      <p:ext uri="{BB962C8B-B14F-4D97-AF65-F5344CB8AC3E}">
        <p14:creationId xmlns:p14="http://schemas.microsoft.com/office/powerpoint/2010/main" val="161518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59557" y="965509"/>
            <a:ext cx="11391331" cy="5693866"/>
          </a:xfrm>
          <a:prstGeom prst="rect">
            <a:avLst/>
          </a:prstGeom>
        </p:spPr>
        <p:txBody>
          <a:bodyPr wrap="square">
            <a:spAutoFit/>
          </a:bodyPr>
          <a:lstStyle/>
          <a:p>
            <a:pPr algn="just"/>
            <a:r>
              <a:rPr lang="en-IN" sz="2800" dirty="0" smtClean="0">
                <a:solidFill>
                  <a:schemeClr val="bg1"/>
                </a:solidFill>
              </a:rPr>
              <a:t>public </a:t>
            </a:r>
            <a:r>
              <a:rPr lang="en-IN" sz="2800" dirty="0">
                <a:solidFill>
                  <a:schemeClr val="bg1"/>
                </a:solidFill>
              </a:rPr>
              <a:t>class </a:t>
            </a:r>
            <a:r>
              <a:rPr lang="en-IN" sz="2800" dirty="0" err="1">
                <a:solidFill>
                  <a:schemeClr val="bg1"/>
                </a:solidFill>
              </a:rPr>
              <a:t>VectorExample</a:t>
            </a:r>
            <a:r>
              <a:rPr lang="en-IN" sz="2800" dirty="0">
                <a:solidFill>
                  <a:schemeClr val="bg1"/>
                </a:solidFill>
              </a:rPr>
              <a:t> {</a:t>
            </a:r>
          </a:p>
          <a:p>
            <a:pPr algn="just"/>
            <a:r>
              <a:rPr lang="en-IN" sz="2800" dirty="0" smtClean="0">
                <a:solidFill>
                  <a:schemeClr val="bg1"/>
                </a:solidFill>
              </a:rPr>
              <a:t>   </a:t>
            </a:r>
            <a:r>
              <a:rPr lang="en-IN" sz="2800" dirty="0">
                <a:solidFill>
                  <a:schemeClr val="bg1"/>
                </a:solidFill>
              </a:rPr>
              <a:t>public static void main(String </a:t>
            </a:r>
            <a:r>
              <a:rPr lang="en-IN" sz="2800" dirty="0" err="1">
                <a:solidFill>
                  <a:schemeClr val="bg1"/>
                </a:solidFill>
              </a:rPr>
              <a:t>args</a:t>
            </a:r>
            <a:r>
              <a:rPr lang="en-IN" sz="2800" dirty="0">
                <a:solidFill>
                  <a:schemeClr val="bg1"/>
                </a:solidFill>
              </a:rPr>
              <a:t>[]) {</a:t>
            </a:r>
          </a:p>
          <a:p>
            <a:pPr algn="just"/>
            <a:r>
              <a:rPr lang="en-IN" sz="2800" dirty="0">
                <a:solidFill>
                  <a:schemeClr val="bg1"/>
                </a:solidFill>
              </a:rPr>
              <a:t>      </a:t>
            </a:r>
            <a:r>
              <a:rPr lang="en-IN" sz="2800" dirty="0">
                <a:solidFill>
                  <a:srgbClr val="FFC000"/>
                </a:solidFill>
              </a:rPr>
              <a:t>Vector</a:t>
            </a:r>
            <a:r>
              <a:rPr lang="en-IN" sz="2800" dirty="0">
                <a:solidFill>
                  <a:schemeClr val="bg1"/>
                </a:solidFill>
              </a:rPr>
              <a:t>&lt;String&gt; </a:t>
            </a:r>
            <a:r>
              <a:rPr lang="en-IN" sz="2800" dirty="0" err="1">
                <a:solidFill>
                  <a:schemeClr val="bg1"/>
                </a:solidFill>
              </a:rPr>
              <a:t>vec</a:t>
            </a:r>
            <a:r>
              <a:rPr lang="en-IN" sz="2800" dirty="0">
                <a:solidFill>
                  <a:schemeClr val="bg1"/>
                </a:solidFill>
              </a:rPr>
              <a:t> = new </a:t>
            </a:r>
            <a:r>
              <a:rPr lang="en-IN" sz="2800" dirty="0">
                <a:solidFill>
                  <a:srgbClr val="FFC000"/>
                </a:solidFill>
              </a:rPr>
              <a:t>Vector</a:t>
            </a:r>
            <a:r>
              <a:rPr lang="en-IN" sz="2800" dirty="0">
                <a:solidFill>
                  <a:schemeClr val="bg1"/>
                </a:solidFill>
              </a:rPr>
              <a:t>&lt;String&gt;(2);</a:t>
            </a:r>
          </a:p>
          <a:p>
            <a:pPr algn="just"/>
            <a:endParaRPr lang="en-IN" sz="2800" dirty="0">
              <a:solidFill>
                <a:schemeClr val="bg1"/>
              </a:solidFill>
            </a:endParaRPr>
          </a:p>
          <a:p>
            <a:pPr algn="just"/>
            <a:r>
              <a:rPr lang="en-IN" sz="2800" dirty="0">
                <a:solidFill>
                  <a:schemeClr val="bg1"/>
                </a:solidFill>
              </a:rPr>
              <a:t>      /* Adding elements to a vector*/</a:t>
            </a:r>
          </a:p>
          <a:p>
            <a:pPr algn="just"/>
            <a:r>
              <a:rPr lang="en-IN" sz="2800" dirty="0">
                <a:solidFill>
                  <a:schemeClr val="bg1"/>
                </a:solidFill>
              </a:rPr>
              <a:t>      </a:t>
            </a:r>
            <a:r>
              <a:rPr lang="en-IN" sz="2800" dirty="0" err="1">
                <a:solidFill>
                  <a:schemeClr val="bg1"/>
                </a:solidFill>
              </a:rPr>
              <a:t>vec.</a:t>
            </a:r>
            <a:r>
              <a:rPr lang="en-IN" sz="2800" dirty="0" err="1">
                <a:solidFill>
                  <a:srgbClr val="FFC000"/>
                </a:solidFill>
              </a:rPr>
              <a:t>addElement</a:t>
            </a:r>
            <a:r>
              <a:rPr lang="en-IN" sz="2800" dirty="0" smtClean="0">
                <a:solidFill>
                  <a:schemeClr val="bg1"/>
                </a:solidFill>
              </a:rPr>
              <a:t>(“1");</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vec.</a:t>
            </a:r>
            <a:r>
              <a:rPr lang="en-IN" sz="2800" dirty="0" err="1">
                <a:solidFill>
                  <a:srgbClr val="FFC000"/>
                </a:solidFill>
              </a:rPr>
              <a:t>addElement</a:t>
            </a:r>
            <a:r>
              <a:rPr lang="en-IN" sz="2800" dirty="0" smtClean="0">
                <a:solidFill>
                  <a:schemeClr val="bg1"/>
                </a:solidFill>
              </a:rPr>
              <a:t>(“2");</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vec.</a:t>
            </a:r>
            <a:r>
              <a:rPr lang="en-IN" sz="2800" dirty="0" err="1">
                <a:solidFill>
                  <a:srgbClr val="FFC000"/>
                </a:solidFill>
              </a:rPr>
              <a:t>addElement</a:t>
            </a:r>
            <a:r>
              <a:rPr lang="en-IN" sz="2800" dirty="0" smtClean="0">
                <a:solidFill>
                  <a:schemeClr val="bg1"/>
                </a:solidFill>
              </a:rPr>
              <a:t>(“3");</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vec.</a:t>
            </a:r>
            <a:r>
              <a:rPr lang="en-IN" sz="2800" dirty="0" err="1">
                <a:solidFill>
                  <a:srgbClr val="FFC000"/>
                </a:solidFill>
              </a:rPr>
              <a:t>addElement</a:t>
            </a:r>
            <a:r>
              <a:rPr lang="en-IN" sz="2800" dirty="0" smtClean="0">
                <a:solidFill>
                  <a:schemeClr val="bg1"/>
                </a:solidFill>
              </a:rPr>
              <a:t>(“4");</a:t>
            </a:r>
            <a:endParaRPr lang="en-IN" sz="2800" dirty="0">
              <a:solidFill>
                <a:schemeClr val="bg1"/>
              </a:solidFill>
            </a:endParaRPr>
          </a:p>
          <a:p>
            <a:pPr algn="just"/>
            <a:endParaRPr lang="en-IN" sz="2800" dirty="0">
              <a:solidFill>
                <a:schemeClr val="bg1"/>
              </a:solidFill>
            </a:endParaRPr>
          </a:p>
          <a:p>
            <a:pPr algn="just"/>
            <a:r>
              <a:rPr lang="en-IN" sz="2800" dirty="0">
                <a:solidFill>
                  <a:schemeClr val="bg1"/>
                </a:solidFill>
              </a:rPr>
              <a:t>      /* check size and </a:t>
            </a:r>
            <a:r>
              <a:rPr lang="en-IN" sz="2800" dirty="0" err="1">
                <a:solidFill>
                  <a:schemeClr val="bg1"/>
                </a:solidFill>
              </a:rPr>
              <a:t>capacityIncrement</a:t>
            </a:r>
            <a:r>
              <a:rPr lang="en-IN" sz="2800" dirty="0">
                <a:solidFill>
                  <a:schemeClr val="bg1"/>
                </a:solidFill>
              </a:rPr>
              <a:t>*/</a:t>
            </a:r>
          </a:p>
          <a:p>
            <a:pPr algn="just"/>
            <a:r>
              <a:rPr lang="en-IN" sz="2800" dirty="0">
                <a:solidFill>
                  <a:schemeClr val="bg1"/>
                </a:solidFill>
              </a:rPr>
              <a:t>      </a:t>
            </a:r>
            <a:r>
              <a:rPr lang="en-IN" sz="2800" dirty="0" err="1">
                <a:solidFill>
                  <a:schemeClr val="bg1"/>
                </a:solidFill>
              </a:rPr>
              <a:t>System.out.println</a:t>
            </a:r>
            <a:r>
              <a:rPr lang="en-IN" sz="2800" dirty="0">
                <a:solidFill>
                  <a:schemeClr val="bg1"/>
                </a:solidFill>
              </a:rPr>
              <a:t>("Size is: "+</a:t>
            </a:r>
            <a:r>
              <a:rPr lang="en-IN" sz="2800" dirty="0" err="1">
                <a:solidFill>
                  <a:schemeClr val="bg1"/>
                </a:solidFill>
              </a:rPr>
              <a:t>vec.</a:t>
            </a:r>
            <a:r>
              <a:rPr lang="en-IN" sz="2800" dirty="0" err="1">
                <a:solidFill>
                  <a:srgbClr val="FFC000"/>
                </a:solidFill>
              </a:rPr>
              <a:t>size</a:t>
            </a:r>
            <a:r>
              <a:rPr lang="en-IN" sz="2800" dirty="0" smtClean="0">
                <a:solidFill>
                  <a:schemeClr val="bg1"/>
                </a:solidFill>
              </a:rPr>
              <a:t>());  //4</a:t>
            </a:r>
            <a:endParaRPr lang="en-IN" sz="2800" dirty="0">
              <a:solidFill>
                <a:schemeClr val="bg1"/>
              </a:solidFill>
            </a:endParaRPr>
          </a:p>
          <a:p>
            <a:pPr algn="just"/>
            <a:r>
              <a:rPr lang="en-IN" sz="2800" dirty="0">
                <a:solidFill>
                  <a:schemeClr val="bg1"/>
                </a:solidFill>
              </a:rPr>
              <a:t>      </a:t>
            </a:r>
            <a:r>
              <a:rPr lang="en-IN" sz="2800" dirty="0" err="1">
                <a:solidFill>
                  <a:schemeClr val="bg1"/>
                </a:solidFill>
              </a:rPr>
              <a:t>System.out.println</a:t>
            </a:r>
            <a:r>
              <a:rPr lang="en-IN" sz="2800" dirty="0">
                <a:solidFill>
                  <a:schemeClr val="bg1"/>
                </a:solidFill>
              </a:rPr>
              <a:t>("Default capacity increment is: "+</a:t>
            </a:r>
            <a:r>
              <a:rPr lang="en-IN" sz="2800" dirty="0" err="1">
                <a:solidFill>
                  <a:schemeClr val="bg1"/>
                </a:solidFill>
              </a:rPr>
              <a:t>vec.</a:t>
            </a:r>
            <a:r>
              <a:rPr lang="en-IN" sz="2800" dirty="0" err="1">
                <a:solidFill>
                  <a:srgbClr val="FFC000"/>
                </a:solidFill>
              </a:rPr>
              <a:t>capacity</a:t>
            </a:r>
            <a:r>
              <a:rPr lang="en-IN" sz="2800" dirty="0" smtClean="0">
                <a:solidFill>
                  <a:schemeClr val="bg1"/>
                </a:solidFill>
              </a:rPr>
              <a:t>()); //4</a:t>
            </a:r>
          </a:p>
        </p:txBody>
      </p:sp>
      <p:sp>
        <p:nvSpPr>
          <p:cNvPr id="5" name="TextBox 4"/>
          <p:cNvSpPr txBox="1"/>
          <p:nvPr/>
        </p:nvSpPr>
        <p:spPr>
          <a:xfrm>
            <a:off x="0" y="-19376"/>
            <a:ext cx="9113970" cy="984885"/>
          </a:xfrm>
          <a:prstGeom prst="rect">
            <a:avLst/>
          </a:prstGeom>
          <a:noFill/>
        </p:spPr>
        <p:txBody>
          <a:bodyPr wrap="none" rtlCol="0">
            <a:spAutoFit/>
          </a:bodyPr>
          <a:lstStyle/>
          <a:p>
            <a:r>
              <a:rPr lang="en-IN" sz="5800" dirty="0" smtClean="0">
                <a:solidFill>
                  <a:schemeClr val="bg1"/>
                </a:solidFill>
              </a:rPr>
              <a:t>List Interface: Vector Example</a:t>
            </a:r>
            <a:endParaRPr lang="en-IN" sz="5800" dirty="0">
              <a:solidFill>
                <a:schemeClr val="bg1"/>
              </a:solidFill>
            </a:endParaRPr>
          </a:p>
        </p:txBody>
      </p:sp>
    </p:spTree>
    <p:extLst>
      <p:ext uri="{BB962C8B-B14F-4D97-AF65-F5344CB8AC3E}">
        <p14:creationId xmlns:p14="http://schemas.microsoft.com/office/powerpoint/2010/main" val="425855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500"/>
                                        <p:tgtEl>
                                          <p:spTgt spid="2">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8" end="8"/>
                                            </p:txEl>
                                          </p:spTgt>
                                        </p:tgtEl>
                                        <p:attrNameLst>
                                          <p:attrName>style.visibility</p:attrName>
                                        </p:attrNameLst>
                                      </p:cBhvr>
                                      <p:to>
                                        <p:strVal val="visible"/>
                                      </p:to>
                                    </p:set>
                                    <p:animEffect transition="in" filter="fade">
                                      <p:cBhvr>
                                        <p:cTn id="30" dur="500"/>
                                        <p:tgtEl>
                                          <p:spTgt spid="2">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animEffect transition="in" filter="fade">
                                      <p:cBhvr>
                                        <p:cTn id="35" dur="500"/>
                                        <p:tgtEl>
                                          <p:spTgt spid="2">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
                                            <p:txEl>
                                              <p:pRg st="11" end="11"/>
                                            </p:txEl>
                                          </p:spTgt>
                                        </p:tgtEl>
                                        <p:attrNameLst>
                                          <p:attrName>style.visibility</p:attrName>
                                        </p:attrNameLst>
                                      </p:cBhvr>
                                      <p:to>
                                        <p:strVal val="visible"/>
                                      </p:to>
                                    </p:set>
                                    <p:animEffect transition="in" filter="fade">
                                      <p:cBhvr>
                                        <p:cTn id="38" dur="500"/>
                                        <p:tgtEl>
                                          <p:spTgt spid="2">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2">
                                            <p:txEl>
                                              <p:pRg st="12" end="12"/>
                                            </p:txEl>
                                          </p:spTgt>
                                        </p:tgtEl>
                                        <p:attrNameLst>
                                          <p:attrName>style.visibility</p:attrName>
                                        </p:attrNameLst>
                                      </p:cBhvr>
                                      <p:to>
                                        <p:strVal val="visible"/>
                                      </p:to>
                                    </p:set>
                                    <p:animEffect transition="in" filter="fade">
                                      <p:cBhvr>
                                        <p:cTn id="41"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59557" y="869973"/>
            <a:ext cx="11391331" cy="6124754"/>
          </a:xfrm>
          <a:prstGeom prst="rect">
            <a:avLst/>
          </a:prstGeom>
        </p:spPr>
        <p:txBody>
          <a:bodyPr wrap="square">
            <a:spAutoFit/>
          </a:bodyPr>
          <a:lstStyle/>
          <a:p>
            <a:pPr algn="just"/>
            <a:r>
              <a:rPr lang="en-IN" sz="2800" dirty="0" smtClean="0">
                <a:solidFill>
                  <a:schemeClr val="bg1"/>
                </a:solidFill>
              </a:rPr>
              <a:t>      </a:t>
            </a:r>
            <a:r>
              <a:rPr lang="en-IN" sz="2800" dirty="0" err="1" smtClean="0">
                <a:solidFill>
                  <a:schemeClr val="bg1"/>
                </a:solidFill>
              </a:rPr>
              <a:t>vec.addElement</a:t>
            </a:r>
            <a:r>
              <a:rPr lang="en-IN" sz="2800" dirty="0" smtClean="0">
                <a:solidFill>
                  <a:schemeClr val="bg1"/>
                </a:solidFill>
              </a:rPr>
              <a:t>(“5");</a:t>
            </a:r>
          </a:p>
          <a:p>
            <a:pPr algn="just"/>
            <a:r>
              <a:rPr lang="en-IN" sz="2800" dirty="0" smtClean="0">
                <a:solidFill>
                  <a:schemeClr val="bg1"/>
                </a:solidFill>
              </a:rPr>
              <a:t>      </a:t>
            </a:r>
            <a:r>
              <a:rPr lang="en-IN" sz="2800" dirty="0" err="1" smtClean="0">
                <a:solidFill>
                  <a:schemeClr val="bg1"/>
                </a:solidFill>
              </a:rPr>
              <a:t>vec.addElement</a:t>
            </a:r>
            <a:r>
              <a:rPr lang="en-IN" sz="2800" dirty="0" smtClean="0">
                <a:solidFill>
                  <a:schemeClr val="bg1"/>
                </a:solidFill>
              </a:rPr>
              <a:t>(“6”);</a:t>
            </a:r>
          </a:p>
          <a:p>
            <a:pPr algn="just"/>
            <a:r>
              <a:rPr lang="en-IN" sz="2800" dirty="0" smtClean="0">
                <a:solidFill>
                  <a:schemeClr val="bg1"/>
                </a:solidFill>
              </a:rPr>
              <a:t>      </a:t>
            </a:r>
            <a:r>
              <a:rPr lang="en-IN" sz="2800" dirty="0" err="1" smtClean="0">
                <a:solidFill>
                  <a:schemeClr val="bg1"/>
                </a:solidFill>
              </a:rPr>
              <a:t>vec.addElement</a:t>
            </a:r>
            <a:r>
              <a:rPr lang="en-IN" sz="2800" dirty="0" smtClean="0">
                <a:solidFill>
                  <a:schemeClr val="bg1"/>
                </a:solidFill>
              </a:rPr>
              <a:t>(“7");</a:t>
            </a:r>
          </a:p>
          <a:p>
            <a:pPr algn="just"/>
            <a:endParaRPr lang="en-IN" sz="2800" dirty="0" smtClean="0">
              <a:solidFill>
                <a:schemeClr val="bg1"/>
              </a:solidFill>
            </a:endParaRPr>
          </a:p>
          <a:p>
            <a:pPr algn="just"/>
            <a:r>
              <a:rPr lang="en-IN" sz="2800" dirty="0" smtClean="0">
                <a:solidFill>
                  <a:schemeClr val="bg1"/>
                </a:solidFill>
              </a:rPr>
              <a:t>      /*size and </a:t>
            </a:r>
            <a:r>
              <a:rPr lang="en-IN" sz="2800" dirty="0" err="1" smtClean="0">
                <a:solidFill>
                  <a:schemeClr val="bg1"/>
                </a:solidFill>
              </a:rPr>
              <a:t>capacityIncrement</a:t>
            </a:r>
            <a:r>
              <a:rPr lang="en-IN" sz="2800" dirty="0" smtClean="0">
                <a:solidFill>
                  <a:schemeClr val="bg1"/>
                </a:solidFill>
              </a:rPr>
              <a:t> after two insertions*/</a:t>
            </a:r>
          </a:p>
          <a:p>
            <a:pPr algn="just"/>
            <a:r>
              <a:rPr lang="en-IN" sz="2800" dirty="0" smtClean="0">
                <a:solidFill>
                  <a:schemeClr val="bg1"/>
                </a:solidFill>
              </a:rPr>
              <a:t>      </a:t>
            </a:r>
            <a:r>
              <a:rPr lang="en-IN" sz="2800" dirty="0" err="1" smtClean="0">
                <a:solidFill>
                  <a:schemeClr val="bg1"/>
                </a:solidFill>
              </a:rPr>
              <a:t>System.out.println</a:t>
            </a:r>
            <a:r>
              <a:rPr lang="en-IN" sz="2800" dirty="0" smtClean="0">
                <a:solidFill>
                  <a:schemeClr val="bg1"/>
                </a:solidFill>
              </a:rPr>
              <a:t>("Size after addition: "+</a:t>
            </a:r>
            <a:r>
              <a:rPr lang="en-IN" sz="2800" dirty="0" err="1" smtClean="0">
                <a:solidFill>
                  <a:schemeClr val="bg1"/>
                </a:solidFill>
              </a:rPr>
              <a:t>vec.</a:t>
            </a:r>
            <a:r>
              <a:rPr lang="en-IN" sz="2800" dirty="0" err="1" smtClean="0">
                <a:solidFill>
                  <a:srgbClr val="FFC000"/>
                </a:solidFill>
              </a:rPr>
              <a:t>size</a:t>
            </a:r>
            <a:r>
              <a:rPr lang="en-IN" sz="2800" dirty="0" smtClean="0">
                <a:solidFill>
                  <a:schemeClr val="bg1"/>
                </a:solidFill>
              </a:rPr>
              <a:t>()); //7</a:t>
            </a:r>
          </a:p>
          <a:p>
            <a:pPr algn="just"/>
            <a:r>
              <a:rPr lang="en-IN" sz="2800" dirty="0" smtClean="0">
                <a:solidFill>
                  <a:schemeClr val="bg1"/>
                </a:solidFill>
              </a:rPr>
              <a:t>      </a:t>
            </a:r>
            <a:r>
              <a:rPr lang="en-IN" sz="2800" dirty="0" err="1" smtClean="0">
                <a:solidFill>
                  <a:schemeClr val="bg1"/>
                </a:solidFill>
              </a:rPr>
              <a:t>System.out.println</a:t>
            </a:r>
            <a:r>
              <a:rPr lang="en-IN" sz="2800" dirty="0" smtClean="0">
                <a:solidFill>
                  <a:schemeClr val="bg1"/>
                </a:solidFill>
              </a:rPr>
              <a:t>("Capacity after increment is: "+</a:t>
            </a:r>
            <a:r>
              <a:rPr lang="en-IN" sz="2800" dirty="0" err="1" smtClean="0">
                <a:solidFill>
                  <a:schemeClr val="bg1"/>
                </a:solidFill>
              </a:rPr>
              <a:t>vec.</a:t>
            </a:r>
            <a:r>
              <a:rPr lang="en-IN" sz="2800" dirty="0" err="1" smtClean="0">
                <a:solidFill>
                  <a:srgbClr val="FFC000"/>
                </a:solidFill>
              </a:rPr>
              <a:t>capacity</a:t>
            </a:r>
            <a:r>
              <a:rPr lang="en-IN" sz="2800" dirty="0" smtClean="0">
                <a:solidFill>
                  <a:schemeClr val="bg1"/>
                </a:solidFill>
              </a:rPr>
              <a:t>()); //8</a:t>
            </a:r>
          </a:p>
          <a:p>
            <a:pPr algn="just"/>
            <a:endParaRPr lang="en-IN" sz="2800" dirty="0" smtClean="0">
              <a:solidFill>
                <a:schemeClr val="bg1"/>
              </a:solidFill>
            </a:endParaRPr>
          </a:p>
          <a:p>
            <a:pPr algn="just"/>
            <a:r>
              <a:rPr lang="en-IN" sz="2800" dirty="0" smtClean="0">
                <a:solidFill>
                  <a:schemeClr val="bg1"/>
                </a:solidFill>
              </a:rPr>
              <a:t>      /*Display Vector elements*/</a:t>
            </a:r>
          </a:p>
          <a:p>
            <a:pPr algn="just"/>
            <a:r>
              <a:rPr lang="en-IN" sz="2800" dirty="0" smtClean="0">
                <a:solidFill>
                  <a:schemeClr val="bg1"/>
                </a:solidFill>
              </a:rPr>
              <a:t>      Enumeration </a:t>
            </a:r>
            <a:r>
              <a:rPr lang="en-IN" sz="2800" dirty="0" err="1" smtClean="0">
                <a:solidFill>
                  <a:schemeClr val="bg1"/>
                </a:solidFill>
              </a:rPr>
              <a:t>en</a:t>
            </a:r>
            <a:r>
              <a:rPr lang="en-IN" sz="2800" dirty="0" smtClean="0">
                <a:solidFill>
                  <a:schemeClr val="bg1"/>
                </a:solidFill>
              </a:rPr>
              <a:t> = </a:t>
            </a:r>
            <a:r>
              <a:rPr lang="en-IN" sz="2800" dirty="0" err="1" smtClean="0">
                <a:solidFill>
                  <a:schemeClr val="bg1"/>
                </a:solidFill>
              </a:rPr>
              <a:t>vec.elements</a:t>
            </a:r>
            <a:r>
              <a:rPr lang="en-IN" sz="2800" dirty="0" smtClean="0">
                <a:solidFill>
                  <a:schemeClr val="bg1"/>
                </a:solidFill>
              </a:rPr>
              <a:t>();</a:t>
            </a:r>
          </a:p>
          <a:p>
            <a:pPr algn="just"/>
            <a:r>
              <a:rPr lang="en-IN" sz="2800" dirty="0" smtClean="0">
                <a:solidFill>
                  <a:schemeClr val="bg1"/>
                </a:solidFill>
              </a:rPr>
              <a:t>      </a:t>
            </a:r>
            <a:r>
              <a:rPr lang="en-IN" sz="2800" dirty="0" err="1" smtClean="0">
                <a:solidFill>
                  <a:schemeClr val="bg1"/>
                </a:solidFill>
              </a:rPr>
              <a:t>System.out.println</a:t>
            </a:r>
            <a:r>
              <a:rPr lang="en-IN" sz="2800" dirty="0" smtClean="0">
                <a:solidFill>
                  <a:schemeClr val="bg1"/>
                </a:solidFill>
              </a:rPr>
              <a:t>("\</a:t>
            </a:r>
            <a:r>
              <a:rPr lang="en-IN" sz="2800" dirty="0" err="1" smtClean="0">
                <a:solidFill>
                  <a:schemeClr val="bg1"/>
                </a:solidFill>
              </a:rPr>
              <a:t>nElements</a:t>
            </a:r>
            <a:r>
              <a:rPr lang="en-IN" sz="2800" dirty="0" smtClean="0">
                <a:solidFill>
                  <a:schemeClr val="bg1"/>
                </a:solidFill>
              </a:rPr>
              <a:t> are:");</a:t>
            </a:r>
          </a:p>
          <a:p>
            <a:pPr algn="just"/>
            <a:r>
              <a:rPr lang="en-IN" sz="2800" dirty="0" smtClean="0">
                <a:solidFill>
                  <a:schemeClr val="bg1"/>
                </a:solidFill>
              </a:rPr>
              <a:t>      while(</a:t>
            </a:r>
            <a:r>
              <a:rPr lang="en-IN" sz="2800" dirty="0" err="1" smtClean="0">
                <a:solidFill>
                  <a:schemeClr val="bg1"/>
                </a:solidFill>
              </a:rPr>
              <a:t>en.hasMoreElements</a:t>
            </a:r>
            <a:r>
              <a:rPr lang="en-IN" sz="2800" dirty="0" smtClean="0">
                <a:solidFill>
                  <a:schemeClr val="bg1"/>
                </a:solidFill>
              </a:rPr>
              <a:t>())</a:t>
            </a:r>
          </a:p>
          <a:p>
            <a:pPr algn="just"/>
            <a:r>
              <a:rPr lang="en-IN" sz="2800" dirty="0" smtClean="0">
                <a:solidFill>
                  <a:schemeClr val="bg1"/>
                </a:solidFill>
              </a:rPr>
              <a:t>         </a:t>
            </a:r>
            <a:r>
              <a:rPr lang="en-IN" sz="2800" dirty="0" err="1" smtClean="0">
                <a:solidFill>
                  <a:schemeClr val="bg1"/>
                </a:solidFill>
              </a:rPr>
              <a:t>System.out.print</a:t>
            </a:r>
            <a:r>
              <a:rPr lang="en-IN" sz="2800" dirty="0" smtClean="0">
                <a:solidFill>
                  <a:schemeClr val="bg1"/>
                </a:solidFill>
              </a:rPr>
              <a:t>(</a:t>
            </a:r>
            <a:r>
              <a:rPr lang="en-IN" sz="2800" dirty="0" err="1" smtClean="0">
                <a:solidFill>
                  <a:schemeClr val="bg1"/>
                </a:solidFill>
              </a:rPr>
              <a:t>en.nextElement</a:t>
            </a:r>
            <a:r>
              <a:rPr lang="en-IN" sz="2800" dirty="0" smtClean="0">
                <a:solidFill>
                  <a:schemeClr val="bg1"/>
                </a:solidFill>
              </a:rPr>
              <a:t>() + " ");</a:t>
            </a:r>
          </a:p>
          <a:p>
            <a:pPr algn="just"/>
            <a:r>
              <a:rPr lang="en-IN" sz="2800" dirty="0" smtClean="0">
                <a:solidFill>
                  <a:schemeClr val="bg1"/>
                </a:solidFill>
              </a:rPr>
              <a:t>   }}</a:t>
            </a:r>
            <a:endParaRPr lang="en-IN" sz="2800" dirty="0">
              <a:solidFill>
                <a:schemeClr val="bg1"/>
              </a:solidFill>
            </a:endParaRPr>
          </a:p>
        </p:txBody>
      </p:sp>
      <p:sp>
        <p:nvSpPr>
          <p:cNvPr id="5" name="TextBox 4"/>
          <p:cNvSpPr txBox="1"/>
          <p:nvPr/>
        </p:nvSpPr>
        <p:spPr>
          <a:xfrm>
            <a:off x="0" y="-19376"/>
            <a:ext cx="9113970" cy="984885"/>
          </a:xfrm>
          <a:prstGeom prst="rect">
            <a:avLst/>
          </a:prstGeom>
          <a:noFill/>
        </p:spPr>
        <p:txBody>
          <a:bodyPr wrap="none" rtlCol="0">
            <a:spAutoFit/>
          </a:bodyPr>
          <a:lstStyle/>
          <a:p>
            <a:r>
              <a:rPr lang="en-IN" sz="5800" dirty="0" smtClean="0">
                <a:solidFill>
                  <a:schemeClr val="bg1"/>
                </a:solidFill>
              </a:rPr>
              <a:t>List Interface: Vector Example</a:t>
            </a:r>
            <a:endParaRPr lang="en-IN" sz="5800" dirty="0">
              <a:solidFill>
                <a:schemeClr val="bg1"/>
              </a:solidFill>
            </a:endParaRPr>
          </a:p>
        </p:txBody>
      </p:sp>
    </p:spTree>
    <p:extLst>
      <p:ext uri="{BB962C8B-B14F-4D97-AF65-F5344CB8AC3E}">
        <p14:creationId xmlns:p14="http://schemas.microsoft.com/office/powerpoint/2010/main" val="356431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animEffect transition="in" filter="fade">
                                      <p:cBhvr>
                                        <p:cTn id="29" dur="500"/>
                                        <p:tgtEl>
                                          <p:spTgt spid="2">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
                                            <p:txEl>
                                              <p:pRg st="9" end="9"/>
                                            </p:txEl>
                                          </p:spTgt>
                                        </p:tgtEl>
                                        <p:attrNameLst>
                                          <p:attrName>style.visibility</p:attrName>
                                        </p:attrNameLst>
                                      </p:cBhvr>
                                      <p:to>
                                        <p:strVal val="visible"/>
                                      </p:to>
                                    </p:set>
                                    <p:animEffect transition="in" filter="fade">
                                      <p:cBhvr>
                                        <p:cTn id="32" dur="500"/>
                                        <p:tgtEl>
                                          <p:spTgt spid="2">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animEffect transition="in" filter="fade">
                                      <p:cBhvr>
                                        <p:cTn id="35" dur="500"/>
                                        <p:tgtEl>
                                          <p:spTgt spid="2">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
                                            <p:txEl>
                                              <p:pRg st="11" end="11"/>
                                            </p:txEl>
                                          </p:spTgt>
                                        </p:tgtEl>
                                        <p:attrNameLst>
                                          <p:attrName>style.visibility</p:attrName>
                                        </p:attrNameLst>
                                      </p:cBhvr>
                                      <p:to>
                                        <p:strVal val="visible"/>
                                      </p:to>
                                    </p:set>
                                    <p:animEffect transition="in" filter="fade">
                                      <p:cBhvr>
                                        <p:cTn id="38" dur="500"/>
                                        <p:tgtEl>
                                          <p:spTgt spid="2">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2">
                                            <p:txEl>
                                              <p:pRg st="12" end="12"/>
                                            </p:txEl>
                                          </p:spTgt>
                                        </p:tgtEl>
                                        <p:attrNameLst>
                                          <p:attrName>style.visibility</p:attrName>
                                        </p:attrNameLst>
                                      </p:cBhvr>
                                      <p:to>
                                        <p:strVal val="visible"/>
                                      </p:to>
                                    </p:set>
                                    <p:animEffect transition="in" filter="fade">
                                      <p:cBhvr>
                                        <p:cTn id="41" dur="500"/>
                                        <p:tgtEl>
                                          <p:spTgt spid="2">
                                            <p:txEl>
                                              <p:pRg st="12" end="1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2">
                                            <p:txEl>
                                              <p:pRg st="13" end="13"/>
                                            </p:txEl>
                                          </p:spTgt>
                                        </p:tgtEl>
                                        <p:attrNameLst>
                                          <p:attrName>style.visibility</p:attrName>
                                        </p:attrNameLst>
                                      </p:cBhvr>
                                      <p:to>
                                        <p:strVal val="visible"/>
                                      </p:to>
                                    </p:set>
                                    <p:animEffect transition="in" filter="fade">
                                      <p:cBhvr>
                                        <p:cTn id="44"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36725" y="869973"/>
            <a:ext cx="11391331" cy="3970318"/>
          </a:xfrm>
          <a:prstGeom prst="rect">
            <a:avLst/>
          </a:prstGeom>
        </p:spPr>
        <p:txBody>
          <a:bodyPr wrap="square">
            <a:spAutoFit/>
          </a:bodyPr>
          <a:lstStyle/>
          <a:p>
            <a:pPr algn="just">
              <a:lnSpc>
                <a:spcPct val="150000"/>
              </a:lnSpc>
            </a:pPr>
            <a:r>
              <a:rPr lang="en-IN" sz="2800" dirty="0">
                <a:solidFill>
                  <a:srgbClr val="FFC000"/>
                </a:solidFill>
              </a:rPr>
              <a:t>Synchronization : </a:t>
            </a:r>
            <a:r>
              <a:rPr lang="en-IN" sz="2800" u="sng" dirty="0">
                <a:solidFill>
                  <a:schemeClr val="bg1"/>
                </a:solidFill>
              </a:rPr>
              <a:t>Vector is synchronized</a:t>
            </a:r>
            <a:r>
              <a:rPr lang="en-IN" sz="2800" dirty="0">
                <a:solidFill>
                  <a:schemeClr val="bg1"/>
                </a:solidFill>
              </a:rPr>
              <a:t>, which means only one thread at a time can access the code, while </a:t>
            </a:r>
            <a:r>
              <a:rPr lang="en-IN" sz="2800" u="sng" dirty="0" err="1" smtClean="0">
                <a:solidFill>
                  <a:schemeClr val="bg1"/>
                </a:solidFill>
              </a:rPr>
              <a:t>ArrayList</a:t>
            </a:r>
            <a:r>
              <a:rPr lang="en-IN" sz="2800" u="sng" dirty="0" smtClean="0">
                <a:solidFill>
                  <a:schemeClr val="bg1"/>
                </a:solidFill>
              </a:rPr>
              <a:t> </a:t>
            </a:r>
            <a:r>
              <a:rPr lang="en-IN" sz="2800" u="sng" dirty="0">
                <a:solidFill>
                  <a:schemeClr val="bg1"/>
                </a:solidFill>
              </a:rPr>
              <a:t>is not synchronized</a:t>
            </a:r>
            <a:r>
              <a:rPr lang="en-IN" sz="2800" dirty="0">
                <a:solidFill>
                  <a:schemeClr val="bg1"/>
                </a:solidFill>
              </a:rPr>
              <a:t>, which means multiple threads can work on </a:t>
            </a:r>
            <a:r>
              <a:rPr lang="en-IN" sz="2800" dirty="0" err="1" smtClean="0">
                <a:solidFill>
                  <a:schemeClr val="bg1"/>
                </a:solidFill>
              </a:rPr>
              <a:t>ArrayList</a:t>
            </a:r>
            <a:r>
              <a:rPr lang="en-IN" sz="2800" dirty="0" smtClean="0">
                <a:solidFill>
                  <a:schemeClr val="bg1"/>
                </a:solidFill>
              </a:rPr>
              <a:t> </a:t>
            </a:r>
            <a:r>
              <a:rPr lang="en-IN" sz="2800" dirty="0">
                <a:solidFill>
                  <a:schemeClr val="bg1"/>
                </a:solidFill>
              </a:rPr>
              <a:t>at the same time. </a:t>
            </a:r>
          </a:p>
          <a:p>
            <a:pPr algn="just">
              <a:lnSpc>
                <a:spcPct val="150000"/>
              </a:lnSpc>
            </a:pPr>
            <a:r>
              <a:rPr lang="en-IN" sz="2800" dirty="0">
                <a:solidFill>
                  <a:srgbClr val="FFC000"/>
                </a:solidFill>
              </a:rPr>
              <a:t>Performance: </a:t>
            </a:r>
            <a:r>
              <a:rPr lang="en-IN" sz="2800" u="sng" dirty="0" err="1">
                <a:solidFill>
                  <a:schemeClr val="bg1"/>
                </a:solidFill>
              </a:rPr>
              <a:t>ArrayList</a:t>
            </a:r>
            <a:r>
              <a:rPr lang="en-IN" sz="2800" u="sng" dirty="0">
                <a:solidFill>
                  <a:schemeClr val="bg1"/>
                </a:solidFill>
              </a:rPr>
              <a:t> is faster</a:t>
            </a:r>
            <a:r>
              <a:rPr lang="en-IN" sz="2800" dirty="0">
                <a:solidFill>
                  <a:schemeClr val="bg1"/>
                </a:solidFill>
              </a:rPr>
              <a:t>, since it is non-synchronized, while </a:t>
            </a:r>
            <a:r>
              <a:rPr lang="en-IN" sz="2800" u="sng" dirty="0" smtClean="0">
                <a:solidFill>
                  <a:schemeClr val="bg1"/>
                </a:solidFill>
              </a:rPr>
              <a:t>Vector </a:t>
            </a:r>
            <a:r>
              <a:rPr lang="en-IN" sz="2800" u="sng" dirty="0">
                <a:solidFill>
                  <a:schemeClr val="bg1"/>
                </a:solidFill>
              </a:rPr>
              <a:t>operations give slower performance</a:t>
            </a:r>
            <a:r>
              <a:rPr lang="en-IN" sz="2800" dirty="0">
                <a:solidFill>
                  <a:schemeClr val="bg1"/>
                </a:solidFill>
              </a:rPr>
              <a:t> since they are synchronized (thread-safe</a:t>
            </a:r>
            <a:r>
              <a:rPr lang="en-IN" sz="2800" dirty="0" smtClean="0">
                <a:solidFill>
                  <a:schemeClr val="bg1"/>
                </a:solidFill>
              </a:rPr>
              <a:t>).</a:t>
            </a:r>
            <a:endParaRPr lang="en-IN" sz="2800" dirty="0">
              <a:solidFill>
                <a:schemeClr val="bg1"/>
              </a:solidFill>
            </a:endParaRPr>
          </a:p>
        </p:txBody>
      </p:sp>
      <p:sp>
        <p:nvSpPr>
          <p:cNvPr id="5" name="TextBox 4"/>
          <p:cNvSpPr txBox="1"/>
          <p:nvPr/>
        </p:nvSpPr>
        <p:spPr>
          <a:xfrm>
            <a:off x="0" y="-19376"/>
            <a:ext cx="5732660" cy="984885"/>
          </a:xfrm>
          <a:prstGeom prst="rect">
            <a:avLst/>
          </a:prstGeom>
          <a:noFill/>
        </p:spPr>
        <p:txBody>
          <a:bodyPr wrap="none" rtlCol="0">
            <a:spAutoFit/>
          </a:bodyPr>
          <a:lstStyle/>
          <a:p>
            <a:r>
              <a:rPr lang="en-IN" sz="5800" dirty="0" smtClean="0">
                <a:solidFill>
                  <a:schemeClr val="bg1"/>
                </a:solidFill>
              </a:rPr>
              <a:t>Vector vs </a:t>
            </a:r>
            <a:r>
              <a:rPr lang="en-IN" sz="5800" dirty="0" err="1" smtClean="0">
                <a:solidFill>
                  <a:schemeClr val="bg1"/>
                </a:solidFill>
              </a:rPr>
              <a:t>ArrayList</a:t>
            </a:r>
            <a:endParaRPr lang="en-IN" sz="5800" dirty="0">
              <a:solidFill>
                <a:schemeClr val="bg1"/>
              </a:solidFill>
            </a:endParaRPr>
          </a:p>
        </p:txBody>
      </p:sp>
    </p:spTree>
    <p:extLst>
      <p:ext uri="{BB962C8B-B14F-4D97-AF65-F5344CB8AC3E}">
        <p14:creationId xmlns:p14="http://schemas.microsoft.com/office/powerpoint/2010/main" val="17776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36725" y="869973"/>
            <a:ext cx="11391331" cy="3970318"/>
          </a:xfrm>
          <a:prstGeom prst="rect">
            <a:avLst/>
          </a:prstGeom>
        </p:spPr>
        <p:txBody>
          <a:bodyPr wrap="square">
            <a:spAutoFit/>
          </a:bodyPr>
          <a:lstStyle/>
          <a:p>
            <a:pPr algn="just">
              <a:lnSpc>
                <a:spcPct val="150000"/>
              </a:lnSpc>
            </a:pPr>
            <a:r>
              <a:rPr lang="en-IN" sz="2800" dirty="0" smtClean="0">
                <a:solidFill>
                  <a:srgbClr val="FFC000"/>
                </a:solidFill>
              </a:rPr>
              <a:t>Data </a:t>
            </a:r>
            <a:r>
              <a:rPr lang="en-IN" sz="2800" dirty="0">
                <a:solidFill>
                  <a:srgbClr val="FFC000"/>
                </a:solidFill>
              </a:rPr>
              <a:t>Growth: </a:t>
            </a:r>
            <a:r>
              <a:rPr lang="en-IN" sz="2800" dirty="0" err="1">
                <a:solidFill>
                  <a:schemeClr val="bg1"/>
                </a:solidFill>
              </a:rPr>
              <a:t>ArrayList</a:t>
            </a:r>
            <a:r>
              <a:rPr lang="en-IN" sz="2800" dirty="0">
                <a:solidFill>
                  <a:schemeClr val="bg1"/>
                </a:solidFill>
              </a:rPr>
              <a:t> and Vector </a:t>
            </a:r>
            <a:r>
              <a:rPr lang="en-IN" sz="2800" u="sng" dirty="0">
                <a:solidFill>
                  <a:schemeClr val="bg1"/>
                </a:solidFill>
              </a:rPr>
              <a:t>both grow and shrink dynamically</a:t>
            </a:r>
            <a:r>
              <a:rPr lang="en-IN" sz="2800" dirty="0">
                <a:solidFill>
                  <a:schemeClr val="bg1"/>
                </a:solidFill>
              </a:rPr>
              <a:t> to maintain optimal use of storage – but the way they resize is different. A </a:t>
            </a:r>
            <a:r>
              <a:rPr lang="en-IN" sz="2800" u="sng" dirty="0">
                <a:solidFill>
                  <a:schemeClr val="bg1"/>
                </a:solidFill>
              </a:rPr>
              <a:t>Vector defaults to doubling the size of its array, while the </a:t>
            </a:r>
            <a:r>
              <a:rPr lang="en-IN" sz="2800" u="sng" dirty="0" err="1">
                <a:solidFill>
                  <a:schemeClr val="bg1"/>
                </a:solidFill>
              </a:rPr>
              <a:t>ArrayList</a:t>
            </a:r>
            <a:r>
              <a:rPr lang="en-IN" sz="2800" u="sng" dirty="0">
                <a:solidFill>
                  <a:schemeClr val="bg1"/>
                </a:solidFill>
              </a:rPr>
              <a:t> increases its array size by 50 percent.</a:t>
            </a:r>
          </a:p>
          <a:p>
            <a:pPr algn="just">
              <a:lnSpc>
                <a:spcPct val="150000"/>
              </a:lnSpc>
            </a:pPr>
            <a:r>
              <a:rPr lang="en-IN" sz="2800" dirty="0">
                <a:solidFill>
                  <a:srgbClr val="FFC000"/>
                </a:solidFill>
              </a:rPr>
              <a:t>Traversal: </a:t>
            </a:r>
            <a:r>
              <a:rPr lang="en-IN" sz="2800" dirty="0">
                <a:solidFill>
                  <a:schemeClr val="bg1"/>
                </a:solidFill>
              </a:rPr>
              <a:t>Vector can use both </a:t>
            </a:r>
            <a:r>
              <a:rPr lang="en-IN" sz="2800" u="sng" dirty="0">
                <a:solidFill>
                  <a:schemeClr val="bg1"/>
                </a:solidFill>
              </a:rPr>
              <a:t>Enumeration and Iterator</a:t>
            </a:r>
            <a:r>
              <a:rPr lang="en-IN" sz="2800" dirty="0">
                <a:solidFill>
                  <a:schemeClr val="bg1"/>
                </a:solidFill>
              </a:rPr>
              <a:t> for traversing over elements of vector while </a:t>
            </a:r>
            <a:r>
              <a:rPr lang="en-IN" sz="2800" dirty="0" err="1">
                <a:solidFill>
                  <a:schemeClr val="bg1"/>
                </a:solidFill>
              </a:rPr>
              <a:t>ArrayList</a:t>
            </a:r>
            <a:r>
              <a:rPr lang="en-IN" sz="2800" dirty="0">
                <a:solidFill>
                  <a:schemeClr val="bg1"/>
                </a:solidFill>
              </a:rPr>
              <a:t> can only use Iterator for traversing. </a:t>
            </a:r>
          </a:p>
        </p:txBody>
      </p:sp>
      <p:sp>
        <p:nvSpPr>
          <p:cNvPr id="5" name="TextBox 4"/>
          <p:cNvSpPr txBox="1"/>
          <p:nvPr/>
        </p:nvSpPr>
        <p:spPr>
          <a:xfrm>
            <a:off x="0" y="-19376"/>
            <a:ext cx="5732660" cy="984885"/>
          </a:xfrm>
          <a:prstGeom prst="rect">
            <a:avLst/>
          </a:prstGeom>
          <a:noFill/>
        </p:spPr>
        <p:txBody>
          <a:bodyPr wrap="none" rtlCol="0">
            <a:spAutoFit/>
          </a:bodyPr>
          <a:lstStyle/>
          <a:p>
            <a:r>
              <a:rPr lang="en-IN" sz="5800" dirty="0" smtClean="0">
                <a:solidFill>
                  <a:schemeClr val="bg1"/>
                </a:solidFill>
              </a:rPr>
              <a:t>Vector vs </a:t>
            </a:r>
            <a:r>
              <a:rPr lang="en-IN" sz="5800" dirty="0" err="1" smtClean="0">
                <a:solidFill>
                  <a:schemeClr val="bg1"/>
                </a:solidFill>
              </a:rPr>
              <a:t>ArrayList</a:t>
            </a:r>
            <a:endParaRPr lang="en-IN" sz="5800" dirty="0">
              <a:solidFill>
                <a:schemeClr val="bg1"/>
              </a:solidFill>
            </a:endParaRPr>
          </a:p>
        </p:txBody>
      </p:sp>
    </p:spTree>
    <p:extLst>
      <p:ext uri="{BB962C8B-B14F-4D97-AF65-F5344CB8AC3E}">
        <p14:creationId xmlns:p14="http://schemas.microsoft.com/office/powerpoint/2010/main" val="374852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7336880" cy="984885"/>
          </a:xfrm>
          <a:prstGeom prst="rect">
            <a:avLst/>
          </a:prstGeom>
          <a:noFill/>
        </p:spPr>
        <p:txBody>
          <a:bodyPr wrap="none" rtlCol="0">
            <a:spAutoFit/>
          </a:bodyPr>
          <a:lstStyle/>
          <a:p>
            <a:r>
              <a:rPr lang="en-IN" sz="5800" dirty="0" smtClean="0">
                <a:solidFill>
                  <a:schemeClr val="bg1"/>
                </a:solidFill>
              </a:rPr>
              <a:t>Enumeration vs Iterator</a:t>
            </a:r>
            <a:endParaRPr lang="en-IN" sz="5800" dirty="0">
              <a:solidFill>
                <a:schemeClr val="bg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401418878"/>
              </p:ext>
            </p:extLst>
          </p:nvPr>
        </p:nvGraphicFramePr>
        <p:xfrm>
          <a:off x="217224" y="1429532"/>
          <a:ext cx="11862181" cy="3566160"/>
        </p:xfrm>
        <a:graphic>
          <a:graphicData uri="http://schemas.openxmlformats.org/drawingml/2006/table">
            <a:tbl>
              <a:tblPr firstRow="1" bandRow="1">
                <a:tableStyleId>{21E4AEA4-8DFA-4A89-87EB-49C32662AFE0}</a:tableStyleId>
              </a:tblPr>
              <a:tblGrid>
                <a:gridCol w="2103571">
                  <a:extLst>
                    <a:ext uri="{9D8B030D-6E8A-4147-A177-3AD203B41FA5}">
                      <a16:colId xmlns:a16="http://schemas.microsoft.com/office/drawing/2014/main" val="349620921"/>
                    </a:ext>
                  </a:extLst>
                </a:gridCol>
                <a:gridCol w="1607825">
                  <a:extLst>
                    <a:ext uri="{9D8B030D-6E8A-4147-A177-3AD203B41FA5}">
                      <a16:colId xmlns:a16="http://schemas.microsoft.com/office/drawing/2014/main" val="3667231823"/>
                    </a:ext>
                  </a:extLst>
                </a:gridCol>
                <a:gridCol w="2675933">
                  <a:extLst>
                    <a:ext uri="{9D8B030D-6E8A-4147-A177-3AD203B41FA5}">
                      <a16:colId xmlns:a16="http://schemas.microsoft.com/office/drawing/2014/main" val="824497392"/>
                    </a:ext>
                  </a:extLst>
                </a:gridCol>
                <a:gridCol w="2077637">
                  <a:extLst>
                    <a:ext uri="{9D8B030D-6E8A-4147-A177-3AD203B41FA5}">
                      <a16:colId xmlns:a16="http://schemas.microsoft.com/office/drawing/2014/main" val="146412986"/>
                    </a:ext>
                  </a:extLst>
                </a:gridCol>
                <a:gridCol w="1726684">
                  <a:extLst>
                    <a:ext uri="{9D8B030D-6E8A-4147-A177-3AD203B41FA5}">
                      <a16:colId xmlns:a16="http://schemas.microsoft.com/office/drawing/2014/main" val="1114216561"/>
                    </a:ext>
                  </a:extLst>
                </a:gridCol>
                <a:gridCol w="1670531">
                  <a:extLst>
                    <a:ext uri="{9D8B030D-6E8A-4147-A177-3AD203B41FA5}">
                      <a16:colId xmlns:a16="http://schemas.microsoft.com/office/drawing/2014/main" val="2937430552"/>
                    </a:ext>
                  </a:extLst>
                </a:gridCol>
              </a:tblGrid>
              <a:tr h="370840">
                <a:tc>
                  <a:txBody>
                    <a:bodyPr/>
                    <a:lstStyle/>
                    <a:p>
                      <a:endParaRPr lang="en-IN" sz="2400" dirty="0"/>
                    </a:p>
                  </a:txBody>
                  <a:tcPr/>
                </a:tc>
                <a:tc>
                  <a:txBody>
                    <a:bodyPr/>
                    <a:lstStyle/>
                    <a:p>
                      <a:r>
                        <a:rPr lang="en-IN" sz="2400" dirty="0" smtClean="0"/>
                        <a:t>Introduced </a:t>
                      </a:r>
                    </a:p>
                    <a:p>
                      <a:r>
                        <a:rPr lang="en-IN" sz="2400" dirty="0" smtClean="0"/>
                        <a:t>From</a:t>
                      </a:r>
                      <a:endParaRPr lang="en-IN" sz="2400" dirty="0"/>
                    </a:p>
                  </a:txBody>
                  <a:tcPr/>
                </a:tc>
                <a:tc>
                  <a:txBody>
                    <a:bodyPr/>
                    <a:lstStyle/>
                    <a:p>
                      <a:r>
                        <a:rPr lang="en-IN" sz="2400" dirty="0" smtClean="0"/>
                        <a:t>Methods</a:t>
                      </a:r>
                      <a:endParaRPr lang="en-IN" sz="2400" dirty="0"/>
                    </a:p>
                  </a:txBody>
                  <a:tcPr/>
                </a:tc>
                <a:tc>
                  <a:txBody>
                    <a:bodyPr/>
                    <a:lstStyle/>
                    <a:p>
                      <a:r>
                        <a:rPr lang="en-IN" sz="2400" dirty="0" smtClean="0"/>
                        <a:t>Main </a:t>
                      </a:r>
                    </a:p>
                    <a:p>
                      <a:r>
                        <a:rPr lang="en-IN" sz="2400" dirty="0" smtClean="0"/>
                        <a:t>Difference</a:t>
                      </a:r>
                      <a:endParaRPr lang="en-IN" sz="2400" dirty="0"/>
                    </a:p>
                  </a:txBody>
                  <a:tcPr/>
                </a:tc>
                <a:tc>
                  <a:txBody>
                    <a:bodyPr/>
                    <a:lstStyle/>
                    <a:p>
                      <a:r>
                        <a:rPr lang="en-IN" sz="2400" dirty="0" smtClean="0"/>
                        <a:t>Fail-Fast vs</a:t>
                      </a:r>
                    </a:p>
                    <a:p>
                      <a:r>
                        <a:rPr lang="en-IN" sz="2400" dirty="0" smtClean="0"/>
                        <a:t>Fail-Safe</a:t>
                      </a:r>
                      <a:endParaRPr lang="en-IN" sz="2400" dirty="0"/>
                    </a:p>
                  </a:txBody>
                  <a:tcPr/>
                </a:tc>
                <a:tc>
                  <a:txBody>
                    <a:bodyPr/>
                    <a:lstStyle/>
                    <a:p>
                      <a:r>
                        <a:rPr lang="en-IN" sz="2400" dirty="0" smtClean="0"/>
                        <a:t>Safe</a:t>
                      </a:r>
                      <a:r>
                        <a:rPr lang="en-IN" sz="2400" baseline="0" dirty="0" smtClean="0"/>
                        <a:t> and </a:t>
                      </a:r>
                    </a:p>
                    <a:p>
                      <a:r>
                        <a:rPr lang="en-IN" sz="2400" baseline="0" dirty="0" smtClean="0"/>
                        <a:t>Secure</a:t>
                      </a:r>
                      <a:endParaRPr lang="en-IN" sz="2400" dirty="0"/>
                    </a:p>
                  </a:txBody>
                  <a:tcPr/>
                </a:tc>
                <a:extLst>
                  <a:ext uri="{0D108BD9-81ED-4DB2-BD59-A6C34878D82A}">
                    <a16:rowId xmlns:a16="http://schemas.microsoft.com/office/drawing/2014/main" val="2998957793"/>
                  </a:ext>
                </a:extLst>
              </a:tr>
              <a:tr h="370840">
                <a:tc>
                  <a:txBody>
                    <a:bodyPr/>
                    <a:lstStyle/>
                    <a:p>
                      <a:r>
                        <a:rPr lang="en-IN" sz="2800" dirty="0" smtClean="0">
                          <a:solidFill>
                            <a:srgbClr val="0070C0"/>
                          </a:solidFill>
                        </a:rPr>
                        <a:t>Enumeration</a:t>
                      </a:r>
                      <a:endParaRPr lang="en-IN" sz="2800" dirty="0">
                        <a:solidFill>
                          <a:srgbClr val="0070C0"/>
                        </a:solidFill>
                      </a:endParaRPr>
                    </a:p>
                  </a:txBody>
                  <a:tcPr/>
                </a:tc>
                <a:tc>
                  <a:txBody>
                    <a:bodyPr/>
                    <a:lstStyle/>
                    <a:p>
                      <a:r>
                        <a:rPr lang="en-IN" sz="2400" dirty="0" smtClean="0"/>
                        <a:t>JDK1.0</a:t>
                      </a:r>
                      <a:endParaRPr lang="en-IN" sz="2400" dirty="0"/>
                    </a:p>
                  </a:txBody>
                  <a:tcPr/>
                </a:tc>
                <a:tc>
                  <a:txBody>
                    <a:bodyPr/>
                    <a:lstStyle/>
                    <a:p>
                      <a:r>
                        <a:rPr lang="en-IN" sz="2400" dirty="0" err="1" smtClean="0"/>
                        <a:t>hasMoreElements</a:t>
                      </a:r>
                      <a:r>
                        <a:rPr lang="en-IN" sz="2400" dirty="0" smtClean="0"/>
                        <a:t>()</a:t>
                      </a:r>
                    </a:p>
                    <a:p>
                      <a:r>
                        <a:rPr lang="en-IN" sz="2400" dirty="0" err="1" smtClean="0"/>
                        <a:t>nextElement</a:t>
                      </a:r>
                      <a:r>
                        <a:rPr lang="en-IN" sz="2400" dirty="0" smtClean="0"/>
                        <a:t>()</a:t>
                      </a:r>
                    </a:p>
                    <a:p>
                      <a:endParaRPr lang="en-IN" sz="2400" dirty="0"/>
                    </a:p>
                  </a:txBody>
                  <a:tcPr/>
                </a:tc>
                <a:tc>
                  <a:txBody>
                    <a:bodyPr/>
                    <a:lstStyle/>
                    <a:p>
                      <a:r>
                        <a:rPr lang="en-IN" sz="2400" dirty="0" smtClean="0"/>
                        <a:t>Only Traverse the Collection</a:t>
                      </a:r>
                      <a:endParaRPr lang="en-IN"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400" dirty="0" smtClean="0"/>
                        <a:t>Fail-Safe</a:t>
                      </a:r>
                    </a:p>
                    <a:p>
                      <a:r>
                        <a:rPr lang="en-IN" sz="2400" smtClean="0"/>
                        <a:t>(</a:t>
                      </a:r>
                      <a:r>
                        <a:rPr lang="en-IN" sz="1800" b="1" u="none" strike="noStrike" kern="1200" smtClean="0">
                          <a:solidFill>
                            <a:schemeClr val="dk1"/>
                          </a:solidFill>
                          <a:effectLst/>
                          <a:latin typeface="+mn-lt"/>
                          <a:ea typeface="+mn-ea"/>
                          <a:cs typeface="+mn-cs"/>
                        </a:rPr>
                        <a:t>weakly-consistent</a:t>
                      </a:r>
                      <a:r>
                        <a:rPr lang="en-IN" sz="2400" smtClean="0"/>
                        <a:t>)</a:t>
                      </a:r>
                      <a:endParaRPr lang="en-IN" sz="2400" dirty="0"/>
                    </a:p>
                  </a:txBody>
                  <a:tcPr/>
                </a:tc>
                <a:tc>
                  <a:txBody>
                    <a:bodyPr/>
                    <a:lstStyle/>
                    <a:p>
                      <a:r>
                        <a:rPr lang="en-IN" sz="2400" dirty="0" smtClean="0"/>
                        <a:t>NO</a:t>
                      </a:r>
                      <a:endParaRPr lang="en-IN" sz="2400" dirty="0"/>
                    </a:p>
                  </a:txBody>
                  <a:tcPr/>
                </a:tc>
                <a:extLst>
                  <a:ext uri="{0D108BD9-81ED-4DB2-BD59-A6C34878D82A}">
                    <a16:rowId xmlns:a16="http://schemas.microsoft.com/office/drawing/2014/main" val="2589557014"/>
                  </a:ext>
                </a:extLst>
              </a:tr>
              <a:tr h="370840">
                <a:tc>
                  <a:txBody>
                    <a:bodyPr/>
                    <a:lstStyle/>
                    <a:p>
                      <a:r>
                        <a:rPr lang="en-IN" sz="2800" dirty="0" smtClean="0">
                          <a:solidFill>
                            <a:srgbClr val="0070C0"/>
                          </a:solidFill>
                        </a:rPr>
                        <a:t>Iterator</a:t>
                      </a:r>
                      <a:endParaRPr lang="en-IN" sz="2800" dirty="0">
                        <a:solidFill>
                          <a:srgbClr val="0070C0"/>
                        </a:solidFill>
                      </a:endParaRPr>
                    </a:p>
                  </a:txBody>
                  <a:tcPr/>
                </a:tc>
                <a:tc>
                  <a:txBody>
                    <a:bodyPr/>
                    <a:lstStyle/>
                    <a:p>
                      <a:r>
                        <a:rPr lang="en-IN" sz="2400" dirty="0" smtClean="0"/>
                        <a:t>JDK1.2</a:t>
                      </a:r>
                      <a:endParaRPr lang="en-IN" sz="2400" dirty="0"/>
                    </a:p>
                  </a:txBody>
                  <a:tcPr/>
                </a:tc>
                <a:tc>
                  <a:txBody>
                    <a:bodyPr/>
                    <a:lstStyle/>
                    <a:p>
                      <a:r>
                        <a:rPr lang="en-IN" sz="2400" dirty="0" err="1" smtClean="0"/>
                        <a:t>hasNext</a:t>
                      </a:r>
                      <a:r>
                        <a:rPr lang="en-IN" sz="2400" dirty="0" smtClean="0"/>
                        <a:t>()</a:t>
                      </a:r>
                    </a:p>
                    <a:p>
                      <a:r>
                        <a:rPr lang="en-IN" sz="2400" dirty="0" smtClean="0"/>
                        <a:t>next()</a:t>
                      </a:r>
                    </a:p>
                    <a:p>
                      <a:r>
                        <a:rPr lang="en-IN" sz="2400" dirty="0" smtClean="0"/>
                        <a:t>remove()</a:t>
                      </a:r>
                    </a:p>
                    <a:p>
                      <a:endParaRPr lang="en-IN" sz="2400" dirty="0"/>
                    </a:p>
                  </a:txBody>
                  <a:tcPr/>
                </a:tc>
                <a:tc>
                  <a:txBody>
                    <a:bodyPr/>
                    <a:lstStyle/>
                    <a:p>
                      <a:r>
                        <a:rPr lang="en-IN" sz="2400" dirty="0" smtClean="0"/>
                        <a:t>Remove an element</a:t>
                      </a:r>
                      <a:r>
                        <a:rPr lang="en-IN" sz="2400" baseline="0" dirty="0" smtClean="0"/>
                        <a:t>s while iterating collection</a:t>
                      </a:r>
                      <a:endParaRPr lang="en-IN"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400" dirty="0" smtClean="0"/>
                        <a:t>Fail-Fast</a:t>
                      </a:r>
                    </a:p>
                    <a:p>
                      <a:endParaRPr lang="en-IN" sz="2400" dirty="0"/>
                    </a:p>
                  </a:txBody>
                  <a:tcPr/>
                </a:tc>
                <a:tc>
                  <a:txBody>
                    <a:bodyPr/>
                    <a:lstStyle/>
                    <a:p>
                      <a:r>
                        <a:rPr lang="en-IN" sz="2400" dirty="0" smtClean="0"/>
                        <a:t>YES</a:t>
                      </a:r>
                      <a:endParaRPr lang="en-IN" sz="2400" dirty="0"/>
                    </a:p>
                  </a:txBody>
                  <a:tcPr/>
                </a:tc>
                <a:extLst>
                  <a:ext uri="{0D108BD9-81ED-4DB2-BD59-A6C34878D82A}">
                    <a16:rowId xmlns:a16="http://schemas.microsoft.com/office/drawing/2014/main" val="3287758469"/>
                  </a:ext>
                </a:extLst>
              </a:tr>
            </a:tbl>
          </a:graphicData>
        </a:graphic>
      </p:graphicFrame>
    </p:spTree>
    <p:extLst>
      <p:ext uri="{BB962C8B-B14F-4D97-AF65-F5344CB8AC3E}">
        <p14:creationId xmlns:p14="http://schemas.microsoft.com/office/powerpoint/2010/main" val="112869897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8722773" cy="984885"/>
          </a:xfrm>
          <a:prstGeom prst="rect">
            <a:avLst/>
          </a:prstGeom>
          <a:noFill/>
        </p:spPr>
        <p:txBody>
          <a:bodyPr wrap="none" rtlCol="0">
            <a:spAutoFit/>
          </a:bodyPr>
          <a:lstStyle/>
          <a:p>
            <a:r>
              <a:rPr lang="en-IN" sz="5800" dirty="0" smtClean="0">
                <a:solidFill>
                  <a:schemeClr val="bg1"/>
                </a:solidFill>
              </a:rPr>
              <a:t>List interface: Stack Example</a:t>
            </a:r>
            <a:endParaRPr lang="en-IN" sz="5800" dirty="0">
              <a:solidFill>
                <a:schemeClr val="bg1"/>
              </a:solidFill>
            </a:endParaRPr>
          </a:p>
        </p:txBody>
      </p:sp>
      <p:sp>
        <p:nvSpPr>
          <p:cNvPr id="7" name="Rectangle 6"/>
          <p:cNvSpPr/>
          <p:nvPr/>
        </p:nvSpPr>
        <p:spPr>
          <a:xfrm>
            <a:off x="559557" y="965509"/>
            <a:ext cx="11391331" cy="5478423"/>
          </a:xfrm>
          <a:prstGeom prst="rect">
            <a:avLst/>
          </a:prstGeom>
        </p:spPr>
        <p:txBody>
          <a:bodyPr wrap="square">
            <a:spAutoFit/>
          </a:bodyPr>
          <a:lstStyle/>
          <a:p>
            <a:pPr>
              <a:lnSpc>
                <a:spcPct val="150000"/>
              </a:lnSpc>
            </a:pPr>
            <a:r>
              <a:rPr lang="en-IN" sz="2800" dirty="0">
                <a:solidFill>
                  <a:schemeClr val="bg1"/>
                </a:solidFill>
              </a:rPr>
              <a:t>public class </a:t>
            </a:r>
            <a:r>
              <a:rPr lang="en-IN" sz="2800" dirty="0" err="1">
                <a:solidFill>
                  <a:schemeClr val="bg1"/>
                </a:solidFill>
              </a:rPr>
              <a:t>StackBasicExample</a:t>
            </a:r>
            <a:r>
              <a:rPr lang="en-IN" sz="2800" dirty="0">
                <a:solidFill>
                  <a:schemeClr val="bg1"/>
                </a:solidFill>
              </a:rPr>
              <a:t> {    </a:t>
            </a:r>
            <a:endParaRPr lang="en-IN" sz="2800" dirty="0" smtClean="0">
              <a:solidFill>
                <a:schemeClr val="bg1"/>
              </a:solidFill>
            </a:endParaRPr>
          </a:p>
          <a:p>
            <a:pPr>
              <a:lnSpc>
                <a:spcPct val="150000"/>
              </a:lnSpc>
            </a:pPr>
            <a:r>
              <a:rPr lang="en-IN" sz="2800" dirty="0" smtClean="0">
                <a:solidFill>
                  <a:schemeClr val="bg1"/>
                </a:solidFill>
              </a:rPr>
              <a:t>	public </a:t>
            </a:r>
            <a:r>
              <a:rPr lang="en-IN" sz="2800" dirty="0">
                <a:solidFill>
                  <a:schemeClr val="bg1"/>
                </a:solidFill>
              </a:rPr>
              <a:t>static void main(String a[]){        </a:t>
            </a:r>
            <a:endParaRPr lang="en-IN" sz="2800" dirty="0" smtClean="0">
              <a:solidFill>
                <a:schemeClr val="bg1"/>
              </a:solidFill>
            </a:endParaRPr>
          </a:p>
          <a:p>
            <a:pPr>
              <a:lnSpc>
                <a:spcPct val="150000"/>
              </a:lnSpc>
            </a:pPr>
            <a:r>
              <a:rPr lang="en-IN" sz="2800" dirty="0" smtClean="0">
                <a:solidFill>
                  <a:schemeClr val="bg1"/>
                </a:solidFill>
              </a:rPr>
              <a:t>		</a:t>
            </a:r>
            <a:r>
              <a:rPr lang="en-IN" sz="2800" dirty="0" smtClean="0">
                <a:solidFill>
                  <a:srgbClr val="FFC000"/>
                </a:solidFill>
              </a:rPr>
              <a:t>Stack</a:t>
            </a:r>
            <a:r>
              <a:rPr lang="en-IN" sz="2800" dirty="0" smtClean="0">
                <a:solidFill>
                  <a:schemeClr val="bg1"/>
                </a:solidFill>
              </a:rPr>
              <a:t>&lt;Integer</a:t>
            </a:r>
            <a:r>
              <a:rPr lang="en-IN" sz="2800" dirty="0">
                <a:solidFill>
                  <a:schemeClr val="bg1"/>
                </a:solidFill>
              </a:rPr>
              <a:t>&gt; stack = new </a:t>
            </a:r>
            <a:r>
              <a:rPr lang="en-IN" sz="2800" dirty="0">
                <a:solidFill>
                  <a:srgbClr val="FFC000"/>
                </a:solidFill>
              </a:rPr>
              <a:t>Stack</a:t>
            </a:r>
            <a:r>
              <a:rPr lang="en-IN" sz="2800" dirty="0">
                <a:solidFill>
                  <a:schemeClr val="bg1"/>
                </a:solidFill>
              </a:rPr>
              <a:t>&lt;&gt;();        </a:t>
            </a:r>
            <a:endParaRPr lang="en-IN" sz="2800" dirty="0" smtClean="0">
              <a:solidFill>
                <a:schemeClr val="bg1"/>
              </a:solidFill>
            </a:endParaRPr>
          </a:p>
          <a:p>
            <a:pPr>
              <a:lnSpc>
                <a:spcPct val="150000"/>
              </a:lnSpc>
            </a:pPr>
            <a:r>
              <a:rPr lang="en-IN" sz="2800" dirty="0" smtClean="0">
                <a:solidFill>
                  <a:schemeClr val="bg1"/>
                </a:solidFill>
              </a:rPr>
              <a:t>		</a:t>
            </a:r>
            <a:r>
              <a:rPr lang="en-IN" sz="2800" dirty="0" err="1" smtClean="0">
                <a:solidFill>
                  <a:schemeClr val="bg1"/>
                </a:solidFill>
              </a:rPr>
              <a:t>System.out.println</a:t>
            </a:r>
            <a:r>
              <a:rPr lang="en-IN" sz="2800" dirty="0">
                <a:solidFill>
                  <a:schemeClr val="bg1"/>
                </a:solidFill>
              </a:rPr>
              <a:t>("Empty stack : "  + stack);        </a:t>
            </a:r>
            <a:endParaRPr lang="en-IN" sz="2800" dirty="0" smtClean="0">
              <a:solidFill>
                <a:schemeClr val="bg1"/>
              </a:solidFill>
            </a:endParaRPr>
          </a:p>
          <a:p>
            <a:pPr>
              <a:lnSpc>
                <a:spcPct val="150000"/>
              </a:lnSpc>
            </a:pPr>
            <a:r>
              <a:rPr lang="en-IN" sz="2800" dirty="0" smtClean="0">
                <a:solidFill>
                  <a:schemeClr val="bg1"/>
                </a:solidFill>
              </a:rPr>
              <a:t>		</a:t>
            </a:r>
            <a:r>
              <a:rPr lang="en-IN" sz="2800" dirty="0" err="1" smtClean="0">
                <a:solidFill>
                  <a:schemeClr val="bg1"/>
                </a:solidFill>
              </a:rPr>
              <a:t>System.out.println</a:t>
            </a:r>
            <a:r>
              <a:rPr lang="en-IN" sz="2800" dirty="0">
                <a:solidFill>
                  <a:schemeClr val="bg1"/>
                </a:solidFill>
              </a:rPr>
              <a:t>("Empty stack : "  + </a:t>
            </a:r>
            <a:r>
              <a:rPr lang="en-IN" sz="2800" dirty="0" err="1">
                <a:solidFill>
                  <a:schemeClr val="bg1"/>
                </a:solidFill>
              </a:rPr>
              <a:t>stack.</a:t>
            </a:r>
            <a:r>
              <a:rPr lang="en-IN" sz="2800" dirty="0" err="1">
                <a:solidFill>
                  <a:srgbClr val="FFC000"/>
                </a:solidFill>
              </a:rPr>
              <a:t>isEmpty</a:t>
            </a:r>
            <a:r>
              <a:rPr lang="en-IN" sz="2800" dirty="0">
                <a:solidFill>
                  <a:srgbClr val="FFC000"/>
                </a:solidFill>
              </a:rPr>
              <a:t>()</a:t>
            </a:r>
            <a:r>
              <a:rPr lang="en-IN" sz="2800" dirty="0">
                <a:solidFill>
                  <a:schemeClr val="bg1"/>
                </a:solidFill>
              </a:rPr>
              <a:t>); </a:t>
            </a:r>
            <a:endParaRPr lang="en-IN" sz="2800" dirty="0" smtClean="0">
              <a:solidFill>
                <a:schemeClr val="bg1"/>
              </a:solidFill>
            </a:endParaRPr>
          </a:p>
          <a:p>
            <a:endParaRPr lang="en-IN" sz="2800" dirty="0" smtClean="0">
              <a:solidFill>
                <a:schemeClr val="bg1"/>
              </a:solidFill>
            </a:endParaRPr>
          </a:p>
          <a:p>
            <a:r>
              <a:rPr lang="en-IN" sz="2800" dirty="0" smtClean="0">
                <a:solidFill>
                  <a:schemeClr val="bg1"/>
                </a:solidFill>
              </a:rPr>
              <a:t>       		</a:t>
            </a:r>
            <a:r>
              <a:rPr lang="en-IN" sz="2800" dirty="0" err="1" smtClean="0">
                <a:solidFill>
                  <a:schemeClr val="bg1"/>
                </a:solidFill>
              </a:rPr>
              <a:t>stack.</a:t>
            </a:r>
            <a:r>
              <a:rPr lang="en-IN" sz="2800" dirty="0" err="1" smtClean="0">
                <a:solidFill>
                  <a:srgbClr val="FFC000"/>
                </a:solidFill>
              </a:rPr>
              <a:t>push</a:t>
            </a:r>
            <a:r>
              <a:rPr lang="en-IN" sz="2800" dirty="0" smtClean="0">
                <a:solidFill>
                  <a:schemeClr val="bg1"/>
                </a:solidFill>
              </a:rPr>
              <a:t>(1001</a:t>
            </a:r>
            <a:r>
              <a:rPr lang="en-IN" sz="2800" dirty="0">
                <a:solidFill>
                  <a:schemeClr val="bg1"/>
                </a:solidFill>
              </a:rPr>
              <a:t>);        </a:t>
            </a:r>
            <a:endParaRPr lang="en-IN" sz="2800" dirty="0" smtClean="0">
              <a:solidFill>
                <a:schemeClr val="bg1"/>
              </a:solidFill>
            </a:endParaRPr>
          </a:p>
          <a:p>
            <a:r>
              <a:rPr lang="en-IN" sz="2800" dirty="0" smtClean="0">
                <a:solidFill>
                  <a:schemeClr val="bg1"/>
                </a:solidFill>
              </a:rPr>
              <a:t>		</a:t>
            </a:r>
            <a:r>
              <a:rPr lang="en-IN" sz="2800" dirty="0" err="1" smtClean="0">
                <a:solidFill>
                  <a:schemeClr val="bg1"/>
                </a:solidFill>
              </a:rPr>
              <a:t>stack.</a:t>
            </a:r>
            <a:r>
              <a:rPr lang="en-IN" sz="2800" dirty="0" err="1" smtClean="0">
                <a:solidFill>
                  <a:srgbClr val="FFC000"/>
                </a:solidFill>
              </a:rPr>
              <a:t>push</a:t>
            </a:r>
            <a:r>
              <a:rPr lang="en-IN" sz="2800" dirty="0" smtClean="0">
                <a:solidFill>
                  <a:schemeClr val="bg1"/>
                </a:solidFill>
              </a:rPr>
              <a:t>(1002</a:t>
            </a:r>
            <a:r>
              <a:rPr lang="en-IN" sz="2800" dirty="0">
                <a:solidFill>
                  <a:schemeClr val="bg1"/>
                </a:solidFill>
              </a:rPr>
              <a:t>);        </a:t>
            </a:r>
            <a:endParaRPr lang="en-IN" sz="2800" dirty="0" smtClean="0">
              <a:solidFill>
                <a:schemeClr val="bg1"/>
              </a:solidFill>
            </a:endParaRPr>
          </a:p>
          <a:p>
            <a:r>
              <a:rPr lang="en-IN" sz="2800" dirty="0" smtClean="0">
                <a:solidFill>
                  <a:schemeClr val="bg1"/>
                </a:solidFill>
              </a:rPr>
              <a:t>		</a:t>
            </a:r>
            <a:r>
              <a:rPr lang="en-IN" sz="2800" dirty="0" err="1" smtClean="0">
                <a:solidFill>
                  <a:schemeClr val="bg1"/>
                </a:solidFill>
              </a:rPr>
              <a:t>stack.</a:t>
            </a:r>
            <a:r>
              <a:rPr lang="en-IN" sz="2800" dirty="0" err="1" smtClean="0">
                <a:solidFill>
                  <a:srgbClr val="FFC000"/>
                </a:solidFill>
              </a:rPr>
              <a:t>push</a:t>
            </a:r>
            <a:r>
              <a:rPr lang="en-IN" sz="2800" dirty="0" smtClean="0">
                <a:solidFill>
                  <a:schemeClr val="bg1"/>
                </a:solidFill>
              </a:rPr>
              <a:t>(1003</a:t>
            </a:r>
            <a:r>
              <a:rPr lang="en-IN" sz="2800" dirty="0">
                <a:solidFill>
                  <a:schemeClr val="bg1"/>
                </a:solidFill>
              </a:rPr>
              <a:t>);        </a:t>
            </a:r>
            <a:endParaRPr lang="en-IN" sz="2800" dirty="0" smtClean="0">
              <a:solidFill>
                <a:schemeClr val="bg1"/>
              </a:solidFill>
            </a:endParaRPr>
          </a:p>
          <a:p>
            <a:r>
              <a:rPr lang="en-IN" sz="2800" dirty="0" smtClean="0">
                <a:solidFill>
                  <a:schemeClr val="bg1"/>
                </a:solidFill>
              </a:rPr>
              <a:t>		</a:t>
            </a:r>
            <a:r>
              <a:rPr lang="en-IN" sz="2800" dirty="0" err="1" smtClean="0">
                <a:solidFill>
                  <a:schemeClr val="bg1"/>
                </a:solidFill>
              </a:rPr>
              <a:t>stack.</a:t>
            </a:r>
            <a:r>
              <a:rPr lang="en-IN" sz="2800" dirty="0" err="1" smtClean="0">
                <a:solidFill>
                  <a:srgbClr val="FFC000"/>
                </a:solidFill>
              </a:rPr>
              <a:t>push</a:t>
            </a:r>
            <a:r>
              <a:rPr lang="en-IN" sz="2800" dirty="0" smtClean="0">
                <a:solidFill>
                  <a:schemeClr val="bg1"/>
                </a:solidFill>
              </a:rPr>
              <a:t>(1004</a:t>
            </a:r>
            <a:r>
              <a:rPr lang="en-IN" sz="2800" dirty="0">
                <a:solidFill>
                  <a:schemeClr val="bg1"/>
                </a:solidFill>
              </a:rPr>
              <a:t>);        </a:t>
            </a:r>
            <a:endParaRPr lang="en-IN" sz="2800" dirty="0" smtClean="0">
              <a:solidFill>
                <a:schemeClr val="bg1"/>
              </a:solidFill>
            </a:endParaRPr>
          </a:p>
        </p:txBody>
      </p:sp>
    </p:spTree>
    <p:extLst>
      <p:ext uri="{BB962C8B-B14F-4D97-AF65-F5344CB8AC3E}">
        <p14:creationId xmlns:p14="http://schemas.microsoft.com/office/powerpoint/2010/main" val="253382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xEl>
                                              <p:pRg st="6" end="6"/>
                                            </p:txEl>
                                          </p:spTgt>
                                        </p:tgtEl>
                                        <p:attrNameLst>
                                          <p:attrName>style.visibility</p:attrName>
                                        </p:attrNameLst>
                                      </p:cBhvr>
                                      <p:to>
                                        <p:strVal val="visible"/>
                                      </p:to>
                                    </p:set>
                                    <p:animEffect transition="in" filter="fade">
                                      <p:cBhvr>
                                        <p:cTn id="26" dur="500"/>
                                        <p:tgtEl>
                                          <p:spTgt spid="7">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animEffect transition="in" filter="fade">
                                      <p:cBhvr>
                                        <p:cTn id="29" dur="500"/>
                                        <p:tgtEl>
                                          <p:spTgt spid="7">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8" end="8"/>
                                            </p:txEl>
                                          </p:spTgt>
                                        </p:tgtEl>
                                        <p:attrNameLst>
                                          <p:attrName>style.visibility</p:attrName>
                                        </p:attrNameLst>
                                      </p:cBhvr>
                                      <p:to>
                                        <p:strVal val="visible"/>
                                      </p:to>
                                    </p:set>
                                    <p:animEffect transition="in" filter="fade">
                                      <p:cBhvr>
                                        <p:cTn id="32" dur="500"/>
                                        <p:tgtEl>
                                          <p:spTgt spid="7">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animEffect transition="in" filter="fade">
                                      <p:cBhvr>
                                        <p:cTn id="35"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8722773" cy="984885"/>
          </a:xfrm>
          <a:prstGeom prst="rect">
            <a:avLst/>
          </a:prstGeom>
          <a:noFill/>
        </p:spPr>
        <p:txBody>
          <a:bodyPr wrap="none" rtlCol="0">
            <a:spAutoFit/>
          </a:bodyPr>
          <a:lstStyle/>
          <a:p>
            <a:r>
              <a:rPr lang="en-IN" sz="5800" dirty="0" smtClean="0">
                <a:solidFill>
                  <a:schemeClr val="bg1"/>
                </a:solidFill>
              </a:rPr>
              <a:t>List interface: Stack Example</a:t>
            </a:r>
            <a:endParaRPr lang="en-IN" sz="5800" dirty="0">
              <a:solidFill>
                <a:schemeClr val="bg1"/>
              </a:solidFill>
            </a:endParaRPr>
          </a:p>
        </p:txBody>
      </p:sp>
      <p:sp>
        <p:nvSpPr>
          <p:cNvPr id="7" name="Rectangle 6"/>
          <p:cNvSpPr/>
          <p:nvPr/>
        </p:nvSpPr>
        <p:spPr>
          <a:xfrm>
            <a:off x="559557" y="1006453"/>
            <a:ext cx="11177517" cy="3970318"/>
          </a:xfrm>
          <a:prstGeom prst="rect">
            <a:avLst/>
          </a:prstGeom>
        </p:spPr>
        <p:txBody>
          <a:bodyPr wrap="square">
            <a:spAutoFit/>
          </a:bodyPr>
          <a:lstStyle/>
          <a:p>
            <a:pPr>
              <a:lnSpc>
                <a:spcPct val="150000"/>
              </a:lnSpc>
            </a:pPr>
            <a:r>
              <a:rPr lang="en-IN" sz="2800" dirty="0" err="1" smtClean="0">
                <a:solidFill>
                  <a:schemeClr val="bg1"/>
                </a:solidFill>
              </a:rPr>
              <a:t>System.out.println</a:t>
            </a:r>
            <a:r>
              <a:rPr lang="en-IN" sz="2800" dirty="0">
                <a:solidFill>
                  <a:schemeClr val="bg1"/>
                </a:solidFill>
              </a:rPr>
              <a:t>("Non-Empty stack : "  + stack</a:t>
            </a:r>
            <a:r>
              <a:rPr lang="en-IN" sz="2800" dirty="0" smtClean="0">
                <a:solidFill>
                  <a:schemeClr val="bg1"/>
                </a:solidFill>
              </a:rPr>
              <a:t>);</a:t>
            </a:r>
          </a:p>
          <a:p>
            <a:pPr>
              <a:lnSpc>
                <a:spcPct val="150000"/>
              </a:lnSpc>
            </a:pPr>
            <a:r>
              <a:rPr lang="en-IN" sz="2800" dirty="0" err="1" smtClean="0">
                <a:solidFill>
                  <a:schemeClr val="bg1"/>
                </a:solidFill>
              </a:rPr>
              <a:t>System.out.println</a:t>
            </a:r>
            <a:r>
              <a:rPr lang="en-IN" sz="2800" dirty="0" smtClean="0">
                <a:solidFill>
                  <a:schemeClr val="bg1"/>
                </a:solidFill>
              </a:rPr>
              <a:t>("Pop </a:t>
            </a:r>
            <a:r>
              <a:rPr lang="en-IN" sz="2800" dirty="0">
                <a:solidFill>
                  <a:schemeClr val="bg1"/>
                </a:solidFill>
              </a:rPr>
              <a:t>Operation : "  + </a:t>
            </a:r>
            <a:r>
              <a:rPr lang="en-IN" sz="2800" dirty="0" err="1">
                <a:solidFill>
                  <a:schemeClr val="bg1"/>
                </a:solidFill>
              </a:rPr>
              <a:t>stack.</a:t>
            </a:r>
            <a:r>
              <a:rPr lang="en-IN" sz="2800" dirty="0" err="1">
                <a:solidFill>
                  <a:srgbClr val="FFC000"/>
                </a:solidFill>
              </a:rPr>
              <a:t>pop</a:t>
            </a:r>
            <a:r>
              <a:rPr lang="en-IN" sz="2800" dirty="0">
                <a:solidFill>
                  <a:schemeClr val="bg1"/>
                </a:solidFill>
              </a:rPr>
              <a:t>());   </a:t>
            </a:r>
            <a:endParaRPr lang="en-IN" sz="2800" dirty="0" smtClean="0">
              <a:solidFill>
                <a:schemeClr val="bg1"/>
              </a:solidFill>
            </a:endParaRPr>
          </a:p>
          <a:p>
            <a:pPr>
              <a:lnSpc>
                <a:spcPct val="150000"/>
              </a:lnSpc>
            </a:pPr>
            <a:r>
              <a:rPr lang="en-IN" sz="2800" dirty="0" err="1" smtClean="0">
                <a:solidFill>
                  <a:schemeClr val="bg1"/>
                </a:solidFill>
              </a:rPr>
              <a:t>System.out.println</a:t>
            </a:r>
            <a:r>
              <a:rPr lang="en-IN" sz="2800" dirty="0" smtClean="0">
                <a:solidFill>
                  <a:schemeClr val="bg1"/>
                </a:solidFill>
              </a:rPr>
              <a:t>("After </a:t>
            </a:r>
            <a:r>
              <a:rPr lang="en-IN" sz="2800" dirty="0">
                <a:solidFill>
                  <a:schemeClr val="bg1"/>
                </a:solidFill>
              </a:rPr>
              <a:t>Pop Operation : "  + stack);        </a:t>
            </a:r>
            <a:endParaRPr lang="en-IN" sz="2800" dirty="0" smtClean="0">
              <a:solidFill>
                <a:schemeClr val="bg1"/>
              </a:solidFill>
            </a:endParaRPr>
          </a:p>
          <a:p>
            <a:pPr>
              <a:lnSpc>
                <a:spcPct val="150000"/>
              </a:lnSpc>
            </a:pPr>
            <a:r>
              <a:rPr lang="en-IN" sz="2800" dirty="0" err="1" smtClean="0">
                <a:solidFill>
                  <a:schemeClr val="bg1"/>
                </a:solidFill>
              </a:rPr>
              <a:t>System.out.println</a:t>
            </a:r>
            <a:r>
              <a:rPr lang="en-IN" sz="2800" dirty="0" smtClean="0">
                <a:solidFill>
                  <a:schemeClr val="bg1"/>
                </a:solidFill>
              </a:rPr>
              <a:t>("search</a:t>
            </a:r>
            <a:r>
              <a:rPr lang="en-IN" sz="2800" dirty="0">
                <a:solidFill>
                  <a:schemeClr val="bg1"/>
                </a:solidFill>
              </a:rPr>
              <a:t>() Operation : "  + </a:t>
            </a:r>
            <a:r>
              <a:rPr lang="en-IN" sz="2800" dirty="0" err="1">
                <a:solidFill>
                  <a:schemeClr val="bg1"/>
                </a:solidFill>
              </a:rPr>
              <a:t>stack.</a:t>
            </a:r>
            <a:r>
              <a:rPr lang="en-IN" sz="2800" dirty="0" err="1">
                <a:solidFill>
                  <a:srgbClr val="FFC000"/>
                </a:solidFill>
              </a:rPr>
              <a:t>search</a:t>
            </a:r>
            <a:r>
              <a:rPr lang="en-IN" sz="2800" dirty="0">
                <a:solidFill>
                  <a:schemeClr val="bg1"/>
                </a:solidFill>
              </a:rPr>
              <a:t>(1002));        </a:t>
            </a:r>
            <a:endParaRPr lang="en-IN" sz="2800" dirty="0" smtClean="0">
              <a:solidFill>
                <a:schemeClr val="bg1"/>
              </a:solidFill>
            </a:endParaRPr>
          </a:p>
          <a:p>
            <a:pPr>
              <a:lnSpc>
                <a:spcPct val="150000"/>
              </a:lnSpc>
            </a:pPr>
            <a:r>
              <a:rPr lang="en-IN" sz="2800" dirty="0" err="1" smtClean="0">
                <a:solidFill>
                  <a:schemeClr val="bg1"/>
                </a:solidFill>
              </a:rPr>
              <a:t>System.out.println</a:t>
            </a:r>
            <a:r>
              <a:rPr lang="en-IN" sz="2800" dirty="0">
                <a:solidFill>
                  <a:schemeClr val="bg1"/>
                </a:solidFill>
              </a:rPr>
              <a:t>("Non-Empty stack : "  + </a:t>
            </a:r>
            <a:r>
              <a:rPr lang="en-IN" sz="2800" dirty="0" err="1">
                <a:solidFill>
                  <a:schemeClr val="bg1"/>
                </a:solidFill>
              </a:rPr>
              <a:t>stack.</a:t>
            </a:r>
            <a:r>
              <a:rPr lang="en-IN" sz="2800" dirty="0" err="1">
                <a:solidFill>
                  <a:srgbClr val="FFC000"/>
                </a:solidFill>
              </a:rPr>
              <a:t>isEmpty</a:t>
            </a:r>
            <a:r>
              <a:rPr lang="en-IN" sz="2800" dirty="0">
                <a:solidFill>
                  <a:schemeClr val="bg1"/>
                </a:solidFill>
              </a:rPr>
              <a:t>());    </a:t>
            </a:r>
            <a:endParaRPr lang="en-IN" sz="2800" dirty="0" smtClean="0">
              <a:solidFill>
                <a:schemeClr val="bg1"/>
              </a:solidFill>
            </a:endParaRPr>
          </a:p>
          <a:p>
            <a:pPr>
              <a:lnSpc>
                <a:spcPct val="150000"/>
              </a:lnSpc>
            </a:pPr>
            <a:r>
              <a:rPr lang="en-IN" sz="2800" dirty="0" smtClean="0">
                <a:solidFill>
                  <a:schemeClr val="bg1"/>
                </a:solidFill>
              </a:rPr>
              <a:t>}}</a:t>
            </a:r>
            <a:endParaRPr lang="en-IN" sz="2800" dirty="0">
              <a:solidFill>
                <a:schemeClr val="bg1"/>
              </a:solidFill>
            </a:endParaRPr>
          </a:p>
        </p:txBody>
      </p:sp>
      <p:sp>
        <p:nvSpPr>
          <p:cNvPr id="2" name="Rectangle 1"/>
          <p:cNvSpPr/>
          <p:nvPr/>
        </p:nvSpPr>
        <p:spPr>
          <a:xfrm>
            <a:off x="6350758" y="4180344"/>
            <a:ext cx="6096000" cy="2677656"/>
          </a:xfrm>
          <a:prstGeom prst="rect">
            <a:avLst/>
          </a:prstGeom>
        </p:spPr>
        <p:txBody>
          <a:bodyPr>
            <a:spAutoFit/>
          </a:bodyPr>
          <a:lstStyle/>
          <a:p>
            <a:r>
              <a:rPr lang="en-IN" sz="2400" dirty="0">
                <a:solidFill>
                  <a:srgbClr val="FFC000"/>
                </a:solidFill>
              </a:rPr>
              <a:t>Empty stack : </a:t>
            </a:r>
            <a:r>
              <a:rPr lang="en-IN" sz="2400" dirty="0" smtClean="0">
                <a:solidFill>
                  <a:srgbClr val="FFC000"/>
                </a:solidFill>
              </a:rPr>
              <a:t>[]</a:t>
            </a:r>
          </a:p>
          <a:p>
            <a:r>
              <a:rPr lang="en-IN" sz="2400" dirty="0" smtClean="0">
                <a:solidFill>
                  <a:srgbClr val="FFC000"/>
                </a:solidFill>
              </a:rPr>
              <a:t>Empty </a:t>
            </a:r>
            <a:r>
              <a:rPr lang="en-IN" sz="2400" dirty="0">
                <a:solidFill>
                  <a:srgbClr val="FFC000"/>
                </a:solidFill>
              </a:rPr>
              <a:t>stack : </a:t>
            </a:r>
            <a:r>
              <a:rPr lang="en-IN" sz="2400" dirty="0" smtClean="0">
                <a:solidFill>
                  <a:srgbClr val="FFC000"/>
                </a:solidFill>
              </a:rPr>
              <a:t>true</a:t>
            </a:r>
          </a:p>
          <a:p>
            <a:r>
              <a:rPr lang="en-IN" sz="2400" dirty="0" smtClean="0">
                <a:solidFill>
                  <a:srgbClr val="FFC000"/>
                </a:solidFill>
              </a:rPr>
              <a:t>stack </a:t>
            </a:r>
            <a:r>
              <a:rPr lang="en-IN" sz="2400" dirty="0">
                <a:solidFill>
                  <a:srgbClr val="FFC000"/>
                </a:solidFill>
              </a:rPr>
              <a:t>: [1001, 1002, 1003, 1004</a:t>
            </a:r>
            <a:r>
              <a:rPr lang="en-IN" sz="2400" dirty="0" smtClean="0">
                <a:solidFill>
                  <a:srgbClr val="FFC000"/>
                </a:solidFill>
              </a:rPr>
              <a:t>]</a:t>
            </a:r>
          </a:p>
          <a:p>
            <a:r>
              <a:rPr lang="en-IN" sz="2400" dirty="0" smtClean="0">
                <a:solidFill>
                  <a:srgbClr val="FFC000"/>
                </a:solidFill>
              </a:rPr>
              <a:t>Pop </a:t>
            </a:r>
            <a:r>
              <a:rPr lang="en-IN" sz="2400" dirty="0">
                <a:solidFill>
                  <a:srgbClr val="FFC000"/>
                </a:solidFill>
              </a:rPr>
              <a:t>Operation : </a:t>
            </a:r>
            <a:r>
              <a:rPr lang="en-IN" sz="2400" dirty="0" smtClean="0">
                <a:solidFill>
                  <a:srgbClr val="FFC000"/>
                </a:solidFill>
              </a:rPr>
              <a:t>1004</a:t>
            </a:r>
          </a:p>
          <a:p>
            <a:r>
              <a:rPr lang="en-IN" sz="2400" dirty="0" smtClean="0">
                <a:solidFill>
                  <a:srgbClr val="FFC000"/>
                </a:solidFill>
              </a:rPr>
              <a:t>After </a:t>
            </a:r>
            <a:r>
              <a:rPr lang="en-IN" sz="2400" dirty="0">
                <a:solidFill>
                  <a:srgbClr val="FFC000"/>
                </a:solidFill>
              </a:rPr>
              <a:t>Pop Operation : [1001, 1002, 1003</a:t>
            </a:r>
            <a:r>
              <a:rPr lang="en-IN" sz="2400" dirty="0" smtClean="0">
                <a:solidFill>
                  <a:srgbClr val="FFC000"/>
                </a:solidFill>
              </a:rPr>
              <a:t>]</a:t>
            </a:r>
          </a:p>
          <a:p>
            <a:r>
              <a:rPr lang="en-IN" sz="2400" dirty="0" smtClean="0">
                <a:solidFill>
                  <a:srgbClr val="FFC000"/>
                </a:solidFill>
              </a:rPr>
              <a:t>search</a:t>
            </a:r>
            <a:r>
              <a:rPr lang="en-IN" sz="2400" dirty="0">
                <a:solidFill>
                  <a:srgbClr val="FFC000"/>
                </a:solidFill>
              </a:rPr>
              <a:t>() Operation : </a:t>
            </a:r>
            <a:r>
              <a:rPr lang="en-IN" sz="2400" dirty="0" smtClean="0">
                <a:solidFill>
                  <a:srgbClr val="FFC000"/>
                </a:solidFill>
              </a:rPr>
              <a:t>2</a:t>
            </a:r>
          </a:p>
          <a:p>
            <a:r>
              <a:rPr lang="en-IN" sz="2400" dirty="0" smtClean="0">
                <a:solidFill>
                  <a:srgbClr val="FFC000"/>
                </a:solidFill>
              </a:rPr>
              <a:t>Non-Empty </a:t>
            </a:r>
            <a:r>
              <a:rPr lang="en-IN" sz="2400" dirty="0">
                <a:solidFill>
                  <a:srgbClr val="FFC000"/>
                </a:solidFill>
              </a:rPr>
              <a:t>stack : false</a:t>
            </a:r>
          </a:p>
        </p:txBody>
      </p:sp>
    </p:spTree>
    <p:extLst>
      <p:ext uri="{BB962C8B-B14F-4D97-AF65-F5344CB8AC3E}">
        <p14:creationId xmlns:p14="http://schemas.microsoft.com/office/powerpoint/2010/main" val="136171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500"/>
                                        <p:tgtEl>
                                          <p:spTgt spid="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5053948" cy="984885"/>
          </a:xfrm>
          <a:prstGeom prst="rect">
            <a:avLst/>
          </a:prstGeom>
          <a:noFill/>
        </p:spPr>
        <p:txBody>
          <a:bodyPr wrap="none" rtlCol="0">
            <a:spAutoFit/>
          </a:bodyPr>
          <a:lstStyle/>
          <a:p>
            <a:r>
              <a:rPr lang="en-IN" sz="5800" dirty="0" smtClean="0">
                <a:solidFill>
                  <a:schemeClr val="bg1"/>
                </a:solidFill>
              </a:rPr>
              <a:t>Queue interface</a:t>
            </a:r>
            <a:endParaRPr lang="en-IN" sz="5800" dirty="0">
              <a:solidFill>
                <a:schemeClr val="bg1"/>
              </a:solidFill>
            </a:endParaRPr>
          </a:p>
        </p:txBody>
      </p:sp>
      <p:sp>
        <p:nvSpPr>
          <p:cNvPr id="7" name="Rectangle 6"/>
          <p:cNvSpPr/>
          <p:nvPr/>
        </p:nvSpPr>
        <p:spPr>
          <a:xfrm>
            <a:off x="559557" y="1006453"/>
            <a:ext cx="11177517" cy="1964512"/>
          </a:xfrm>
          <a:prstGeom prst="rect">
            <a:avLst/>
          </a:prstGeom>
        </p:spPr>
        <p:txBody>
          <a:bodyPr wrap="square">
            <a:spAutoFit/>
          </a:bodyPr>
          <a:lstStyle/>
          <a:p>
            <a:pPr>
              <a:lnSpc>
                <a:spcPct val="150000"/>
              </a:lnSpc>
            </a:pPr>
            <a:r>
              <a:rPr lang="en-IN" sz="2800" dirty="0">
                <a:solidFill>
                  <a:schemeClr val="bg1"/>
                </a:solidFill>
              </a:rPr>
              <a:t>Java Queue interface orders the element in FIFO(First In First Out) manner. In FIFO, first element is removed first and last element is removed at last.</a:t>
            </a:r>
          </a:p>
          <a:p>
            <a:pPr>
              <a:lnSpc>
                <a:spcPct val="150000"/>
              </a:lnSpc>
            </a:pPr>
            <a:endParaRPr lang="en-IN" sz="2800" dirty="0">
              <a:solidFill>
                <a:schemeClr val="bg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2757624"/>
              </p:ext>
            </p:extLst>
          </p:nvPr>
        </p:nvGraphicFramePr>
        <p:xfrm>
          <a:off x="982641" y="3415700"/>
          <a:ext cx="10017456" cy="2493780"/>
        </p:xfrm>
        <a:graphic>
          <a:graphicData uri="http://schemas.openxmlformats.org/drawingml/2006/table">
            <a:tbl>
              <a:tblPr firstRow="1" bandRow="1">
                <a:tableStyleId>{21E4AEA4-8DFA-4A89-87EB-49C32662AFE0}</a:tableStyleId>
              </a:tblPr>
              <a:tblGrid>
                <a:gridCol w="3339152">
                  <a:extLst>
                    <a:ext uri="{9D8B030D-6E8A-4147-A177-3AD203B41FA5}">
                      <a16:colId xmlns:a16="http://schemas.microsoft.com/office/drawing/2014/main" val="14403704"/>
                    </a:ext>
                  </a:extLst>
                </a:gridCol>
                <a:gridCol w="3339152">
                  <a:extLst>
                    <a:ext uri="{9D8B030D-6E8A-4147-A177-3AD203B41FA5}">
                      <a16:colId xmlns:a16="http://schemas.microsoft.com/office/drawing/2014/main" val="2612276897"/>
                    </a:ext>
                  </a:extLst>
                </a:gridCol>
                <a:gridCol w="3339152">
                  <a:extLst>
                    <a:ext uri="{9D8B030D-6E8A-4147-A177-3AD203B41FA5}">
                      <a16:colId xmlns:a16="http://schemas.microsoft.com/office/drawing/2014/main" val="4123757483"/>
                    </a:ext>
                  </a:extLst>
                </a:gridCol>
              </a:tblGrid>
              <a:tr h="623445">
                <a:tc>
                  <a:txBody>
                    <a:bodyPr/>
                    <a:lstStyle/>
                    <a:p>
                      <a:r>
                        <a:rPr lang="en-IN" sz="2800">
                          <a:effectLst/>
                        </a:rPr>
                        <a:t>Type of Operation</a:t>
                      </a:r>
                      <a:endParaRPr lang="en-IN" sz="2800">
                        <a:effectLst/>
                        <a:latin typeface="Arial" panose="020B0604020202020204" pitchFamily="34" charset="0"/>
                      </a:endParaRPr>
                    </a:p>
                  </a:txBody>
                  <a:tcPr anchor="ctr"/>
                </a:tc>
                <a:tc>
                  <a:txBody>
                    <a:bodyPr/>
                    <a:lstStyle/>
                    <a:p>
                      <a:r>
                        <a:rPr lang="en-IN" sz="2800">
                          <a:effectLst/>
                        </a:rPr>
                        <a:t>Throws exception</a:t>
                      </a:r>
                      <a:endParaRPr lang="en-IN" sz="2800">
                        <a:effectLst/>
                        <a:latin typeface="Arial" panose="020B0604020202020204" pitchFamily="34" charset="0"/>
                      </a:endParaRPr>
                    </a:p>
                  </a:txBody>
                  <a:tcPr anchor="ctr"/>
                </a:tc>
                <a:tc>
                  <a:txBody>
                    <a:bodyPr/>
                    <a:lstStyle/>
                    <a:p>
                      <a:r>
                        <a:rPr lang="en-IN" sz="2800" dirty="0">
                          <a:effectLst/>
                        </a:rPr>
                        <a:t>Returns special value</a:t>
                      </a:r>
                      <a:endParaRPr lang="en-IN" sz="2800" dirty="0">
                        <a:effectLst/>
                        <a:latin typeface="Arial" panose="020B0604020202020204" pitchFamily="34" charset="0"/>
                      </a:endParaRPr>
                    </a:p>
                  </a:txBody>
                  <a:tcPr anchor="ctr"/>
                </a:tc>
                <a:extLst>
                  <a:ext uri="{0D108BD9-81ED-4DB2-BD59-A6C34878D82A}">
                    <a16:rowId xmlns:a16="http://schemas.microsoft.com/office/drawing/2014/main" val="1029957416"/>
                  </a:ext>
                </a:extLst>
              </a:tr>
              <a:tr h="623445">
                <a:tc>
                  <a:txBody>
                    <a:bodyPr/>
                    <a:lstStyle/>
                    <a:p>
                      <a:r>
                        <a:rPr lang="en-IN" sz="2800">
                          <a:effectLst/>
                        </a:rPr>
                        <a:t>Insert</a:t>
                      </a:r>
                      <a:endParaRPr lang="en-IN" sz="2800">
                        <a:effectLst/>
                        <a:latin typeface="Arial" panose="020B0604020202020204" pitchFamily="34" charset="0"/>
                      </a:endParaRPr>
                    </a:p>
                  </a:txBody>
                  <a:tcPr anchor="ctr"/>
                </a:tc>
                <a:tc>
                  <a:txBody>
                    <a:bodyPr/>
                    <a:lstStyle/>
                    <a:p>
                      <a:r>
                        <a:rPr lang="en-IN" sz="2800" dirty="0">
                          <a:effectLst/>
                        </a:rPr>
                        <a:t>add(e)</a:t>
                      </a:r>
                      <a:endParaRPr lang="en-IN" sz="2800" dirty="0">
                        <a:effectLst/>
                        <a:latin typeface="Arial" panose="020B0604020202020204" pitchFamily="34" charset="0"/>
                      </a:endParaRPr>
                    </a:p>
                  </a:txBody>
                  <a:tcPr anchor="ctr"/>
                </a:tc>
                <a:tc>
                  <a:txBody>
                    <a:bodyPr/>
                    <a:lstStyle/>
                    <a:p>
                      <a:r>
                        <a:rPr lang="en-IN" sz="2800">
                          <a:effectLst/>
                        </a:rPr>
                        <a:t>offer(e)</a:t>
                      </a:r>
                      <a:endParaRPr lang="en-IN" sz="2800">
                        <a:effectLst/>
                        <a:latin typeface="Arial" panose="020B0604020202020204" pitchFamily="34" charset="0"/>
                      </a:endParaRPr>
                    </a:p>
                  </a:txBody>
                  <a:tcPr anchor="ctr"/>
                </a:tc>
                <a:extLst>
                  <a:ext uri="{0D108BD9-81ED-4DB2-BD59-A6C34878D82A}">
                    <a16:rowId xmlns:a16="http://schemas.microsoft.com/office/drawing/2014/main" val="1933767510"/>
                  </a:ext>
                </a:extLst>
              </a:tr>
              <a:tr h="623445">
                <a:tc>
                  <a:txBody>
                    <a:bodyPr/>
                    <a:lstStyle/>
                    <a:p>
                      <a:r>
                        <a:rPr lang="en-IN" sz="2800">
                          <a:effectLst/>
                        </a:rPr>
                        <a:t>Remove</a:t>
                      </a:r>
                      <a:endParaRPr lang="en-IN" sz="2800">
                        <a:effectLst/>
                        <a:latin typeface="Arial" panose="020B0604020202020204" pitchFamily="34" charset="0"/>
                      </a:endParaRPr>
                    </a:p>
                  </a:txBody>
                  <a:tcPr anchor="ctr"/>
                </a:tc>
                <a:tc>
                  <a:txBody>
                    <a:bodyPr/>
                    <a:lstStyle/>
                    <a:p>
                      <a:r>
                        <a:rPr lang="en-IN" sz="2800">
                          <a:effectLst/>
                        </a:rPr>
                        <a:t>remove()</a:t>
                      </a:r>
                      <a:endParaRPr lang="en-IN" sz="2800">
                        <a:effectLst/>
                        <a:latin typeface="Arial" panose="020B0604020202020204" pitchFamily="34" charset="0"/>
                      </a:endParaRPr>
                    </a:p>
                  </a:txBody>
                  <a:tcPr anchor="ctr"/>
                </a:tc>
                <a:tc>
                  <a:txBody>
                    <a:bodyPr/>
                    <a:lstStyle/>
                    <a:p>
                      <a:r>
                        <a:rPr lang="en-IN" sz="2800">
                          <a:effectLst/>
                        </a:rPr>
                        <a:t>poll()</a:t>
                      </a:r>
                      <a:endParaRPr lang="en-IN" sz="2800">
                        <a:effectLst/>
                        <a:latin typeface="Arial" panose="020B0604020202020204" pitchFamily="34" charset="0"/>
                      </a:endParaRPr>
                    </a:p>
                  </a:txBody>
                  <a:tcPr anchor="ctr"/>
                </a:tc>
                <a:extLst>
                  <a:ext uri="{0D108BD9-81ED-4DB2-BD59-A6C34878D82A}">
                    <a16:rowId xmlns:a16="http://schemas.microsoft.com/office/drawing/2014/main" val="9661717"/>
                  </a:ext>
                </a:extLst>
              </a:tr>
              <a:tr h="623445">
                <a:tc>
                  <a:txBody>
                    <a:bodyPr/>
                    <a:lstStyle/>
                    <a:p>
                      <a:r>
                        <a:rPr lang="en-IN" sz="2800">
                          <a:effectLst/>
                        </a:rPr>
                        <a:t>Examine</a:t>
                      </a:r>
                      <a:endParaRPr lang="en-IN" sz="2800">
                        <a:effectLst/>
                        <a:latin typeface="Arial" panose="020B0604020202020204" pitchFamily="34" charset="0"/>
                      </a:endParaRPr>
                    </a:p>
                  </a:txBody>
                  <a:tcPr anchor="ctr"/>
                </a:tc>
                <a:tc>
                  <a:txBody>
                    <a:bodyPr/>
                    <a:lstStyle/>
                    <a:p>
                      <a:r>
                        <a:rPr lang="en-IN" sz="2800">
                          <a:effectLst/>
                        </a:rPr>
                        <a:t>element()</a:t>
                      </a:r>
                      <a:endParaRPr lang="en-IN" sz="2800">
                        <a:effectLst/>
                        <a:latin typeface="Arial" panose="020B0604020202020204" pitchFamily="34" charset="0"/>
                      </a:endParaRPr>
                    </a:p>
                  </a:txBody>
                  <a:tcPr anchor="ctr"/>
                </a:tc>
                <a:tc>
                  <a:txBody>
                    <a:bodyPr/>
                    <a:lstStyle/>
                    <a:p>
                      <a:r>
                        <a:rPr lang="en-IN" sz="2800" dirty="0">
                          <a:effectLst/>
                        </a:rPr>
                        <a:t>peek()</a:t>
                      </a:r>
                      <a:endParaRPr lang="en-IN" sz="2800" dirty="0">
                        <a:effectLst/>
                        <a:latin typeface="Arial" panose="020B0604020202020204" pitchFamily="34" charset="0"/>
                      </a:endParaRPr>
                    </a:p>
                  </a:txBody>
                  <a:tcPr anchor="ctr"/>
                </a:tc>
                <a:extLst>
                  <a:ext uri="{0D108BD9-81ED-4DB2-BD59-A6C34878D82A}">
                    <a16:rowId xmlns:a16="http://schemas.microsoft.com/office/drawing/2014/main" val="3078430916"/>
                  </a:ext>
                </a:extLst>
              </a:tr>
            </a:tbl>
          </a:graphicData>
        </a:graphic>
      </p:graphicFrame>
    </p:spTree>
    <p:extLst>
      <p:ext uri="{BB962C8B-B14F-4D97-AF65-F5344CB8AC3E}">
        <p14:creationId xmlns:p14="http://schemas.microsoft.com/office/powerpoint/2010/main" val="312285978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7807265" cy="984885"/>
          </a:xfrm>
          <a:prstGeom prst="rect">
            <a:avLst/>
          </a:prstGeom>
          <a:noFill/>
        </p:spPr>
        <p:txBody>
          <a:bodyPr wrap="none" rtlCol="0">
            <a:spAutoFit/>
          </a:bodyPr>
          <a:lstStyle/>
          <a:p>
            <a:r>
              <a:rPr lang="en-IN" sz="5800" dirty="0" smtClean="0">
                <a:solidFill>
                  <a:schemeClr val="bg1"/>
                </a:solidFill>
              </a:rPr>
              <a:t>Queue </a:t>
            </a:r>
            <a:r>
              <a:rPr lang="en-IN" sz="5800" dirty="0" err="1" smtClean="0">
                <a:solidFill>
                  <a:schemeClr val="bg1"/>
                </a:solidFill>
              </a:rPr>
              <a:t>interface:Example</a:t>
            </a:r>
            <a:endParaRPr lang="en-IN" sz="5800" dirty="0">
              <a:solidFill>
                <a:schemeClr val="bg1"/>
              </a:solidFill>
            </a:endParaRPr>
          </a:p>
        </p:txBody>
      </p:sp>
      <p:sp>
        <p:nvSpPr>
          <p:cNvPr id="7" name="Rectangle 6"/>
          <p:cNvSpPr/>
          <p:nvPr/>
        </p:nvSpPr>
        <p:spPr>
          <a:xfrm>
            <a:off x="559556" y="965509"/>
            <a:ext cx="11177517" cy="5909310"/>
          </a:xfrm>
          <a:prstGeom prst="rect">
            <a:avLst/>
          </a:prstGeom>
        </p:spPr>
        <p:txBody>
          <a:bodyPr wrap="square">
            <a:spAutoFit/>
          </a:bodyPr>
          <a:lstStyle/>
          <a:p>
            <a:pPr>
              <a:lnSpc>
                <a:spcPct val="150000"/>
              </a:lnSpc>
            </a:pPr>
            <a:r>
              <a:rPr lang="en-IN" sz="2800" dirty="0">
                <a:solidFill>
                  <a:schemeClr val="bg1"/>
                </a:solidFill>
              </a:rPr>
              <a:t>public class </a:t>
            </a:r>
            <a:r>
              <a:rPr lang="en-IN" sz="2800" dirty="0" err="1">
                <a:solidFill>
                  <a:schemeClr val="bg1"/>
                </a:solidFill>
              </a:rPr>
              <a:t>QueueExample</a:t>
            </a:r>
            <a:r>
              <a:rPr lang="en-IN" sz="2800" dirty="0">
                <a:solidFill>
                  <a:schemeClr val="bg1"/>
                </a:solidFill>
              </a:rPr>
              <a:t> {   </a:t>
            </a:r>
          </a:p>
          <a:p>
            <a:pPr>
              <a:lnSpc>
                <a:spcPct val="150000"/>
              </a:lnSpc>
            </a:pPr>
            <a:r>
              <a:rPr lang="en-IN" sz="2800" dirty="0" smtClean="0">
                <a:solidFill>
                  <a:schemeClr val="bg1"/>
                </a:solidFill>
              </a:rPr>
              <a:t>	public </a:t>
            </a:r>
            <a:r>
              <a:rPr lang="en-IN" sz="2800" dirty="0">
                <a:solidFill>
                  <a:schemeClr val="bg1"/>
                </a:solidFill>
              </a:rPr>
              <a:t>static void main(String[] </a:t>
            </a:r>
            <a:r>
              <a:rPr lang="en-IN" sz="2800" dirty="0" err="1">
                <a:solidFill>
                  <a:schemeClr val="bg1"/>
                </a:solidFill>
              </a:rPr>
              <a:t>args</a:t>
            </a:r>
            <a:r>
              <a:rPr lang="en-IN" sz="2800" dirty="0">
                <a:solidFill>
                  <a:schemeClr val="bg1"/>
                </a:solidFill>
              </a:rPr>
              <a:t>)   {     </a:t>
            </a:r>
          </a:p>
          <a:p>
            <a:pPr>
              <a:lnSpc>
                <a:spcPct val="150000"/>
              </a:lnSpc>
            </a:pPr>
            <a:r>
              <a:rPr lang="en-IN" sz="2800" dirty="0" smtClean="0">
                <a:solidFill>
                  <a:schemeClr val="bg1"/>
                </a:solidFill>
              </a:rPr>
              <a:t>		</a:t>
            </a:r>
            <a:r>
              <a:rPr lang="en-IN" sz="2800" dirty="0" smtClean="0">
                <a:solidFill>
                  <a:srgbClr val="FFC000"/>
                </a:solidFill>
              </a:rPr>
              <a:t>Queue</a:t>
            </a:r>
            <a:r>
              <a:rPr lang="en-IN" sz="2800" dirty="0" smtClean="0">
                <a:solidFill>
                  <a:schemeClr val="bg1"/>
                </a:solidFill>
              </a:rPr>
              <a:t>&lt;Integer</a:t>
            </a:r>
            <a:r>
              <a:rPr lang="en-IN" sz="2800" dirty="0">
                <a:solidFill>
                  <a:schemeClr val="bg1"/>
                </a:solidFill>
              </a:rPr>
              <a:t>&gt; q = new </a:t>
            </a:r>
            <a:r>
              <a:rPr lang="en-IN" sz="2800" dirty="0" err="1">
                <a:solidFill>
                  <a:srgbClr val="FFC000"/>
                </a:solidFill>
              </a:rPr>
              <a:t>LinkedList</a:t>
            </a:r>
            <a:r>
              <a:rPr lang="en-IN" sz="2800" dirty="0">
                <a:solidFill>
                  <a:schemeClr val="bg1"/>
                </a:solidFill>
              </a:rPr>
              <a:t>&lt;&gt;();       </a:t>
            </a:r>
          </a:p>
          <a:p>
            <a:pPr>
              <a:lnSpc>
                <a:spcPct val="150000"/>
              </a:lnSpc>
            </a:pPr>
            <a:r>
              <a:rPr lang="en-IN" sz="2800" dirty="0" smtClean="0">
                <a:solidFill>
                  <a:schemeClr val="bg1"/>
                </a:solidFill>
              </a:rPr>
              <a:t>		for </a:t>
            </a:r>
            <a:r>
              <a:rPr lang="en-IN" sz="2800" dirty="0">
                <a:solidFill>
                  <a:schemeClr val="bg1"/>
                </a:solidFill>
              </a:rPr>
              <a:t>(</a:t>
            </a:r>
            <a:r>
              <a:rPr lang="en-IN" sz="2800" dirty="0" err="1">
                <a:solidFill>
                  <a:schemeClr val="bg1"/>
                </a:solidFill>
              </a:rPr>
              <a:t>int</a:t>
            </a:r>
            <a:r>
              <a:rPr lang="en-IN" sz="2800" dirty="0">
                <a:solidFill>
                  <a:schemeClr val="bg1"/>
                </a:solidFill>
              </a:rPr>
              <a:t> </a:t>
            </a:r>
            <a:r>
              <a:rPr lang="en-IN" sz="2800" dirty="0" err="1">
                <a:solidFill>
                  <a:schemeClr val="bg1"/>
                </a:solidFill>
              </a:rPr>
              <a:t>i</a:t>
            </a:r>
            <a:r>
              <a:rPr lang="en-IN" sz="2800" dirty="0">
                <a:solidFill>
                  <a:schemeClr val="bg1"/>
                </a:solidFill>
              </a:rPr>
              <a:t>=0; </a:t>
            </a:r>
            <a:r>
              <a:rPr lang="en-IN" sz="2800" dirty="0" err="1">
                <a:solidFill>
                  <a:schemeClr val="bg1"/>
                </a:solidFill>
              </a:rPr>
              <a:t>i</a:t>
            </a:r>
            <a:r>
              <a:rPr lang="en-IN" sz="2800" dirty="0">
                <a:solidFill>
                  <a:schemeClr val="bg1"/>
                </a:solidFill>
              </a:rPr>
              <a:t>&lt;5; </a:t>
            </a:r>
            <a:r>
              <a:rPr lang="en-IN" sz="2800" dirty="0" err="1">
                <a:solidFill>
                  <a:schemeClr val="bg1"/>
                </a:solidFill>
              </a:rPr>
              <a:t>i</a:t>
            </a:r>
            <a:r>
              <a:rPr lang="en-IN" sz="2800" dirty="0">
                <a:solidFill>
                  <a:schemeClr val="bg1"/>
                </a:solidFill>
              </a:rPr>
              <a:t>++)      </a:t>
            </a:r>
          </a:p>
          <a:p>
            <a:pPr>
              <a:lnSpc>
                <a:spcPct val="150000"/>
              </a:lnSpc>
            </a:pPr>
            <a:r>
              <a:rPr lang="en-IN" sz="2800" dirty="0" smtClean="0">
                <a:solidFill>
                  <a:schemeClr val="bg1"/>
                </a:solidFill>
              </a:rPr>
              <a:t>			</a:t>
            </a:r>
            <a:r>
              <a:rPr lang="en-IN" sz="2800" dirty="0" err="1" smtClean="0">
                <a:solidFill>
                  <a:schemeClr val="bg1"/>
                </a:solidFill>
              </a:rPr>
              <a:t>q.</a:t>
            </a:r>
            <a:r>
              <a:rPr lang="en-IN" sz="2800" dirty="0" err="1" smtClean="0">
                <a:solidFill>
                  <a:srgbClr val="FFC000"/>
                </a:solidFill>
              </a:rPr>
              <a:t>add</a:t>
            </a:r>
            <a:r>
              <a:rPr lang="en-IN" sz="2800" dirty="0" smtClean="0">
                <a:solidFill>
                  <a:schemeClr val="bg1"/>
                </a:solidFill>
              </a:rPr>
              <a:t>(</a:t>
            </a:r>
            <a:r>
              <a:rPr lang="en-IN" sz="2800" dirty="0" err="1" smtClean="0">
                <a:solidFill>
                  <a:schemeClr val="bg1"/>
                </a:solidFill>
              </a:rPr>
              <a:t>i</a:t>
            </a:r>
            <a:r>
              <a:rPr lang="en-IN" sz="2800" dirty="0">
                <a:solidFill>
                  <a:schemeClr val="bg1"/>
                </a:solidFill>
              </a:rPr>
              <a:t>); // Adds elements {0, 1, 2, 3, 4} to queue </a:t>
            </a:r>
          </a:p>
          <a:p>
            <a:pPr>
              <a:lnSpc>
                <a:spcPct val="150000"/>
              </a:lnSpc>
            </a:pPr>
            <a:r>
              <a:rPr lang="en-IN" sz="2800" dirty="0" smtClean="0">
                <a:solidFill>
                  <a:schemeClr val="bg1"/>
                </a:solidFill>
              </a:rPr>
              <a:t>		</a:t>
            </a:r>
            <a:r>
              <a:rPr lang="en-IN" sz="2800" dirty="0" err="1" smtClean="0">
                <a:solidFill>
                  <a:schemeClr val="bg1"/>
                </a:solidFill>
              </a:rPr>
              <a:t>System.out.println</a:t>
            </a:r>
            <a:r>
              <a:rPr lang="en-IN" sz="2800" dirty="0">
                <a:solidFill>
                  <a:schemeClr val="bg1"/>
                </a:solidFill>
              </a:rPr>
              <a:t>("Elements of queue-"+q);       </a:t>
            </a:r>
            <a:endParaRPr lang="en-IN" sz="2800" dirty="0" smtClean="0">
              <a:solidFill>
                <a:schemeClr val="bg1"/>
              </a:solidFill>
            </a:endParaRPr>
          </a:p>
          <a:p>
            <a:pPr>
              <a:lnSpc>
                <a:spcPct val="150000"/>
              </a:lnSpc>
            </a:pPr>
            <a:r>
              <a:rPr lang="en-IN" sz="2800" dirty="0" smtClean="0">
                <a:solidFill>
                  <a:schemeClr val="bg1"/>
                </a:solidFill>
              </a:rPr>
              <a:t>	 </a:t>
            </a:r>
            <a:r>
              <a:rPr lang="en-IN" sz="2800" dirty="0" err="1">
                <a:solidFill>
                  <a:schemeClr val="bg1"/>
                </a:solidFill>
              </a:rPr>
              <a:t>int</a:t>
            </a:r>
            <a:r>
              <a:rPr lang="en-IN" sz="2800" dirty="0">
                <a:solidFill>
                  <a:schemeClr val="bg1"/>
                </a:solidFill>
              </a:rPr>
              <a:t> </a:t>
            </a:r>
            <a:r>
              <a:rPr lang="en-IN" sz="2800" dirty="0" err="1">
                <a:solidFill>
                  <a:schemeClr val="bg1"/>
                </a:solidFill>
              </a:rPr>
              <a:t>removedele</a:t>
            </a:r>
            <a:r>
              <a:rPr lang="en-IN" sz="2800" dirty="0">
                <a:solidFill>
                  <a:schemeClr val="bg1"/>
                </a:solidFill>
              </a:rPr>
              <a:t> = </a:t>
            </a:r>
            <a:r>
              <a:rPr lang="en-IN" sz="2800" dirty="0" err="1">
                <a:solidFill>
                  <a:schemeClr val="bg1"/>
                </a:solidFill>
              </a:rPr>
              <a:t>q.</a:t>
            </a:r>
            <a:r>
              <a:rPr lang="en-IN" sz="2800" dirty="0" err="1">
                <a:solidFill>
                  <a:srgbClr val="FFC000"/>
                </a:solidFill>
              </a:rPr>
              <a:t>remove</a:t>
            </a:r>
            <a:r>
              <a:rPr lang="en-IN" sz="2800" dirty="0">
                <a:solidFill>
                  <a:schemeClr val="bg1"/>
                </a:solidFill>
              </a:rPr>
              <a:t>(); // To remove the head of queue.    </a:t>
            </a:r>
          </a:p>
          <a:p>
            <a:pPr>
              <a:lnSpc>
                <a:spcPct val="150000"/>
              </a:lnSpc>
            </a:pPr>
            <a:r>
              <a:rPr lang="en-IN" sz="2800" dirty="0" smtClean="0">
                <a:solidFill>
                  <a:schemeClr val="bg1"/>
                </a:solidFill>
              </a:rPr>
              <a:t>	</a:t>
            </a:r>
            <a:r>
              <a:rPr lang="en-IN" sz="2800" dirty="0" err="1" smtClean="0">
                <a:solidFill>
                  <a:schemeClr val="bg1"/>
                </a:solidFill>
              </a:rPr>
              <a:t>System.out.println</a:t>
            </a:r>
            <a:r>
              <a:rPr lang="en-IN" sz="2800" dirty="0">
                <a:solidFill>
                  <a:schemeClr val="bg1"/>
                </a:solidFill>
              </a:rPr>
              <a:t>("removed element-" + </a:t>
            </a:r>
            <a:r>
              <a:rPr lang="en-IN" sz="2800" dirty="0" err="1">
                <a:solidFill>
                  <a:schemeClr val="bg1"/>
                </a:solidFill>
              </a:rPr>
              <a:t>removedele</a:t>
            </a:r>
            <a:r>
              <a:rPr lang="en-IN" sz="2800" dirty="0">
                <a:solidFill>
                  <a:schemeClr val="bg1"/>
                </a:solidFill>
              </a:rPr>
              <a:t>);       </a:t>
            </a:r>
          </a:p>
          <a:p>
            <a:pPr>
              <a:lnSpc>
                <a:spcPct val="150000"/>
              </a:lnSpc>
            </a:pPr>
            <a:r>
              <a:rPr lang="en-IN" sz="2800" dirty="0" smtClean="0">
                <a:solidFill>
                  <a:schemeClr val="bg1"/>
                </a:solidFill>
              </a:rPr>
              <a:t>	</a:t>
            </a:r>
            <a:r>
              <a:rPr lang="en-IN" sz="2800" dirty="0" err="1" smtClean="0">
                <a:solidFill>
                  <a:schemeClr val="bg1"/>
                </a:solidFill>
              </a:rPr>
              <a:t>System.out.println</a:t>
            </a:r>
            <a:r>
              <a:rPr lang="en-IN" sz="2800" dirty="0" smtClean="0">
                <a:solidFill>
                  <a:schemeClr val="bg1"/>
                </a:solidFill>
              </a:rPr>
              <a:t>(q</a:t>
            </a:r>
            <a:r>
              <a:rPr lang="en-IN" sz="2800" dirty="0">
                <a:solidFill>
                  <a:schemeClr val="bg1"/>
                </a:solidFill>
              </a:rPr>
              <a:t>);       </a:t>
            </a:r>
          </a:p>
        </p:txBody>
      </p:sp>
    </p:spTree>
    <p:extLst>
      <p:ext uri="{BB962C8B-B14F-4D97-AF65-F5344CB8AC3E}">
        <p14:creationId xmlns:p14="http://schemas.microsoft.com/office/powerpoint/2010/main" val="1126822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fade">
                                      <p:cBhvr>
                                        <p:cTn id="24" dur="500"/>
                                        <p:tgtEl>
                                          <p:spTgt spid="7">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500"/>
                                        <p:tgtEl>
                                          <p:spTgt spid="7">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5053948" cy="984885"/>
          </a:xfrm>
          <a:prstGeom prst="rect">
            <a:avLst/>
          </a:prstGeom>
          <a:noFill/>
        </p:spPr>
        <p:txBody>
          <a:bodyPr wrap="none" rtlCol="0">
            <a:spAutoFit/>
          </a:bodyPr>
          <a:lstStyle/>
          <a:p>
            <a:r>
              <a:rPr lang="en-IN" sz="5800" dirty="0" smtClean="0">
                <a:solidFill>
                  <a:schemeClr val="bg1"/>
                </a:solidFill>
              </a:rPr>
              <a:t>Queue interface</a:t>
            </a:r>
            <a:endParaRPr lang="en-IN" sz="5800" dirty="0">
              <a:solidFill>
                <a:schemeClr val="bg1"/>
              </a:solidFill>
            </a:endParaRPr>
          </a:p>
        </p:txBody>
      </p:sp>
      <p:sp>
        <p:nvSpPr>
          <p:cNvPr id="7" name="Rectangle 6"/>
          <p:cNvSpPr/>
          <p:nvPr/>
        </p:nvSpPr>
        <p:spPr>
          <a:xfrm>
            <a:off x="559557" y="1006453"/>
            <a:ext cx="11177517" cy="3323987"/>
          </a:xfrm>
          <a:prstGeom prst="rect">
            <a:avLst/>
          </a:prstGeom>
        </p:spPr>
        <p:txBody>
          <a:bodyPr wrap="square">
            <a:spAutoFit/>
          </a:bodyPr>
          <a:lstStyle/>
          <a:p>
            <a:pPr>
              <a:lnSpc>
                <a:spcPct val="150000"/>
              </a:lnSpc>
            </a:pPr>
            <a:r>
              <a:rPr lang="en-IN" sz="2800" dirty="0" err="1" smtClean="0">
                <a:solidFill>
                  <a:schemeClr val="bg1"/>
                </a:solidFill>
              </a:rPr>
              <a:t>int</a:t>
            </a:r>
            <a:r>
              <a:rPr lang="en-IN" sz="2800" dirty="0" smtClean="0">
                <a:solidFill>
                  <a:schemeClr val="bg1"/>
                </a:solidFill>
              </a:rPr>
              <a:t> </a:t>
            </a:r>
            <a:r>
              <a:rPr lang="en-IN" sz="2800" dirty="0">
                <a:solidFill>
                  <a:schemeClr val="bg1"/>
                </a:solidFill>
              </a:rPr>
              <a:t>head = </a:t>
            </a:r>
            <a:r>
              <a:rPr lang="en-IN" sz="2800" dirty="0" err="1">
                <a:solidFill>
                  <a:schemeClr val="bg1"/>
                </a:solidFill>
              </a:rPr>
              <a:t>q.</a:t>
            </a:r>
            <a:r>
              <a:rPr lang="en-IN" sz="2800" dirty="0" err="1">
                <a:solidFill>
                  <a:srgbClr val="FFC000"/>
                </a:solidFill>
              </a:rPr>
              <a:t>peek</a:t>
            </a:r>
            <a:r>
              <a:rPr lang="en-IN" sz="2800" dirty="0">
                <a:solidFill>
                  <a:schemeClr val="bg1"/>
                </a:solidFill>
              </a:rPr>
              <a:t>(); 	// To view the head of queue    </a:t>
            </a:r>
          </a:p>
          <a:p>
            <a:pPr>
              <a:lnSpc>
                <a:spcPct val="150000"/>
              </a:lnSpc>
            </a:pPr>
            <a:r>
              <a:rPr lang="en-IN" sz="2800" dirty="0" err="1" smtClean="0">
                <a:solidFill>
                  <a:schemeClr val="bg1"/>
                </a:solidFill>
              </a:rPr>
              <a:t>System.out.println</a:t>
            </a:r>
            <a:r>
              <a:rPr lang="en-IN" sz="2800" dirty="0">
                <a:solidFill>
                  <a:schemeClr val="bg1"/>
                </a:solidFill>
              </a:rPr>
              <a:t>("head of queue-" + head);       </a:t>
            </a:r>
          </a:p>
          <a:p>
            <a:pPr>
              <a:lnSpc>
                <a:spcPct val="150000"/>
              </a:lnSpc>
            </a:pPr>
            <a:r>
              <a:rPr lang="en-IN" sz="2800" dirty="0" err="1" smtClean="0">
                <a:solidFill>
                  <a:schemeClr val="bg1"/>
                </a:solidFill>
              </a:rPr>
              <a:t>int</a:t>
            </a:r>
            <a:r>
              <a:rPr lang="en-IN" sz="2800" dirty="0" smtClean="0">
                <a:solidFill>
                  <a:schemeClr val="bg1"/>
                </a:solidFill>
              </a:rPr>
              <a:t> </a:t>
            </a:r>
            <a:r>
              <a:rPr lang="en-IN" sz="2800" dirty="0">
                <a:solidFill>
                  <a:schemeClr val="bg1"/>
                </a:solidFill>
              </a:rPr>
              <a:t>size = </a:t>
            </a:r>
            <a:r>
              <a:rPr lang="en-IN" sz="2800" dirty="0" err="1">
                <a:solidFill>
                  <a:schemeClr val="bg1"/>
                </a:solidFill>
              </a:rPr>
              <a:t>q.</a:t>
            </a:r>
            <a:r>
              <a:rPr lang="en-IN" sz="2800" dirty="0" err="1">
                <a:solidFill>
                  <a:srgbClr val="FFC000"/>
                </a:solidFill>
              </a:rPr>
              <a:t>size</a:t>
            </a:r>
            <a:r>
              <a:rPr lang="en-IN" sz="2800" dirty="0">
                <a:solidFill>
                  <a:schemeClr val="bg1"/>
                </a:solidFill>
              </a:rPr>
              <a:t>();    </a:t>
            </a:r>
            <a:r>
              <a:rPr lang="en-IN" sz="2800" dirty="0" smtClean="0">
                <a:solidFill>
                  <a:schemeClr val="bg1"/>
                </a:solidFill>
              </a:rPr>
              <a:t>// size of queue</a:t>
            </a:r>
            <a:endParaRPr lang="en-IN" sz="2800" dirty="0">
              <a:solidFill>
                <a:schemeClr val="bg1"/>
              </a:solidFill>
            </a:endParaRPr>
          </a:p>
          <a:p>
            <a:pPr>
              <a:lnSpc>
                <a:spcPct val="150000"/>
              </a:lnSpc>
            </a:pPr>
            <a:r>
              <a:rPr lang="en-IN" sz="2800" dirty="0">
                <a:solidFill>
                  <a:schemeClr val="bg1"/>
                </a:solidFill>
              </a:rPr>
              <a:t> </a:t>
            </a:r>
            <a:r>
              <a:rPr lang="en-IN" sz="2800" dirty="0" err="1">
                <a:solidFill>
                  <a:schemeClr val="bg1"/>
                </a:solidFill>
              </a:rPr>
              <a:t>System.out.println</a:t>
            </a:r>
            <a:r>
              <a:rPr lang="en-IN" sz="2800" dirty="0">
                <a:solidFill>
                  <a:schemeClr val="bg1"/>
                </a:solidFill>
              </a:rPr>
              <a:t>("Size of queue-" + size);   </a:t>
            </a:r>
          </a:p>
          <a:p>
            <a:pPr>
              <a:lnSpc>
                <a:spcPct val="150000"/>
              </a:lnSpc>
            </a:pPr>
            <a:r>
              <a:rPr lang="en-IN" sz="2800" dirty="0">
                <a:solidFill>
                  <a:schemeClr val="bg1"/>
                </a:solidFill>
              </a:rPr>
              <a:t>} }</a:t>
            </a:r>
          </a:p>
        </p:txBody>
      </p:sp>
      <p:sp>
        <p:nvSpPr>
          <p:cNvPr id="2" name="Rectangle 1"/>
          <p:cNvSpPr/>
          <p:nvPr/>
        </p:nvSpPr>
        <p:spPr>
          <a:xfrm>
            <a:off x="4549254" y="4330440"/>
            <a:ext cx="6096000" cy="2246769"/>
          </a:xfrm>
          <a:prstGeom prst="rect">
            <a:avLst/>
          </a:prstGeom>
        </p:spPr>
        <p:txBody>
          <a:bodyPr>
            <a:spAutoFit/>
          </a:bodyPr>
          <a:lstStyle/>
          <a:p>
            <a:r>
              <a:rPr lang="en-IN" sz="2800" dirty="0">
                <a:solidFill>
                  <a:srgbClr val="FFC000"/>
                </a:solidFill>
              </a:rPr>
              <a:t>Elements of queue-[0, 1, 2, 3, 4</a:t>
            </a:r>
            <a:r>
              <a:rPr lang="en-IN" sz="2800" dirty="0" smtClean="0">
                <a:solidFill>
                  <a:srgbClr val="FFC000"/>
                </a:solidFill>
              </a:rPr>
              <a:t>]</a:t>
            </a:r>
          </a:p>
          <a:p>
            <a:r>
              <a:rPr lang="en-IN" sz="2800" dirty="0" smtClean="0">
                <a:solidFill>
                  <a:srgbClr val="FFC000"/>
                </a:solidFill>
              </a:rPr>
              <a:t>removed element-0</a:t>
            </a:r>
          </a:p>
          <a:p>
            <a:r>
              <a:rPr lang="en-IN" sz="2800" dirty="0" smtClean="0">
                <a:solidFill>
                  <a:srgbClr val="FFC000"/>
                </a:solidFill>
              </a:rPr>
              <a:t>[</a:t>
            </a:r>
            <a:r>
              <a:rPr lang="en-IN" sz="2800" dirty="0">
                <a:solidFill>
                  <a:srgbClr val="FFC000"/>
                </a:solidFill>
              </a:rPr>
              <a:t>1, 2, 3, 4</a:t>
            </a:r>
            <a:r>
              <a:rPr lang="en-IN" sz="2800" dirty="0" smtClean="0">
                <a:solidFill>
                  <a:srgbClr val="FFC000"/>
                </a:solidFill>
              </a:rPr>
              <a:t>]</a:t>
            </a:r>
          </a:p>
          <a:p>
            <a:r>
              <a:rPr lang="en-IN" sz="2800" dirty="0" smtClean="0">
                <a:solidFill>
                  <a:srgbClr val="FFC000"/>
                </a:solidFill>
              </a:rPr>
              <a:t>head </a:t>
            </a:r>
            <a:r>
              <a:rPr lang="en-IN" sz="2800" dirty="0">
                <a:solidFill>
                  <a:srgbClr val="FFC000"/>
                </a:solidFill>
              </a:rPr>
              <a:t>of </a:t>
            </a:r>
            <a:r>
              <a:rPr lang="en-IN" sz="2800" dirty="0" smtClean="0">
                <a:solidFill>
                  <a:srgbClr val="FFC000"/>
                </a:solidFill>
              </a:rPr>
              <a:t>queue-1</a:t>
            </a:r>
          </a:p>
          <a:p>
            <a:r>
              <a:rPr lang="en-IN" sz="2800" dirty="0" smtClean="0">
                <a:solidFill>
                  <a:srgbClr val="FFC000"/>
                </a:solidFill>
              </a:rPr>
              <a:t>Size </a:t>
            </a:r>
            <a:r>
              <a:rPr lang="en-IN" sz="2800" dirty="0">
                <a:solidFill>
                  <a:srgbClr val="FFC000"/>
                </a:solidFill>
              </a:rPr>
              <a:t>of queue-4</a:t>
            </a:r>
          </a:p>
        </p:txBody>
      </p:sp>
    </p:spTree>
    <p:extLst>
      <p:ext uri="{BB962C8B-B14F-4D97-AF65-F5344CB8AC3E}">
        <p14:creationId xmlns:p14="http://schemas.microsoft.com/office/powerpoint/2010/main" val="330532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4414350" cy="984885"/>
          </a:xfrm>
          <a:prstGeom prst="rect">
            <a:avLst/>
          </a:prstGeom>
          <a:noFill/>
        </p:spPr>
        <p:txBody>
          <a:bodyPr wrap="none" rtlCol="0">
            <a:spAutoFit/>
          </a:bodyPr>
          <a:lstStyle/>
          <a:p>
            <a:r>
              <a:rPr lang="en-IN" sz="5800" dirty="0" smtClean="0">
                <a:solidFill>
                  <a:schemeClr val="bg1"/>
                </a:solidFill>
              </a:rPr>
              <a:t>Map interface</a:t>
            </a:r>
            <a:endParaRPr lang="en-IN" sz="5800" dirty="0">
              <a:solidFill>
                <a:schemeClr val="bg1"/>
              </a:solidFill>
            </a:endParaRPr>
          </a:p>
        </p:txBody>
      </p:sp>
      <p:sp>
        <p:nvSpPr>
          <p:cNvPr id="7" name="Rectangle 6"/>
          <p:cNvSpPr/>
          <p:nvPr/>
        </p:nvSpPr>
        <p:spPr>
          <a:xfrm>
            <a:off x="259307" y="1006453"/>
            <a:ext cx="11477767" cy="3970318"/>
          </a:xfrm>
          <a:prstGeom prst="rect">
            <a:avLst/>
          </a:prstGeom>
        </p:spPr>
        <p:txBody>
          <a:bodyPr wrap="square">
            <a:spAutoFit/>
          </a:bodyPr>
          <a:lstStyle/>
          <a:p>
            <a:pPr marL="457200" indent="-457200">
              <a:lnSpc>
                <a:spcPct val="150000"/>
              </a:lnSpc>
              <a:buFont typeface="Arial" panose="020B0604020202020204" pitchFamily="34" charset="0"/>
              <a:buChar char="•"/>
            </a:pPr>
            <a:r>
              <a:rPr lang="en-IN" sz="2800" dirty="0">
                <a:solidFill>
                  <a:schemeClr val="bg1"/>
                </a:solidFill>
              </a:rPr>
              <a:t>A Map is an object that maps keys to values. A map </a:t>
            </a:r>
            <a:r>
              <a:rPr lang="en-IN" sz="2800" u="sng" dirty="0">
                <a:solidFill>
                  <a:schemeClr val="bg1"/>
                </a:solidFill>
              </a:rPr>
              <a:t>cannot contain duplicate keys</a:t>
            </a:r>
            <a:r>
              <a:rPr lang="en-IN" sz="2800" dirty="0">
                <a:solidFill>
                  <a:schemeClr val="bg1"/>
                </a:solidFill>
              </a:rPr>
              <a:t>: </a:t>
            </a:r>
            <a:r>
              <a:rPr lang="en-IN" sz="2800" u="sng" dirty="0">
                <a:solidFill>
                  <a:schemeClr val="bg1"/>
                </a:solidFill>
              </a:rPr>
              <a:t>Each key can map to at most one value</a:t>
            </a:r>
            <a:r>
              <a:rPr lang="en-IN" sz="2800" dirty="0" smtClean="0">
                <a:solidFill>
                  <a:schemeClr val="bg1"/>
                </a:solidFill>
              </a:rPr>
              <a:t>.</a:t>
            </a:r>
          </a:p>
          <a:p>
            <a:pPr marL="457200" indent="-457200">
              <a:lnSpc>
                <a:spcPct val="150000"/>
              </a:lnSpc>
              <a:buFont typeface="Arial" panose="020B0604020202020204" pitchFamily="34" charset="0"/>
              <a:buChar char="•"/>
            </a:pPr>
            <a:r>
              <a:rPr lang="en-IN" sz="2800" dirty="0">
                <a:solidFill>
                  <a:schemeClr val="bg1"/>
                </a:solidFill>
              </a:rPr>
              <a:t>The Java platform contains three general-purpose Map implementations: </a:t>
            </a:r>
            <a:r>
              <a:rPr lang="en-IN" sz="2800" dirty="0" err="1">
                <a:solidFill>
                  <a:srgbClr val="FFC000"/>
                </a:solidFill>
              </a:rPr>
              <a:t>HashMap</a:t>
            </a:r>
            <a:r>
              <a:rPr lang="en-IN" sz="2800" dirty="0">
                <a:solidFill>
                  <a:schemeClr val="bg1"/>
                </a:solidFill>
              </a:rPr>
              <a:t>, </a:t>
            </a:r>
            <a:r>
              <a:rPr lang="en-IN" sz="2800" dirty="0" err="1">
                <a:solidFill>
                  <a:srgbClr val="FFC000"/>
                </a:solidFill>
              </a:rPr>
              <a:t>TreeMap</a:t>
            </a:r>
            <a:r>
              <a:rPr lang="en-IN" sz="2800" dirty="0">
                <a:solidFill>
                  <a:schemeClr val="bg1"/>
                </a:solidFill>
              </a:rPr>
              <a:t>, and </a:t>
            </a:r>
            <a:r>
              <a:rPr lang="en-IN" sz="2800" dirty="0" err="1">
                <a:solidFill>
                  <a:srgbClr val="FFC000"/>
                </a:solidFill>
              </a:rPr>
              <a:t>LinkedHashMap</a:t>
            </a:r>
            <a:r>
              <a:rPr lang="en-IN" sz="2800" dirty="0">
                <a:solidFill>
                  <a:schemeClr val="bg1"/>
                </a:solidFill>
              </a:rPr>
              <a:t>. </a:t>
            </a:r>
            <a:endParaRPr lang="en-IN" sz="2800" dirty="0" smtClean="0">
              <a:solidFill>
                <a:schemeClr val="bg1"/>
              </a:solidFill>
            </a:endParaRPr>
          </a:p>
          <a:p>
            <a:pPr>
              <a:lnSpc>
                <a:spcPct val="150000"/>
              </a:lnSpc>
            </a:pPr>
            <a:r>
              <a:rPr lang="en-IN" sz="2800" dirty="0" smtClean="0">
                <a:solidFill>
                  <a:srgbClr val="FFFF00"/>
                </a:solidFill>
              </a:rPr>
              <a:t>Note:</a:t>
            </a:r>
            <a:r>
              <a:rPr lang="en-IN" sz="2800" dirty="0" smtClean="0">
                <a:solidFill>
                  <a:schemeClr val="bg1"/>
                </a:solidFill>
              </a:rPr>
              <a:t> Their </a:t>
            </a:r>
            <a:r>
              <a:rPr lang="en-IN" sz="2800" dirty="0" err="1">
                <a:solidFill>
                  <a:schemeClr val="bg1"/>
                </a:solidFill>
              </a:rPr>
              <a:t>behavior</a:t>
            </a:r>
            <a:r>
              <a:rPr lang="en-IN" sz="2800" dirty="0">
                <a:solidFill>
                  <a:schemeClr val="bg1"/>
                </a:solidFill>
              </a:rPr>
              <a:t> and performance are precisely analogous to </a:t>
            </a:r>
            <a:r>
              <a:rPr lang="en-IN" sz="2800" dirty="0" err="1">
                <a:solidFill>
                  <a:srgbClr val="FFFF00"/>
                </a:solidFill>
              </a:rPr>
              <a:t>HashSet</a:t>
            </a:r>
            <a:r>
              <a:rPr lang="en-IN" sz="2800" dirty="0">
                <a:solidFill>
                  <a:schemeClr val="bg1"/>
                </a:solidFill>
              </a:rPr>
              <a:t>, </a:t>
            </a:r>
            <a:r>
              <a:rPr lang="en-IN" sz="2800" dirty="0" err="1">
                <a:solidFill>
                  <a:srgbClr val="FFFF00"/>
                </a:solidFill>
              </a:rPr>
              <a:t>TreeSet</a:t>
            </a:r>
            <a:r>
              <a:rPr lang="en-IN" sz="2800" dirty="0">
                <a:solidFill>
                  <a:schemeClr val="bg1"/>
                </a:solidFill>
              </a:rPr>
              <a:t>, and </a:t>
            </a:r>
            <a:r>
              <a:rPr lang="en-IN" sz="2800" dirty="0" err="1">
                <a:solidFill>
                  <a:srgbClr val="FFFF00"/>
                </a:solidFill>
              </a:rPr>
              <a:t>LinkedHashSet</a:t>
            </a:r>
            <a:r>
              <a:rPr lang="en-IN" sz="2800" dirty="0">
                <a:solidFill>
                  <a:schemeClr val="bg1"/>
                </a:solidFill>
              </a:rPr>
              <a:t>,</a:t>
            </a:r>
          </a:p>
        </p:txBody>
      </p:sp>
    </p:spTree>
    <p:extLst>
      <p:ext uri="{BB962C8B-B14F-4D97-AF65-F5344CB8AC3E}">
        <p14:creationId xmlns:p14="http://schemas.microsoft.com/office/powerpoint/2010/main" val="225113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8192371" cy="984885"/>
          </a:xfrm>
          <a:prstGeom prst="rect">
            <a:avLst/>
          </a:prstGeom>
          <a:noFill/>
        </p:spPr>
        <p:txBody>
          <a:bodyPr wrap="none" rtlCol="0">
            <a:spAutoFit/>
          </a:bodyPr>
          <a:lstStyle/>
          <a:p>
            <a:r>
              <a:rPr lang="en-IN" sz="5800" dirty="0" smtClean="0">
                <a:solidFill>
                  <a:schemeClr val="bg1"/>
                </a:solidFill>
              </a:rPr>
              <a:t>Map interface: Application</a:t>
            </a:r>
            <a:endParaRPr lang="en-IN" sz="5800" dirty="0">
              <a:solidFill>
                <a:schemeClr val="bg1"/>
              </a:solidFill>
            </a:endParaRPr>
          </a:p>
        </p:txBody>
      </p:sp>
      <p:sp>
        <p:nvSpPr>
          <p:cNvPr id="2" name="Rectangle 1"/>
          <p:cNvSpPr/>
          <p:nvPr/>
        </p:nvSpPr>
        <p:spPr>
          <a:xfrm>
            <a:off x="386686" y="1298265"/>
            <a:ext cx="11350387" cy="4616648"/>
          </a:xfrm>
          <a:prstGeom prst="rect">
            <a:avLst/>
          </a:prstGeom>
        </p:spPr>
        <p:txBody>
          <a:bodyPr wrap="square">
            <a:spAutoFit/>
          </a:bodyPr>
          <a:lstStyle/>
          <a:p>
            <a:pPr marL="457200" indent="-457200">
              <a:lnSpc>
                <a:spcPct val="150000"/>
              </a:lnSpc>
              <a:buFont typeface="Arial" panose="020B0604020202020204" pitchFamily="34" charset="0"/>
              <a:buChar char="•"/>
            </a:pPr>
            <a:r>
              <a:rPr lang="en-IN" sz="2800" dirty="0">
                <a:solidFill>
                  <a:schemeClr val="bg1"/>
                </a:solidFill>
              </a:rPr>
              <a:t>A map of error codes and their descriptions</a:t>
            </a:r>
            <a:r>
              <a:rPr lang="en-IN" sz="2800" dirty="0" smtClean="0">
                <a:solidFill>
                  <a:schemeClr val="bg1"/>
                </a:solidFill>
              </a:rPr>
              <a:t>.</a:t>
            </a:r>
          </a:p>
          <a:p>
            <a:pPr marL="457200" indent="-457200">
              <a:lnSpc>
                <a:spcPct val="150000"/>
              </a:lnSpc>
              <a:buFont typeface="Arial" panose="020B0604020202020204" pitchFamily="34" charset="0"/>
              <a:buChar char="•"/>
            </a:pPr>
            <a:r>
              <a:rPr lang="en-IN" sz="2800" dirty="0" smtClean="0">
                <a:solidFill>
                  <a:schemeClr val="bg1"/>
                </a:solidFill>
              </a:rPr>
              <a:t>A </a:t>
            </a:r>
            <a:r>
              <a:rPr lang="en-IN" sz="2800" dirty="0">
                <a:solidFill>
                  <a:schemeClr val="bg1"/>
                </a:solidFill>
              </a:rPr>
              <a:t>map of zip codes and cities</a:t>
            </a:r>
            <a:r>
              <a:rPr lang="en-IN" sz="2800" dirty="0" smtClean="0">
                <a:solidFill>
                  <a:schemeClr val="bg1"/>
                </a:solidFill>
              </a:rPr>
              <a:t>.</a:t>
            </a:r>
          </a:p>
          <a:p>
            <a:pPr marL="457200" indent="-457200">
              <a:lnSpc>
                <a:spcPct val="150000"/>
              </a:lnSpc>
              <a:buFont typeface="Arial" panose="020B0604020202020204" pitchFamily="34" charset="0"/>
              <a:buChar char="•"/>
            </a:pPr>
            <a:r>
              <a:rPr lang="en-IN" sz="2800" dirty="0" smtClean="0">
                <a:solidFill>
                  <a:schemeClr val="bg1"/>
                </a:solidFill>
              </a:rPr>
              <a:t>A </a:t>
            </a:r>
            <a:r>
              <a:rPr lang="en-IN" sz="2800" dirty="0">
                <a:solidFill>
                  <a:schemeClr val="bg1"/>
                </a:solidFill>
              </a:rPr>
              <a:t>map of managers and employees. Each manager (key) is associated with a list of employees (value) he manages</a:t>
            </a:r>
            <a:r>
              <a:rPr lang="en-IN" sz="2800" dirty="0" smtClean="0">
                <a:solidFill>
                  <a:schemeClr val="bg1"/>
                </a:solidFill>
              </a:rPr>
              <a:t>.</a:t>
            </a:r>
          </a:p>
          <a:p>
            <a:pPr marL="457200" indent="-457200">
              <a:lnSpc>
                <a:spcPct val="150000"/>
              </a:lnSpc>
              <a:buFont typeface="Arial" panose="020B0604020202020204" pitchFamily="34" charset="0"/>
              <a:buChar char="•"/>
            </a:pPr>
            <a:r>
              <a:rPr lang="en-IN" sz="2800" dirty="0" smtClean="0">
                <a:solidFill>
                  <a:schemeClr val="bg1"/>
                </a:solidFill>
              </a:rPr>
              <a:t>A </a:t>
            </a:r>
            <a:r>
              <a:rPr lang="en-IN" sz="2800" dirty="0">
                <a:solidFill>
                  <a:schemeClr val="bg1"/>
                </a:solidFill>
              </a:rPr>
              <a:t>map of classes and students. Each class (key) is associated with a list of students (value</a:t>
            </a:r>
            <a:r>
              <a:rPr lang="en-IN" sz="2800" dirty="0" smtClean="0">
                <a:solidFill>
                  <a:schemeClr val="bg1"/>
                </a:solidFill>
              </a:rPr>
              <a:t>).</a:t>
            </a:r>
          </a:p>
          <a:p>
            <a:pPr marL="457200" indent="-457200">
              <a:lnSpc>
                <a:spcPct val="150000"/>
              </a:lnSpc>
              <a:buFont typeface="Arial" panose="020B0604020202020204" pitchFamily="34" charset="0"/>
              <a:buChar char="•"/>
            </a:pPr>
            <a:r>
              <a:rPr lang="en-IN" sz="2800" dirty="0" smtClean="0">
                <a:solidFill>
                  <a:schemeClr val="bg1"/>
                </a:solidFill>
              </a:rPr>
              <a:t>Dictionaries</a:t>
            </a:r>
            <a:endParaRPr lang="en-IN" sz="2800" dirty="0">
              <a:solidFill>
                <a:schemeClr val="bg1"/>
              </a:solidFill>
            </a:endParaRPr>
          </a:p>
        </p:txBody>
      </p:sp>
    </p:spTree>
    <p:extLst>
      <p:ext uri="{BB962C8B-B14F-4D97-AF65-F5344CB8AC3E}">
        <p14:creationId xmlns:p14="http://schemas.microsoft.com/office/powerpoint/2010/main" val="72164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7497758" cy="984885"/>
          </a:xfrm>
          <a:prstGeom prst="rect">
            <a:avLst/>
          </a:prstGeom>
          <a:noFill/>
        </p:spPr>
        <p:txBody>
          <a:bodyPr wrap="none" rtlCol="0">
            <a:spAutoFit/>
          </a:bodyPr>
          <a:lstStyle/>
          <a:p>
            <a:r>
              <a:rPr lang="en-IN" sz="5800" dirty="0" smtClean="0">
                <a:solidFill>
                  <a:schemeClr val="bg1"/>
                </a:solidFill>
              </a:rPr>
              <a:t>Map interface: Methods</a:t>
            </a:r>
            <a:endParaRPr lang="en-IN" sz="5800" dirty="0">
              <a:solidFill>
                <a:schemeClr val="bg1"/>
              </a:solidFill>
            </a:endParaRPr>
          </a:p>
        </p:txBody>
      </p:sp>
      <p:sp>
        <p:nvSpPr>
          <p:cNvPr id="2" name="Rectangle 1"/>
          <p:cNvSpPr/>
          <p:nvPr/>
        </p:nvSpPr>
        <p:spPr>
          <a:xfrm>
            <a:off x="291151" y="846162"/>
            <a:ext cx="11350387" cy="5262979"/>
          </a:xfrm>
          <a:prstGeom prst="rect">
            <a:avLst/>
          </a:prstGeom>
        </p:spPr>
        <p:txBody>
          <a:bodyPr wrap="square">
            <a:spAutoFit/>
          </a:bodyPr>
          <a:lstStyle/>
          <a:p>
            <a:pPr algn="just">
              <a:lnSpc>
                <a:spcPct val="150000"/>
              </a:lnSpc>
            </a:pPr>
            <a:r>
              <a:rPr lang="en-IN" sz="2800" b="1" dirty="0" smtClean="0">
                <a:solidFill>
                  <a:srgbClr val="FFC000"/>
                </a:solidFill>
              </a:rPr>
              <a:t>public </a:t>
            </a:r>
            <a:r>
              <a:rPr lang="en-IN" sz="2800" b="1" dirty="0">
                <a:solidFill>
                  <a:srgbClr val="FFC000"/>
                </a:solidFill>
              </a:rPr>
              <a:t>Object put(Object key, Object value):</a:t>
            </a:r>
            <a:r>
              <a:rPr lang="en-IN" sz="2800" dirty="0">
                <a:solidFill>
                  <a:schemeClr val="bg1"/>
                </a:solidFill>
              </a:rPr>
              <a:t> This method is used to insert an entry in this map</a:t>
            </a:r>
            <a:r>
              <a:rPr lang="en-IN" sz="2800" dirty="0" smtClean="0">
                <a:solidFill>
                  <a:schemeClr val="bg1"/>
                </a:solidFill>
              </a:rPr>
              <a:t>.</a:t>
            </a:r>
          </a:p>
          <a:p>
            <a:pPr algn="just">
              <a:lnSpc>
                <a:spcPct val="150000"/>
              </a:lnSpc>
            </a:pPr>
            <a:r>
              <a:rPr lang="en-IN" sz="2800" b="1" dirty="0" smtClean="0">
                <a:solidFill>
                  <a:srgbClr val="FFC000"/>
                </a:solidFill>
              </a:rPr>
              <a:t>public </a:t>
            </a:r>
            <a:r>
              <a:rPr lang="en-IN" sz="2800" b="1" dirty="0">
                <a:solidFill>
                  <a:srgbClr val="FFC000"/>
                </a:solidFill>
              </a:rPr>
              <a:t>void </a:t>
            </a:r>
            <a:r>
              <a:rPr lang="en-IN" sz="2800" b="1" dirty="0" err="1">
                <a:solidFill>
                  <a:srgbClr val="FFC000"/>
                </a:solidFill>
              </a:rPr>
              <a:t>putAll</a:t>
            </a:r>
            <a:r>
              <a:rPr lang="en-IN" sz="2800" b="1" dirty="0">
                <a:solidFill>
                  <a:srgbClr val="FFC000"/>
                </a:solidFill>
              </a:rPr>
              <a:t>(Map map):</a:t>
            </a:r>
            <a:r>
              <a:rPr lang="en-IN" sz="2800" dirty="0">
                <a:solidFill>
                  <a:schemeClr val="bg1"/>
                </a:solidFill>
              </a:rPr>
              <a:t> This method is used to insert the specified map in this map</a:t>
            </a:r>
            <a:r>
              <a:rPr lang="en-IN" sz="2800" dirty="0" smtClean="0">
                <a:solidFill>
                  <a:schemeClr val="bg1"/>
                </a:solidFill>
              </a:rPr>
              <a:t>.</a:t>
            </a:r>
          </a:p>
          <a:p>
            <a:pPr algn="just">
              <a:lnSpc>
                <a:spcPct val="150000"/>
              </a:lnSpc>
            </a:pPr>
            <a:r>
              <a:rPr lang="en-IN" sz="2800" b="1" dirty="0" smtClean="0">
                <a:solidFill>
                  <a:srgbClr val="FFC000"/>
                </a:solidFill>
              </a:rPr>
              <a:t>public </a:t>
            </a:r>
            <a:r>
              <a:rPr lang="en-IN" sz="2800" b="1" dirty="0">
                <a:solidFill>
                  <a:srgbClr val="FFC000"/>
                </a:solidFill>
              </a:rPr>
              <a:t>Object remove(Object key):</a:t>
            </a:r>
            <a:r>
              <a:rPr lang="en-IN" sz="2800" dirty="0">
                <a:solidFill>
                  <a:schemeClr val="bg1"/>
                </a:solidFill>
              </a:rPr>
              <a:t> This method is used to delete an entry for the specified key</a:t>
            </a:r>
            <a:r>
              <a:rPr lang="en-IN" sz="2800" dirty="0" smtClean="0">
                <a:solidFill>
                  <a:schemeClr val="bg1"/>
                </a:solidFill>
              </a:rPr>
              <a:t>.</a:t>
            </a:r>
          </a:p>
          <a:p>
            <a:pPr algn="just">
              <a:lnSpc>
                <a:spcPct val="150000"/>
              </a:lnSpc>
            </a:pPr>
            <a:r>
              <a:rPr lang="en-IN" sz="2800" b="1" dirty="0" smtClean="0">
                <a:solidFill>
                  <a:srgbClr val="FFC000"/>
                </a:solidFill>
              </a:rPr>
              <a:t>public </a:t>
            </a:r>
            <a:r>
              <a:rPr lang="en-IN" sz="2800" b="1" dirty="0">
                <a:solidFill>
                  <a:srgbClr val="FFC000"/>
                </a:solidFill>
              </a:rPr>
              <a:t>Object get(Object key):</a:t>
            </a:r>
            <a:r>
              <a:rPr lang="en-IN" sz="2800" dirty="0">
                <a:solidFill>
                  <a:schemeClr val="bg1"/>
                </a:solidFill>
              </a:rPr>
              <a:t>This method is used to return the value for the specified key</a:t>
            </a:r>
            <a:r>
              <a:rPr lang="en-IN" sz="2800" dirty="0" smtClean="0">
                <a:solidFill>
                  <a:schemeClr val="bg1"/>
                </a:solidFill>
              </a:rPr>
              <a:t>.</a:t>
            </a:r>
          </a:p>
        </p:txBody>
      </p:sp>
    </p:spTree>
    <p:extLst>
      <p:ext uri="{BB962C8B-B14F-4D97-AF65-F5344CB8AC3E}">
        <p14:creationId xmlns:p14="http://schemas.microsoft.com/office/powerpoint/2010/main" val="1192866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0" y="-19376"/>
            <a:ext cx="7497758" cy="984885"/>
          </a:xfrm>
          <a:prstGeom prst="rect">
            <a:avLst/>
          </a:prstGeom>
          <a:noFill/>
        </p:spPr>
        <p:txBody>
          <a:bodyPr wrap="none" rtlCol="0">
            <a:spAutoFit/>
          </a:bodyPr>
          <a:lstStyle/>
          <a:p>
            <a:r>
              <a:rPr lang="en-IN" sz="5800" dirty="0" smtClean="0">
                <a:solidFill>
                  <a:schemeClr val="bg1"/>
                </a:solidFill>
              </a:rPr>
              <a:t>Map interface: Methods</a:t>
            </a:r>
            <a:endParaRPr lang="en-IN" sz="5800" dirty="0">
              <a:solidFill>
                <a:schemeClr val="bg1"/>
              </a:solidFill>
            </a:endParaRPr>
          </a:p>
        </p:txBody>
      </p:sp>
      <p:sp>
        <p:nvSpPr>
          <p:cNvPr id="2" name="Rectangle 1"/>
          <p:cNvSpPr/>
          <p:nvPr/>
        </p:nvSpPr>
        <p:spPr>
          <a:xfrm>
            <a:off x="291151" y="846162"/>
            <a:ext cx="11350387" cy="3970318"/>
          </a:xfrm>
          <a:prstGeom prst="rect">
            <a:avLst/>
          </a:prstGeom>
        </p:spPr>
        <p:txBody>
          <a:bodyPr wrap="square">
            <a:spAutoFit/>
          </a:bodyPr>
          <a:lstStyle/>
          <a:p>
            <a:pPr algn="just">
              <a:lnSpc>
                <a:spcPct val="150000"/>
              </a:lnSpc>
            </a:pPr>
            <a:r>
              <a:rPr lang="en-IN" sz="2800" b="1" dirty="0" smtClean="0">
                <a:solidFill>
                  <a:srgbClr val="FFC000"/>
                </a:solidFill>
              </a:rPr>
              <a:t>public </a:t>
            </a:r>
            <a:r>
              <a:rPr lang="en-IN" sz="2800" b="1" dirty="0" err="1">
                <a:solidFill>
                  <a:srgbClr val="FFC000"/>
                </a:solidFill>
              </a:rPr>
              <a:t>boolean</a:t>
            </a:r>
            <a:r>
              <a:rPr lang="en-IN" sz="2800" b="1" dirty="0">
                <a:solidFill>
                  <a:srgbClr val="FFC000"/>
                </a:solidFill>
              </a:rPr>
              <a:t> </a:t>
            </a:r>
            <a:r>
              <a:rPr lang="en-IN" sz="2800" b="1" dirty="0" err="1">
                <a:solidFill>
                  <a:srgbClr val="FFC000"/>
                </a:solidFill>
              </a:rPr>
              <a:t>containsKey</a:t>
            </a:r>
            <a:r>
              <a:rPr lang="en-IN" sz="2800" b="1" dirty="0">
                <a:solidFill>
                  <a:srgbClr val="FFC000"/>
                </a:solidFill>
              </a:rPr>
              <a:t>(Object key): </a:t>
            </a:r>
            <a:r>
              <a:rPr lang="en-IN" sz="2800" dirty="0">
                <a:solidFill>
                  <a:schemeClr val="bg1"/>
                </a:solidFill>
              </a:rPr>
              <a:t>This method is used to search the specified key from this map</a:t>
            </a:r>
            <a:r>
              <a:rPr lang="en-IN" sz="2800" dirty="0" smtClean="0">
                <a:solidFill>
                  <a:schemeClr val="bg1"/>
                </a:solidFill>
              </a:rPr>
              <a:t>.</a:t>
            </a:r>
          </a:p>
          <a:p>
            <a:pPr algn="just">
              <a:lnSpc>
                <a:spcPct val="150000"/>
              </a:lnSpc>
            </a:pPr>
            <a:r>
              <a:rPr lang="en-IN" sz="2800" b="1" dirty="0" smtClean="0">
                <a:solidFill>
                  <a:srgbClr val="FFC000"/>
                </a:solidFill>
              </a:rPr>
              <a:t>public </a:t>
            </a:r>
            <a:r>
              <a:rPr lang="en-IN" sz="2800" b="1" dirty="0">
                <a:solidFill>
                  <a:srgbClr val="FFC000"/>
                </a:solidFill>
              </a:rPr>
              <a:t>Set </a:t>
            </a:r>
            <a:r>
              <a:rPr lang="en-IN" sz="2800" b="1" dirty="0" err="1">
                <a:solidFill>
                  <a:srgbClr val="FFC000"/>
                </a:solidFill>
              </a:rPr>
              <a:t>keySet</a:t>
            </a:r>
            <a:r>
              <a:rPr lang="en-IN" sz="2800" b="1" dirty="0">
                <a:solidFill>
                  <a:srgbClr val="FFC000"/>
                </a:solidFill>
              </a:rPr>
              <a:t>(): </a:t>
            </a:r>
            <a:r>
              <a:rPr lang="en-IN" sz="2800" dirty="0">
                <a:solidFill>
                  <a:schemeClr val="bg1"/>
                </a:solidFill>
              </a:rPr>
              <a:t>This method is used to return the Set view containing all the keys</a:t>
            </a:r>
            <a:r>
              <a:rPr lang="en-IN" sz="2800" dirty="0" smtClean="0">
                <a:solidFill>
                  <a:schemeClr val="bg1"/>
                </a:solidFill>
              </a:rPr>
              <a:t>.</a:t>
            </a:r>
          </a:p>
          <a:p>
            <a:pPr algn="just">
              <a:lnSpc>
                <a:spcPct val="150000"/>
              </a:lnSpc>
            </a:pPr>
            <a:r>
              <a:rPr lang="en-IN" sz="2800" b="1" dirty="0" smtClean="0">
                <a:solidFill>
                  <a:srgbClr val="FFC000"/>
                </a:solidFill>
              </a:rPr>
              <a:t>public </a:t>
            </a:r>
            <a:r>
              <a:rPr lang="en-IN" sz="2800" b="1" dirty="0">
                <a:solidFill>
                  <a:srgbClr val="FFC000"/>
                </a:solidFill>
              </a:rPr>
              <a:t>Set </a:t>
            </a:r>
            <a:r>
              <a:rPr lang="en-IN" sz="2800" b="1" dirty="0" err="1">
                <a:solidFill>
                  <a:srgbClr val="FFC000"/>
                </a:solidFill>
              </a:rPr>
              <a:t>entrySet</a:t>
            </a:r>
            <a:r>
              <a:rPr lang="en-IN" sz="2800" b="1" dirty="0">
                <a:solidFill>
                  <a:srgbClr val="FFC000"/>
                </a:solidFill>
              </a:rPr>
              <a:t>(): </a:t>
            </a:r>
            <a:r>
              <a:rPr lang="en-IN" sz="2800" dirty="0">
                <a:solidFill>
                  <a:schemeClr val="bg1"/>
                </a:solidFill>
              </a:rPr>
              <a:t>This method is used to return the Set view containing all the keys and values.</a:t>
            </a:r>
          </a:p>
        </p:txBody>
      </p:sp>
    </p:spTree>
    <p:extLst>
      <p:ext uri="{BB962C8B-B14F-4D97-AF65-F5344CB8AC3E}">
        <p14:creationId xmlns:p14="http://schemas.microsoft.com/office/powerpoint/2010/main" val="4148820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1151" y="0"/>
            <a:ext cx="10812832" cy="984885"/>
          </a:xfrm>
          <a:prstGeom prst="rect">
            <a:avLst/>
          </a:prstGeom>
          <a:noFill/>
        </p:spPr>
        <p:txBody>
          <a:bodyPr wrap="none" rtlCol="0">
            <a:spAutoFit/>
          </a:bodyPr>
          <a:lstStyle/>
          <a:p>
            <a:r>
              <a:rPr lang="en-IN" sz="5800" dirty="0" smtClean="0">
                <a:solidFill>
                  <a:schemeClr val="bg1"/>
                </a:solidFill>
              </a:rPr>
              <a:t>Map interface: </a:t>
            </a:r>
            <a:r>
              <a:rPr lang="en-IN" sz="5800" dirty="0" err="1">
                <a:solidFill>
                  <a:schemeClr val="bg1"/>
                </a:solidFill>
              </a:rPr>
              <a:t>Map.Entry</a:t>
            </a:r>
            <a:r>
              <a:rPr lang="en-IN" sz="5800" dirty="0">
                <a:solidFill>
                  <a:schemeClr val="bg1"/>
                </a:solidFill>
              </a:rPr>
              <a:t> Interface</a:t>
            </a:r>
          </a:p>
        </p:txBody>
      </p:sp>
      <p:sp>
        <p:nvSpPr>
          <p:cNvPr id="2" name="Rectangle 1"/>
          <p:cNvSpPr/>
          <p:nvPr/>
        </p:nvSpPr>
        <p:spPr>
          <a:xfrm>
            <a:off x="291151" y="825690"/>
            <a:ext cx="11350387" cy="1384995"/>
          </a:xfrm>
          <a:prstGeom prst="rect">
            <a:avLst/>
          </a:prstGeom>
        </p:spPr>
        <p:txBody>
          <a:bodyPr wrap="square">
            <a:spAutoFit/>
          </a:bodyPr>
          <a:lstStyle/>
          <a:p>
            <a:pPr algn="just">
              <a:lnSpc>
                <a:spcPct val="150000"/>
              </a:lnSpc>
            </a:pPr>
            <a:r>
              <a:rPr lang="en-IN" sz="2800" b="1" dirty="0">
                <a:solidFill>
                  <a:srgbClr val="FFC000"/>
                </a:solidFill>
              </a:rPr>
              <a:t>Object </a:t>
            </a:r>
            <a:r>
              <a:rPr lang="en-IN" sz="2800" b="1" dirty="0" err="1">
                <a:solidFill>
                  <a:srgbClr val="FFC000"/>
                </a:solidFill>
              </a:rPr>
              <a:t>getKey</a:t>
            </a:r>
            <a:r>
              <a:rPr lang="en-IN" sz="2800" b="1" dirty="0" smtClean="0">
                <a:solidFill>
                  <a:srgbClr val="FFC000"/>
                </a:solidFill>
              </a:rPr>
              <a:t>():</a:t>
            </a:r>
            <a:r>
              <a:rPr lang="en-IN" sz="2800" dirty="0" smtClean="0">
                <a:solidFill>
                  <a:schemeClr val="bg1"/>
                </a:solidFill>
              </a:rPr>
              <a:t>   It </a:t>
            </a:r>
            <a:r>
              <a:rPr lang="en-IN" sz="2800" dirty="0">
                <a:solidFill>
                  <a:schemeClr val="bg1"/>
                </a:solidFill>
              </a:rPr>
              <a:t>is used to obtain key..</a:t>
            </a:r>
          </a:p>
          <a:p>
            <a:pPr algn="just">
              <a:lnSpc>
                <a:spcPct val="150000"/>
              </a:lnSpc>
            </a:pPr>
            <a:r>
              <a:rPr lang="en-IN" sz="2800" b="1" dirty="0">
                <a:solidFill>
                  <a:srgbClr val="FFC000"/>
                </a:solidFill>
              </a:rPr>
              <a:t>Object </a:t>
            </a:r>
            <a:r>
              <a:rPr lang="en-IN" sz="2800" b="1" dirty="0" err="1">
                <a:solidFill>
                  <a:srgbClr val="FFC000"/>
                </a:solidFill>
              </a:rPr>
              <a:t>getValue</a:t>
            </a:r>
            <a:r>
              <a:rPr lang="en-IN" sz="2800" b="1" dirty="0" smtClean="0">
                <a:solidFill>
                  <a:srgbClr val="FFC000"/>
                </a:solidFill>
              </a:rPr>
              <a:t>():  </a:t>
            </a:r>
            <a:r>
              <a:rPr lang="en-IN" sz="2800" dirty="0" smtClean="0">
                <a:solidFill>
                  <a:schemeClr val="bg1"/>
                </a:solidFill>
              </a:rPr>
              <a:t>It </a:t>
            </a:r>
            <a:r>
              <a:rPr lang="en-IN" sz="2800" dirty="0">
                <a:solidFill>
                  <a:schemeClr val="bg1"/>
                </a:solidFill>
              </a:rPr>
              <a:t>is used to obtain value.</a:t>
            </a:r>
          </a:p>
        </p:txBody>
      </p:sp>
    </p:spTree>
    <p:extLst>
      <p:ext uri="{BB962C8B-B14F-4D97-AF65-F5344CB8AC3E}">
        <p14:creationId xmlns:p14="http://schemas.microsoft.com/office/powerpoint/2010/main" val="211213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559557" y="805219"/>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1151" y="0"/>
            <a:ext cx="7335983" cy="984885"/>
          </a:xfrm>
          <a:prstGeom prst="rect">
            <a:avLst/>
          </a:prstGeom>
          <a:noFill/>
        </p:spPr>
        <p:txBody>
          <a:bodyPr wrap="none" rtlCol="0">
            <a:spAutoFit/>
          </a:bodyPr>
          <a:lstStyle/>
          <a:p>
            <a:r>
              <a:rPr lang="en-IN" sz="5800" dirty="0" smtClean="0">
                <a:solidFill>
                  <a:schemeClr val="bg1"/>
                </a:solidFill>
              </a:rPr>
              <a:t>Map interface: Example</a:t>
            </a:r>
            <a:endParaRPr lang="en-IN" sz="5800" dirty="0">
              <a:solidFill>
                <a:schemeClr val="bg1"/>
              </a:solidFill>
            </a:endParaRPr>
          </a:p>
        </p:txBody>
      </p:sp>
      <p:sp>
        <p:nvSpPr>
          <p:cNvPr id="2" name="Rectangle 1"/>
          <p:cNvSpPr/>
          <p:nvPr/>
        </p:nvSpPr>
        <p:spPr>
          <a:xfrm>
            <a:off x="473121" y="805219"/>
            <a:ext cx="11350387" cy="5909310"/>
          </a:xfrm>
          <a:prstGeom prst="rect">
            <a:avLst/>
          </a:prstGeom>
        </p:spPr>
        <p:txBody>
          <a:bodyPr wrap="square">
            <a:spAutoFit/>
          </a:bodyPr>
          <a:lstStyle/>
          <a:p>
            <a:pPr>
              <a:lnSpc>
                <a:spcPct val="150000"/>
              </a:lnSpc>
            </a:pPr>
            <a:r>
              <a:rPr lang="en-IN" sz="2800" dirty="0">
                <a:solidFill>
                  <a:schemeClr val="bg1"/>
                </a:solidFill>
              </a:rPr>
              <a:t>class </a:t>
            </a:r>
            <a:r>
              <a:rPr lang="en-IN" sz="2800" dirty="0" err="1">
                <a:solidFill>
                  <a:schemeClr val="bg1"/>
                </a:solidFill>
              </a:rPr>
              <a:t>MapInterfaceExample</a:t>
            </a:r>
            <a:r>
              <a:rPr lang="en-IN" sz="2800" dirty="0">
                <a:solidFill>
                  <a:schemeClr val="bg1"/>
                </a:solidFill>
              </a:rPr>
              <a:t>{   </a:t>
            </a:r>
            <a:endParaRPr lang="en-IN" sz="2800" dirty="0" smtClean="0">
              <a:solidFill>
                <a:schemeClr val="bg1"/>
              </a:solidFill>
            </a:endParaRPr>
          </a:p>
          <a:p>
            <a:pPr>
              <a:lnSpc>
                <a:spcPct val="150000"/>
              </a:lnSpc>
            </a:pPr>
            <a:r>
              <a:rPr lang="en-IN" sz="2800" dirty="0" smtClean="0">
                <a:solidFill>
                  <a:schemeClr val="bg1"/>
                </a:solidFill>
              </a:rPr>
              <a:t>public </a:t>
            </a:r>
            <a:r>
              <a:rPr lang="en-IN" sz="2800" dirty="0">
                <a:solidFill>
                  <a:schemeClr val="bg1"/>
                </a:solidFill>
              </a:rPr>
              <a:t>static void main(String </a:t>
            </a:r>
            <a:r>
              <a:rPr lang="en-IN" sz="2800" dirty="0" err="1">
                <a:solidFill>
                  <a:schemeClr val="bg1"/>
                </a:solidFill>
              </a:rPr>
              <a:t>args</a:t>
            </a:r>
            <a:r>
              <a:rPr lang="en-IN" sz="2800" dirty="0">
                <a:solidFill>
                  <a:schemeClr val="bg1"/>
                </a:solidFill>
              </a:rPr>
              <a:t>[]){    </a:t>
            </a:r>
            <a:endParaRPr lang="en-IN" sz="2800" dirty="0" smtClean="0">
              <a:solidFill>
                <a:schemeClr val="bg1"/>
              </a:solidFill>
            </a:endParaRPr>
          </a:p>
          <a:p>
            <a:pPr>
              <a:lnSpc>
                <a:spcPct val="150000"/>
              </a:lnSpc>
            </a:pPr>
            <a:r>
              <a:rPr lang="en-IN" sz="2800" dirty="0" smtClean="0">
                <a:solidFill>
                  <a:srgbClr val="FFC000"/>
                </a:solidFill>
              </a:rPr>
              <a:t>Map&lt;</a:t>
            </a:r>
            <a:r>
              <a:rPr lang="en-IN" sz="2800" dirty="0" err="1" smtClean="0">
                <a:solidFill>
                  <a:srgbClr val="FFC000"/>
                </a:solidFill>
              </a:rPr>
              <a:t>Integer,String</a:t>
            </a:r>
            <a:r>
              <a:rPr lang="en-IN" sz="2800" dirty="0">
                <a:solidFill>
                  <a:srgbClr val="FFC000"/>
                </a:solidFill>
              </a:rPr>
              <a:t>&gt;</a:t>
            </a:r>
            <a:r>
              <a:rPr lang="en-IN" sz="2800" dirty="0">
                <a:solidFill>
                  <a:schemeClr val="bg1"/>
                </a:solidFill>
              </a:rPr>
              <a:t> map=new </a:t>
            </a:r>
            <a:r>
              <a:rPr lang="en-IN" sz="2800" dirty="0" err="1">
                <a:solidFill>
                  <a:srgbClr val="FFC000"/>
                </a:solidFill>
              </a:rPr>
              <a:t>HashMap</a:t>
            </a:r>
            <a:r>
              <a:rPr lang="en-IN" sz="2800" dirty="0">
                <a:solidFill>
                  <a:srgbClr val="FFC000"/>
                </a:solidFill>
              </a:rPr>
              <a:t>&lt;</a:t>
            </a:r>
            <a:r>
              <a:rPr lang="en-IN" sz="2800" dirty="0" err="1">
                <a:solidFill>
                  <a:srgbClr val="FFC000"/>
                </a:solidFill>
              </a:rPr>
              <a:t>Integer,String</a:t>
            </a:r>
            <a:r>
              <a:rPr lang="en-IN" sz="2800" dirty="0">
                <a:solidFill>
                  <a:srgbClr val="FFC000"/>
                </a:solidFill>
              </a:rPr>
              <a:t>&gt;</a:t>
            </a:r>
            <a:r>
              <a:rPr lang="en-IN" sz="2800" dirty="0">
                <a:solidFill>
                  <a:schemeClr val="bg1"/>
                </a:solidFill>
              </a:rPr>
              <a:t>(); </a:t>
            </a:r>
            <a:endParaRPr lang="en-IN" sz="2800" dirty="0" smtClean="0">
              <a:solidFill>
                <a:schemeClr val="bg1"/>
              </a:solidFill>
            </a:endParaRPr>
          </a:p>
          <a:p>
            <a:pPr>
              <a:lnSpc>
                <a:spcPct val="150000"/>
              </a:lnSpc>
            </a:pPr>
            <a:r>
              <a:rPr lang="en-IN" sz="2800" dirty="0" err="1" smtClean="0">
                <a:solidFill>
                  <a:schemeClr val="bg1"/>
                </a:solidFill>
              </a:rPr>
              <a:t>map.</a:t>
            </a:r>
            <a:r>
              <a:rPr lang="en-IN" sz="2800" dirty="0" err="1" smtClean="0">
                <a:solidFill>
                  <a:srgbClr val="FFC000"/>
                </a:solidFill>
              </a:rPr>
              <a:t>put</a:t>
            </a:r>
            <a:r>
              <a:rPr lang="en-IN" sz="2800" dirty="0" smtClean="0">
                <a:solidFill>
                  <a:schemeClr val="bg1"/>
                </a:solidFill>
              </a:rPr>
              <a:t>(100,“JAVA");   </a:t>
            </a:r>
          </a:p>
          <a:p>
            <a:pPr>
              <a:lnSpc>
                <a:spcPct val="150000"/>
              </a:lnSpc>
            </a:pPr>
            <a:r>
              <a:rPr lang="en-IN" sz="2800" dirty="0" smtClean="0">
                <a:solidFill>
                  <a:schemeClr val="bg1"/>
                </a:solidFill>
              </a:rPr>
              <a:t> </a:t>
            </a:r>
            <a:r>
              <a:rPr lang="en-IN" sz="2800" dirty="0" err="1">
                <a:solidFill>
                  <a:schemeClr val="bg1"/>
                </a:solidFill>
              </a:rPr>
              <a:t>map.</a:t>
            </a:r>
            <a:r>
              <a:rPr lang="en-IN" sz="2800" dirty="0" err="1">
                <a:solidFill>
                  <a:srgbClr val="FFC000"/>
                </a:solidFill>
              </a:rPr>
              <a:t>put</a:t>
            </a:r>
            <a:r>
              <a:rPr lang="en-IN" sz="2800" dirty="0">
                <a:solidFill>
                  <a:schemeClr val="bg1"/>
                </a:solidFill>
              </a:rPr>
              <a:t>(101</a:t>
            </a:r>
            <a:r>
              <a:rPr lang="en-IN" sz="2800" dirty="0" smtClean="0">
                <a:solidFill>
                  <a:schemeClr val="bg1"/>
                </a:solidFill>
              </a:rPr>
              <a:t>,“Python");    </a:t>
            </a:r>
          </a:p>
          <a:p>
            <a:pPr>
              <a:lnSpc>
                <a:spcPct val="150000"/>
              </a:lnSpc>
            </a:pPr>
            <a:r>
              <a:rPr lang="en-IN" sz="2800" dirty="0" err="1" smtClean="0">
                <a:solidFill>
                  <a:schemeClr val="bg1"/>
                </a:solidFill>
              </a:rPr>
              <a:t>map.</a:t>
            </a:r>
            <a:r>
              <a:rPr lang="en-IN" sz="2800" dirty="0" err="1" smtClean="0">
                <a:solidFill>
                  <a:srgbClr val="FFC000"/>
                </a:solidFill>
              </a:rPr>
              <a:t>put</a:t>
            </a:r>
            <a:r>
              <a:rPr lang="en-IN" sz="2800" dirty="0" smtClean="0">
                <a:solidFill>
                  <a:schemeClr val="bg1"/>
                </a:solidFill>
              </a:rPr>
              <a:t>(102,“PHP");    </a:t>
            </a:r>
          </a:p>
          <a:p>
            <a:pPr>
              <a:lnSpc>
                <a:spcPct val="150000"/>
              </a:lnSpc>
            </a:pPr>
            <a:r>
              <a:rPr lang="en-IN" sz="2800" dirty="0" smtClean="0">
                <a:solidFill>
                  <a:schemeClr val="bg1"/>
                </a:solidFill>
              </a:rPr>
              <a:t>for(</a:t>
            </a:r>
            <a:r>
              <a:rPr lang="en-IN" sz="2800" dirty="0" err="1" smtClean="0">
                <a:solidFill>
                  <a:srgbClr val="FFC000"/>
                </a:solidFill>
              </a:rPr>
              <a:t>Map.Entry</a:t>
            </a:r>
            <a:r>
              <a:rPr lang="en-IN" sz="2800" dirty="0" smtClean="0">
                <a:solidFill>
                  <a:schemeClr val="bg1"/>
                </a:solidFill>
              </a:rPr>
              <a:t> </a:t>
            </a:r>
            <a:r>
              <a:rPr lang="en-IN" sz="2800" dirty="0">
                <a:solidFill>
                  <a:schemeClr val="bg1"/>
                </a:solidFill>
              </a:rPr>
              <a:t>m:map.</a:t>
            </a:r>
            <a:r>
              <a:rPr lang="en-IN" sz="2800" dirty="0">
                <a:solidFill>
                  <a:srgbClr val="FFC000"/>
                </a:solidFill>
              </a:rPr>
              <a:t>entrySet</a:t>
            </a:r>
            <a:r>
              <a:rPr lang="en-IN" sz="2800" dirty="0" smtClean="0">
                <a:solidFill>
                  <a:schemeClr val="bg1"/>
                </a:solidFill>
              </a:rPr>
              <a:t>()){</a:t>
            </a:r>
          </a:p>
          <a:p>
            <a:pPr>
              <a:lnSpc>
                <a:spcPct val="150000"/>
              </a:lnSpc>
            </a:pPr>
            <a:r>
              <a:rPr lang="en-IN" sz="2800" dirty="0" smtClean="0">
                <a:solidFill>
                  <a:schemeClr val="bg1"/>
                </a:solidFill>
              </a:rPr>
              <a:t>     </a:t>
            </a:r>
            <a:r>
              <a:rPr lang="en-IN" sz="2800" dirty="0" err="1">
                <a:solidFill>
                  <a:schemeClr val="bg1"/>
                </a:solidFill>
              </a:rPr>
              <a:t>System.out.println</a:t>
            </a:r>
            <a:r>
              <a:rPr lang="en-IN" sz="2800" dirty="0">
                <a:solidFill>
                  <a:schemeClr val="bg1"/>
                </a:solidFill>
              </a:rPr>
              <a:t>(</a:t>
            </a:r>
            <a:r>
              <a:rPr lang="en-IN" sz="2800" dirty="0" err="1">
                <a:solidFill>
                  <a:schemeClr val="bg1"/>
                </a:solidFill>
              </a:rPr>
              <a:t>m.</a:t>
            </a:r>
            <a:r>
              <a:rPr lang="en-IN" sz="2800" dirty="0" err="1">
                <a:solidFill>
                  <a:srgbClr val="FFC000"/>
                </a:solidFill>
              </a:rPr>
              <a:t>getKey</a:t>
            </a:r>
            <a:r>
              <a:rPr lang="en-IN" sz="2800" dirty="0">
                <a:solidFill>
                  <a:schemeClr val="bg1"/>
                </a:solidFill>
              </a:rPr>
              <a:t>()+" "+</a:t>
            </a:r>
            <a:r>
              <a:rPr lang="en-IN" sz="2800" dirty="0" err="1">
                <a:solidFill>
                  <a:schemeClr val="bg1"/>
                </a:solidFill>
              </a:rPr>
              <a:t>m.</a:t>
            </a:r>
            <a:r>
              <a:rPr lang="en-IN" sz="2800" dirty="0" err="1">
                <a:solidFill>
                  <a:srgbClr val="FFC000"/>
                </a:solidFill>
              </a:rPr>
              <a:t>getValue</a:t>
            </a:r>
            <a:r>
              <a:rPr lang="en-IN" sz="2800" dirty="0">
                <a:solidFill>
                  <a:schemeClr val="bg1"/>
                </a:solidFill>
              </a:rPr>
              <a:t>());    </a:t>
            </a:r>
            <a:endParaRPr lang="en-IN" sz="2800" dirty="0" smtClean="0">
              <a:solidFill>
                <a:schemeClr val="bg1"/>
              </a:solidFill>
            </a:endParaRPr>
          </a:p>
          <a:p>
            <a:pPr>
              <a:lnSpc>
                <a:spcPct val="150000"/>
              </a:lnSpc>
            </a:pPr>
            <a:r>
              <a:rPr lang="en-IN" sz="2800" dirty="0" smtClean="0">
                <a:solidFill>
                  <a:schemeClr val="bg1"/>
                </a:solidFill>
              </a:rPr>
              <a:t>}   </a:t>
            </a:r>
            <a:r>
              <a:rPr lang="en-IN" sz="2800" dirty="0">
                <a:solidFill>
                  <a:schemeClr val="bg1"/>
                </a:solidFill>
              </a:rPr>
              <a:t>}  } </a:t>
            </a:r>
          </a:p>
        </p:txBody>
      </p:sp>
    </p:spTree>
    <p:extLst>
      <p:ext uri="{BB962C8B-B14F-4D97-AF65-F5344CB8AC3E}">
        <p14:creationId xmlns:p14="http://schemas.microsoft.com/office/powerpoint/2010/main" val="393232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500"/>
                                        <p:tgtEl>
                                          <p:spTgt spid="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fade">
                                      <p:cBhvr>
                                        <p:cTn id="34" dur="500"/>
                                        <p:tgtEl>
                                          <p:spTgt spid="2">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fade">
                                      <p:cBhvr>
                                        <p:cTn id="3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2081</TotalTime>
  <Words>3878</Words>
  <Application>Microsoft Office PowerPoint</Application>
  <PresentationFormat>Widescreen</PresentationFormat>
  <Paragraphs>624</Paragraphs>
  <Slides>66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Mrugendra</dc:creator>
  <cp:lastModifiedBy>Mrugendra</cp:lastModifiedBy>
  <cp:revision>399</cp:revision>
  <dcterms:created xsi:type="dcterms:W3CDTF">2017-07-29T08:12:59Z</dcterms:created>
  <dcterms:modified xsi:type="dcterms:W3CDTF">2025-09-22T04:40:14Z</dcterms:modified>
</cp:coreProperties>
</file>