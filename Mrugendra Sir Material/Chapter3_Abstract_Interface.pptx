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75" r:id="rId2"/>
    <p:sldId id="258" r:id="rId3"/>
    <p:sldId id="280" r:id="rId4"/>
    <p:sldId id="298" r:id="rId5"/>
    <p:sldId id="277" r:id="rId6"/>
    <p:sldId id="276" r:id="rId7"/>
    <p:sldId id="278" r:id="rId8"/>
    <p:sldId id="281" r:id="rId9"/>
    <p:sldId id="279" r:id="rId10"/>
    <p:sldId id="297" r:id="rId11"/>
    <p:sldId id="283" r:id="rId12"/>
    <p:sldId id="282" r:id="rId13"/>
    <p:sldId id="289" r:id="rId14"/>
    <p:sldId id="290" r:id="rId15"/>
    <p:sldId id="291" r:id="rId16"/>
    <p:sldId id="292" r:id="rId17"/>
    <p:sldId id="293" r:id="rId18"/>
    <p:sldId id="299" r:id="rId19"/>
    <p:sldId id="300" r:id="rId20"/>
    <p:sldId id="301" r:id="rId21"/>
    <p:sldId id="302" r:id="rId22"/>
    <p:sldId id="304" r:id="rId23"/>
    <p:sldId id="305" r:id="rId24"/>
    <p:sldId id="284" r:id="rId25"/>
    <p:sldId id="306" r:id="rId26"/>
    <p:sldId id="294" r:id="rId27"/>
    <p:sldId id="285" r:id="rId28"/>
    <p:sldId id="286" r:id="rId29"/>
    <p:sldId id="287" r:id="rId30"/>
    <p:sldId id="288" r:id="rId31"/>
    <p:sldId id="295" r:id="rId32"/>
    <p:sldId id="29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7D257-00BD-4D2F-A342-34EFBE700B74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DF874-F848-4322-8DDE-097662865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6614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78000-1D03-4A4D-B7D1-6611A8B0BD56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C7FF7-D3C0-4730-B3CA-D7A8C7068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12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29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50" y="5348894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8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36894" y="5361268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7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7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71364" y="5686425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40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32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3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87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7511-6A2C-4FC7-AD62-5EB35A7B85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4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47" y="177413"/>
            <a:ext cx="1139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7200" cap="all" dirty="0">
              <a:solidFill>
                <a:schemeClr val="bg1"/>
              </a:solidFill>
            </a:endParaRPr>
          </a:p>
          <a:p>
            <a:pPr algn="ctr"/>
            <a:r>
              <a:rPr lang="en-IN" sz="7200" cap="all" dirty="0">
                <a:solidFill>
                  <a:schemeClr val="bg1"/>
                </a:solidFill>
              </a:rPr>
              <a:t>Abstract class</a:t>
            </a:r>
          </a:p>
          <a:p>
            <a:pPr algn="ctr"/>
            <a:r>
              <a:rPr lang="en-IN" sz="7200" cap="all" dirty="0">
                <a:solidFill>
                  <a:schemeClr val="bg1"/>
                </a:solidFill>
              </a:rPr>
              <a:t>&amp; </a:t>
            </a:r>
          </a:p>
          <a:p>
            <a:pPr algn="ctr"/>
            <a:r>
              <a:rPr lang="en-IN" sz="7200" cap="all" dirty="0">
                <a:solidFill>
                  <a:schemeClr val="bg1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169413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41" y="1413066"/>
            <a:ext cx="11696132" cy="1318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The process of abstraction in Java which is used to </a:t>
            </a:r>
            <a:r>
              <a:rPr lang="en-IN" sz="2800" dirty="0">
                <a:solidFill>
                  <a:srgbClr val="FFC000"/>
                </a:solidFill>
              </a:rPr>
              <a:t>hide certain details</a:t>
            </a:r>
            <a:r>
              <a:rPr lang="en-IN" sz="2800" dirty="0">
                <a:solidFill>
                  <a:schemeClr val="bg1"/>
                </a:solidFill>
              </a:rPr>
              <a:t> and </a:t>
            </a:r>
            <a:r>
              <a:rPr lang="en-IN" sz="2800" dirty="0">
                <a:solidFill>
                  <a:srgbClr val="FFC000"/>
                </a:solidFill>
              </a:rPr>
              <a:t>only show the essential features </a:t>
            </a:r>
            <a:r>
              <a:rPr lang="en-IN" sz="2800" dirty="0">
                <a:solidFill>
                  <a:schemeClr val="bg1"/>
                </a:solidFill>
              </a:rPr>
              <a:t>of the object.</a:t>
            </a:r>
            <a:endParaRPr lang="en-IN" sz="2800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6623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Abstraction?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7" y="3107081"/>
            <a:ext cx="6482686" cy="35939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9" y="3107082"/>
            <a:ext cx="4251333" cy="375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3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6623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Abstraction?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367284" y="1179436"/>
            <a:ext cx="3084394" cy="1973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FFC000"/>
                </a:solidFill>
              </a:rPr>
              <a:t>Cars</a:t>
            </a:r>
          </a:p>
          <a:p>
            <a:pPr marL="342900" indent="-342900">
              <a:buAutoNum type="arabicPeriod"/>
            </a:pPr>
            <a:r>
              <a:rPr lang="en-IN" sz="2400" dirty="0"/>
              <a:t>4 Wheels</a:t>
            </a:r>
          </a:p>
          <a:p>
            <a:pPr marL="342900" indent="-342900">
              <a:buAutoNum type="arabicPeriod"/>
            </a:pPr>
            <a:r>
              <a:rPr lang="en-IN" sz="2400" dirty="0"/>
              <a:t>Driving Handle</a:t>
            </a:r>
          </a:p>
          <a:p>
            <a:pPr marL="342900" indent="-342900">
              <a:buAutoNum type="arabicPeriod"/>
            </a:pPr>
            <a:r>
              <a:rPr lang="en-IN" sz="2400" dirty="0"/>
              <a:t>Gear/ Transmission</a:t>
            </a:r>
          </a:p>
          <a:p>
            <a:pPr marL="342900" indent="-342900">
              <a:buAutoNum type="arabicPeriod"/>
            </a:pPr>
            <a:r>
              <a:rPr lang="en-IN" sz="2400" dirty="0"/>
              <a:t>Front Light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18" y="3382290"/>
            <a:ext cx="3407463" cy="25135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4" y="3382289"/>
            <a:ext cx="3384644" cy="25457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641" y="3382289"/>
            <a:ext cx="3988559" cy="25457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73707" y="5895833"/>
            <a:ext cx="2020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Maruti</a:t>
            </a:r>
            <a:r>
              <a:rPr lang="en-IN" sz="2400" b="1" dirty="0">
                <a:solidFill>
                  <a:srgbClr val="FFC000"/>
                </a:solidFill>
              </a:rPr>
              <a:t> Suzuki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7975" y="5926827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Honda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9798" y="5895833"/>
            <a:ext cx="776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Audi</a:t>
            </a:r>
          </a:p>
        </p:txBody>
      </p:sp>
    </p:spTree>
    <p:extLst>
      <p:ext uri="{BB962C8B-B14F-4D97-AF65-F5344CB8AC3E}">
        <p14:creationId xmlns:p14="http://schemas.microsoft.com/office/powerpoint/2010/main" val="324388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8271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When to use Abstraction?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4A4C2A-BE6C-7FE6-2A92-CE3F7D6F007C}"/>
              </a:ext>
            </a:extLst>
          </p:cNvPr>
          <p:cNvSpPr txBox="1"/>
          <p:nvPr/>
        </p:nvSpPr>
        <p:spPr>
          <a:xfrm>
            <a:off x="354841" y="1179436"/>
            <a:ext cx="11696132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dirty="0">
                <a:solidFill>
                  <a:schemeClr val="bg1"/>
                </a:solidFill>
              </a:rPr>
              <a:t>Consider using abstract classes if any of these statements apply to your situation: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You want to </a:t>
            </a:r>
            <a:r>
              <a:rPr lang="en-GB" sz="2600" dirty="0">
                <a:solidFill>
                  <a:srgbClr val="FFC000"/>
                </a:solidFill>
              </a:rPr>
              <a:t>share code among several closely related classes</a:t>
            </a:r>
            <a:r>
              <a:rPr lang="en-GB" sz="2600" dirty="0">
                <a:solidFill>
                  <a:schemeClr val="bg1"/>
                </a:solidFill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You expect that classes that extend your abstract class have many common methods or fields, or </a:t>
            </a:r>
            <a:r>
              <a:rPr lang="en-GB" sz="2600" dirty="0">
                <a:solidFill>
                  <a:srgbClr val="FFC000"/>
                </a:solidFill>
              </a:rPr>
              <a:t>require access modifiers other than public (such as protected and private).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You want to </a:t>
            </a:r>
            <a:r>
              <a:rPr lang="en-GB" sz="2600" dirty="0">
                <a:solidFill>
                  <a:srgbClr val="FFC000"/>
                </a:solidFill>
              </a:rPr>
              <a:t>declare non-static or non-final fields</a:t>
            </a:r>
            <a:r>
              <a:rPr lang="en-GB" sz="2600" dirty="0">
                <a:solidFill>
                  <a:schemeClr val="bg1"/>
                </a:solidFill>
              </a:rPr>
              <a:t>. This enables you to define methods that can access and modify the state of the object to which they belong.</a:t>
            </a:r>
            <a:endParaRPr lang="en-IN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9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41" y="1413066"/>
            <a:ext cx="116961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In </a:t>
            </a:r>
            <a:r>
              <a:rPr lang="en-IN" sz="2800" dirty="0">
                <a:solidFill>
                  <a:srgbClr val="FFC000"/>
                </a:solidFill>
              </a:rPr>
              <a:t>C++</a:t>
            </a:r>
            <a:r>
              <a:rPr lang="en-IN" sz="2800" dirty="0">
                <a:solidFill>
                  <a:schemeClr val="bg1"/>
                </a:solidFill>
              </a:rPr>
              <a:t>, if a class has </a:t>
            </a:r>
            <a:r>
              <a:rPr lang="en-IN" sz="2800" dirty="0">
                <a:solidFill>
                  <a:srgbClr val="FFC000"/>
                </a:solidFill>
              </a:rPr>
              <a:t>at least one pure virtual function</a:t>
            </a:r>
            <a:r>
              <a:rPr lang="en-IN" sz="2800" dirty="0">
                <a:solidFill>
                  <a:schemeClr val="bg1"/>
                </a:solidFill>
              </a:rPr>
              <a:t>, then the class becomes abstract.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Unlike C++, in </a:t>
            </a:r>
            <a:r>
              <a:rPr lang="en-IN" sz="2800" dirty="0">
                <a:solidFill>
                  <a:srgbClr val="FFC000"/>
                </a:solidFill>
              </a:rPr>
              <a:t>Java</a:t>
            </a:r>
            <a:r>
              <a:rPr lang="en-IN" sz="2800" dirty="0">
                <a:solidFill>
                  <a:schemeClr val="bg1"/>
                </a:solidFill>
              </a:rPr>
              <a:t>, a separate keyword </a:t>
            </a:r>
            <a:r>
              <a:rPr lang="en-IN" sz="2800" b="1" i="1" dirty="0">
                <a:solidFill>
                  <a:srgbClr val="FFC000"/>
                </a:solidFill>
              </a:rPr>
              <a:t>abstract</a:t>
            </a:r>
            <a:r>
              <a:rPr lang="en-IN" sz="2800" dirty="0">
                <a:solidFill>
                  <a:schemeClr val="bg1"/>
                </a:solidFill>
              </a:rPr>
              <a:t> is used to make a class abstract. </a:t>
            </a:r>
            <a:endParaRPr lang="en-IN" sz="2800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70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41" y="1413066"/>
            <a:ext cx="116961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An abstract class is a </a:t>
            </a:r>
            <a:r>
              <a:rPr lang="en-IN" sz="2800" dirty="0">
                <a:solidFill>
                  <a:srgbClr val="FFC000"/>
                </a:solidFill>
              </a:rPr>
              <a:t>class that is declared using </a:t>
            </a:r>
            <a:r>
              <a:rPr lang="en-IN" sz="2800" i="1" u="sng" dirty="0">
                <a:solidFill>
                  <a:srgbClr val="FFFF00"/>
                </a:solidFill>
              </a:rPr>
              <a:t>abstract</a:t>
            </a:r>
            <a:r>
              <a:rPr lang="en-IN" sz="2800" u="sng" dirty="0">
                <a:solidFill>
                  <a:srgbClr val="FFC000"/>
                </a:solidFill>
              </a:rPr>
              <a:t> keyword</a:t>
            </a:r>
            <a:r>
              <a:rPr lang="en-IN" sz="2800" dirty="0">
                <a:solidFill>
                  <a:schemeClr val="bg1"/>
                </a:solidFill>
              </a:rPr>
              <a:t>—it </a:t>
            </a:r>
            <a:r>
              <a:rPr lang="en-IN" sz="2800" dirty="0">
                <a:solidFill>
                  <a:srgbClr val="FFC000"/>
                </a:solidFill>
              </a:rPr>
              <a:t>may or may not include abstract methods</a:t>
            </a:r>
            <a:r>
              <a:rPr lang="en-IN" sz="2800" dirty="0">
                <a:solidFill>
                  <a:schemeClr val="bg1"/>
                </a:solidFill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Abstract classes </a:t>
            </a:r>
            <a:r>
              <a:rPr lang="en-IN" sz="2800" dirty="0">
                <a:solidFill>
                  <a:srgbClr val="FFC000"/>
                </a:solidFill>
              </a:rPr>
              <a:t>cannot be instantiated</a:t>
            </a:r>
            <a:r>
              <a:rPr lang="en-IN" sz="2800" dirty="0">
                <a:solidFill>
                  <a:schemeClr val="bg1"/>
                </a:solidFill>
              </a:rPr>
              <a:t>, but </a:t>
            </a:r>
            <a:r>
              <a:rPr lang="en-IN" sz="2800" dirty="0">
                <a:solidFill>
                  <a:srgbClr val="FFC000"/>
                </a:solidFill>
              </a:rPr>
              <a:t>they can be sub-classed.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An </a:t>
            </a:r>
            <a:r>
              <a:rPr lang="en-IN" sz="2800" dirty="0">
                <a:solidFill>
                  <a:srgbClr val="FFC000"/>
                </a:solidFill>
              </a:rPr>
              <a:t>abstract method</a:t>
            </a:r>
            <a:r>
              <a:rPr lang="en-IN" sz="2800" dirty="0">
                <a:solidFill>
                  <a:schemeClr val="bg1"/>
                </a:solidFill>
              </a:rPr>
              <a:t> is a method that is </a:t>
            </a:r>
            <a:r>
              <a:rPr lang="en-IN" sz="2800" dirty="0">
                <a:solidFill>
                  <a:srgbClr val="FFC000"/>
                </a:solidFill>
              </a:rPr>
              <a:t>declared without an implementation </a:t>
            </a:r>
            <a:r>
              <a:rPr lang="en-IN" sz="2800" dirty="0">
                <a:solidFill>
                  <a:schemeClr val="bg1"/>
                </a:solidFill>
              </a:rPr>
              <a:t>(without braces, and followed by a semicolon), like this: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	</a:t>
            </a:r>
            <a:r>
              <a:rPr lang="en-IN" sz="2800" i="1" dirty="0">
                <a:solidFill>
                  <a:srgbClr val="FFC000"/>
                </a:solidFill>
              </a:rPr>
              <a:t>abstract</a:t>
            </a:r>
            <a:r>
              <a:rPr lang="en-IN" sz="2800" i="1" dirty="0">
                <a:solidFill>
                  <a:schemeClr val="bg1"/>
                </a:solidFill>
              </a:rPr>
              <a:t> void </a:t>
            </a:r>
            <a:r>
              <a:rPr lang="en-IN" sz="2800" i="1" dirty="0" err="1">
                <a:solidFill>
                  <a:schemeClr val="bg1"/>
                </a:solidFill>
              </a:rPr>
              <a:t>moveTo</a:t>
            </a:r>
            <a:r>
              <a:rPr lang="en-IN" sz="2800" i="1" dirty="0">
                <a:solidFill>
                  <a:schemeClr val="bg1"/>
                </a:solidFill>
              </a:rPr>
              <a:t>(double </a:t>
            </a:r>
            <a:r>
              <a:rPr lang="en-IN" sz="2800" i="1" dirty="0" err="1">
                <a:solidFill>
                  <a:schemeClr val="bg1"/>
                </a:solidFill>
              </a:rPr>
              <a:t>deltaX</a:t>
            </a:r>
            <a:r>
              <a:rPr lang="en-IN" sz="2800" i="1" dirty="0">
                <a:solidFill>
                  <a:schemeClr val="bg1"/>
                </a:solidFill>
              </a:rPr>
              <a:t>, double </a:t>
            </a:r>
            <a:r>
              <a:rPr lang="en-IN" sz="2800" i="1" dirty="0" err="1">
                <a:solidFill>
                  <a:schemeClr val="bg1"/>
                </a:solidFill>
              </a:rPr>
              <a:t>deltaY</a:t>
            </a:r>
            <a:r>
              <a:rPr lang="en-IN" sz="2800" i="1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04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532" y="1262939"/>
            <a:ext cx="1169613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u="sng" dirty="0">
                <a:solidFill>
                  <a:srgbClr val="FFC000"/>
                </a:solidFill>
              </a:rPr>
              <a:t>Rule1:</a:t>
            </a:r>
            <a:r>
              <a:rPr lang="en-IN" sz="2800" u="sng" dirty="0">
                <a:solidFill>
                  <a:schemeClr val="bg1"/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If a class includes abstract methods, then the class itself must be declared abstract, as in:</a:t>
            </a:r>
          </a:p>
          <a:p>
            <a:pPr lvl="1"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public </a:t>
            </a:r>
            <a:r>
              <a:rPr lang="en-IN" sz="2800" dirty="0">
                <a:solidFill>
                  <a:srgbClr val="FFC000"/>
                </a:solidFill>
              </a:rPr>
              <a:t>abstract</a:t>
            </a:r>
            <a:r>
              <a:rPr lang="en-IN" sz="2800" dirty="0">
                <a:solidFill>
                  <a:schemeClr val="bg1"/>
                </a:solidFill>
              </a:rPr>
              <a:t> class </a:t>
            </a:r>
            <a:r>
              <a:rPr lang="en-IN" sz="2800" dirty="0" err="1">
                <a:solidFill>
                  <a:schemeClr val="bg1"/>
                </a:solidFill>
              </a:rPr>
              <a:t>GraphicObject</a:t>
            </a:r>
            <a:r>
              <a:rPr lang="en-IN" sz="2800" dirty="0">
                <a:solidFill>
                  <a:schemeClr val="bg1"/>
                </a:solidFill>
              </a:rPr>
              <a:t> {</a:t>
            </a:r>
          </a:p>
          <a:p>
            <a:pPr lvl="1"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   // declare fields</a:t>
            </a:r>
          </a:p>
          <a:p>
            <a:pPr lvl="1"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   // declare </a:t>
            </a:r>
            <a:r>
              <a:rPr lang="en-IN" sz="2800" dirty="0" err="1">
                <a:solidFill>
                  <a:schemeClr val="bg1"/>
                </a:solidFill>
              </a:rPr>
              <a:t>nonabstract</a:t>
            </a:r>
            <a:r>
              <a:rPr lang="en-IN" sz="2800" dirty="0">
                <a:solidFill>
                  <a:schemeClr val="bg1"/>
                </a:solidFill>
              </a:rPr>
              <a:t> methods</a:t>
            </a:r>
          </a:p>
          <a:p>
            <a:pPr lvl="1"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   </a:t>
            </a:r>
            <a:r>
              <a:rPr lang="en-IN" sz="2800" dirty="0">
                <a:solidFill>
                  <a:srgbClr val="FFC000"/>
                </a:solidFill>
              </a:rPr>
              <a:t>abstract void draw();</a:t>
            </a:r>
          </a:p>
          <a:p>
            <a:pPr lvl="1"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99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532" y="1071867"/>
            <a:ext cx="958073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abstract</a:t>
            </a:r>
            <a:r>
              <a:rPr lang="en-IN" sz="2800" dirty="0">
                <a:solidFill>
                  <a:schemeClr val="bg1"/>
                </a:solidFill>
              </a:rPr>
              <a:t> class Shape{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abstract</a:t>
            </a:r>
            <a:r>
              <a:rPr lang="en-IN" sz="2800" dirty="0">
                <a:solidFill>
                  <a:schemeClr val="bg1"/>
                </a:solidFill>
              </a:rPr>
              <a:t> void draw();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class Rectangle extends </a:t>
            </a:r>
            <a:r>
              <a:rPr lang="en-IN" sz="2800" dirty="0">
                <a:solidFill>
                  <a:srgbClr val="FFC000"/>
                </a:solidFill>
              </a:rPr>
              <a:t>Shape</a:t>
            </a:r>
            <a:r>
              <a:rPr lang="en-IN" sz="2800" dirty="0">
                <a:solidFill>
                  <a:schemeClr val="bg1"/>
                </a:solidFill>
              </a:rPr>
              <a:t>{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	void draw(){…..}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class Circle1 extends </a:t>
            </a:r>
            <a:r>
              <a:rPr lang="en-IN" sz="2800" dirty="0">
                <a:solidFill>
                  <a:srgbClr val="FFC000"/>
                </a:solidFill>
              </a:rPr>
              <a:t>Shape</a:t>
            </a:r>
            <a:r>
              <a:rPr lang="en-IN" sz="2800" dirty="0">
                <a:solidFill>
                  <a:schemeClr val="bg1"/>
                </a:solidFill>
              </a:rPr>
              <a:t>{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	void draw(){…..}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91367" y="1135051"/>
            <a:ext cx="620063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class TestAbstraction1{ 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[]){ 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>
                <a:solidFill>
                  <a:srgbClr val="FFC000"/>
                </a:solidFill>
              </a:rPr>
              <a:t>Shape s=new Circle1();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s.draw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 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0239" y="5548784"/>
            <a:ext cx="7410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An </a:t>
            </a:r>
            <a:r>
              <a:rPr lang="en-IN" sz="2400" dirty="0">
                <a:solidFill>
                  <a:srgbClr val="FFC000"/>
                </a:solidFill>
              </a:rPr>
              <a:t>instance of an abstract class cannot be created</a:t>
            </a:r>
            <a:r>
              <a:rPr lang="en-IN" sz="2400" dirty="0">
                <a:solidFill>
                  <a:schemeClr val="bg1"/>
                </a:solidFill>
              </a:rPr>
              <a:t>, we can have references of abstract class type though.</a:t>
            </a:r>
          </a:p>
        </p:txBody>
      </p:sp>
    </p:spTree>
    <p:extLst>
      <p:ext uri="{BB962C8B-B14F-4D97-AF65-F5344CB8AC3E}">
        <p14:creationId xmlns:p14="http://schemas.microsoft.com/office/powerpoint/2010/main" val="3130017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532" y="1071867"/>
            <a:ext cx="116961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u="sng" dirty="0">
                <a:solidFill>
                  <a:srgbClr val="FFC000"/>
                </a:solidFill>
              </a:rPr>
              <a:t>Rule2:</a:t>
            </a:r>
            <a:r>
              <a:rPr lang="en-IN" sz="2800" dirty="0">
                <a:solidFill>
                  <a:schemeClr val="bg1"/>
                </a:solidFill>
              </a:rPr>
              <a:t> When an </a:t>
            </a:r>
            <a:r>
              <a:rPr lang="en-IN" sz="2800" dirty="0">
                <a:solidFill>
                  <a:srgbClr val="FFC000"/>
                </a:solidFill>
              </a:rPr>
              <a:t>abstract class is sub-classed</a:t>
            </a:r>
            <a:r>
              <a:rPr lang="en-IN" sz="2800" dirty="0">
                <a:solidFill>
                  <a:schemeClr val="bg1"/>
                </a:solidFill>
              </a:rPr>
              <a:t>, the </a:t>
            </a:r>
            <a:r>
              <a:rPr lang="en-IN" sz="2800" dirty="0">
                <a:solidFill>
                  <a:srgbClr val="FFC000"/>
                </a:solidFill>
              </a:rPr>
              <a:t>sub-class</a:t>
            </a:r>
            <a:r>
              <a:rPr lang="en-IN" sz="2800" dirty="0">
                <a:solidFill>
                  <a:schemeClr val="bg1"/>
                </a:solidFill>
              </a:rPr>
              <a:t> usually </a:t>
            </a:r>
            <a:r>
              <a:rPr lang="en-IN" sz="2800" dirty="0">
                <a:solidFill>
                  <a:srgbClr val="FFC000"/>
                </a:solidFill>
              </a:rPr>
              <a:t>provides implementations for all of the abstract methods</a:t>
            </a:r>
            <a:r>
              <a:rPr lang="en-IN" sz="2800" dirty="0">
                <a:solidFill>
                  <a:schemeClr val="bg1"/>
                </a:solidFill>
              </a:rPr>
              <a:t> in its parent class. However, </a:t>
            </a:r>
            <a:r>
              <a:rPr lang="en-IN" sz="2800" dirty="0">
                <a:solidFill>
                  <a:srgbClr val="FFC000"/>
                </a:solidFill>
              </a:rPr>
              <a:t>if it does not</a:t>
            </a:r>
            <a:r>
              <a:rPr lang="en-IN" sz="2800" dirty="0">
                <a:solidFill>
                  <a:schemeClr val="bg1"/>
                </a:solidFill>
              </a:rPr>
              <a:t>, then the </a:t>
            </a:r>
            <a:r>
              <a:rPr lang="en-IN" sz="2800" dirty="0">
                <a:solidFill>
                  <a:srgbClr val="FFC000"/>
                </a:solidFill>
              </a:rPr>
              <a:t>subclass must also be declared abstract</a:t>
            </a:r>
            <a:r>
              <a:rPr lang="en-IN" sz="2800" dirty="0">
                <a:solidFill>
                  <a:schemeClr val="bg1"/>
                </a:solidFill>
              </a:rPr>
              <a:t>.</a:t>
            </a:r>
            <a:endParaRPr lang="en-IN" sz="2800" i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533" y="1219347"/>
            <a:ext cx="7367152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C000"/>
                </a:solidFill>
              </a:rPr>
              <a:t>abstract</a:t>
            </a:r>
            <a:r>
              <a:rPr lang="en-IN" sz="2400" dirty="0">
                <a:solidFill>
                  <a:schemeClr val="bg1"/>
                </a:solidFill>
              </a:rPr>
              <a:t> public class </a:t>
            </a:r>
            <a:r>
              <a:rPr lang="en-IN" sz="2400" dirty="0" err="1">
                <a:solidFill>
                  <a:schemeClr val="bg1"/>
                </a:solidFill>
              </a:rPr>
              <a:t>AbstractClassDemo</a:t>
            </a:r>
            <a:r>
              <a:rPr lang="en-IN" sz="2400" dirty="0">
                <a:solidFill>
                  <a:schemeClr val="bg1"/>
                </a:solidFill>
              </a:rPr>
              <a:t>  {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private int add() {return 0;}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abstract int sub();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//class Child1 </a:t>
            </a:r>
            <a:r>
              <a:rPr lang="en-IN" sz="2400" dirty="0">
                <a:solidFill>
                  <a:srgbClr val="FFC000"/>
                </a:solidFill>
              </a:rPr>
              <a:t>extends </a:t>
            </a:r>
            <a:r>
              <a:rPr lang="en-IN" sz="2400" dirty="0" err="1">
                <a:solidFill>
                  <a:srgbClr val="FFC000"/>
                </a:solidFill>
              </a:rPr>
              <a:t>AbstractClassDemo</a:t>
            </a:r>
            <a:r>
              <a:rPr lang="en-IN" sz="2400" dirty="0">
                <a:solidFill>
                  <a:schemeClr val="bg1"/>
                </a:solidFill>
              </a:rPr>
              <a:t>{} </a:t>
            </a:r>
            <a:r>
              <a:rPr lang="en-IN" sz="2400" b="1" dirty="0">
                <a:solidFill>
                  <a:srgbClr val="FF0000"/>
                </a:solidFill>
              </a:rPr>
              <a:t>// Invalid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abstract class Child1 </a:t>
            </a:r>
            <a:r>
              <a:rPr lang="en-IN" sz="2400" dirty="0">
                <a:solidFill>
                  <a:srgbClr val="FFC000"/>
                </a:solidFill>
              </a:rPr>
              <a:t>extends </a:t>
            </a:r>
            <a:r>
              <a:rPr lang="en-IN" sz="2400" dirty="0" err="1">
                <a:solidFill>
                  <a:srgbClr val="FFC000"/>
                </a:solidFill>
              </a:rPr>
              <a:t>AbstractClassDemo</a:t>
            </a:r>
            <a:r>
              <a:rPr lang="en-IN" sz="2400" dirty="0">
                <a:solidFill>
                  <a:schemeClr val="bg1"/>
                </a:solidFill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abstract int div();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pPr algn="just"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89D73D-4729-28EE-259F-E103B9B46A30}"/>
              </a:ext>
            </a:extLst>
          </p:cNvPr>
          <p:cNvSpPr txBox="1"/>
          <p:nvPr/>
        </p:nvSpPr>
        <p:spPr>
          <a:xfrm>
            <a:off x="7864577" y="1119616"/>
            <a:ext cx="4186396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Child2 extends Child1{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@Override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int div() {        return 0;    }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@Override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int sub() {        return 0;    }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23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532" y="1071867"/>
            <a:ext cx="629162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abstract</a:t>
            </a:r>
            <a:r>
              <a:rPr lang="en-IN" sz="2800" dirty="0">
                <a:solidFill>
                  <a:schemeClr val="bg1"/>
                </a:solidFill>
              </a:rPr>
              <a:t> class </a:t>
            </a:r>
            <a:r>
              <a:rPr lang="en-IN" sz="2800" dirty="0">
                <a:solidFill>
                  <a:srgbClr val="FFC000"/>
                </a:solidFill>
              </a:rPr>
              <a:t>Bank</a:t>
            </a:r>
            <a:r>
              <a:rPr lang="en-IN" sz="2800" dirty="0">
                <a:solidFill>
                  <a:schemeClr val="bg1"/>
                </a:solidFill>
              </a:rPr>
              <a:t>{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abstract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dirty="0" err="1">
                <a:solidFill>
                  <a:schemeClr val="bg1"/>
                </a:solidFill>
              </a:rPr>
              <a:t>int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dirty="0" err="1">
                <a:solidFill>
                  <a:schemeClr val="bg1"/>
                </a:solidFill>
              </a:rPr>
              <a:t>getRateOfInterest</a:t>
            </a:r>
            <a:r>
              <a:rPr lang="en-IN" sz="2800" dirty="0">
                <a:solidFill>
                  <a:schemeClr val="bg1"/>
                </a:solidFill>
              </a:rPr>
              <a:t>();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class SBI extends </a:t>
            </a:r>
            <a:r>
              <a:rPr lang="en-IN" sz="2800" dirty="0">
                <a:solidFill>
                  <a:srgbClr val="FFC000"/>
                </a:solidFill>
              </a:rPr>
              <a:t>Bank</a:t>
            </a:r>
            <a:r>
              <a:rPr lang="en-IN" sz="2800" dirty="0">
                <a:solidFill>
                  <a:schemeClr val="bg1"/>
                </a:solidFill>
              </a:rPr>
              <a:t>{    </a:t>
            </a:r>
          </a:p>
          <a:p>
            <a:pPr algn="just">
              <a:lnSpc>
                <a:spcPct val="150000"/>
              </a:lnSpc>
            </a:pPr>
            <a:r>
              <a:rPr lang="en-IN" sz="2800" dirty="0" err="1">
                <a:solidFill>
                  <a:schemeClr val="bg1"/>
                </a:solidFill>
              </a:rPr>
              <a:t>int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dirty="0" err="1">
                <a:solidFill>
                  <a:schemeClr val="bg1"/>
                </a:solidFill>
              </a:rPr>
              <a:t>getRateOfInterest</a:t>
            </a:r>
            <a:r>
              <a:rPr lang="en-IN" sz="2800" dirty="0">
                <a:solidFill>
                  <a:schemeClr val="bg1"/>
                </a:solidFill>
              </a:rPr>
              <a:t>(){return 7;}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class PNB extends </a:t>
            </a:r>
            <a:r>
              <a:rPr lang="en-IN" sz="2800" dirty="0">
                <a:solidFill>
                  <a:srgbClr val="FFC000"/>
                </a:solidFill>
              </a:rPr>
              <a:t>Bank</a:t>
            </a:r>
            <a:r>
              <a:rPr lang="en-IN" sz="2800" dirty="0">
                <a:solidFill>
                  <a:schemeClr val="bg1"/>
                </a:solidFill>
              </a:rPr>
              <a:t>{    </a:t>
            </a:r>
          </a:p>
          <a:p>
            <a:pPr algn="just">
              <a:lnSpc>
                <a:spcPct val="150000"/>
              </a:lnSpc>
            </a:pPr>
            <a:r>
              <a:rPr lang="en-IN" sz="2800" dirty="0" err="1">
                <a:solidFill>
                  <a:schemeClr val="bg1"/>
                </a:solidFill>
              </a:rPr>
              <a:t>int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dirty="0" err="1">
                <a:solidFill>
                  <a:schemeClr val="bg1"/>
                </a:solidFill>
              </a:rPr>
              <a:t>getRateOfInterest</a:t>
            </a:r>
            <a:r>
              <a:rPr lang="en-IN" sz="2800" dirty="0">
                <a:solidFill>
                  <a:schemeClr val="bg1"/>
                </a:solidFill>
              </a:rPr>
              <a:t>(){return 8;}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322628" y="1170266"/>
            <a:ext cx="69864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 public class </a:t>
            </a:r>
            <a:r>
              <a:rPr lang="en-IN" sz="2800" dirty="0" err="1">
                <a:solidFill>
                  <a:schemeClr val="bg1"/>
                </a:solidFill>
              </a:rPr>
              <a:t>BankExample</a:t>
            </a:r>
            <a:r>
              <a:rPr lang="en-IN" sz="2800" dirty="0">
                <a:solidFill>
                  <a:schemeClr val="bg1"/>
                </a:solidFill>
              </a:rPr>
              <a:t>{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public static void main(String </a:t>
            </a:r>
            <a:r>
              <a:rPr lang="en-IN" sz="2800" dirty="0" err="1">
                <a:solidFill>
                  <a:schemeClr val="bg1"/>
                </a:solidFill>
              </a:rPr>
              <a:t>args</a:t>
            </a:r>
            <a:r>
              <a:rPr lang="en-IN" sz="2800" dirty="0">
                <a:solidFill>
                  <a:schemeClr val="bg1"/>
                </a:solidFill>
              </a:rPr>
              <a:t>[]){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Bank </a:t>
            </a:r>
            <a:r>
              <a:rPr lang="en-IN" sz="2800" dirty="0" err="1">
                <a:solidFill>
                  <a:schemeClr val="bg1"/>
                </a:solidFill>
              </a:rPr>
              <a:t>sbiObj</a:t>
            </a:r>
            <a:r>
              <a:rPr lang="en-IN" sz="2800" dirty="0">
                <a:solidFill>
                  <a:schemeClr val="bg1"/>
                </a:solidFill>
              </a:rPr>
              <a:t>=new SBI();  </a:t>
            </a:r>
          </a:p>
          <a:p>
            <a:pPr algn="just">
              <a:lnSpc>
                <a:spcPct val="150000"/>
              </a:lnSpc>
            </a:pPr>
            <a:r>
              <a:rPr lang="en-IN" sz="2800" dirty="0" err="1">
                <a:solidFill>
                  <a:schemeClr val="bg1"/>
                </a:solidFill>
              </a:rPr>
              <a:t>System.out.println</a:t>
            </a:r>
            <a:r>
              <a:rPr lang="en-IN" sz="2800" dirty="0">
                <a:solidFill>
                  <a:schemeClr val="bg1"/>
                </a:solidFill>
              </a:rPr>
              <a:t>(</a:t>
            </a:r>
            <a:r>
              <a:rPr lang="en-IN" sz="2800" dirty="0" err="1">
                <a:solidFill>
                  <a:schemeClr val="bg1"/>
                </a:solidFill>
              </a:rPr>
              <a:t>sbiObj.getRateOfInterest</a:t>
            </a:r>
            <a:r>
              <a:rPr lang="en-IN" sz="2800" dirty="0">
                <a:solidFill>
                  <a:schemeClr val="bg1"/>
                </a:solidFill>
              </a:rPr>
              <a:t>());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Bank </a:t>
            </a:r>
            <a:r>
              <a:rPr lang="en-IN" sz="2800" dirty="0" err="1">
                <a:solidFill>
                  <a:schemeClr val="bg1"/>
                </a:solidFill>
              </a:rPr>
              <a:t>pnbObj</a:t>
            </a:r>
            <a:r>
              <a:rPr lang="en-IN" sz="2800" dirty="0">
                <a:solidFill>
                  <a:schemeClr val="bg1"/>
                </a:solidFill>
              </a:rPr>
              <a:t>=new PNB();  </a:t>
            </a:r>
          </a:p>
          <a:p>
            <a:pPr algn="just">
              <a:lnSpc>
                <a:spcPct val="150000"/>
              </a:lnSpc>
            </a:pPr>
            <a:r>
              <a:rPr lang="en-IN" sz="2800" dirty="0" err="1">
                <a:solidFill>
                  <a:schemeClr val="bg1"/>
                </a:solidFill>
              </a:rPr>
              <a:t>System.out.println</a:t>
            </a:r>
            <a:r>
              <a:rPr lang="en-IN" sz="2800" dirty="0">
                <a:solidFill>
                  <a:schemeClr val="bg1"/>
                </a:solidFill>
              </a:rPr>
              <a:t>(</a:t>
            </a:r>
            <a:r>
              <a:rPr lang="en-IN" sz="2800" dirty="0" err="1">
                <a:solidFill>
                  <a:schemeClr val="bg1"/>
                </a:solidFill>
              </a:rPr>
              <a:t>pnbObj.getRateOfInterest</a:t>
            </a:r>
            <a:r>
              <a:rPr lang="en-IN" sz="2800" dirty="0">
                <a:solidFill>
                  <a:schemeClr val="bg1"/>
                </a:solidFill>
              </a:rPr>
              <a:t>());    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}}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6947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61496" y="1179436"/>
            <a:ext cx="996514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C000"/>
                </a:solidFill>
              </a:rPr>
              <a:t>abstract</a:t>
            </a:r>
            <a:r>
              <a:rPr lang="en-IN" sz="2400" dirty="0">
                <a:solidFill>
                  <a:schemeClr val="bg1"/>
                </a:solidFill>
              </a:rPr>
              <a:t> class </a:t>
            </a:r>
            <a:r>
              <a:rPr lang="en-IN" sz="2400" dirty="0">
                <a:solidFill>
                  <a:srgbClr val="FFC000"/>
                </a:solidFill>
              </a:rPr>
              <a:t>Base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Base() </a:t>
            </a:r>
            <a:r>
              <a:rPr lang="en-IN" sz="2400" dirty="0">
                <a:solidFill>
                  <a:schemeClr val="bg1"/>
                </a:solidFill>
              </a:rPr>
              <a:t>{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("Base Constructor Called");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abstract void fun();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r>
              <a:rPr lang="en-IN" sz="2400" dirty="0">
                <a:solidFill>
                  <a:schemeClr val="bg1"/>
                </a:solidFill>
              </a:rPr>
              <a:t>class Derived extends </a:t>
            </a:r>
            <a:r>
              <a:rPr lang="en-IN" sz="2400" dirty="0">
                <a:solidFill>
                  <a:srgbClr val="FFC000"/>
                </a:solidFill>
              </a:rPr>
              <a:t>Base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Derived() {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("Derived Constructor Called");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void fun() {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("Derived fun() called");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r>
              <a:rPr lang="en-IN" sz="2400" dirty="0">
                <a:solidFill>
                  <a:schemeClr val="bg1"/>
                </a:solidFill>
              </a:rPr>
              <a:t>class Main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 {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Derived d = new Derived();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0185" y="5611418"/>
            <a:ext cx="104268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an </a:t>
            </a:r>
            <a:r>
              <a:rPr lang="en-IN" sz="2400" dirty="0">
                <a:solidFill>
                  <a:srgbClr val="FFC000"/>
                </a:solidFill>
              </a:rPr>
              <a:t>abstract class can contain constructors </a:t>
            </a:r>
            <a:r>
              <a:rPr lang="en-IN" sz="2400" dirty="0">
                <a:solidFill>
                  <a:schemeClr val="bg1"/>
                </a:solidFill>
              </a:rPr>
              <a:t>in Java. And a constructor of abstract class is called when an instance of a inherited class is created.</a:t>
            </a:r>
          </a:p>
        </p:txBody>
      </p:sp>
    </p:spTree>
    <p:extLst>
      <p:ext uri="{BB962C8B-B14F-4D97-AF65-F5344CB8AC3E}">
        <p14:creationId xmlns:p14="http://schemas.microsoft.com/office/powerpoint/2010/main" val="221340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73288" y="1280068"/>
            <a:ext cx="900297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1. Design a class </a:t>
            </a:r>
            <a:r>
              <a:rPr lang="en-IN" sz="2400" dirty="0" err="1">
                <a:solidFill>
                  <a:schemeClr val="bg1"/>
                </a:solidFill>
              </a:rPr>
              <a:t>Acoount</a:t>
            </a:r>
            <a:r>
              <a:rPr lang="en-IN" sz="2400" dirty="0">
                <a:solidFill>
                  <a:schemeClr val="bg1"/>
                </a:solidFill>
              </a:rPr>
              <a:t> and Database for a bank. 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The Account class should support the following operations:</a:t>
            </a:r>
          </a:p>
          <a:p>
            <a:r>
              <a:rPr lang="en-IN" sz="2400" dirty="0">
                <a:solidFill>
                  <a:schemeClr val="bg1"/>
                </a:solidFill>
              </a:rPr>
              <a:t>	1. Manage </a:t>
            </a:r>
            <a:r>
              <a:rPr lang="en-IN" sz="2400" dirty="0" err="1">
                <a:solidFill>
                  <a:schemeClr val="bg1"/>
                </a:solidFill>
              </a:rPr>
              <a:t>Acoount</a:t>
            </a:r>
            <a:r>
              <a:rPr lang="en-IN" sz="2400" dirty="0">
                <a:solidFill>
                  <a:schemeClr val="bg1"/>
                </a:solidFill>
              </a:rPr>
              <a:t> Information(i.e., </a:t>
            </a:r>
            <a:r>
              <a:rPr lang="en-IN" sz="2400" dirty="0" err="1">
                <a:solidFill>
                  <a:schemeClr val="bg1"/>
                </a:solidFill>
              </a:rPr>
              <a:t>Acoount</a:t>
            </a:r>
            <a:r>
              <a:rPr lang="en-IN" sz="2400" dirty="0">
                <a:solidFill>
                  <a:schemeClr val="bg1"/>
                </a:solidFill>
              </a:rPr>
              <a:t> Number)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The Database class should support the following operations: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	1. deposit a certain amount into an account</a:t>
            </a:r>
          </a:p>
          <a:p>
            <a:r>
              <a:rPr lang="en-IN" sz="2400" dirty="0">
                <a:solidFill>
                  <a:schemeClr val="bg1"/>
                </a:solidFill>
              </a:rPr>
              <a:t>	2. withdraw a certain amount from an account</a:t>
            </a:r>
          </a:p>
          <a:p>
            <a:r>
              <a:rPr lang="en-IN" sz="2400" dirty="0">
                <a:solidFill>
                  <a:schemeClr val="bg1"/>
                </a:solidFill>
              </a:rPr>
              <a:t>	3. get the balance (i.e., the current amount) in an account</a:t>
            </a:r>
          </a:p>
          <a:p>
            <a:r>
              <a:rPr lang="en-IN" sz="2400" dirty="0">
                <a:solidFill>
                  <a:schemeClr val="bg1"/>
                </a:solidFill>
              </a:rPr>
              <a:t>	4. transfer an amount from one account to another</a:t>
            </a:r>
          </a:p>
        </p:txBody>
      </p:sp>
    </p:spTree>
    <p:extLst>
      <p:ext uri="{BB962C8B-B14F-4D97-AF65-F5344CB8AC3E}">
        <p14:creationId xmlns:p14="http://schemas.microsoft.com/office/powerpoint/2010/main" val="108820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2913" y="1138492"/>
            <a:ext cx="1150051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//Filename: Account.java</a:t>
            </a:r>
          </a:p>
          <a:p>
            <a:r>
              <a:rPr lang="en-IN" sz="2400" dirty="0">
                <a:solidFill>
                  <a:srgbClr val="FFC000"/>
                </a:solidFill>
              </a:rPr>
              <a:t>public class Account {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//Filename: Database.java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</a:t>
            </a:r>
            <a:r>
              <a:rPr lang="en-IN" sz="2400" dirty="0">
                <a:solidFill>
                  <a:srgbClr val="FFC000"/>
                </a:solidFill>
              </a:rPr>
              <a:t>abstract</a:t>
            </a:r>
            <a:r>
              <a:rPr lang="en-IN" sz="2400" dirty="0">
                <a:solidFill>
                  <a:schemeClr val="bg1"/>
                </a:solidFill>
              </a:rPr>
              <a:t> class </a:t>
            </a:r>
            <a:r>
              <a:rPr lang="en-IN" sz="2400" dirty="0">
                <a:solidFill>
                  <a:srgbClr val="FFC000"/>
                </a:solidFill>
              </a:rPr>
              <a:t>Database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</a:t>
            </a:r>
            <a:r>
              <a:rPr lang="en-IN" sz="2400" dirty="0">
                <a:solidFill>
                  <a:srgbClr val="FFC000"/>
                </a:solidFill>
              </a:rPr>
              <a:t>abstract</a:t>
            </a:r>
            <a:r>
              <a:rPr lang="en-IN" sz="2400" dirty="0">
                <a:solidFill>
                  <a:schemeClr val="bg1"/>
                </a:solidFill>
              </a:rPr>
              <a:t> void </a:t>
            </a:r>
            <a:r>
              <a:rPr lang="en-IN" sz="2400" dirty="0">
                <a:solidFill>
                  <a:srgbClr val="FFC000"/>
                </a:solidFill>
              </a:rPr>
              <a:t>deposit</a:t>
            </a:r>
            <a:r>
              <a:rPr lang="en-IN" sz="2400" dirty="0">
                <a:solidFill>
                  <a:schemeClr val="bg1"/>
                </a:solidFill>
              </a:rPr>
              <a:t>(Account </a:t>
            </a:r>
            <a:r>
              <a:rPr lang="en-IN" sz="2400" dirty="0" err="1">
                <a:solidFill>
                  <a:schemeClr val="bg1"/>
                </a:solidFill>
              </a:rPr>
              <a:t>acc</a:t>
            </a:r>
            <a:r>
              <a:rPr lang="en-IN" sz="2400" dirty="0">
                <a:solidFill>
                  <a:schemeClr val="bg1"/>
                </a:solidFill>
              </a:rPr>
              <a:t>, double amount);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</a:t>
            </a:r>
            <a:r>
              <a:rPr lang="en-IN" sz="2400" dirty="0">
                <a:solidFill>
                  <a:srgbClr val="FFC000"/>
                </a:solidFill>
              </a:rPr>
              <a:t>abstract</a:t>
            </a:r>
            <a:r>
              <a:rPr lang="en-IN" sz="2400" dirty="0">
                <a:solidFill>
                  <a:schemeClr val="bg1"/>
                </a:solidFill>
              </a:rPr>
              <a:t> void </a:t>
            </a:r>
            <a:r>
              <a:rPr lang="en-IN" sz="2400" dirty="0">
                <a:solidFill>
                  <a:srgbClr val="FFC000"/>
                </a:solidFill>
              </a:rPr>
              <a:t>withdraw</a:t>
            </a:r>
            <a:r>
              <a:rPr lang="en-IN" sz="2400" dirty="0">
                <a:solidFill>
                  <a:schemeClr val="bg1"/>
                </a:solidFill>
              </a:rPr>
              <a:t>(Account </a:t>
            </a:r>
            <a:r>
              <a:rPr lang="en-IN" sz="2400" dirty="0" err="1">
                <a:solidFill>
                  <a:schemeClr val="bg1"/>
                </a:solidFill>
              </a:rPr>
              <a:t>acc</a:t>
            </a:r>
            <a:r>
              <a:rPr lang="en-IN" sz="2400" dirty="0">
                <a:solidFill>
                  <a:schemeClr val="bg1"/>
                </a:solidFill>
              </a:rPr>
              <a:t>, double amount);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protected </a:t>
            </a:r>
            <a:r>
              <a:rPr lang="en-IN" sz="2400" dirty="0">
                <a:solidFill>
                  <a:srgbClr val="FFC000"/>
                </a:solidFill>
              </a:rPr>
              <a:t>abstract</a:t>
            </a:r>
            <a:r>
              <a:rPr lang="en-IN" sz="2400" dirty="0">
                <a:solidFill>
                  <a:schemeClr val="bg1"/>
                </a:solidFill>
              </a:rPr>
              <a:t> double </a:t>
            </a:r>
            <a:r>
              <a:rPr lang="en-IN" sz="2400" dirty="0">
                <a:solidFill>
                  <a:srgbClr val="FFC000"/>
                </a:solidFill>
              </a:rPr>
              <a:t>amount</a:t>
            </a:r>
            <a:r>
              <a:rPr lang="en-IN" sz="2400" dirty="0">
                <a:solidFill>
                  <a:schemeClr val="bg1"/>
                </a:solidFill>
              </a:rPr>
              <a:t>(Account </a:t>
            </a:r>
            <a:r>
              <a:rPr lang="en-IN" sz="2400" dirty="0" err="1">
                <a:solidFill>
                  <a:schemeClr val="bg1"/>
                </a:solidFill>
              </a:rPr>
              <a:t>acc</a:t>
            </a:r>
            <a:r>
              <a:rPr lang="en-IN" sz="2400" dirty="0">
                <a:solidFill>
                  <a:schemeClr val="bg1"/>
                </a:solidFill>
              </a:rPr>
              <a:t>);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final void </a:t>
            </a:r>
            <a:r>
              <a:rPr lang="en-IN" sz="2400" dirty="0">
                <a:solidFill>
                  <a:srgbClr val="FFC000"/>
                </a:solidFill>
              </a:rPr>
              <a:t>transfer</a:t>
            </a:r>
            <a:r>
              <a:rPr lang="en-IN" sz="2400" dirty="0">
                <a:solidFill>
                  <a:schemeClr val="bg1"/>
                </a:solidFill>
              </a:rPr>
              <a:t> (Account from, Account to, double amount)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	 withdraw(from, amount);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	 deposit(to, amount);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} }</a:t>
            </a:r>
          </a:p>
        </p:txBody>
      </p:sp>
    </p:spTree>
    <p:extLst>
      <p:ext uri="{BB962C8B-B14F-4D97-AF65-F5344CB8AC3E}">
        <p14:creationId xmlns:p14="http://schemas.microsoft.com/office/powerpoint/2010/main" val="207518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2913" y="1138492"/>
            <a:ext cx="1150051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Which one of the following class declarations is a valid declaration of a class that cannot be instantiated?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(a) class Ghost { abstract void haunt();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(b) abstract class Ghost { void haunt();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(c) abstract class Ghost { void haunt() {};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(d) abstract Ghost { abstract void haunt();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(e) static class Ghost { abstract haunt(); }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C000"/>
                </a:solidFill>
              </a:rPr>
              <a:t>ANS: (c)</a:t>
            </a:r>
          </a:p>
        </p:txBody>
      </p:sp>
    </p:spTree>
    <p:extLst>
      <p:ext uri="{BB962C8B-B14F-4D97-AF65-F5344CB8AC3E}">
        <p14:creationId xmlns:p14="http://schemas.microsoft.com/office/powerpoint/2010/main" val="291973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2913" y="1138492"/>
            <a:ext cx="11500515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Which one of the following class declarations is a valid declaration of a class that cannot be extended?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(a) class Link {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(b) abstract class Link {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(c) native class Link {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(d) static class Link {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(e) final class Link {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(f) private class Link {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(g) abstract final class Link { }</a:t>
            </a:r>
          </a:p>
          <a:p>
            <a:r>
              <a:rPr lang="en-IN" sz="2400" b="1" dirty="0">
                <a:solidFill>
                  <a:srgbClr val="FFC000"/>
                </a:solidFill>
              </a:rPr>
              <a:t>ANS: (e)</a:t>
            </a:r>
          </a:p>
        </p:txBody>
      </p:sp>
    </p:spTree>
    <p:extLst>
      <p:ext uri="{BB962C8B-B14F-4D97-AF65-F5344CB8AC3E}">
        <p14:creationId xmlns:p14="http://schemas.microsoft.com/office/powerpoint/2010/main" val="182435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-95539"/>
            <a:ext cx="6754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Class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6823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9184" y="647168"/>
            <a:ext cx="1208281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Given the following source code, which comment line can be uncommented without</a:t>
            </a:r>
          </a:p>
          <a:p>
            <a:r>
              <a:rPr lang="en-IN" sz="2400" dirty="0">
                <a:solidFill>
                  <a:schemeClr val="bg1"/>
                </a:solidFill>
              </a:rPr>
              <a:t>introducing errors?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abstract class </a:t>
            </a:r>
            <a:r>
              <a:rPr lang="en-IN" sz="2400" dirty="0" err="1">
                <a:solidFill>
                  <a:schemeClr val="bg1"/>
                </a:solidFill>
              </a:rPr>
              <a:t>MyClass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abstract void f();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final void g() {}</a:t>
            </a:r>
          </a:p>
          <a:p>
            <a:r>
              <a:rPr lang="en-IN" sz="2400" dirty="0">
                <a:solidFill>
                  <a:srgbClr val="FFC000"/>
                </a:solidFill>
              </a:rPr>
              <a:t>//final void h() {} // (1)</a:t>
            </a:r>
          </a:p>
          <a:p>
            <a:r>
              <a:rPr lang="en-IN" sz="2400" dirty="0">
                <a:solidFill>
                  <a:schemeClr val="bg1"/>
                </a:solidFill>
              </a:rPr>
              <a:t>protected static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  <a:p>
            <a:r>
              <a:rPr lang="en-IN" sz="2400" dirty="0">
                <a:solidFill>
                  <a:schemeClr val="bg1"/>
                </a:solidFill>
              </a:rPr>
              <a:t>private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j;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r>
              <a:rPr lang="en-IN" sz="2400" dirty="0">
                <a:solidFill>
                  <a:schemeClr val="bg1"/>
                </a:solidFill>
              </a:rPr>
              <a:t>final class </a:t>
            </a:r>
            <a:r>
              <a:rPr lang="en-IN" sz="2400" dirty="0" err="1">
                <a:solidFill>
                  <a:schemeClr val="bg1"/>
                </a:solidFill>
              </a:rPr>
              <a:t>MyOtherClass</a:t>
            </a:r>
            <a:r>
              <a:rPr lang="en-IN" sz="2400" dirty="0">
                <a:solidFill>
                  <a:schemeClr val="bg1"/>
                </a:solidFill>
              </a:rPr>
              <a:t> extends </a:t>
            </a:r>
            <a:r>
              <a:rPr lang="en-IN" sz="2400" dirty="0" err="1">
                <a:solidFill>
                  <a:schemeClr val="bg1"/>
                </a:solidFill>
              </a:rPr>
              <a:t>MyClass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rgbClr val="FFC000"/>
                </a:solidFill>
              </a:rPr>
              <a:t>//</a:t>
            </a:r>
            <a:r>
              <a:rPr lang="en-IN" sz="2400" dirty="0" err="1">
                <a:solidFill>
                  <a:srgbClr val="FFC000"/>
                </a:solidFill>
              </a:rPr>
              <a:t>MyOtherClass</a:t>
            </a:r>
            <a:r>
              <a:rPr lang="en-IN" sz="2400" dirty="0">
                <a:solidFill>
                  <a:srgbClr val="FFC000"/>
                </a:solidFill>
              </a:rPr>
              <a:t>(</a:t>
            </a:r>
            <a:r>
              <a:rPr lang="en-IN" sz="2400" dirty="0" err="1">
                <a:solidFill>
                  <a:srgbClr val="FFC000"/>
                </a:solidFill>
              </a:rPr>
              <a:t>int</a:t>
            </a:r>
            <a:r>
              <a:rPr lang="en-IN" sz="2400" dirty="0">
                <a:solidFill>
                  <a:srgbClr val="FFC000"/>
                </a:solidFill>
              </a:rPr>
              <a:t> n) { m = n; } // (2)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 err="1">
                <a:solidFill>
                  <a:schemeClr val="bg1"/>
                </a:solidFill>
              </a:rPr>
              <a:t>MyClass</a:t>
            </a:r>
            <a:r>
              <a:rPr lang="en-IN" sz="2400" dirty="0">
                <a:solidFill>
                  <a:schemeClr val="bg1"/>
                </a:solidFill>
              </a:rPr>
              <a:t> mc = new </a:t>
            </a:r>
            <a:r>
              <a:rPr lang="en-IN" sz="2400" dirty="0" err="1">
                <a:solidFill>
                  <a:schemeClr val="bg1"/>
                </a:solidFill>
              </a:rPr>
              <a:t>MyOtherClass</a:t>
            </a:r>
            <a:r>
              <a:rPr lang="en-IN" sz="24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6462214" y="2011949"/>
            <a:ext cx="53840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void f() {}</a:t>
            </a:r>
          </a:p>
          <a:p>
            <a:r>
              <a:rPr lang="en-IN" sz="2400" dirty="0">
                <a:solidFill>
                  <a:schemeClr val="bg1"/>
                </a:solidFill>
              </a:rPr>
              <a:t>void h() {}</a:t>
            </a:r>
          </a:p>
          <a:p>
            <a:r>
              <a:rPr lang="en-IN" sz="2400" dirty="0">
                <a:solidFill>
                  <a:srgbClr val="FFC000"/>
                </a:solidFill>
              </a:rPr>
              <a:t>//void k() { </a:t>
            </a:r>
            <a:r>
              <a:rPr lang="en-IN" sz="2400" dirty="0" err="1">
                <a:solidFill>
                  <a:srgbClr val="FFC000"/>
                </a:solidFill>
              </a:rPr>
              <a:t>i</a:t>
            </a:r>
            <a:r>
              <a:rPr lang="en-IN" sz="2400" dirty="0">
                <a:solidFill>
                  <a:srgbClr val="FFC000"/>
                </a:solidFill>
              </a:rPr>
              <a:t>++; } // (3)</a:t>
            </a:r>
          </a:p>
          <a:p>
            <a:r>
              <a:rPr lang="en-IN" sz="2400" dirty="0">
                <a:solidFill>
                  <a:srgbClr val="FFC000"/>
                </a:solidFill>
              </a:rPr>
              <a:t>//void l() { </a:t>
            </a:r>
            <a:r>
              <a:rPr lang="en-IN" sz="2400" dirty="0" err="1">
                <a:solidFill>
                  <a:srgbClr val="FFC000"/>
                </a:solidFill>
              </a:rPr>
              <a:t>j++</a:t>
            </a:r>
            <a:r>
              <a:rPr lang="en-IN" sz="2400" dirty="0">
                <a:solidFill>
                  <a:srgbClr val="FFC000"/>
                </a:solidFill>
              </a:rPr>
              <a:t>; } // (4)</a:t>
            </a:r>
          </a:p>
          <a:p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m;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(a) (1)</a:t>
            </a:r>
          </a:p>
          <a:p>
            <a:r>
              <a:rPr lang="en-IN" sz="2400" dirty="0">
                <a:solidFill>
                  <a:schemeClr val="bg1"/>
                </a:solidFill>
              </a:rPr>
              <a:t>(b) (2)</a:t>
            </a:r>
          </a:p>
          <a:p>
            <a:r>
              <a:rPr lang="en-IN" sz="2400" dirty="0">
                <a:solidFill>
                  <a:schemeClr val="bg1"/>
                </a:solidFill>
              </a:rPr>
              <a:t>(c) (3)</a:t>
            </a:r>
          </a:p>
          <a:p>
            <a:r>
              <a:rPr lang="en-IN" sz="2400" dirty="0">
                <a:solidFill>
                  <a:schemeClr val="bg1"/>
                </a:solidFill>
              </a:rPr>
              <a:t>(d) (4)</a:t>
            </a:r>
          </a:p>
          <a:p>
            <a:r>
              <a:rPr lang="en-IN" sz="2400" dirty="0">
                <a:solidFill>
                  <a:srgbClr val="FFC000"/>
                </a:solidFill>
              </a:rPr>
              <a:t>ANS: (c)</a:t>
            </a:r>
          </a:p>
        </p:txBody>
      </p:sp>
    </p:spTree>
    <p:extLst>
      <p:ext uri="{BB962C8B-B14F-4D97-AF65-F5344CB8AC3E}">
        <p14:creationId xmlns:p14="http://schemas.microsoft.com/office/powerpoint/2010/main" val="102557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74121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Abstract </a:t>
            </a:r>
            <a:r>
              <a:rPr lang="en-IN" sz="6000" dirty="0" smtClean="0">
                <a:solidFill>
                  <a:schemeClr val="bg1"/>
                </a:solidFill>
              </a:rPr>
              <a:t>Class: Exercise</a:t>
            </a:r>
            <a:endParaRPr lang="en-IN" sz="60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73288" y="1280068"/>
            <a:ext cx="1099223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Imagine an e-commerce system that supports different ways to pay: credit cards, </a:t>
            </a:r>
            <a:r>
              <a:rPr lang="en-US" sz="2800" dirty="0" smtClean="0">
                <a:solidFill>
                  <a:schemeClr val="bg1"/>
                </a:solidFill>
              </a:rPr>
              <a:t>PayPal etc</a:t>
            </a:r>
            <a:r>
              <a:rPr lang="en-US" sz="2800" dirty="0">
                <a:solidFill>
                  <a:schemeClr val="bg1"/>
                </a:solidFill>
              </a:rPr>
              <a:t>. All payment methods must: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Collect payment details</a:t>
            </a:r>
            <a:endParaRPr lang="en-US" sz="2800" dirty="0">
              <a:solidFill>
                <a:schemeClr val="bg1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Validate those details</a:t>
            </a:r>
            <a:endParaRPr lang="en-US" sz="2800" dirty="0">
              <a:solidFill>
                <a:schemeClr val="bg1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Process the transaction</a:t>
            </a:r>
            <a:endParaRPr lang="en-US" sz="2800" dirty="0">
              <a:solidFill>
                <a:schemeClr val="bg1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Generate a </a:t>
            </a:r>
            <a:r>
              <a:rPr lang="en-US" sz="2800" b="1" dirty="0" smtClean="0">
                <a:solidFill>
                  <a:schemeClr val="bg1"/>
                </a:solidFill>
              </a:rPr>
              <a:t>receipt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77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726" y="234430"/>
            <a:ext cx="1191490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</a:t>
            </a:r>
            <a:r>
              <a:rPr lang="en-US" sz="2400" b="1" dirty="0">
                <a:solidFill>
                  <a:srgbClr val="FFC000"/>
                </a:solidFill>
              </a:rPr>
              <a:t>abstract</a:t>
            </a:r>
            <a:r>
              <a:rPr lang="en-US" sz="2400" dirty="0">
                <a:solidFill>
                  <a:schemeClr val="bg1"/>
                </a:solidFill>
              </a:rPr>
              <a:t> class </a:t>
            </a:r>
            <a:r>
              <a:rPr lang="en-US" sz="2400" b="1" dirty="0" err="1">
                <a:solidFill>
                  <a:srgbClr val="FFC000"/>
                </a:solidFill>
              </a:rPr>
              <a:t>PaymentMethod</a:t>
            </a:r>
            <a:r>
              <a:rPr lang="en-US" sz="2400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String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</a:t>
            </a:r>
            <a:r>
              <a:rPr lang="en-US" sz="2400" dirty="0" err="1">
                <a:solidFill>
                  <a:schemeClr val="bg1"/>
                </a:solidFill>
              </a:rPr>
              <a:t>PaymentMethod</a:t>
            </a:r>
            <a:r>
              <a:rPr lang="en-US" sz="2400" dirty="0">
                <a:solidFill>
                  <a:schemeClr val="bg1"/>
                </a:solidFill>
              </a:rPr>
              <a:t>(String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this.orderId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// 1. Collect and store details—common behavior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void </a:t>
            </a:r>
            <a:r>
              <a:rPr lang="en-US" sz="2400" dirty="0" err="1">
                <a:solidFill>
                  <a:schemeClr val="bg1"/>
                </a:solidFill>
              </a:rPr>
              <a:t>collectDetails</a:t>
            </a:r>
            <a:r>
              <a:rPr lang="en-US" sz="2400" dirty="0">
                <a:solidFill>
                  <a:schemeClr val="bg1"/>
                </a:solidFill>
              </a:rPr>
              <a:t>() </a:t>
            </a:r>
            <a:r>
              <a:rPr lang="en-US" sz="2400" dirty="0" smtClean="0">
                <a:solidFill>
                  <a:schemeClr val="bg1"/>
                </a:solidFill>
              </a:rPr>
              <a:t>{  </a:t>
            </a:r>
            <a:r>
              <a:rPr lang="en-US" sz="2400" dirty="0" err="1" smtClean="0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("Collecting details for order: " +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 smtClean="0">
                <a:solidFill>
                  <a:schemeClr val="bg1"/>
                </a:solidFill>
              </a:rPr>
              <a:t>);  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 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// </a:t>
            </a:r>
            <a:r>
              <a:rPr lang="en-US" sz="2400" dirty="0">
                <a:solidFill>
                  <a:schemeClr val="bg1"/>
                </a:solidFill>
              </a:rPr>
              <a:t>2. Validate details—every method must implement its own rules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protected abstract </a:t>
            </a:r>
            <a:r>
              <a:rPr lang="en-US" sz="2400" dirty="0" err="1">
                <a:solidFill>
                  <a:schemeClr val="bg1"/>
                </a:solidFill>
              </a:rPr>
              <a:t>boolean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validateDetails</a:t>
            </a:r>
            <a:r>
              <a:rPr lang="en-US" sz="2400" dirty="0">
                <a:solidFill>
                  <a:schemeClr val="bg1"/>
                </a:solidFill>
              </a:rPr>
              <a:t>();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// 3. Process payment—each subclass defines how to talk to the gateway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abstract Receipt </a:t>
            </a:r>
            <a:r>
              <a:rPr lang="en-US" sz="2400" dirty="0" err="1">
                <a:solidFill>
                  <a:schemeClr val="bg1"/>
                </a:solidFill>
              </a:rPr>
              <a:t>processPayment</a:t>
            </a:r>
            <a:r>
              <a:rPr lang="en-US" sz="2400" dirty="0">
                <a:solidFill>
                  <a:schemeClr val="bg1"/>
                </a:solidFill>
              </a:rPr>
              <a:t>(double amount);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// 4. Generate receipt—common behavior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Receipt </a:t>
            </a:r>
            <a:r>
              <a:rPr lang="en-US" sz="2400" dirty="0" err="1">
                <a:solidFill>
                  <a:schemeClr val="bg1"/>
                </a:solidFill>
              </a:rPr>
              <a:t>generateReceipt</a:t>
            </a:r>
            <a:r>
              <a:rPr lang="en-US" sz="2400" dirty="0">
                <a:solidFill>
                  <a:schemeClr val="bg1"/>
                </a:solidFill>
              </a:rPr>
              <a:t>(double amount, String status)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new Receipt(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, amount, status, </a:t>
            </a:r>
            <a:r>
              <a:rPr lang="en-US" sz="2400" dirty="0" err="1">
                <a:solidFill>
                  <a:schemeClr val="bg1"/>
                </a:solidFill>
              </a:rPr>
              <a:t>LocalDateTime.now</a:t>
            </a:r>
            <a:r>
              <a:rPr lang="en-US" sz="2400" dirty="0">
                <a:solidFill>
                  <a:schemeClr val="bg1"/>
                </a:solidFill>
              </a:rPr>
              <a:t>());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smtClean="0">
                <a:solidFill>
                  <a:schemeClr val="bg1"/>
                </a:solidFill>
              </a:rPr>
              <a:t>}}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1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1" y="114358"/>
            <a:ext cx="11914909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class </a:t>
            </a:r>
            <a:r>
              <a:rPr lang="en-US" sz="2400" dirty="0" err="1">
                <a:solidFill>
                  <a:schemeClr val="bg1"/>
                </a:solidFill>
              </a:rPr>
              <a:t>CreditCardPayment</a:t>
            </a:r>
            <a:r>
              <a:rPr lang="en-US" sz="2400" dirty="0">
                <a:solidFill>
                  <a:schemeClr val="bg1"/>
                </a:solidFill>
              </a:rPr>
              <a:t> extends </a:t>
            </a:r>
            <a:r>
              <a:rPr lang="en-US" sz="2400" dirty="0" err="1">
                <a:solidFill>
                  <a:schemeClr val="bg1"/>
                </a:solidFill>
              </a:rPr>
              <a:t>PaymentMethod</a:t>
            </a:r>
            <a:r>
              <a:rPr lang="en-US" sz="2400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String </a:t>
            </a:r>
            <a:r>
              <a:rPr lang="en-US" sz="2400" dirty="0" err="1">
                <a:solidFill>
                  <a:schemeClr val="bg1"/>
                </a:solidFill>
              </a:rPr>
              <a:t>cardNumber</a:t>
            </a:r>
            <a:r>
              <a:rPr lang="en-US" sz="2400" dirty="0">
                <a:solidFill>
                  <a:schemeClr val="bg1"/>
                </a:solidFill>
              </a:rPr>
              <a:t>, expiry, </a:t>
            </a:r>
            <a:r>
              <a:rPr lang="en-US" sz="2400" dirty="0" err="1">
                <a:solidFill>
                  <a:schemeClr val="bg1"/>
                </a:solidFill>
              </a:rPr>
              <a:t>cvv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</a:t>
            </a:r>
            <a:r>
              <a:rPr lang="en-US" sz="2400" dirty="0" err="1">
                <a:solidFill>
                  <a:schemeClr val="bg1"/>
                </a:solidFill>
              </a:rPr>
              <a:t>CreditCardPayment</a:t>
            </a:r>
            <a:r>
              <a:rPr lang="en-US" sz="2400" dirty="0">
                <a:solidFill>
                  <a:schemeClr val="bg1"/>
                </a:solidFill>
              </a:rPr>
              <a:t>(String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, String </a:t>
            </a:r>
            <a:r>
              <a:rPr lang="en-US" sz="2400" dirty="0" err="1">
                <a:solidFill>
                  <a:schemeClr val="bg1"/>
                </a:solidFill>
              </a:rPr>
              <a:t>cardNumber</a:t>
            </a:r>
            <a:r>
              <a:rPr lang="en-US" sz="2400" dirty="0">
                <a:solidFill>
                  <a:schemeClr val="bg1"/>
                </a:solidFill>
              </a:rPr>
              <a:t>, String expiry, String </a:t>
            </a:r>
            <a:r>
              <a:rPr lang="en-US" sz="2400" dirty="0" err="1">
                <a:solidFill>
                  <a:schemeClr val="bg1"/>
                </a:solidFill>
              </a:rPr>
              <a:t>cvv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super(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this.cardNumber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cardNumber</a:t>
            </a:r>
            <a:r>
              <a:rPr lang="en-US" sz="2400" dirty="0">
                <a:solidFill>
                  <a:schemeClr val="bg1"/>
                </a:solidFill>
              </a:rPr>
              <a:t>;   </a:t>
            </a:r>
            <a:r>
              <a:rPr lang="en-US" sz="2400" dirty="0" smtClean="0">
                <a:solidFill>
                  <a:schemeClr val="bg1"/>
                </a:solidFill>
              </a:rPr>
              <a:t>    </a:t>
            </a:r>
            <a:r>
              <a:rPr lang="en-US" sz="2400" dirty="0" err="1">
                <a:solidFill>
                  <a:schemeClr val="bg1"/>
                </a:solidFill>
              </a:rPr>
              <a:t>this.expiry</a:t>
            </a:r>
            <a:r>
              <a:rPr lang="en-US" sz="2400" dirty="0">
                <a:solidFill>
                  <a:schemeClr val="bg1"/>
                </a:solidFill>
              </a:rPr>
              <a:t> = expiry</a:t>
            </a:r>
            <a:r>
              <a:rPr lang="en-US" sz="2400" dirty="0" smtClean="0">
                <a:solidFill>
                  <a:schemeClr val="bg1"/>
                </a:solidFill>
              </a:rPr>
              <a:t>;       </a:t>
            </a:r>
            <a:r>
              <a:rPr lang="en-US" sz="2400" dirty="0" err="1">
                <a:solidFill>
                  <a:schemeClr val="bg1"/>
                </a:solidFill>
              </a:rPr>
              <a:t>this.cvv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cvv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protected </a:t>
            </a:r>
            <a:r>
              <a:rPr lang="en-US" sz="2400" dirty="0" err="1">
                <a:solidFill>
                  <a:schemeClr val="bg1"/>
                </a:solidFill>
              </a:rPr>
              <a:t>boolean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validateDetails</a:t>
            </a:r>
            <a:r>
              <a:rPr lang="en-US" sz="2400" dirty="0">
                <a:solidFill>
                  <a:schemeClr val="bg1"/>
                </a:solidFill>
              </a:rPr>
              <a:t>()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</a:t>
            </a:r>
            <a:r>
              <a:rPr lang="en-US" sz="2400" dirty="0" err="1">
                <a:solidFill>
                  <a:schemeClr val="bg1"/>
                </a:solidFill>
              </a:rPr>
              <a:t>cardNumber.matches</a:t>
            </a:r>
            <a:r>
              <a:rPr lang="en-US" sz="2400" dirty="0">
                <a:solidFill>
                  <a:schemeClr val="bg1"/>
                </a:solidFill>
              </a:rPr>
              <a:t>("\\d{16}") &amp;&amp; </a:t>
            </a:r>
            <a:r>
              <a:rPr lang="en-US" sz="2400" dirty="0" err="1">
                <a:solidFill>
                  <a:schemeClr val="bg1"/>
                </a:solidFill>
              </a:rPr>
              <a:t>cvv.matches</a:t>
            </a:r>
            <a:r>
              <a:rPr lang="en-US" sz="2400" dirty="0">
                <a:solidFill>
                  <a:schemeClr val="bg1"/>
                </a:solidFill>
              </a:rPr>
              <a:t>("\\d{3}");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dirty="0">
                <a:solidFill>
                  <a:schemeClr val="bg1"/>
                </a:solidFill>
              </a:rPr>
              <a:t>    @Override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Receipt </a:t>
            </a:r>
            <a:r>
              <a:rPr lang="en-US" sz="2400" dirty="0" err="1">
                <a:solidFill>
                  <a:schemeClr val="bg1"/>
                </a:solidFill>
              </a:rPr>
              <a:t>processPayment</a:t>
            </a:r>
            <a:r>
              <a:rPr lang="en-US" sz="2400" dirty="0">
                <a:solidFill>
                  <a:schemeClr val="bg1"/>
                </a:solidFill>
              </a:rPr>
              <a:t>(double amount)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if (!</a:t>
            </a:r>
            <a:r>
              <a:rPr lang="en-US" sz="2400" dirty="0" err="1">
                <a:solidFill>
                  <a:schemeClr val="bg1"/>
                </a:solidFill>
              </a:rPr>
              <a:t>validateDetails</a:t>
            </a:r>
            <a:r>
              <a:rPr lang="en-US" sz="2400" dirty="0">
                <a:solidFill>
                  <a:schemeClr val="bg1"/>
                </a:solidFill>
              </a:rPr>
              <a:t>())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return </a:t>
            </a:r>
            <a:r>
              <a:rPr lang="en-US" sz="2400" dirty="0" err="1">
                <a:solidFill>
                  <a:schemeClr val="bg1"/>
                </a:solidFill>
              </a:rPr>
              <a:t>generateReceipt</a:t>
            </a:r>
            <a:r>
              <a:rPr lang="en-US" sz="2400" dirty="0">
                <a:solidFill>
                  <a:schemeClr val="bg1"/>
                </a:solidFill>
              </a:rPr>
              <a:t>(amount, "FAILURE: Invalid card details");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// Simulate gateway call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("Calling </a:t>
            </a:r>
            <a:r>
              <a:rPr lang="en-US" sz="2400" dirty="0" err="1">
                <a:solidFill>
                  <a:schemeClr val="bg1"/>
                </a:solidFill>
              </a:rPr>
              <a:t>creditcard</a:t>
            </a:r>
            <a:r>
              <a:rPr lang="en-US" sz="2400" dirty="0">
                <a:solidFill>
                  <a:schemeClr val="bg1"/>
                </a:solidFill>
              </a:rPr>
              <a:t> gateway for amount " + amount);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</a:t>
            </a:r>
            <a:r>
              <a:rPr lang="en-US" sz="2400" dirty="0" err="1">
                <a:solidFill>
                  <a:schemeClr val="bg1"/>
                </a:solidFill>
              </a:rPr>
              <a:t>generateReceipt</a:t>
            </a:r>
            <a:r>
              <a:rPr lang="en-US" sz="2400" dirty="0">
                <a:solidFill>
                  <a:schemeClr val="bg1"/>
                </a:solidFill>
              </a:rPr>
              <a:t>(amount, "SUCCESS");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smtClean="0">
                <a:solidFill>
                  <a:schemeClr val="bg1"/>
                </a:solidFill>
              </a:rPr>
              <a:t>} }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71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1" y="114358"/>
            <a:ext cx="1191490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class </a:t>
            </a:r>
            <a:r>
              <a:rPr lang="en-US" sz="2400" dirty="0" err="1">
                <a:solidFill>
                  <a:schemeClr val="bg1"/>
                </a:solidFill>
              </a:rPr>
              <a:t>PayPalPayment</a:t>
            </a:r>
            <a:r>
              <a:rPr lang="en-US" sz="2400" dirty="0">
                <a:solidFill>
                  <a:schemeClr val="bg1"/>
                </a:solidFill>
              </a:rPr>
              <a:t> extends </a:t>
            </a:r>
            <a:r>
              <a:rPr lang="en-US" sz="2400" dirty="0" err="1">
                <a:solidFill>
                  <a:schemeClr val="bg1"/>
                </a:solidFill>
              </a:rPr>
              <a:t>PaymentMethod</a:t>
            </a:r>
            <a:r>
              <a:rPr lang="en-US" sz="2400" dirty="0">
                <a:solidFill>
                  <a:schemeClr val="bg1"/>
                </a:solidFill>
              </a:rPr>
              <a:t>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String email;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</a:t>
            </a:r>
            <a:r>
              <a:rPr lang="en-US" sz="2400" dirty="0" err="1">
                <a:solidFill>
                  <a:schemeClr val="bg1"/>
                </a:solidFill>
              </a:rPr>
              <a:t>PayPalPayment</a:t>
            </a:r>
            <a:r>
              <a:rPr lang="en-US" sz="2400" dirty="0">
                <a:solidFill>
                  <a:schemeClr val="bg1"/>
                </a:solidFill>
              </a:rPr>
              <a:t>(String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, String email)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super(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 smtClean="0">
                <a:solidFill>
                  <a:schemeClr val="bg1"/>
                </a:solidFill>
              </a:rPr>
              <a:t>);        </a:t>
            </a:r>
            <a:r>
              <a:rPr lang="en-US" sz="2400" dirty="0" err="1">
                <a:solidFill>
                  <a:schemeClr val="bg1"/>
                </a:solidFill>
              </a:rPr>
              <a:t>this.email</a:t>
            </a:r>
            <a:r>
              <a:rPr lang="en-US" sz="2400" dirty="0">
                <a:solidFill>
                  <a:schemeClr val="bg1"/>
                </a:solidFill>
              </a:rPr>
              <a:t> = email;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@Override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protected </a:t>
            </a:r>
            <a:r>
              <a:rPr lang="en-US" sz="2400" dirty="0" err="1">
                <a:solidFill>
                  <a:schemeClr val="bg1"/>
                </a:solidFill>
              </a:rPr>
              <a:t>boolean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validateDetails</a:t>
            </a:r>
            <a:r>
              <a:rPr lang="en-US" sz="2400" dirty="0">
                <a:solidFill>
                  <a:schemeClr val="bg1"/>
                </a:solidFill>
              </a:rPr>
              <a:t>()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</a:t>
            </a:r>
            <a:r>
              <a:rPr lang="en-US" sz="2400" dirty="0" err="1">
                <a:solidFill>
                  <a:schemeClr val="bg1"/>
                </a:solidFill>
              </a:rPr>
              <a:t>email.contains</a:t>
            </a:r>
            <a:r>
              <a:rPr lang="en-US" sz="2400" dirty="0">
                <a:solidFill>
                  <a:schemeClr val="bg1"/>
                </a:solidFill>
              </a:rPr>
              <a:t>("@") &amp;&amp; </a:t>
            </a:r>
            <a:r>
              <a:rPr lang="en-US" sz="2400" dirty="0" err="1">
                <a:solidFill>
                  <a:schemeClr val="bg1"/>
                </a:solidFill>
              </a:rPr>
              <a:t>email.endsWith</a:t>
            </a:r>
            <a:r>
              <a:rPr lang="en-US" sz="2400" dirty="0">
                <a:solidFill>
                  <a:schemeClr val="bg1"/>
                </a:solidFill>
              </a:rPr>
              <a:t>(".com");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@Override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Receipt </a:t>
            </a:r>
            <a:r>
              <a:rPr lang="en-US" sz="2400" dirty="0" err="1">
                <a:solidFill>
                  <a:schemeClr val="bg1"/>
                </a:solidFill>
              </a:rPr>
              <a:t>processPayment</a:t>
            </a:r>
            <a:r>
              <a:rPr lang="en-US" sz="2400" dirty="0">
                <a:solidFill>
                  <a:schemeClr val="bg1"/>
                </a:solidFill>
              </a:rPr>
              <a:t>(double amount)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if (!</a:t>
            </a:r>
            <a:r>
              <a:rPr lang="en-US" sz="2400" dirty="0" err="1">
                <a:solidFill>
                  <a:schemeClr val="bg1"/>
                </a:solidFill>
              </a:rPr>
              <a:t>validateDetails</a:t>
            </a:r>
            <a:r>
              <a:rPr lang="en-US" sz="2400" dirty="0">
                <a:solidFill>
                  <a:schemeClr val="bg1"/>
                </a:solidFill>
              </a:rPr>
              <a:t>())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return </a:t>
            </a:r>
            <a:r>
              <a:rPr lang="en-US" sz="2400" dirty="0" err="1">
                <a:solidFill>
                  <a:schemeClr val="bg1"/>
                </a:solidFill>
              </a:rPr>
              <a:t>generateReceipt</a:t>
            </a:r>
            <a:r>
              <a:rPr lang="en-US" sz="2400" dirty="0">
                <a:solidFill>
                  <a:schemeClr val="bg1"/>
                </a:solidFill>
              </a:rPr>
              <a:t>(amount, "FAILURE: Invalid PayPal account");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// Simulate PayPal API call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("Calling PayPal API for amount " + amount);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</a:t>
            </a:r>
            <a:r>
              <a:rPr lang="en-US" sz="2400" dirty="0" err="1">
                <a:solidFill>
                  <a:schemeClr val="bg1"/>
                </a:solidFill>
              </a:rPr>
              <a:t>generateReceipt</a:t>
            </a:r>
            <a:r>
              <a:rPr lang="en-US" sz="2400" dirty="0">
                <a:solidFill>
                  <a:schemeClr val="bg1"/>
                </a:solidFill>
              </a:rPr>
              <a:t>(amount, "SUCCESS");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214320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1" y="114358"/>
            <a:ext cx="1191490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class Receipt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final String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final double amount;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final String status;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private final </a:t>
            </a:r>
            <a:r>
              <a:rPr lang="en-US" sz="2400" dirty="0" err="1">
                <a:solidFill>
                  <a:schemeClr val="bg1"/>
                </a:solidFill>
              </a:rPr>
              <a:t>LocalDateTime</a:t>
            </a:r>
            <a:r>
              <a:rPr lang="en-US" sz="2400" dirty="0">
                <a:solidFill>
                  <a:schemeClr val="bg1"/>
                </a:solidFill>
              </a:rPr>
              <a:t> timestamp;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public Receipt(String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, double amount, String status, </a:t>
            </a:r>
            <a:r>
              <a:rPr lang="en-US" sz="2400" dirty="0" err="1">
                <a:solidFill>
                  <a:schemeClr val="bg1"/>
                </a:solidFill>
              </a:rPr>
              <a:t>LocalDateTime</a:t>
            </a:r>
            <a:r>
              <a:rPr lang="en-US" sz="2400" dirty="0">
                <a:solidFill>
                  <a:schemeClr val="bg1"/>
                </a:solidFill>
              </a:rPr>
              <a:t> timestamp)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this.orderId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this.amount</a:t>
            </a:r>
            <a:r>
              <a:rPr lang="en-US" sz="2400" dirty="0">
                <a:solidFill>
                  <a:schemeClr val="bg1"/>
                </a:solidFill>
              </a:rPr>
              <a:t>   = amount;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this.status</a:t>
            </a:r>
            <a:r>
              <a:rPr lang="en-US" sz="2400" dirty="0">
                <a:solidFill>
                  <a:schemeClr val="bg1"/>
                </a:solidFill>
              </a:rPr>
              <a:t>   = status;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this.timestamp</a:t>
            </a:r>
            <a:r>
              <a:rPr lang="en-US" sz="2400" dirty="0">
                <a:solidFill>
                  <a:schemeClr val="bg1"/>
                </a:solidFill>
              </a:rPr>
              <a:t> = timestamp;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public String </a:t>
            </a:r>
            <a:r>
              <a:rPr lang="en-US" sz="2400" dirty="0" err="1">
                <a:solidFill>
                  <a:schemeClr val="bg1"/>
                </a:solidFill>
              </a:rPr>
              <a:t>getOrderId</a:t>
            </a:r>
            <a:r>
              <a:rPr lang="en-US" sz="2400" dirty="0">
                <a:solidFill>
                  <a:schemeClr val="bg1"/>
                </a:solidFill>
              </a:rPr>
              <a:t>()    { return </a:t>
            </a:r>
            <a:r>
              <a:rPr lang="en-US" sz="2400" dirty="0" err="1">
                <a:solidFill>
                  <a:schemeClr val="bg1"/>
                </a:solidFill>
              </a:rPr>
              <a:t>orderId</a:t>
            </a:r>
            <a:r>
              <a:rPr lang="en-US" sz="2400" dirty="0">
                <a:solidFill>
                  <a:schemeClr val="bg1"/>
                </a:solidFill>
              </a:rPr>
              <a:t>;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double </a:t>
            </a:r>
            <a:r>
              <a:rPr lang="en-US" sz="2400" dirty="0" err="1">
                <a:solidFill>
                  <a:schemeClr val="bg1"/>
                </a:solidFill>
              </a:rPr>
              <a:t>getAmount</a:t>
            </a:r>
            <a:r>
              <a:rPr lang="en-US" sz="2400" dirty="0">
                <a:solidFill>
                  <a:schemeClr val="bg1"/>
                </a:solidFill>
              </a:rPr>
              <a:t>()     { return amount;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String </a:t>
            </a:r>
            <a:r>
              <a:rPr lang="en-US" sz="2400" dirty="0" err="1">
                <a:solidFill>
                  <a:schemeClr val="bg1"/>
                </a:solidFill>
              </a:rPr>
              <a:t>getStatus</a:t>
            </a:r>
            <a:r>
              <a:rPr lang="en-US" sz="2400" dirty="0">
                <a:solidFill>
                  <a:schemeClr val="bg1"/>
                </a:solidFill>
              </a:rPr>
              <a:t>()     { return status;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</a:t>
            </a:r>
            <a:r>
              <a:rPr lang="en-US" sz="2400" dirty="0" err="1">
                <a:solidFill>
                  <a:schemeClr val="bg1"/>
                </a:solidFill>
              </a:rPr>
              <a:t>LocalDateTime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getTimestamp</a:t>
            </a:r>
            <a:r>
              <a:rPr lang="en-US" sz="2400" dirty="0">
                <a:solidFill>
                  <a:schemeClr val="bg1"/>
                </a:solidFill>
              </a:rPr>
              <a:t>() { return timestamp; }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}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4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1" y="114358"/>
            <a:ext cx="1191490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class Checkout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US" sz="2400" dirty="0" err="1">
                <a:solidFill>
                  <a:schemeClr val="bg1"/>
                </a:solidFill>
              </a:rPr>
              <a:t>args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List&lt;</a:t>
            </a:r>
            <a:r>
              <a:rPr lang="en-US" sz="2400" dirty="0" err="1">
                <a:solidFill>
                  <a:schemeClr val="bg1"/>
                </a:solidFill>
              </a:rPr>
              <a:t>PaymentMethod</a:t>
            </a:r>
            <a:r>
              <a:rPr lang="en-US" sz="2400" dirty="0">
                <a:solidFill>
                  <a:schemeClr val="bg1"/>
                </a:solidFill>
              </a:rPr>
              <a:t>&gt; payments = </a:t>
            </a:r>
            <a:r>
              <a:rPr lang="en-US" sz="2400" dirty="0" err="1">
                <a:solidFill>
                  <a:schemeClr val="bg1"/>
                </a:solidFill>
              </a:rPr>
              <a:t>List.of</a:t>
            </a:r>
            <a:r>
              <a:rPr lang="en-US" sz="2400" dirty="0" smtClean="0">
                <a:solidFill>
                  <a:schemeClr val="bg1"/>
                </a:solidFill>
              </a:rPr>
              <a:t>(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        new </a:t>
            </a:r>
            <a:r>
              <a:rPr lang="en-US" sz="2400" dirty="0" err="1">
                <a:solidFill>
                  <a:schemeClr val="bg1"/>
                </a:solidFill>
              </a:rPr>
              <a:t>CreditCardPayment</a:t>
            </a:r>
            <a:r>
              <a:rPr lang="en-US" sz="2400" dirty="0">
                <a:solidFill>
                  <a:schemeClr val="bg1"/>
                </a:solidFill>
              </a:rPr>
              <a:t>("ORD001", "1234567812345678", "12/26", "123"),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new </a:t>
            </a:r>
            <a:r>
              <a:rPr lang="en-US" sz="2400" dirty="0" err="1">
                <a:solidFill>
                  <a:schemeClr val="bg1"/>
                </a:solidFill>
              </a:rPr>
              <a:t>PayPalPayment</a:t>
            </a:r>
            <a:r>
              <a:rPr lang="en-US" sz="2400" dirty="0">
                <a:solidFill>
                  <a:schemeClr val="bg1"/>
                </a:solidFill>
              </a:rPr>
              <a:t>("ORD002", "user@example.com")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);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    for (</a:t>
            </a:r>
            <a:r>
              <a:rPr lang="en-US" sz="2400" dirty="0" err="1">
                <a:solidFill>
                  <a:schemeClr val="bg1"/>
                </a:solidFill>
              </a:rPr>
              <a:t>PaymentMethod</a:t>
            </a:r>
            <a:r>
              <a:rPr lang="en-US" sz="2400" dirty="0">
                <a:solidFill>
                  <a:schemeClr val="bg1"/>
                </a:solidFill>
              </a:rPr>
              <a:t> pm : payments)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</a:t>
            </a:r>
            <a:r>
              <a:rPr lang="en-US" sz="2400" dirty="0" err="1">
                <a:solidFill>
                  <a:schemeClr val="bg1"/>
                </a:solidFill>
              </a:rPr>
              <a:t>pm.collectDetails</a:t>
            </a:r>
            <a:r>
              <a:rPr lang="en-US" sz="2400" dirty="0">
                <a:solidFill>
                  <a:schemeClr val="bg1"/>
                </a:solidFill>
              </a:rPr>
              <a:t>();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Receipt </a:t>
            </a:r>
            <a:r>
              <a:rPr lang="en-US" sz="2400" dirty="0" err="1">
                <a:solidFill>
                  <a:schemeClr val="bg1"/>
                </a:solidFill>
              </a:rPr>
              <a:t>receipt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pm.processPayment</a:t>
            </a:r>
            <a:r>
              <a:rPr lang="en-US" sz="2400" dirty="0">
                <a:solidFill>
                  <a:schemeClr val="bg1"/>
                </a:solidFill>
              </a:rPr>
              <a:t>(99.99);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(receipt);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("-----");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119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5863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Interface?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38572" y="1223413"/>
            <a:ext cx="11953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Objects define their </a:t>
            </a:r>
            <a:r>
              <a:rPr lang="en-IN" sz="2400" dirty="0">
                <a:solidFill>
                  <a:srgbClr val="FFC000"/>
                </a:solidFill>
              </a:rPr>
              <a:t>interaction with the outside world through the methods </a:t>
            </a:r>
            <a:r>
              <a:rPr lang="en-IN" sz="2400" dirty="0">
                <a:solidFill>
                  <a:schemeClr val="bg1"/>
                </a:solidFill>
              </a:rPr>
              <a:t>that they expose.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840" y="2177787"/>
            <a:ext cx="10304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It is used to achieve 100% abstraction and multiple inheritance in Java.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840" y="2639452"/>
            <a:ext cx="79429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Syntax:</a:t>
            </a:r>
          </a:p>
          <a:p>
            <a:r>
              <a:rPr lang="en-IN" sz="2400" dirty="0">
                <a:solidFill>
                  <a:schemeClr val="bg1"/>
                </a:solidFill>
              </a:rPr>
              <a:t>&lt;accessibility </a:t>
            </a:r>
            <a:r>
              <a:rPr lang="en-IN" sz="2400" dirty="0">
                <a:solidFill>
                  <a:srgbClr val="FFC000"/>
                </a:solidFill>
              </a:rPr>
              <a:t>modifier</a:t>
            </a:r>
            <a:r>
              <a:rPr lang="en-IN" sz="2400" dirty="0">
                <a:solidFill>
                  <a:schemeClr val="bg1"/>
                </a:solidFill>
              </a:rPr>
              <a:t>&gt; </a:t>
            </a:r>
            <a:r>
              <a:rPr lang="en-IN" sz="2400" dirty="0">
                <a:solidFill>
                  <a:srgbClr val="FFC000"/>
                </a:solidFill>
              </a:rPr>
              <a:t>interface</a:t>
            </a:r>
            <a:r>
              <a:rPr lang="en-IN" sz="2400" dirty="0">
                <a:solidFill>
                  <a:schemeClr val="bg1"/>
                </a:solidFill>
              </a:rPr>
              <a:t> &lt;interface name&gt;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	&lt;</a:t>
            </a:r>
            <a:r>
              <a:rPr lang="en-IN" sz="2400" dirty="0">
                <a:solidFill>
                  <a:srgbClr val="FFC000"/>
                </a:solidFill>
              </a:rPr>
              <a:t>extends</a:t>
            </a:r>
            <a:r>
              <a:rPr lang="en-IN" sz="2400" dirty="0">
                <a:solidFill>
                  <a:schemeClr val="bg1"/>
                </a:solidFill>
              </a:rPr>
              <a:t> interface clause&gt; // Interface header</a:t>
            </a:r>
          </a:p>
          <a:p>
            <a:r>
              <a:rPr lang="en-IN" sz="2400" dirty="0">
                <a:solidFill>
                  <a:schemeClr val="bg1"/>
                </a:solidFill>
              </a:rPr>
              <a:t>{ </a:t>
            </a:r>
          </a:p>
          <a:p>
            <a:r>
              <a:rPr lang="en-IN" sz="2400" dirty="0">
                <a:solidFill>
                  <a:schemeClr val="bg1"/>
                </a:solidFill>
              </a:rPr>
              <a:t>// Interface body</a:t>
            </a:r>
          </a:p>
          <a:p>
            <a:r>
              <a:rPr lang="en-IN" sz="2400" dirty="0">
                <a:solidFill>
                  <a:schemeClr val="bg1"/>
                </a:solidFill>
              </a:rPr>
              <a:t>&lt;</a:t>
            </a:r>
            <a:r>
              <a:rPr lang="en-IN" sz="2400" dirty="0">
                <a:solidFill>
                  <a:srgbClr val="FFC000"/>
                </a:solidFill>
              </a:rPr>
              <a:t>constant</a:t>
            </a:r>
            <a:r>
              <a:rPr lang="en-IN" sz="2400" dirty="0">
                <a:solidFill>
                  <a:schemeClr val="bg1"/>
                </a:solidFill>
              </a:rPr>
              <a:t> declarations&gt; // public static final by default</a:t>
            </a:r>
          </a:p>
          <a:p>
            <a:r>
              <a:rPr lang="en-IN" sz="2400" dirty="0">
                <a:solidFill>
                  <a:schemeClr val="bg1"/>
                </a:solidFill>
              </a:rPr>
              <a:t>&lt;</a:t>
            </a:r>
            <a:r>
              <a:rPr lang="en-IN" sz="2400" dirty="0">
                <a:solidFill>
                  <a:srgbClr val="FFC000"/>
                </a:solidFill>
              </a:rPr>
              <a:t>abstract method </a:t>
            </a:r>
            <a:r>
              <a:rPr lang="en-IN" sz="2400" dirty="0">
                <a:solidFill>
                  <a:schemeClr val="bg1"/>
                </a:solidFill>
              </a:rPr>
              <a:t>declarations&gt; //public abstract by default</a:t>
            </a:r>
          </a:p>
          <a:p>
            <a:r>
              <a:rPr lang="en-IN" sz="2400" dirty="0">
                <a:solidFill>
                  <a:schemeClr val="bg1"/>
                </a:solidFill>
              </a:rPr>
              <a:t>&lt;</a:t>
            </a:r>
            <a:r>
              <a:rPr lang="en-IN" sz="2400" dirty="0">
                <a:solidFill>
                  <a:srgbClr val="FFC000"/>
                </a:solidFill>
              </a:rPr>
              <a:t>nested class </a:t>
            </a:r>
            <a:r>
              <a:rPr lang="en-IN" sz="2400" dirty="0">
                <a:solidFill>
                  <a:schemeClr val="bg1"/>
                </a:solidFill>
              </a:rPr>
              <a:t>declarations&gt;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&lt;</a:t>
            </a:r>
            <a:r>
              <a:rPr lang="en-IN" sz="2400" dirty="0">
                <a:solidFill>
                  <a:srgbClr val="FFC000"/>
                </a:solidFill>
              </a:rPr>
              <a:t>nested interface </a:t>
            </a:r>
            <a:r>
              <a:rPr lang="en-IN" sz="2400" dirty="0">
                <a:solidFill>
                  <a:schemeClr val="bg1"/>
                </a:solidFill>
              </a:rPr>
              <a:t>declarations&gt;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4258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58634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Interface?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4841" y="1179436"/>
            <a:ext cx="115668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C000"/>
                </a:solidFill>
              </a:rPr>
              <a:t>Brief Version </a:t>
            </a:r>
            <a:r>
              <a:rPr lang="en-IN" sz="2400" b="1" dirty="0" smtClean="0">
                <a:solidFill>
                  <a:srgbClr val="FFC000"/>
                </a:solidFill>
              </a:rPr>
              <a:t>Notes: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FFC000"/>
                </a:solidFill>
              </a:rPr>
              <a:t>Java </a:t>
            </a:r>
            <a:r>
              <a:rPr lang="en-IN" sz="2400" b="1" dirty="0">
                <a:solidFill>
                  <a:srgbClr val="FFC000"/>
                </a:solidFill>
              </a:rPr>
              <a:t>8 </a:t>
            </a:r>
            <a:r>
              <a:rPr lang="en-IN" sz="2400" dirty="0">
                <a:solidFill>
                  <a:schemeClr val="bg1"/>
                </a:solidFill>
              </a:rPr>
              <a:t>was the big interface overhaul (</a:t>
            </a:r>
            <a:r>
              <a:rPr lang="en-IN" sz="2400" b="1" u="sng" dirty="0">
                <a:solidFill>
                  <a:schemeClr val="bg1"/>
                </a:solidFill>
              </a:rPr>
              <a:t>default/static/functional</a:t>
            </a:r>
            <a:r>
              <a:rPr lang="en-IN" sz="2400" dirty="0">
                <a:solidFill>
                  <a:schemeClr val="bg1"/>
                </a:solidFill>
              </a:rPr>
              <a:t>) to support evolving APIs and lambdas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FFC000"/>
                </a:solidFill>
              </a:rPr>
              <a:t>Java </a:t>
            </a:r>
            <a:r>
              <a:rPr lang="en-IN" sz="2400" b="1" dirty="0">
                <a:solidFill>
                  <a:srgbClr val="FFC000"/>
                </a:solidFill>
              </a:rPr>
              <a:t>9 </a:t>
            </a:r>
            <a:r>
              <a:rPr lang="en-IN" sz="2400" dirty="0">
                <a:solidFill>
                  <a:schemeClr val="bg1"/>
                </a:solidFill>
              </a:rPr>
              <a:t>added encapsulation inside interfaces via </a:t>
            </a:r>
            <a:r>
              <a:rPr lang="en-IN" sz="2400" b="1" u="sng" dirty="0">
                <a:solidFill>
                  <a:schemeClr val="bg1"/>
                </a:solidFill>
              </a:rPr>
              <a:t>private helpers</a:t>
            </a:r>
            <a:r>
              <a:rPr lang="en-IN" sz="2400" dirty="0">
                <a:solidFill>
                  <a:schemeClr val="bg1"/>
                </a:solidFill>
              </a:rPr>
              <a:t>, cleaning up code reuse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FFC000"/>
                </a:solidFill>
              </a:rPr>
              <a:t>Java </a:t>
            </a:r>
            <a:r>
              <a:rPr lang="en-IN" sz="2400" b="1" dirty="0">
                <a:solidFill>
                  <a:srgbClr val="FFC000"/>
                </a:solidFill>
              </a:rPr>
              <a:t>15 (preview) and 17 (final) </a:t>
            </a:r>
            <a:r>
              <a:rPr lang="en-IN" sz="2400" dirty="0">
                <a:solidFill>
                  <a:schemeClr val="bg1"/>
                </a:solidFill>
              </a:rPr>
              <a:t>brought </a:t>
            </a:r>
            <a:r>
              <a:rPr lang="en-IN" sz="2400" b="1" u="sng" dirty="0">
                <a:solidFill>
                  <a:schemeClr val="bg1"/>
                </a:solidFill>
              </a:rPr>
              <a:t>sealed interfaces</a:t>
            </a:r>
            <a:r>
              <a:rPr lang="en-IN" sz="2400" dirty="0">
                <a:solidFill>
                  <a:schemeClr val="bg1"/>
                </a:solidFill>
              </a:rPr>
              <a:t>, giving you fine-grained control over implementations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rgbClr val="FFC000"/>
                </a:solidFill>
              </a:rPr>
              <a:t>Java </a:t>
            </a:r>
            <a:r>
              <a:rPr lang="en-IN" sz="2400" b="1" dirty="0">
                <a:solidFill>
                  <a:srgbClr val="FFC000"/>
                </a:solidFill>
              </a:rPr>
              <a:t>17 </a:t>
            </a:r>
            <a:r>
              <a:rPr lang="en-IN" sz="2400" dirty="0">
                <a:solidFill>
                  <a:schemeClr val="bg1"/>
                </a:solidFill>
              </a:rPr>
              <a:t>also unlocked </a:t>
            </a:r>
            <a:r>
              <a:rPr lang="en-IN" sz="2400" b="1" u="sng" dirty="0">
                <a:solidFill>
                  <a:schemeClr val="bg1"/>
                </a:solidFill>
              </a:rPr>
              <a:t>pattern-matching in switch </a:t>
            </a:r>
            <a:r>
              <a:rPr lang="en-IN" sz="2400" dirty="0">
                <a:solidFill>
                  <a:schemeClr val="bg1"/>
                </a:solidFill>
              </a:rPr>
              <a:t>for these </a:t>
            </a:r>
            <a:r>
              <a:rPr lang="en-IN" sz="2400" b="1" u="sng" dirty="0">
                <a:solidFill>
                  <a:schemeClr val="bg1"/>
                </a:solidFill>
              </a:rPr>
              <a:t>sealed hierarchies</a:t>
            </a:r>
            <a:r>
              <a:rPr lang="en-IN" sz="2400" dirty="0">
                <a:solidFill>
                  <a:schemeClr val="bg1"/>
                </a:solidFill>
              </a:rPr>
              <a:t>, making polymorphic logic more concise.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32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29723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smtClean="0">
                <a:solidFill>
                  <a:schemeClr val="bg1"/>
                </a:solidFill>
              </a:rPr>
              <a:t>Interface</a:t>
            </a:r>
            <a:endParaRPr lang="en-IN" sz="60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1" y="1399360"/>
            <a:ext cx="116961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An interface defines a contract by specifying a set of </a:t>
            </a:r>
            <a:r>
              <a:rPr lang="en-IN" sz="2400" dirty="0">
                <a:solidFill>
                  <a:srgbClr val="FFC000"/>
                </a:solidFill>
              </a:rPr>
              <a:t>abstract method</a:t>
            </a:r>
            <a:r>
              <a:rPr lang="en-IN" sz="2400" dirty="0">
                <a:solidFill>
                  <a:schemeClr val="bg1"/>
                </a:solidFill>
              </a:rPr>
              <a:t> declarations, but provides </a:t>
            </a:r>
            <a:r>
              <a:rPr lang="en-IN" sz="2400" dirty="0">
                <a:solidFill>
                  <a:srgbClr val="FFC000"/>
                </a:solidFill>
              </a:rPr>
              <a:t>no implementations</a:t>
            </a:r>
            <a:r>
              <a:rPr lang="en-IN" sz="2400" dirty="0">
                <a:solidFill>
                  <a:schemeClr val="bg1"/>
                </a:solidFill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The methods in an interface are all </a:t>
            </a:r>
            <a:r>
              <a:rPr lang="en-IN" sz="2400" dirty="0">
                <a:solidFill>
                  <a:srgbClr val="FFC000"/>
                </a:solidFill>
              </a:rPr>
              <a:t>implicitly abstract and public</a:t>
            </a:r>
            <a:r>
              <a:rPr lang="en-IN" sz="2400" dirty="0">
                <a:solidFill>
                  <a:schemeClr val="bg1"/>
                </a:solidFill>
              </a:rPr>
              <a:t> by virtue of their definition.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Only the modifiers abstract and public are allowed, but these are invariably omitted.</a:t>
            </a:r>
          </a:p>
        </p:txBody>
      </p:sp>
    </p:spTree>
    <p:extLst>
      <p:ext uri="{BB962C8B-B14F-4D97-AF65-F5344CB8AC3E}">
        <p14:creationId xmlns:p14="http://schemas.microsoft.com/office/powerpoint/2010/main" val="2657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52085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Interface in Java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4841" y="1179436"/>
            <a:ext cx="674199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interface </a:t>
            </a:r>
            <a:r>
              <a:rPr lang="en-IN" sz="2400" u="sng" dirty="0">
                <a:solidFill>
                  <a:srgbClr val="FFC000"/>
                </a:solidFill>
              </a:rPr>
              <a:t>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void print();  //public abstract void print();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>
                <a:solidFill>
                  <a:srgbClr val="FFC000"/>
                </a:solidFill>
              </a:rPr>
              <a:t>A6 implements 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void print(){……}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>
                <a:solidFill>
                  <a:srgbClr val="FFC000"/>
                </a:solidFill>
              </a:rPr>
              <a:t>A4 implements 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void print(){……}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>
                <a:solidFill>
                  <a:srgbClr val="FFC000"/>
                </a:solidFill>
              </a:rPr>
              <a:t>A3 implements 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void print(){……}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>
                <a:solidFill>
                  <a:srgbClr val="FFC000"/>
                </a:solidFill>
              </a:rPr>
              <a:t>A2 implements 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void print(){……}  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8306" y="1179436"/>
            <a:ext cx="520487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printable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 = new A6(); 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</a:rPr>
              <a:t>obj.print</a:t>
            </a:r>
            <a:r>
              <a:rPr lang="en-IN" sz="2400" dirty="0">
                <a:solidFill>
                  <a:schemeClr val="bg1"/>
                </a:solidFill>
              </a:rPr>
              <a:t>();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printable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 = new A4(); 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</a:rPr>
              <a:t>obj.print</a:t>
            </a:r>
            <a:r>
              <a:rPr lang="en-IN" sz="2400" dirty="0">
                <a:solidFill>
                  <a:schemeClr val="bg1"/>
                </a:solidFill>
              </a:rPr>
              <a:t>();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printable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 = new A3(); 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</a:rPr>
              <a:t>obj.print</a:t>
            </a:r>
            <a:r>
              <a:rPr lang="en-IN" sz="2400" dirty="0">
                <a:solidFill>
                  <a:schemeClr val="bg1"/>
                </a:solidFill>
              </a:rPr>
              <a:t>();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printable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 = new A2(); 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</a:rPr>
              <a:t>obj.print</a:t>
            </a:r>
            <a:r>
              <a:rPr lang="en-IN" sz="2400" dirty="0">
                <a:solidFill>
                  <a:schemeClr val="bg1"/>
                </a:solidFill>
              </a:rPr>
              <a:t>(); </a:t>
            </a:r>
          </a:p>
        </p:txBody>
      </p:sp>
    </p:spTree>
    <p:extLst>
      <p:ext uri="{BB962C8B-B14F-4D97-AF65-F5344CB8AC3E}">
        <p14:creationId xmlns:p14="http://schemas.microsoft.com/office/powerpoint/2010/main" val="352000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060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Interface Inheritance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367" y="1361789"/>
            <a:ext cx="8224979" cy="356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060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Interface Inheritance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8364" y="1166843"/>
            <a:ext cx="89256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interface </a:t>
            </a:r>
            <a:r>
              <a:rPr lang="en-IN" sz="2400" dirty="0">
                <a:solidFill>
                  <a:srgbClr val="FFC000"/>
                </a:solidFill>
              </a:rPr>
              <a:t>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void print();  // public abstract void print();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interface </a:t>
            </a:r>
            <a:r>
              <a:rPr lang="en-IN" sz="2400" dirty="0">
                <a:solidFill>
                  <a:srgbClr val="FFC000"/>
                </a:solidFill>
              </a:rPr>
              <a:t>Showable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void show();  //public abstract void show();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>
                <a:solidFill>
                  <a:srgbClr val="FFC000"/>
                </a:solidFill>
              </a:rPr>
              <a:t>A7 implements Printable ,  Showable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u="sng" dirty="0">
                <a:solidFill>
                  <a:schemeClr val="bg1"/>
                </a:solidFill>
              </a:rPr>
              <a:t>public</a:t>
            </a:r>
            <a:r>
              <a:rPr lang="en-IN" sz="2400" dirty="0">
                <a:solidFill>
                  <a:schemeClr val="bg1"/>
                </a:solidFill>
              </a:rPr>
              <a:t> void print(){…}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u="sng" dirty="0">
                <a:solidFill>
                  <a:schemeClr val="bg1"/>
                </a:solidFill>
              </a:rPr>
              <a:t>public</a:t>
            </a:r>
            <a:r>
              <a:rPr lang="en-IN" sz="2400" dirty="0">
                <a:solidFill>
                  <a:schemeClr val="bg1"/>
                </a:solidFill>
              </a:rPr>
              <a:t> void show(){…}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A7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 = new A7();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obj.print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obj.show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}  } </a:t>
            </a:r>
          </a:p>
        </p:txBody>
      </p:sp>
    </p:spTree>
    <p:extLst>
      <p:ext uri="{BB962C8B-B14F-4D97-AF65-F5344CB8AC3E}">
        <p14:creationId xmlns:p14="http://schemas.microsoft.com/office/powerpoint/2010/main" val="3355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67060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Interface Inheritance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73206" y="1166843"/>
            <a:ext cx="85707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interface </a:t>
            </a:r>
            <a:r>
              <a:rPr lang="en-IN" sz="2400" dirty="0">
                <a:solidFill>
                  <a:srgbClr val="FFC000"/>
                </a:solidFill>
              </a:rPr>
              <a:t>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void print();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interface </a:t>
            </a:r>
            <a:r>
              <a:rPr lang="en-IN" sz="2400" dirty="0">
                <a:solidFill>
                  <a:srgbClr val="FFC000"/>
                </a:solidFill>
              </a:rPr>
              <a:t>Showable </a:t>
            </a:r>
            <a:r>
              <a:rPr lang="en-IN" sz="2400" u="sng" dirty="0">
                <a:solidFill>
                  <a:srgbClr val="FFC000"/>
                </a:solidFill>
              </a:rPr>
              <a:t>extends</a:t>
            </a:r>
            <a:r>
              <a:rPr lang="en-IN" sz="2400" dirty="0">
                <a:solidFill>
                  <a:srgbClr val="FFC000"/>
                </a:solidFill>
              </a:rPr>
              <a:t> Printable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void show();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>
                <a:solidFill>
                  <a:srgbClr val="FFC000"/>
                </a:solidFill>
              </a:rPr>
              <a:t>TestInterface4 implements Showable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u="sng" dirty="0">
                <a:solidFill>
                  <a:schemeClr val="bg1"/>
                </a:solidFill>
              </a:rPr>
              <a:t>public</a:t>
            </a:r>
            <a:r>
              <a:rPr lang="en-IN" sz="2400" dirty="0">
                <a:solidFill>
                  <a:schemeClr val="bg1"/>
                </a:solidFill>
              </a:rPr>
              <a:t> void print(){…}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u="sng" dirty="0">
                <a:solidFill>
                  <a:schemeClr val="bg1"/>
                </a:solidFill>
              </a:rPr>
              <a:t>public</a:t>
            </a:r>
            <a:r>
              <a:rPr lang="en-IN" sz="2400" dirty="0">
                <a:solidFill>
                  <a:schemeClr val="bg1"/>
                </a:solidFill>
              </a:rPr>
              <a:t> void show(){…}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[]){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TestInterface4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 = new TestInterface4();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obj.print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obj.show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}  } </a:t>
            </a:r>
          </a:p>
        </p:txBody>
      </p:sp>
    </p:spTree>
    <p:extLst>
      <p:ext uri="{BB962C8B-B14F-4D97-AF65-F5344CB8AC3E}">
        <p14:creationId xmlns:p14="http://schemas.microsoft.com/office/powerpoint/2010/main" val="218788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112852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Interface in Java8 (default keyword)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73206" y="1166843"/>
            <a:ext cx="52134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interface </a:t>
            </a:r>
            <a:r>
              <a:rPr lang="en-IN" sz="2400" dirty="0" err="1">
                <a:solidFill>
                  <a:schemeClr val="bg1"/>
                </a:solidFill>
              </a:rPr>
              <a:t>iDisplay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final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 = 10;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default</a:t>
            </a:r>
            <a:r>
              <a:rPr lang="en-IN" sz="2400" dirty="0">
                <a:solidFill>
                  <a:schemeClr val="bg1"/>
                </a:solidFill>
              </a:rPr>
              <a:t> void display()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("hello");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86651" y="1315451"/>
            <a:ext cx="595042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// A class that implements interface.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</a:rPr>
              <a:t>Displayimpl</a:t>
            </a:r>
            <a:r>
              <a:rPr lang="en-IN" sz="2400" dirty="0">
                <a:solidFill>
                  <a:schemeClr val="bg1"/>
                </a:solidFill>
              </a:rPr>
              <a:t> implements </a:t>
            </a:r>
            <a:r>
              <a:rPr lang="en-IN" sz="2400" dirty="0" err="1">
                <a:solidFill>
                  <a:schemeClr val="bg1"/>
                </a:solidFill>
              </a:rPr>
              <a:t>iDisplay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static void main 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Displayimpl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dObj</a:t>
            </a:r>
            <a:r>
              <a:rPr lang="en-IN" sz="2400" dirty="0">
                <a:solidFill>
                  <a:schemeClr val="bg1"/>
                </a:solidFill>
              </a:rPr>
              <a:t> = new </a:t>
            </a:r>
            <a:r>
              <a:rPr lang="en-IN" sz="2400" dirty="0" err="1">
                <a:solidFill>
                  <a:schemeClr val="bg1"/>
                </a:solidFill>
              </a:rPr>
              <a:t>Displayimpl</a:t>
            </a:r>
            <a:r>
              <a:rPr lang="en-IN" sz="24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dObj.display</a:t>
            </a:r>
            <a:r>
              <a:rPr lang="en-IN" sz="24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817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1" y="163773"/>
            <a:ext cx="103682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Interface in Java8(static method)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73456" y="99628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73206" y="1166843"/>
            <a:ext cx="52134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interface </a:t>
            </a:r>
            <a:r>
              <a:rPr lang="en-IN" sz="2400" dirty="0" err="1">
                <a:solidFill>
                  <a:schemeClr val="bg1"/>
                </a:solidFill>
              </a:rPr>
              <a:t>iDisplay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final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 = 10;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chemeClr val="bg1"/>
                </a:solidFill>
              </a:rPr>
              <a:t> void display()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("hello");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86651" y="1315451"/>
            <a:ext cx="59504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// A class that implements interface.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</a:rPr>
              <a:t>Displayimpl</a:t>
            </a:r>
            <a:r>
              <a:rPr lang="en-IN" sz="2400" dirty="0">
                <a:solidFill>
                  <a:schemeClr val="bg1"/>
                </a:solidFill>
              </a:rPr>
              <a:t> implements </a:t>
            </a:r>
            <a:r>
              <a:rPr lang="en-IN" sz="2400" dirty="0" err="1">
                <a:solidFill>
                  <a:srgbClr val="FFC000"/>
                </a:solidFill>
              </a:rPr>
              <a:t>iDisplay</a:t>
            </a:r>
            <a:endParaRPr lang="en-IN" sz="2400" dirty="0">
              <a:solidFill>
                <a:srgbClr val="FFC000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static void main 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iDisplay.display</a:t>
            </a:r>
            <a:r>
              <a:rPr lang="en-IN" sz="24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5977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1999</Words>
  <Application>Microsoft Office PowerPoint</Application>
  <PresentationFormat>Widescreen</PresentationFormat>
  <Paragraphs>390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Mrugendra</dc:creator>
  <cp:lastModifiedBy>Mrugendra</cp:lastModifiedBy>
  <cp:revision>224</cp:revision>
  <dcterms:created xsi:type="dcterms:W3CDTF">2017-07-29T08:12:59Z</dcterms:created>
  <dcterms:modified xsi:type="dcterms:W3CDTF">2025-07-24T04:32:06Z</dcterms:modified>
</cp:coreProperties>
</file>